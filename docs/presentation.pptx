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5.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a56bdbc-93f8-7487-f16c-93a63708be76}">
          <p14:sldIdLst>
            <p14:sldId id="256"/>
          </p14:sldIdLst>
        </p14:section>
        <p14:section name="Problem" id="{b6a1c5e8-0983-1a18-49f9-4cf3ff32057d}">
          <p14:sldIdLst>
            <p14:sldId id="257"/>
            <p14:sldId id="258"/>
          </p14:sldIdLst>
        </p14:section>
        <p14:section name="How it works" id="{88869eb3-3f3a-ce97-514d-6bc0c497cd10}">
          <p14:sldIdLst>
            <p14:sldId id="259"/>
            <p14:sldId id="260"/>
            <p14:sldId id="261"/>
          </p14:sldIdLst>
        </p14:section>
        <p14:section name="Results" id="{dcd4aa41-5d9b-3ee5-32e4-1a4616a875f9}">
          <p14:sldIdLst>
            <p14:sldId id="262"/>
            <p14:sldId id="263"/>
            <p14:sldId id="264"/>
            <p14:sldId id="265"/>
            <p14:sldId id="266"/>
          </p14:sldIdLst>
        </p14:section>
        <p14:section name="Real data" id="{1f4ac504-3833-2fda-e0bc-6af9ce6b123f}">
          <p14:sldIdLst>
            <p14:sldId id="267"/>
            <p14:sldId id="268"/>
            <p14:sldId id="269"/>
            <p14:sldId id="270"/>
            <p14:sldId id="271"/>
          </p14:sldIdLst>
        </p14:section>
        <p14:section name="Path forward" id="{59ebd792-aeba-737f-3cd0-1264fc380d0d}">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Trend extrapolation</c:v>
                </c:pt>
              </c:strCache>
            </c:strRef>
          </c:tx>
          <c:spPr>
            <a:solidFill>
              <a:srgbClr val="C9D3DD"/>
            </a:solidFill>
            <a:effectLst/>
          </c:spPr>
          <c:invertIfNegative val="0"/>
          <c:dLbls>
            <c:numFmt formatCode="0.00" sourceLinked="0"/>
            <c:txPr>
              <a:bodyPr/>
              <a:lstStyle/>
              <a:p>
                <a:pPr>
                  <a:defRPr b="1" i="0" strike="noStrike" sz="1500" u="none">
                    <a:solidFill>
                      <a:srgbClr val="0B2F3F"/>
                    </a:solidFill>
                    <a:latin typeface="+mn-lt"/>
                  </a:defRPr>
                </a:pPr>
              </a:p>
            </c:txPr>
            <c:showLegendKey val="0"/>
            <c:showVal val="1"/>
            <c:showCatName val="0"/>
            <c:showSerName val="0"/>
            <c:showPercent val="0"/>
            <c:showBubbleSize val="0"/>
            <c:showLeaderLines val="0"/>
          </c:dLbls>
          <c:cat>
            <c:multiLvlStrRef>
              <c:f>Sheet1!$A$2:$A$3</c:f>
              <c:multiLvlStrCache>
                <c:ptCount val="2"/>
                <c:lvl>
                  <c:pt idx="0">
                    <c:v>High glucose (&gt; 180)</c:v>
                  </c:pt>
                  <c:pt idx="1">
                    <c:v>Low glucose (&lt; 70)</c:v>
                  </c:pt>
                </c:lvl>
              </c:multiLvlStrCache>
            </c:multiLvlStrRef>
          </c:cat>
          <c:val>
            <c:numRef>
              <c:f>Sheet1!$B$2:$B$3</c:f>
              <c:numCache>
                <c:formatCode>General</c:formatCode>
                <c:ptCount val="2"/>
                <c:pt idx="0">
                  <c:v>0.38</c:v>
                </c:pt>
                <c:pt idx="1">
                  <c:v>0.19</c:v>
                </c:pt>
              </c:numCache>
            </c:numRef>
          </c:val>
        </c:ser>
        <c:ser>
          <c:idx val="1"/>
          <c:order val="1"/>
          <c:tx>
            <c:strRef>
              <c:f>Sheet1!$C$1</c:f>
              <c:strCache>
                <c:ptCount val="1"/>
                <c:pt idx="0">
                  <c:v>LightGBM, CGM only</c:v>
                </c:pt>
              </c:strCache>
            </c:strRef>
          </c:tx>
          <c:spPr>
            <a:solidFill>
              <a:srgbClr val="8CCBC4"/>
            </a:solidFill>
            <a:effectLst/>
          </c:spPr>
          <c:invertIfNegative val="0"/>
          <c:dLbls>
            <c:numFmt formatCode="0.00" sourceLinked="0"/>
            <c:txPr>
              <a:bodyPr/>
              <a:lstStyle/>
              <a:p>
                <a:pPr>
                  <a:defRPr b="1" i="0" strike="noStrike" sz="1500" u="none">
                    <a:solidFill>
                      <a:srgbClr val="0B2F3F"/>
                    </a:solidFill>
                    <a:latin typeface="+mn-lt"/>
                  </a:defRPr>
                </a:pPr>
              </a:p>
            </c:txPr>
            <c:showLegendKey val="0"/>
            <c:showVal val="1"/>
            <c:showCatName val="0"/>
            <c:showSerName val="0"/>
            <c:showPercent val="0"/>
            <c:showBubbleSize val="0"/>
            <c:showLeaderLines val="0"/>
          </c:dLbls>
          <c:cat>
            <c:multiLvlStrRef>
              <c:f>Sheet1!$A$2:$A$3</c:f>
              <c:multiLvlStrCache>
                <c:ptCount val="2"/>
                <c:lvl>
                  <c:pt idx="0">
                    <c:v>High glucose (&gt; 180)</c:v>
                  </c:pt>
                  <c:pt idx="1">
                    <c:v>Low glucose (&lt; 70)</c:v>
                  </c:pt>
                </c:lvl>
              </c:multiLvlStrCache>
            </c:multiLvlStrRef>
          </c:cat>
          <c:val>
            <c:numRef>
              <c:f>Sheet1!$C$2:$C$3</c:f>
              <c:numCache>
                <c:formatCode>General</c:formatCode>
                <c:ptCount val="2"/>
                <c:pt idx="0">
                  <c:v>0.72</c:v>
                </c:pt>
                <c:pt idx="1">
                  <c:v>0.65</c:v>
                </c:pt>
              </c:numCache>
            </c:numRef>
          </c:val>
        </c:ser>
        <c:ser>
          <c:idx val="2"/>
          <c:order val="2"/>
          <c:tx>
            <c:strRef>
              <c:f>Sheet1!$D$1</c:f>
              <c:strCache>
                <c:ptCount val="1"/>
                <c:pt idx="0">
                  <c:v>LightGBM, CGM + wearables + EHR</c:v>
                </c:pt>
              </c:strCache>
            </c:strRef>
          </c:tx>
          <c:spPr>
            <a:solidFill>
              <a:srgbClr val="0F766E"/>
            </a:solidFill>
            <a:effectLst/>
          </c:spPr>
          <c:invertIfNegative val="0"/>
          <c:dLbls>
            <c:numFmt formatCode="0.00" sourceLinked="0"/>
            <c:txPr>
              <a:bodyPr/>
              <a:lstStyle/>
              <a:p>
                <a:pPr>
                  <a:defRPr b="1" i="0" strike="noStrike" sz="1500" u="none">
                    <a:solidFill>
                      <a:srgbClr val="0B2F3F"/>
                    </a:solidFill>
                    <a:latin typeface="+mn-lt"/>
                  </a:defRPr>
                </a:pPr>
              </a:p>
            </c:txPr>
            <c:showLegendKey val="0"/>
            <c:showVal val="1"/>
            <c:showCatName val="0"/>
            <c:showSerName val="0"/>
            <c:showPercent val="0"/>
            <c:showBubbleSize val="0"/>
            <c:showLeaderLines val="0"/>
          </c:dLbls>
          <c:cat>
            <c:multiLvlStrRef>
              <c:f>Sheet1!$A$2:$A$3</c:f>
              <c:multiLvlStrCache>
                <c:ptCount val="2"/>
                <c:lvl>
                  <c:pt idx="0">
                    <c:v>High glucose (&gt; 180)</c:v>
                  </c:pt>
                  <c:pt idx="1">
                    <c:v>Low glucose (&lt; 70)</c:v>
                  </c:pt>
                </c:lvl>
              </c:multiLvlStrCache>
            </c:multiLvlStrRef>
          </c:cat>
          <c:val>
            <c:numRef>
              <c:f>Sheet1!$D$2:$D$3</c:f>
              <c:numCache>
                <c:formatCode>General</c:formatCode>
                <c:ptCount val="2"/>
                <c:pt idx="0">
                  <c:v>0.74</c:v>
                </c:pt>
                <c:pt idx="1">
                  <c:v>0.71</c:v>
                </c:pt>
              </c:numCache>
            </c:numRef>
          </c:val>
        </c:ser>
        <c:dLbls>
          <c:numFmt formatCode="0.00" sourceLinked="0"/>
          <c:txPr>
            <a:bodyPr/>
            <a:lstStyle/>
            <a:p>
              <a:pPr>
                <a:defRPr b="1" i="0" strike="noStrike" sz="1500" u="none">
                  <a:solidFill>
                    <a:srgbClr val="0B2F3F"/>
                  </a:solidFill>
                  <a:latin typeface="+mn-lt"/>
                </a:defRPr>
              </a:pPr>
            </a:p>
          </c:txPr>
          <c:showLegendKey val="0"/>
          <c:showVal val="1"/>
          <c:showCatName val="0"/>
          <c:showSerName val="0"/>
          <c:showPercent val="0"/>
          <c:showBubbleSize val="0"/>
          <c:showLeaderLines val="0"/>
        </c:dLbls>
        <c:gapWidth val="55"/>
        <c:overlap val="-8"/>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4202E"/>
                </a:solidFill>
                <a:latin typeface="+mn-lt"/>
              </a:defRPr>
            </a:pPr>
            <a:endParaRPr lang="en-US"/>
          </a:p>
        </c:txPr>
        <c:crossAx val="2094734552"/>
        <c:crosses val="autoZero"/>
        <c:auto val="1"/>
        <c:lblAlgn val="ctr"/>
        <c:noMultiLvlLbl val="1"/>
      </c:catAx>
      <c:valAx>
        <c:axId val="2094734552"/>
        <c:scaling>
          <c:orientation val="minMax"/>
          <c:max val="0.85"/>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4202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AUROC</c:v>
                </c:pt>
              </c:strCache>
            </c:strRef>
          </c:tx>
          <c:spPr>
            <a:solidFill>
              <a:srgbClr val="C9D3DD"/>
            </a:solidFill>
            <a:effectLst/>
          </c:spPr>
          <c:invertIfNegative val="0"/>
          <c:dLbls>
            <c:numFmt formatCode="0.00" sourceLinked="0"/>
            <c:txPr>
              <a:bodyPr/>
              <a:lstStyle/>
              <a:p>
                <a:pPr>
                  <a:defRPr b="1" i="0" strike="noStrike" sz="1500" u="none">
                    <a:solidFill>
                      <a:srgbClr val="0B2F3F"/>
                    </a:solidFill>
                    <a:latin typeface="+mn-lt"/>
                  </a:defRPr>
                </a:pPr>
              </a:p>
            </c:txPr>
            <c:showLegendKey val="0"/>
            <c:showVal val="1"/>
            <c:showCatName val="0"/>
            <c:showSerName val="0"/>
            <c:showPercent val="0"/>
            <c:showBubbleSize val="0"/>
            <c:showLeaderLines val="0"/>
          </c:dLbls>
          <c:dPt>
            <c:idx val="0"/>
            <c:invertIfNegative val="0"/>
            <c:bubble3D val="0"/>
            <c:spPr>
              <a:solidFill>
                <a:srgbClr val="C9D3DD"/>
              </a:solidFill>
              <a:effectLst/>
            </c:spPr>
          </c:dPt>
          <c:dPt>
            <c:idx val="1"/>
            <c:invertIfNegative val="0"/>
            <c:bubble3D val="0"/>
            <c:spPr>
              <a:solidFill>
                <a:srgbClr val="E8643A"/>
              </a:solidFill>
              <a:effectLst/>
            </c:spPr>
          </c:dPt>
          <c:dPt>
            <c:idx val="2"/>
            <c:invertIfNegative val="0"/>
            <c:bubble3D val="0"/>
            <c:spPr>
              <a:solidFill>
                <a:srgbClr val="0F766E"/>
              </a:solidFill>
              <a:effectLst/>
            </c:spPr>
          </c:dPt>
          <c:cat>
            <c:multiLvlStrRef>
              <c:f>Sheet1!$A$2:$A$4</c:f>
              <c:multiLvlStrCache>
                <c:ptCount val="3"/>
                <c:lvl>
                  <c:pt idx="0">
                    <c:v>Synthetic test</c:v>
                  </c:pt>
                  <c:pt idx="1">
                    <c:v>Real, zero-shot</c:v>
                  </c:pt>
                  <c:pt idx="2">
                    <c:v>Real, retrained</c:v>
                  </c:pt>
                </c:lvl>
              </c:multiLvlStrCache>
            </c:multiLvlStrRef>
          </c:cat>
          <c:val>
            <c:numRef>
              <c:f>Sheet1!$B$2:$B$4</c:f>
              <c:numCache>
                <c:formatCode>General</c:formatCode>
                <c:ptCount val="3"/>
                <c:pt idx="0">
                  <c:v>0.93</c:v>
                </c:pt>
                <c:pt idx="1">
                  <c:v>0.7</c:v>
                </c:pt>
                <c:pt idx="2">
                  <c:v>0.77</c:v>
                </c:pt>
              </c:numCache>
            </c:numRef>
          </c:val>
        </c:ser>
        <c:dLbls>
          <c:numFmt formatCode="0.00" sourceLinked="0"/>
          <c:txPr>
            <a:bodyPr/>
            <a:lstStyle/>
            <a:p>
              <a:pPr>
                <a:defRPr b="1" i="0" strike="noStrike" sz="1500" u="none">
                  <a:solidFill>
                    <a:srgbClr val="0B2F3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4202E"/>
                </a:solidFill>
                <a:latin typeface="+mn-lt"/>
              </a:defRPr>
            </a:pPr>
            <a:endParaRPr lang="en-US"/>
          </a:p>
        </c:txPr>
        <c:crossAx val="2094734552"/>
        <c:crosses val="autoZero"/>
        <c:auto val="1"/>
        <c:lblAlgn val="ctr"/>
        <c:noMultiLvlLbl val="1"/>
      </c:catAx>
      <c:valAx>
        <c:axId val="2094734552"/>
        <c:scaling>
          <c:orientation val="minMax"/>
          <c:max val="1.05"/>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ECE</c:v>
                </c:pt>
              </c:strCache>
            </c:strRef>
          </c:tx>
          <c:spPr>
            <a:solidFill>
              <a:srgbClr val="E8643A"/>
            </a:solidFill>
            <a:effectLst/>
          </c:spPr>
          <c:invertIfNegative val="0"/>
          <c:dLbls>
            <c:numFmt formatCode="0.000" sourceLinked="0"/>
            <c:txPr>
              <a:bodyPr/>
              <a:lstStyle/>
              <a:p>
                <a:pPr>
                  <a:defRPr b="1" i="0" strike="noStrike" sz="1500" u="none">
                    <a:solidFill>
                      <a:srgbClr val="0B2F3F"/>
                    </a:solidFill>
                    <a:latin typeface="+mn-lt"/>
                  </a:defRPr>
                </a:pPr>
              </a:p>
            </c:txPr>
            <c:showLegendKey val="0"/>
            <c:showVal val="1"/>
            <c:showCatName val="0"/>
            <c:showSerName val="0"/>
            <c:showPercent val="0"/>
            <c:showBubbleSize val="0"/>
            <c:showLeaderLines val="0"/>
          </c:dLbls>
          <c:dPt>
            <c:idx val="0"/>
            <c:invertIfNegative val="0"/>
            <c:bubble3D val="0"/>
            <c:spPr>
              <a:solidFill>
                <a:srgbClr val="E8643A"/>
              </a:solidFill>
              <a:effectLst/>
            </c:spPr>
          </c:dPt>
          <c:dPt>
            <c:idx val="1"/>
            <c:invertIfNegative val="0"/>
            <c:bubble3D val="0"/>
            <c:spPr>
              <a:solidFill>
                <a:srgbClr val="0F766E"/>
              </a:solidFill>
              <a:effectLst/>
            </c:spPr>
          </c:dPt>
          <c:cat>
            <c:multiLvlStrRef>
              <c:f>Sheet1!$A$2:$A$3</c:f>
              <c:multiLvlStrCache>
                <c:ptCount val="2"/>
                <c:lvl>
                  <c:pt idx="0">
                    <c:v>Zero-shot</c:v>
                  </c:pt>
                  <c:pt idx="1">
                    <c:v>Recalibrated</c:v>
                  </c:pt>
                </c:lvl>
              </c:multiLvlStrCache>
            </c:multiLvlStrRef>
          </c:cat>
          <c:val>
            <c:numRef>
              <c:f>Sheet1!$B$2:$B$3</c:f>
              <c:numCache>
                <c:formatCode>General</c:formatCode>
                <c:ptCount val="2"/>
                <c:pt idx="0">
                  <c:v>0.136</c:v>
                </c:pt>
                <c:pt idx="1">
                  <c:v>0.024</c:v>
                </c:pt>
              </c:numCache>
            </c:numRef>
          </c:val>
        </c:ser>
        <c:dLbls>
          <c:numFmt formatCode="0.000" sourceLinked="0"/>
          <c:txPr>
            <a:bodyPr/>
            <a:lstStyle/>
            <a:p>
              <a:pPr>
                <a:defRPr b="1" i="0" strike="noStrike" sz="1500" u="none">
                  <a:solidFill>
                    <a:srgbClr val="0B2F3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4202E"/>
                </a:solidFill>
                <a:latin typeface="+mn-lt"/>
              </a:defRPr>
            </a:pPr>
            <a:endParaRPr lang="en-US"/>
          </a:p>
        </c:txPr>
        <c:crossAx val="2094734552"/>
        <c:crosses val="autoZero"/>
        <c:auto val="1"/>
        <c:lblAlgn val="ctr"/>
        <c:noMultiLvlLbl val="1"/>
      </c:catAx>
      <c:valAx>
        <c:axId val="2094734552"/>
        <c:scaling>
          <c:orientation val="minMax"/>
          <c:max val="0.16"/>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AUPRC</c:v>
                </c:pt>
              </c:strCache>
            </c:strRef>
          </c:tx>
          <c:spPr>
            <a:solidFill>
              <a:srgbClr val="C9D3DD"/>
            </a:solidFill>
            <a:effectLst/>
          </c:spPr>
          <c:invertIfNegative val="0"/>
          <c:dLbls>
            <c:numFmt formatCode="0.00" sourceLinked="0"/>
            <c:txPr>
              <a:bodyPr/>
              <a:lstStyle/>
              <a:p>
                <a:pPr>
                  <a:defRPr b="1" i="0" strike="noStrike" sz="1500" u="none">
                    <a:solidFill>
                      <a:srgbClr val="0B2F3F"/>
                    </a:solidFill>
                    <a:latin typeface="+mn-lt"/>
                  </a:defRPr>
                </a:pPr>
              </a:p>
            </c:txPr>
            <c:showLegendKey val="0"/>
            <c:showVal val="1"/>
            <c:showCatName val="0"/>
            <c:showSerName val="0"/>
            <c:showPercent val="0"/>
            <c:showBubbleSize val="0"/>
            <c:showLeaderLines val="0"/>
          </c:dLbls>
          <c:dPt>
            <c:idx val="0"/>
            <c:invertIfNegative val="0"/>
            <c:bubble3D val="0"/>
            <c:spPr>
              <a:solidFill>
                <a:srgbClr val="C9D3DD"/>
              </a:solidFill>
              <a:effectLst/>
            </c:spPr>
          </c:dPt>
          <c:dPt>
            <c:idx val="1"/>
            <c:invertIfNegative val="0"/>
            <c:bubble3D val="0"/>
            <c:spPr>
              <a:solidFill>
                <a:srgbClr val="8CCBC4"/>
              </a:solidFill>
              <a:effectLst/>
            </c:spPr>
          </c:dPt>
          <c:dPt>
            <c:idx val="2"/>
            <c:invertIfNegative val="0"/>
            <c:bubble3D val="0"/>
            <c:spPr>
              <a:solidFill>
                <a:srgbClr val="0F766E"/>
              </a:solidFill>
              <a:effectLst/>
            </c:spPr>
          </c:dPt>
          <c:dPt>
            <c:idx val="3"/>
            <c:invertIfNegative val="0"/>
            <c:bubble3D val="0"/>
            <c:spPr>
              <a:solidFill>
                <a:srgbClr val="F4B79E"/>
              </a:solidFill>
              <a:effectLst/>
            </c:spPr>
          </c:dPt>
          <c:dPt>
            <c:idx val="4"/>
            <c:invertIfNegative val="0"/>
            <c:bubble3D val="0"/>
            <c:spPr>
              <a:solidFill>
                <a:srgbClr val="F4B79E"/>
              </a:solidFill>
              <a:effectLst/>
            </c:spPr>
          </c:dPt>
          <c:dPt>
            <c:idx val="5"/>
            <c:invertIfNegative val="0"/>
            <c:bubble3D val="0"/>
            <c:spPr>
              <a:solidFill>
                <a:srgbClr val="F4B79E"/>
              </a:solidFill>
              <a:effectLst/>
            </c:spPr>
          </c:dPt>
          <c:cat>
            <c:multiLvlStrRef>
              <c:f>Sheet1!$A$2:$A$7</c:f>
              <c:multiLvlStrCache>
                <c:ptCount val="6"/>
                <c:lvl>
                  <c:pt idx="0">
                    <c:v>Trend extrapolation</c:v>
                  </c:pt>
                  <c:pt idx="1">
                    <c:v>Synthetic-trained, zero-shot</c:v>
                  </c:pt>
                  <c:pt idx="2">
                    <c:v>Real-trained, CGM only</c:v>
                  </c:pt>
                  <c:pt idx="3">
                    <c:v>+ health record (24 fields)</c:v>
                  </c:pt>
                  <c:pt idx="4">
                    <c:v>+ record + logged doses</c:v>
                  </c:pt>
                  <c:pt idx="5">
                    <c:v>+ full clinical record</c:v>
                  </c:pt>
                </c:lvl>
              </c:multiLvlStrCache>
            </c:multiLvlStrRef>
          </c:cat>
          <c:val>
            <c:numRef>
              <c:f>Sheet1!$B$2:$B$7</c:f>
              <c:numCache>
                <c:formatCode>General</c:formatCode>
                <c:ptCount val="6"/>
                <c:pt idx="0">
                  <c:v>0.146</c:v>
                </c:pt>
                <c:pt idx="1">
                  <c:v>0.214</c:v>
                </c:pt>
                <c:pt idx="2">
                  <c:v>0.341</c:v>
                </c:pt>
                <c:pt idx="3">
                  <c:v>0.327</c:v>
                </c:pt>
                <c:pt idx="4">
                  <c:v>0.321</c:v>
                </c:pt>
                <c:pt idx="5">
                  <c:v>0.3</c:v>
                </c:pt>
              </c:numCache>
            </c:numRef>
          </c:val>
        </c:ser>
        <c:dLbls>
          <c:numFmt formatCode="0.00" sourceLinked="0"/>
          <c:txPr>
            <a:bodyPr/>
            <a:lstStyle/>
            <a:p>
              <a:pPr>
                <a:defRPr b="1" i="0" strike="noStrike" sz="1500" u="none">
                  <a:solidFill>
                    <a:srgbClr val="0B2F3F"/>
                  </a:solidFill>
                  <a:latin typeface="+mn-lt"/>
                </a:defRPr>
              </a:pPr>
            </a:p>
          </c:txPr>
          <c:showLegendKey val="0"/>
          <c:showVal val="1"/>
          <c:showCatName val="0"/>
          <c:showSerName val="0"/>
          <c:showPercent val="0"/>
          <c:showBubbleSize val="0"/>
          <c:showLeaderLines val="0"/>
        </c:dLbls>
        <c:gapWidth val="38"/>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4202E"/>
                </a:solidFill>
                <a:latin typeface="+mn-lt"/>
              </a:defRPr>
            </a:pPr>
            <a:endParaRPr lang="en-US"/>
          </a:p>
        </c:txPr>
        <c:crossAx val="2094734552"/>
        <c:crosses val="autoZero"/>
        <c:auto val="1"/>
        <c:lblAlgn val="ctr"/>
        <c:noMultiLvlLbl val="1"/>
      </c:catAx>
      <c:valAx>
        <c:axId val="2094734552"/>
        <c:scaling>
          <c:orientation val="minMax"/>
          <c:max val="0.42"/>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CGM only</c:v>
                </c:pt>
              </c:strCache>
            </c:strRef>
          </c:tx>
          <c:spPr>
            <a:solidFill>
              <a:srgbClr val="0F766E"/>
            </a:solidFill>
            <a:ln w="50800" cap="flat">
              <a:solidFill>
                <a:srgbClr val="0F766E"/>
              </a:solidFill>
              <a:prstDash val="solid"/>
              <a:round/>
            </a:ln>
            <a:effectLst/>
          </c:spPr>
          <c:invertIfNegative val="0"/>
          <c:dLbls>
            <c:numFmt formatCode="#,##0" sourceLinked="0"/>
            <c:txPr>
              <a:bodyPr/>
              <a:lstStyle/>
              <a:p>
                <a:pPr>
                  <a:defRPr b="1" i="0" strike="noStrike" sz="1500" u="none">
                    <a:solidFill>
                      <a:srgbClr val="0B2F3F"/>
                    </a:solidFill>
                    <a:latin typeface="+mn-lt"/>
                  </a:defRPr>
                </a:pPr>
              </a:p>
            </c:txPr>
            <c:showLegendKey val="0"/>
            <c:showVal val="0"/>
            <c:showCatName val="0"/>
            <c:showSerName val="0"/>
            <c:showPercent val="0"/>
            <c:showBubbleSize val="0"/>
            <c:showLeaderLines val="0"/>
          </c:dLbls>
          <c:marker>
            <c:symbol val="circle"/>
            <c:size val="11"/>
            <c:spPr>
              <a:solidFill>
                <a:srgbClr val="0F766E"/>
              </a:solidFill>
              <a:ln w="9525" cap="flat">
                <a:solidFill>
                  <a:srgbClr val="0F766E"/>
                </a:solidFill>
                <a:prstDash val="solid"/>
                <a:round/>
              </a:ln>
              <a:effectLst/>
            </c:spPr>
          </c:marker>
          <c:cat>
            <c:multiLvlStrRef>
              <c:f>Sheet1!$A$2:$A$6</c:f>
              <c:multiLvlStrCache>
                <c:ptCount val="5"/>
                <c:lvl>
                  <c:pt idx="0">
                    <c:v>0 h</c:v>
                  </c:pt>
                  <c:pt idx="1">
                    <c:v>30 min</c:v>
                  </c:pt>
                  <c:pt idx="2">
                    <c:v>1 h</c:v>
                  </c:pt>
                  <c:pt idx="3">
                    <c:v>2 h</c:v>
                  </c:pt>
                  <c:pt idx="4">
                    <c:v>6 h</c:v>
                  </c:pt>
                </c:lvl>
              </c:multiLvlStrCache>
            </c:multiLvlStrRef>
          </c:cat>
          <c:val>
            <c:numRef>
              <c:f>Sheet1!$B$2:$B$6</c:f>
              <c:numCache>
                <c:formatCode>General</c:formatCode>
                <c:ptCount val="5"/>
                <c:pt idx="0">
                  <c:v>0.41</c:v>
                </c:pt>
                <c:pt idx="1">
                  <c:v>0.88</c:v>
                </c:pt>
                <c:pt idx="2">
                  <c:v>0.88</c:v>
                </c:pt>
                <c:pt idx="3">
                  <c:v>0.9</c:v>
                </c:pt>
                <c:pt idx="4">
                  <c:v>0.89</c:v>
                </c:pt>
              </c:numCache>
            </c:numRef>
          </c:val>
          <c:smooth val="0"/>
        </c:ser>
        <c:ser>
          <c:idx val="1"/>
          <c:order val="1"/>
          <c:tx>
            <c:strRef>
              <c:f>Sheet1!$C$1</c:f>
              <c:strCache>
                <c:ptCount val="1"/>
                <c:pt idx="0">
                  <c:v>CGM + health record</c:v>
                </c:pt>
              </c:strCache>
            </c:strRef>
          </c:tx>
          <c:spPr>
            <a:solidFill>
              <a:srgbClr val="E8643A"/>
            </a:solidFill>
            <a:ln w="50800" cap="flat">
              <a:solidFill>
                <a:srgbClr val="E8643A"/>
              </a:solidFill>
              <a:prstDash val="solid"/>
              <a:round/>
            </a:ln>
            <a:effectLst/>
          </c:spPr>
          <c:invertIfNegative val="0"/>
          <c:dLbls>
            <c:numFmt formatCode="#,##0" sourceLinked="0"/>
            <c:txPr>
              <a:bodyPr/>
              <a:lstStyle/>
              <a:p>
                <a:pPr>
                  <a:defRPr b="1" i="0" strike="noStrike" sz="1500" u="none">
                    <a:solidFill>
                      <a:srgbClr val="0B2F3F"/>
                    </a:solidFill>
                    <a:latin typeface="+mn-lt"/>
                  </a:defRPr>
                </a:pPr>
              </a:p>
            </c:txPr>
            <c:showLegendKey val="0"/>
            <c:showVal val="0"/>
            <c:showCatName val="0"/>
            <c:showSerName val="0"/>
            <c:showPercent val="0"/>
            <c:showBubbleSize val="0"/>
            <c:showLeaderLines val="0"/>
          </c:dLbls>
          <c:marker>
            <c:symbol val="circle"/>
            <c:size val="11"/>
            <c:spPr>
              <a:solidFill>
                <a:srgbClr val="E8643A"/>
              </a:solidFill>
              <a:ln w="9525" cap="flat">
                <a:solidFill>
                  <a:srgbClr val="E8643A"/>
                </a:solidFill>
                <a:prstDash val="solid"/>
                <a:round/>
              </a:ln>
              <a:effectLst/>
            </c:spPr>
          </c:marker>
          <c:cat>
            <c:multiLvlStrRef>
              <c:f>Sheet1!$A$2:$A$6</c:f>
              <c:multiLvlStrCache>
                <c:ptCount val="5"/>
                <c:lvl>
                  <c:pt idx="0">
                    <c:v>0 h</c:v>
                  </c:pt>
                  <c:pt idx="1">
                    <c:v>30 min</c:v>
                  </c:pt>
                  <c:pt idx="2">
                    <c:v>1 h</c:v>
                  </c:pt>
                  <c:pt idx="3">
                    <c:v>2 h</c:v>
                  </c:pt>
                  <c:pt idx="4">
                    <c:v>6 h</c:v>
                  </c:pt>
                </c:lvl>
              </c:multiLvlStrCache>
            </c:multiLvlStrRef>
          </c:cat>
          <c:val>
            <c:numRef>
              <c:f>Sheet1!$C$2:$C$6</c:f>
              <c:numCache>
                <c:formatCode>General</c:formatCode>
                <c:ptCount val="5"/>
                <c:pt idx="0">
                  <c:v>0.54</c:v>
                </c:pt>
                <c:pt idx="1">
                  <c:v>0.87</c:v>
                </c:pt>
                <c:pt idx="2">
                  <c:v>0.88</c:v>
                </c:pt>
                <c:pt idx="3">
                  <c:v>0.89</c:v>
                </c:pt>
                <c:pt idx="4">
                  <c:v>0.89</c:v>
                </c:pt>
              </c:numCache>
            </c:numRef>
          </c:val>
          <c:smooth val="0"/>
        </c:ser>
        <c:dLbls>
          <c:numFmt formatCode="#,##0" sourceLinked="0"/>
          <c:txPr>
            <a:bodyPr/>
            <a:lstStyle/>
            <a:p>
              <a:pPr>
                <a:defRPr b="1" i="0" strike="noStrike" sz="1500" u="none">
                  <a:solidFill>
                    <a:srgbClr val="0B2F3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4202E"/>
                </a:solidFill>
                <a:latin typeface="+mn-lt"/>
              </a:defRPr>
            </a:pPr>
            <a:endParaRPr lang="en-US"/>
          </a:p>
        </c:txPr>
        <c:crossAx val="2094734552"/>
        <c:crosses val="autoZero"/>
        <c:auto val="1"/>
        <c:lblAlgn val="ctr"/>
        <c:noMultiLvlLbl val="1"/>
      </c:catAx>
      <c:valAx>
        <c:axId val="2094734552"/>
        <c:scaling>
          <c:orientation val="minMax"/>
          <c:max val="1"/>
          <c:min val="0.3"/>
        </c:scaling>
        <c:delete val="0"/>
        <c:axPos val="l"/>
        <c:majorGridlines>
          <c:spPr>
            <a:ln w="9525" cap="flat">
              <a:solidFill>
                <a:srgbClr val="E6ECF1"/>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7A8797"/>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200">
              <a:solidFill>
                <a:srgbClr val="14202E"/>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One sentence: we built a digital twin of a person with Type 2 diabetes that combines their health record with wearable data, predicts dangerous high and low glucose two hours ahead, explains why, and lets a clinician test 'what if' safely on the twin. Then we checked every claim on real patient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in India: about 101 million people with diabetes. Post-meal spikes from carbohydrate-heavy meals, and lows from cheap, widely used sulfonylureas and insulin, especially at night. The clinician sees an HbA1c every few months; the events happen within hours. The data to see them coming exists, but in two separate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capabilities. Predict both events two hours ahead. Alert in a way a clinic can live with. Explain every alert. Simulate changes on a personalised twin before trying them on the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Synthetic EHR cohort and a physiology simulator generate the data; a linker joins records to devices; rolling 6-hour windows and a static EHR vector feed the models; we evaluate with patient-level rigour and on real data; the models power the twin, the Streamlit dashboard and a FHIR API. The teal box marks real external data, used to check us and to train the real-patient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real linked EHR plus wearable data for Indian patients is not publicly available, so we built a physiology simulator. It is labelled synthetic in the code, the docs and on the dashboard banner. Because the simulator wires EHR traits into glucose, we treated any EHR benefit here as unproven until tested on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habits are why we trust our own numbers. In particular, splitting by patient and scoring only onset windows removes the two most common ways glucose models look better than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metric for rare lows is AUPRC, where chance is about 0.02. Trend extrapolation 0.19, LightGBM on CGM 0.65, with wearables and EHR 0.71. Highs 0.38, 0.72, 0.74. The deep GRU model did not beat LightGBM and wearables added nothing, so we chose the simpler, explainable, calibrated model. Say clearly: synthetic numbers are optimistic.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is not enough; alarm fatigue kills alerting systems. One alert per episode, a 90-minute refractory period, never while the CGM already reads low, thresholds chosen on validation patients. Synthetic test patients: 76% of lows warned 30 minutes ahead at about one alert every two days. Then the honest part: the same policy on 100 real patients, with a model trained on real data, warns of 35% of lows 30 minutes ahead (53% at 15 minutes) at 0.6 alerts a day. Real lows arrive faster than simulated ones; the synthetic figure is an upper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live replay tab in the video. The record plays forward; the model only ever sees data up to the moving line. At 08:25 the hypo risk crosses the threshold and the alert pops up with its two main reasons. The low arrives at 09:40: 75 minutes of warning. The summary below the chart also lists false alerts and missed episodes.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Clinicians will not act on a black box. Each risk is decomposed with TreeSHAP into contributions from each input, grouped by data stream. Here: current glucose 70, a sulfonylurea dose, and the time of day drive a 95% hypo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twin is not just the classifier. It is a physiology model fitted to each patient's own first week, which halves the error on the following week (5.9 versus 12.1 mg/dL). The clinician can try a late dinner, a skipped meal, poor sleep or an extra dose. The shaded band is a conformal 80% interval: on unseen test patients the real CGM fell inside it 79% of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most teams will skip. Synthetic results are only as good as the simulator, so we checked on two public real datasets: CGMacros from PhysioNet and ShanghaiT2DM, the first with real linked EHR and CGM for the same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14 real adults with T2D, our synthetic-trained model still ranks risk better than chance (AUROC 0.70) and beats simple trend extrapolation, but far below the 0.93 on synthetic data. We report that openly. Its probabilities were off; Platt recalibration fitted on the other participants cuts the calibration error from 0.136 to 0.024.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ShanghaiT2DM: 100 real patients, CGM plus their own records and logged insulin and tablets. Trained with patient-grouped cross-validation, the CGM model predicts real lows with AUROC 0.89, nocturnal 0.91. Our synthetic-trained model, applied unchanged, still beats trend extrapolation on lows. But adding the EHR did not help: not the 24 fields, not logged doses, not the full clinical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asked where the record should matter most: a new patient with little or no CGM. With no CGM at all, the EHR carries a small real signal, AUROC 0.54 instead of chance. With just 30 minutes of CGM the CGM model reaches 0.88 and the EHR adds nothing. The EHR is useful for stratifying who to watch and personalising the twin, not for the 2-hour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integrity slide. We changed our own headline claim when real data disagreed with the simulator. That is exactly what a clinical team needs to see before trusting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here is ready for patients. The deployment path is four evidence steps and a compliance frame: DPDP Act and Rules for consent and security, ABDM consent flows to link a patient's record to their device, CDSCO software-as-a-medical-device classification, ICMR AI ethics. Our real-data result means step 1 must test the EHR's value, not assume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can rerun everything: one command regenerates the data, trains every model and rewrites every report. 140 tests cover leakage, metrics, the simulator, the twin, the dashboard and the FHIR API, and run on every push. The dashboard is deployed, and a FHIR API lets a hospital system send a record and get a standard risk assessment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limits before a judge does. The default model is synthetic-trained and the real-trained one has seen only 100 patients; real checks are not Indian; insulin users' lows remain hard; and a real twin would need meal and dose logging at the moment they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ideas: early warning, explanations, honesty. Ask: access to real linked records from Indian clinics and a diabetologist partner for the silent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HERO-image-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SECTION-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Users\Akhilesh\AppData\Local\Temp\claude\C--Users-Akhilesh-Desktop-Claude-code-Happiest-Health\47a587f0-c947-456b-8324-0bf75adb31d4\scratchpad\deck\img\wave_hero.png">    </p:cNvPr>
          <p:cNvPicPr>
            <a:picLocks noChangeAspect="1"/>
          </p:cNvPicPr>
          <p:nvPr/>
        </p:nvPicPr>
        <p:blipFill>
          <a:blip r:embed="rId1"/>
          <a:stretch>
            <a:fillRect/>
          </a:stretch>
        </p:blipFill>
        <p:spPr>
          <a:xfrm>
            <a:off x="0" y="2788920"/>
            <a:ext cx="12191695" cy="4267093"/>
          </a:xfrm>
          <a:prstGeom prst="rect">
            <a:avLst/>
          </a:prstGeom>
        </p:spPr>
      </p:pic>
      <p:sp>
        <p:nvSpPr>
          <p:cNvPr id="3" name="Text 0"/>
          <p:cNvSpPr/>
          <p:nvPr>
            <p:ph idx="101" type="title" hasCustomPrompt="1"/>
          </p:nvPr>
        </p:nvSpPr>
        <p:spPr>
          <a:xfrm>
            <a:off x="685800" y="868680"/>
            <a:ext cx="8595360" cy="1783080"/>
          </a:xfrm>
          <a:prstGeom prst="rect">
            <a:avLst/>
          </a:prstGeom>
          <a:noFill/>
          <a:ln/>
        </p:spPr>
        <p:txBody>
          <a:bodyPr wrap="square" rtlCol="0"/>
          <a:lstStyle>
            <a:lvl1pPr algn="l" indent="0" marL="0">
              <a:buNone/>
              <a:defRPr lang="en-US" sz="4000" b="1" dirty="0">
                <a:solidFill>
                  <a:schemeClr val="bg1"/>
                </a:solidFill>
                <a:latin typeface="Georgia" pitchFamily="34" charset="0"/>
                <a:ea typeface="Georgia" pitchFamily="34" charset="-122"/>
                <a:cs typeface="Georgia" pitchFamily="34" charset="-120"/>
              </a:defRPr>
            </a:lvl1pPr>
          </a:lstStyle>
          <a:p>
            <a:pPr algn="l" indent="0" marL="0">
              <a:buNone/>
            </a:pPr>
            <a:endParaRPr lang="en-US" sz="4000" dirty="0"/>
          </a:p>
        </p:txBody>
      </p:sp>
      <p:sp>
        <p:nvSpPr>
          <p:cNvPr id="4" name="Text 0"/>
          <p:cNvSpPr/>
          <p:nvPr>
            <p:ph idx="102" type="body" hasCustomPrompt="1"/>
          </p:nvPr>
        </p:nvSpPr>
        <p:spPr>
          <a:xfrm>
            <a:off x="685800" y="2743200"/>
            <a:ext cx="8229600" cy="548640"/>
          </a:xfrm>
          <a:prstGeom prst="rect">
            <a:avLst/>
          </a:prstGeom>
          <a:noFill/>
          <a:ln/>
        </p:spPr>
        <p:txBody>
          <a:bodyPr wrap="square" rtlCol="0"/>
          <a:lstStyle>
            <a:lvl1pPr algn="l" indent="0" marL="0">
              <a:buNone/>
              <a:defRPr lang="en-US" sz="1800" dirty="0">
                <a:solidFill>
                  <a:schemeClr val="accent4"/>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Users\Akhilesh\AppData\Local\Temp\claude\C--Users-Akhilesh-Desktop-Claude-code-Happiest-Health\47a587f0-c947-456b-8324-0bf75adb31d4\scratchpad\deck\img\wave_section.png">    </p:cNvPr>
          <p:cNvPicPr>
            <a:picLocks noChangeAspect="1"/>
          </p:cNvPicPr>
          <p:nvPr/>
        </p:nvPicPr>
        <p:blipFill>
          <a:blip r:embed="rId1"/>
          <a:stretch>
            <a:fillRect/>
          </a:stretch>
        </p:blipFill>
        <p:spPr>
          <a:xfrm>
            <a:off x="0" y="4526280"/>
            <a:ext cx="12191695" cy="3047924"/>
          </a:xfrm>
          <a:prstGeom prst="rect">
            <a:avLst/>
          </a:prstGeom>
        </p:spPr>
      </p:pic>
      <p:sp>
        <p:nvSpPr>
          <p:cNvPr id="3" name="Text 0"/>
          <p:cNvSpPr/>
          <p:nvPr>
            <p:ph idx="101" type="title" hasCustomPrompt="1"/>
          </p:nvPr>
        </p:nvSpPr>
        <p:spPr>
          <a:xfrm>
            <a:off x="685800" y="1600200"/>
            <a:ext cx="10058400" cy="1097280"/>
          </a:xfrm>
          <a:prstGeom prst="rect">
            <a:avLst/>
          </a:prstGeom>
          <a:noFill/>
          <a:ln/>
        </p:spPr>
        <p:txBody>
          <a:bodyPr wrap="square" rtlCol="0"/>
          <a:lstStyle>
            <a:lvl1pPr algn="l" indent="0" marL="0">
              <a:buNone/>
              <a:defRPr lang="en-US" sz="4000" b="1" dirty="0">
                <a:solidFill>
                  <a:schemeClr val="bg1"/>
                </a:solidFill>
                <a:latin typeface="Georgia" pitchFamily="34" charset="0"/>
                <a:ea typeface="Georgia" pitchFamily="34" charset="-122"/>
                <a:cs typeface="Georgia" pitchFamily="34" charset="-120"/>
              </a:defRPr>
            </a:lvl1pPr>
          </a:lstStyle>
          <a:p>
            <a:pPr algn="l" indent="0" marL="0">
              <a:buNone/>
            </a:pPr>
            <a:endParaRPr lang="en-US" sz="4000" dirty="0"/>
          </a:p>
        </p:txBody>
      </p:sp>
      <p:sp>
        <p:nvSpPr>
          <p:cNvPr id="4" name="Text 0"/>
          <p:cNvSpPr/>
          <p:nvPr>
            <p:ph idx="102" type="body" hasCustomPrompt="1"/>
          </p:nvPr>
        </p:nvSpPr>
        <p:spPr>
          <a:xfrm>
            <a:off x="685800" y="2834640"/>
            <a:ext cx="9144000" cy="8229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94360" y="566928"/>
            <a:ext cx="11002975" cy="658368"/>
          </a:xfrm>
          <a:prstGeom prst="rect">
            <a:avLst/>
          </a:prstGeom>
          <a:noFill/>
          <a:ln/>
        </p:spPr>
        <p:txBody>
          <a:bodyPr wrap="square" rtlCol="0"/>
          <a:lstStyle>
            <a:lvl1pPr algn="l" indent="0" marL="0">
              <a:buNone/>
              <a:defRPr lang="en-US" sz="3000" b="1" dirty="0">
                <a:solidFill>
                  <a:schemeClr val="tx2"/>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3" name="Text 0"/>
          <p:cNvSpPr/>
          <p:nvPr/>
        </p:nvSpPr>
        <p:spPr>
          <a:xfrm>
            <a:off x="594360" y="6446520"/>
            <a:ext cx="8229600" cy="256032"/>
          </a:xfrm>
          <a:prstGeom prst="rect">
            <a:avLst/>
          </a:prstGeom>
          <a:noFill/>
          <a:ln/>
        </p:spPr>
        <p:txBody>
          <a:bodyPr wrap="square" lIns="0" tIns="0" rIns="0" bIns="0" rtlCol="0" anchor="ctr"/>
          <a:lstStyle/>
          <a:p>
            <a:pPr indent="0" marL="0">
              <a:buNone/>
            </a:pPr>
            <a:r>
              <a:rPr lang="en-US" sz="900" dirty="0">
                <a:solidFill>
                  <a:schemeClr val="accent6"/>
                </a:solidFill>
              </a:rPr>
              <a:t>Glycaemic Digital Twin  ·  Research prototype, not for clinical use</a:t>
            </a:r>
            <a:endParaRPr lang="en-US" sz="900" dirty="0"/>
          </a:p>
        </p:txBody>
      </p:sp>
      <p:sp>
        <p:nvSpPr>
          <p:cNvPr id="25" name="Slide Number Placeholder 0"/>
          <p:cNvSpPr>
            <a:spLocks noGrp="1"/>
          </p:cNvSpPr>
          <p:nvPr>
            <p:ph type="sldNum" sz="quarter" idx="4294967295"/>
          </p:nvPr>
        </p:nvSpPr>
        <p:spPr>
          <a:xfrm>
            <a:off x="11140135"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4.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4.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slideLayout" Target="../slideLayouts/slideLayout4.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4.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image" Target="../media/image-13-1.png"/><Relationship Id="rId4" Type="http://schemas.openxmlformats.org/officeDocument/2006/relationships/image" Target="../media/image-13-2.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15-1.png"/><Relationship Id="rId3" Type="http://schemas.openxmlformats.org/officeDocument/2006/relationships/image" Target="../media/image-15-2.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1.png"/><Relationship Id="rId3" Type="http://schemas.openxmlformats.org/officeDocument/2006/relationships/image" Target="../media/image-16-1.png"/><Relationship Id="rId4" Type="http://schemas.openxmlformats.org/officeDocument/2006/relationships/image" Target="../media/image-16-1.png"/><Relationship Id="rId5" Type="http://schemas.openxmlformats.org/officeDocument/2006/relationships/image" Target="../media/image-16-1.png"/><Relationship Id="rId6" Type="http://schemas.openxmlformats.org/officeDocument/2006/relationships/image" Target="../media/image-16-6.png"/><Relationship Id="rId7" Type="http://schemas.openxmlformats.org/officeDocument/2006/relationships/image" Target="../media/image-16-6.png"/><Relationship Id="rId8" Type="http://schemas.openxmlformats.org/officeDocument/2006/relationships/image" Target="../media/image-16-6.png"/><Relationship Id="rId9" Type="http://schemas.openxmlformats.org/officeDocument/2006/relationships/slideLayout" Target="../slideLayouts/slideLayout4.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4.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4.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4.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85800" y="502920"/>
            <a:ext cx="8229600" cy="274320"/>
          </a:xfrm>
          <a:prstGeom prst="rect">
            <a:avLst/>
          </a:prstGeom>
          <a:noFill/>
          <a:ln/>
        </p:spPr>
        <p:txBody>
          <a:bodyPr wrap="square" lIns="0" tIns="0" rIns="0" bIns="0" rtlCol="0" anchor="t"/>
          <a:lstStyle/>
          <a:p>
            <a:pPr indent="0" marL="0">
              <a:buNone/>
            </a:pPr>
            <a:r>
              <a:rPr lang="en-US" sz="1100" b="1" spc="300" kern="0" dirty="0">
                <a:solidFill>
                  <a:schemeClr val="accent4"/>
                </a:solidFill>
              </a:rPr>
              <a:t>HAPPIEST HEALTH DIGITAL TWIN CHALLENGE 2026</a:t>
            </a:r>
            <a:endParaRPr lang="en-US" sz="1100" dirty="0"/>
          </a:p>
        </p:txBody>
      </p:sp>
      <p:sp>
        <p:nvSpPr>
          <p:cNvPr id="3" name="Text 0"/>
          <p:cNvSpPr/>
          <p:nvPr>
            <p:ph idx="101" type="title" hasCustomPrompt="1"/>
          </p:nvPr>
        </p:nvSpPr>
        <p:spPr>
          <a:xfrm>
            <a:off x="685800" y="868680"/>
            <a:ext cx="8595360" cy="1783080"/>
          </a:xfrm>
          <a:prstGeom prst="rect">
            <a:avLst/>
          </a:prstGeom>
          <a:noFill/>
          <a:ln/>
        </p:spPr>
        <p:txBody>
          <a:bodyPr wrap="square" lIns="0" tIns="0" rIns="0" bIns="0" rtlCol="0" anchor="b"/>
          <a:lstStyle/>
          <a:p>
            <a:pPr algn="l" indent="0" marL="0">
              <a:buNone/>
            </a:pPr>
            <a:r>
              <a:rPr lang="en-US" sz="4000" b="1" dirty="0">
                <a:solidFill>
                  <a:schemeClr val="bg1"/>
                </a:solidFill>
                <a:latin typeface="Georgia" pitchFamily="34" charset="0"/>
                <a:ea typeface="Georgia" pitchFamily="34" charset="-122"/>
                <a:cs typeface="Georgia" pitchFamily="34" charset="-120"/>
              </a:rPr>
              <a:t>A glycaemic digital twin that warns of highs and lows two hours ahead</a:t>
            </a:r>
            <a:endParaRPr lang="en-US" sz="4000" dirty="0"/>
          </a:p>
        </p:txBody>
      </p:sp>
      <p:sp>
        <p:nvSpPr>
          <p:cNvPr id="4" name="Text 0"/>
          <p:cNvSpPr/>
          <p:nvPr>
            <p:ph idx="102" type="body" hasCustomPrompt="1"/>
          </p:nvPr>
        </p:nvSpPr>
        <p:spPr>
          <a:xfrm>
            <a:off x="685800" y="2743200"/>
            <a:ext cx="8229600" cy="548640"/>
          </a:xfrm>
          <a:prstGeom prst="rect">
            <a:avLst/>
          </a:prstGeom>
          <a:noFill/>
          <a:ln/>
        </p:spPr>
        <p:txBody>
          <a:bodyPr wrap="square" lIns="0" tIns="0" rIns="0" bIns="0" rtlCol="0" anchor="t"/>
          <a:lstStyle/>
          <a:p>
            <a:pPr algn="l" indent="0" marL="0">
              <a:buNone/>
            </a:pPr>
            <a:r>
              <a:rPr lang="en-US" sz="1800" dirty="0">
                <a:solidFill>
                  <a:schemeClr val="accent4"/>
                </a:solidFill>
              </a:rPr>
              <a:t>Type 2 diabetes  ·  health record + wearables  ·  explained, personalised, tested on real patients</a:t>
            </a:r>
            <a:endParaRPr lang="en-US" sz="1800" dirty="0"/>
          </a:p>
        </p:txBody>
      </p:sp>
      <p:sp>
        <p:nvSpPr>
          <p:cNvPr id="5" name="Text 3"/>
          <p:cNvSpPr txBox="1"/>
          <p:nvPr/>
        </p:nvSpPr>
        <p:spPr>
          <a:xfrm>
            <a:off x="685800" y="5989320"/>
            <a:ext cx="6400800" cy="320040"/>
          </a:xfrm>
          <a:prstGeom prst="rect">
            <a:avLst/>
          </a:prstGeom>
          <a:noFill/>
          <a:ln/>
        </p:spPr>
        <p:txBody>
          <a:bodyPr wrap="square" lIns="0" tIns="0" rIns="0" bIns="0" rtlCol="0" anchor="t"/>
          <a:lstStyle/>
          <a:p>
            <a:pPr indent="0" marL="0">
              <a:buNone/>
            </a:pPr>
            <a:r>
              <a:rPr lang="en-US" sz="1500" b="1" dirty="0">
                <a:solidFill>
                  <a:schemeClr val="bg1"/>
                </a:solidFill>
              </a:rPr>
              <a:t>Team name  ·  College / incubator name</a:t>
            </a:r>
            <a:endParaRPr lang="en-US" sz="1500" dirty="0"/>
          </a:p>
        </p:txBody>
      </p:sp>
      <p:sp>
        <p:nvSpPr>
          <p:cNvPr id="6" name="Text 4"/>
          <p:cNvSpPr txBox="1"/>
          <p:nvPr/>
        </p:nvSpPr>
        <p:spPr>
          <a:xfrm>
            <a:off x="7863840" y="502920"/>
            <a:ext cx="3657600" cy="274320"/>
          </a:xfrm>
          <a:prstGeom prst="rect">
            <a:avLst/>
          </a:prstGeom>
          <a:noFill/>
          <a:ln/>
        </p:spPr>
        <p:txBody>
          <a:bodyPr wrap="square" lIns="0" tIns="0" rIns="0" bIns="0" rtlCol="0" anchor="t"/>
          <a:lstStyle/>
          <a:p>
            <a:pPr algn="r" indent="0" marL="0">
              <a:buNone/>
            </a:pPr>
            <a:r>
              <a:rPr lang="en-US" sz="1100" dirty="0">
                <a:solidFill>
                  <a:schemeClr val="bg2"/>
                </a:solidFill>
              </a:rPr>
              <a:t>Research prototype · not for clinical use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94360" y="292608"/>
            <a:ext cx="8229600" cy="256032"/>
          </a:xfrm>
          <a:prstGeom prst="rect">
            <a:avLst/>
          </a:prstGeom>
          <a:noFill/>
          <a:ln/>
        </p:spPr>
        <p:txBody>
          <a:bodyPr wrap="square" lIns="0" tIns="0" rIns="0" bIns="0" rtlCol="0" anchor="t"/>
          <a:lstStyle/>
          <a:p>
            <a:pPr indent="0" marL="0">
              <a:buNone/>
            </a:pPr>
            <a:r>
              <a:rPr lang="en-US" sz="1100" b="1" spc="300" kern="0" dirty="0">
                <a:solidFill>
                  <a:schemeClr val="accent1"/>
                </a:solidFill>
              </a:rPr>
              <a:t>01 · THE PROBLEM</a:t>
            </a:r>
            <a:endParaRPr lang="en-US" sz="1100" dirty="0"/>
          </a:p>
        </p:txBody>
      </p:sp>
      <p:sp>
        <p:nvSpPr>
          <p:cNvPr id="3" name="Text 0"/>
          <p:cNvSpPr/>
          <p:nvPr>
            <p:ph idx="100" type="title" hasCustomPrompt="1"/>
          </p:nvPr>
        </p:nvSpPr>
        <p:spPr>
          <a:xfrm>
            <a:off x="594360" y="566928"/>
            <a:ext cx="11002975" cy="658368"/>
          </a:xfrm>
          <a:prstGeom prst="rect">
            <a:avLst/>
          </a:prstGeom>
          <a:noFill/>
          <a:ln/>
        </p:spPr>
        <p:txBody>
          <a:bodyPr wrap="square" lIns="0" tIns="0" rIns="0" bIns="0" rtlCol="0" anchor="ctr"/>
          <a:lstStyle/>
          <a:p>
            <a:pPr algn="l" indent="0" marL="0">
              <a:buNone/>
            </a:pPr>
            <a:r>
              <a:rPr lang="en-US" sz="3000" b="1" dirty="0">
                <a:solidFill>
                  <a:schemeClr val="tx2"/>
                </a:solidFill>
                <a:latin typeface="Georgia" pitchFamily="34" charset="0"/>
                <a:ea typeface="Georgia" pitchFamily="34" charset="-122"/>
                <a:cs typeface="Georgia" pitchFamily="34" charset="-120"/>
              </a:rPr>
              <a:t>Highs and lows happen between clinic visits</a:t>
            </a:r>
            <a:endParaRPr lang="en-US" sz="3000" dirty="0"/>
          </a:p>
        </p:txBody>
      </p:sp>
      <p:sp>
        <p:nvSpPr>
          <p:cNvPr id="4" name="card"/>
          <p:cNvSpPr/>
          <p:nvPr/>
        </p:nvSpPr>
        <p:spPr>
          <a:xfrm>
            <a:off x="594360" y="1463040"/>
            <a:ext cx="4206240" cy="2788920"/>
          </a:xfrm>
          <a:prstGeom prst="roundRect">
            <a:avLst>
              <a:gd name="adj" fmla="val 4590"/>
            </a:avLst>
          </a:prstGeom>
          <a:solidFill>
            <a:schemeClr val="tx2"/>
          </a:solidFill>
          <a:ln/>
          <a:effectLst>
            <a:outerShdw sx="100000" sy="100000" kx="0" ky="0" algn="bl" rotWithShape="0" blurRad="177800" dist="38100" dir="5400000">
              <a:srgbClr val="0B2F3F">
                <a:alpha val="10000"/>
              </a:srgbClr>
            </a:outerShdw>
          </a:effectLst>
        </p:spPr>
      </p:sp>
      <p:sp>
        <p:nvSpPr>
          <p:cNvPr id="5" name="icon-dot"/>
          <p:cNvSpPr/>
          <p:nvPr/>
        </p:nvSpPr>
        <p:spPr>
          <a:xfrm>
            <a:off x="960120" y="1737360"/>
            <a:ext cx="566928" cy="566928"/>
          </a:xfrm>
          <a:prstGeom prst="ellipse">
            <a:avLst/>
          </a:prstGeom>
          <a:solidFill>
            <a:schemeClr val="accent1"/>
          </a:solidFill>
          <a:ln/>
        </p:spPr>
      </p:sp>
      <p:pic>
        <p:nvPicPr>
          <p:cNvPr id="6" name="icon-users" descr="C:\Users\Akhilesh\AppData\Local\Temp\claude\C--Users-Akhilesh-Desktop-Claude-code-Happiest-Health\47a587f0-c947-456b-8324-0bf75adb31d4\scratchpad\deck\img\icons\users.png">    </p:cNvPr>
          <p:cNvPicPr>
            <a:picLocks noChangeAspect="1"/>
          </p:cNvPicPr>
          <p:nvPr/>
        </p:nvPicPr>
        <p:blipFill>
          <a:blip r:embed="rId1"/>
          <a:stretch>
            <a:fillRect/>
          </a:stretch>
        </p:blipFill>
        <p:spPr>
          <a:xfrm>
            <a:off x="1084844" y="1862084"/>
            <a:ext cx="317480" cy="317480"/>
          </a:xfrm>
          <a:prstGeom prst="rect">
            <a:avLst/>
          </a:prstGeom>
        </p:spPr>
      </p:pic>
      <p:sp>
        <p:nvSpPr>
          <p:cNvPr id="7" name="Text 4"/>
          <p:cNvSpPr txBox="1"/>
          <p:nvPr/>
        </p:nvSpPr>
        <p:spPr>
          <a:xfrm>
            <a:off x="960120" y="2395728"/>
            <a:ext cx="3657600" cy="914400"/>
          </a:xfrm>
          <a:prstGeom prst="rect">
            <a:avLst/>
          </a:prstGeom>
          <a:noFill/>
          <a:ln/>
        </p:spPr>
        <p:txBody>
          <a:bodyPr wrap="square" lIns="0" tIns="0" rIns="0" bIns="0" rtlCol="0" anchor="b"/>
          <a:lstStyle/>
          <a:p>
            <a:pPr indent="0" marL="0">
              <a:buNone/>
            </a:pPr>
            <a:r>
              <a:rPr lang="en-US" sz="5600" b="1" dirty="0">
                <a:solidFill>
                  <a:schemeClr val="bg1"/>
                </a:solidFill>
                <a:latin typeface="Georgia" pitchFamily="34" charset="0"/>
                <a:ea typeface="Georgia" pitchFamily="34" charset="-122"/>
                <a:cs typeface="Georgia" pitchFamily="34" charset="-120"/>
              </a:rPr>
              <a:t>101 M</a:t>
            </a:r>
            <a:endParaRPr lang="en-US" sz="5600" dirty="0"/>
          </a:p>
        </p:txBody>
      </p:sp>
      <p:sp>
        <p:nvSpPr>
          <p:cNvPr id="8" name="Text 5"/>
          <p:cNvSpPr txBox="1"/>
          <p:nvPr/>
        </p:nvSpPr>
        <p:spPr>
          <a:xfrm>
            <a:off x="960120" y="3383280"/>
            <a:ext cx="3520440" cy="731520"/>
          </a:xfrm>
          <a:prstGeom prst="rect">
            <a:avLst/>
          </a:prstGeom>
          <a:noFill/>
          <a:ln/>
        </p:spPr>
        <p:txBody>
          <a:bodyPr wrap="square" lIns="0" tIns="0" rIns="0" bIns="0" rtlCol="0" anchor="t"/>
          <a:lstStyle/>
          <a:p>
            <a:pPr indent="0" marL="0">
              <a:buNone/>
            </a:pPr>
            <a:r>
              <a:rPr lang="en-US" sz="1300" dirty="0">
                <a:solidFill>
                  <a:schemeClr val="bg2"/>
                </a:solidFill>
              </a:rPr>
              <a:t>people with diabetes in India, mostly Type 2 (ICMR-INDIAB, Lancet Diabetes &amp; Endocrinology 2023)</a:t>
            </a:r>
            <a:endParaRPr lang="en-US" sz="1300" dirty="0"/>
          </a:p>
        </p:txBody>
      </p:sp>
      <p:sp>
        <p:nvSpPr>
          <p:cNvPr id="9" name="card"/>
          <p:cNvSpPr/>
          <p:nvPr/>
        </p:nvSpPr>
        <p:spPr>
          <a:xfrm>
            <a:off x="5074920" y="1463040"/>
            <a:ext cx="3127248" cy="2788920"/>
          </a:xfrm>
          <a:prstGeom prst="roundRect">
            <a:avLst>
              <a:gd name="adj" fmla="val 4590"/>
            </a:avLst>
          </a:prstGeom>
          <a:solidFill>
            <a:schemeClr val="bg1"/>
          </a:solidFill>
          <a:ln/>
          <a:effectLst>
            <a:outerShdw sx="100000" sy="100000" kx="0" ky="0" algn="bl" rotWithShape="0" blurRad="177800" dist="38100" dir="5400000">
              <a:srgbClr val="0B2F3F">
                <a:alpha val="10000"/>
              </a:srgbClr>
            </a:outerShdw>
          </a:effectLst>
        </p:spPr>
      </p:sp>
      <p:sp>
        <p:nvSpPr>
          <p:cNvPr id="10" name="icon-dot"/>
          <p:cNvSpPr/>
          <p:nvPr/>
        </p:nvSpPr>
        <p:spPr>
          <a:xfrm>
            <a:off x="5394960" y="1737360"/>
            <a:ext cx="566928" cy="566928"/>
          </a:xfrm>
          <a:prstGeom prst="ellipse">
            <a:avLst/>
          </a:prstGeom>
          <a:solidFill>
            <a:schemeClr val="accent2"/>
          </a:solidFill>
          <a:ln/>
        </p:spPr>
      </p:sp>
      <p:pic>
        <p:nvPicPr>
          <p:cNvPr id="11" name="icon-clock" descr="C:\Users\Akhilesh\AppData\Local\Temp\claude\C--Users-Akhilesh-Desktop-Claude-code-Happiest-Health\47a587f0-c947-456b-8324-0bf75adb31d4\scratchpad\deck\img\icons\clock.png">    </p:cNvPr>
          <p:cNvPicPr>
            <a:picLocks noChangeAspect="1"/>
          </p:cNvPicPr>
          <p:nvPr/>
        </p:nvPicPr>
        <p:blipFill>
          <a:blip r:embed="rId2"/>
          <a:stretch>
            <a:fillRect/>
          </a:stretch>
        </p:blipFill>
        <p:spPr>
          <a:xfrm>
            <a:off x="5519684" y="1862084"/>
            <a:ext cx="317480" cy="317480"/>
          </a:xfrm>
          <a:prstGeom prst="rect">
            <a:avLst/>
          </a:prstGeom>
        </p:spPr>
      </p:pic>
      <p:sp>
        <p:nvSpPr>
          <p:cNvPr id="12" name="Text 8"/>
          <p:cNvSpPr txBox="1"/>
          <p:nvPr/>
        </p:nvSpPr>
        <p:spPr>
          <a:xfrm>
            <a:off x="5394960" y="2395728"/>
            <a:ext cx="2651760" cy="822960"/>
          </a:xfrm>
          <a:prstGeom prst="rect">
            <a:avLst/>
          </a:prstGeom>
          <a:noFill/>
          <a:ln/>
        </p:spPr>
        <p:txBody>
          <a:bodyPr wrap="square" lIns="0" tIns="0" rIns="0" bIns="0" rtlCol="0" anchor="b"/>
          <a:lstStyle/>
          <a:p>
            <a:pPr indent="0" marL="0">
              <a:buNone/>
            </a:pPr>
            <a:r>
              <a:rPr lang="en-US" sz="3600" b="1" dirty="0">
                <a:solidFill>
                  <a:schemeClr val="accent2"/>
                </a:solidFill>
                <a:latin typeface="Georgia" pitchFamily="34" charset="0"/>
                <a:ea typeface="Georgia" pitchFamily="34" charset="-122"/>
                <a:cs typeface="Georgia" pitchFamily="34" charset="-120"/>
              </a:rPr>
              <a:t>3 months</a:t>
            </a:r>
            <a:endParaRPr lang="en-US" sz="3600" dirty="0"/>
          </a:p>
        </p:txBody>
      </p:sp>
      <p:sp>
        <p:nvSpPr>
          <p:cNvPr id="13" name="Text 9"/>
          <p:cNvSpPr txBox="1"/>
          <p:nvPr/>
        </p:nvSpPr>
        <p:spPr>
          <a:xfrm>
            <a:off x="5394960" y="3337560"/>
            <a:ext cx="2560320" cy="777240"/>
          </a:xfrm>
          <a:prstGeom prst="rect">
            <a:avLst/>
          </a:prstGeom>
          <a:noFill/>
          <a:ln/>
        </p:spPr>
        <p:txBody>
          <a:bodyPr wrap="square" lIns="0" tIns="0" rIns="0" bIns="0" rtlCol="0" anchor="t"/>
          <a:lstStyle/>
          <a:p>
            <a:pPr indent="0" marL="0">
              <a:buNone/>
            </a:pPr>
            <a:r>
              <a:rPr lang="en-US" sz="1300" dirty="0">
                <a:solidFill>
                  <a:schemeClr val="tx1"/>
                </a:solidFill>
              </a:rPr>
              <a:t>between HbA1c tests, while dangerous highs and lows happen within hours</a:t>
            </a:r>
            <a:endParaRPr lang="en-US" sz="1300" dirty="0"/>
          </a:p>
        </p:txBody>
      </p:sp>
      <p:sp>
        <p:nvSpPr>
          <p:cNvPr id="14" name="card"/>
          <p:cNvSpPr/>
          <p:nvPr/>
        </p:nvSpPr>
        <p:spPr>
          <a:xfrm>
            <a:off x="8385048" y="1463040"/>
            <a:ext cx="3127248" cy="2788920"/>
          </a:xfrm>
          <a:prstGeom prst="roundRect">
            <a:avLst>
              <a:gd name="adj" fmla="val 4590"/>
            </a:avLst>
          </a:prstGeom>
          <a:solidFill>
            <a:schemeClr val="bg1"/>
          </a:solidFill>
          <a:ln/>
          <a:effectLst>
            <a:outerShdw sx="100000" sy="100000" kx="0" ky="0" algn="bl" rotWithShape="0" blurRad="177800" dist="38100" dir="5400000">
              <a:srgbClr val="0B2F3F">
                <a:alpha val="10000"/>
              </a:srgbClr>
            </a:outerShdw>
          </a:effectLst>
        </p:spPr>
      </p:sp>
      <p:sp>
        <p:nvSpPr>
          <p:cNvPr id="15" name="icon-dot"/>
          <p:cNvSpPr/>
          <p:nvPr/>
        </p:nvSpPr>
        <p:spPr>
          <a:xfrm>
            <a:off x="8705088" y="1737360"/>
            <a:ext cx="566928" cy="566928"/>
          </a:xfrm>
          <a:prstGeom prst="ellipse">
            <a:avLst/>
          </a:prstGeom>
          <a:solidFill>
            <a:schemeClr val="accent3"/>
          </a:solidFill>
          <a:ln/>
        </p:spPr>
      </p:sp>
      <p:pic>
        <p:nvPicPr>
          <p:cNvPr id="16" name="icon-moon" descr="C:\Users\Akhilesh\AppData\Local\Temp\claude\C--Users-Akhilesh-Desktop-Claude-code-Happiest-Health\47a587f0-c947-456b-8324-0bf75adb31d4\scratchpad\deck\img\icons\moon.png">    </p:cNvPr>
          <p:cNvPicPr>
            <a:picLocks noChangeAspect="1"/>
          </p:cNvPicPr>
          <p:nvPr/>
        </p:nvPicPr>
        <p:blipFill>
          <a:blip r:embed="rId3"/>
          <a:stretch>
            <a:fillRect/>
          </a:stretch>
        </p:blipFill>
        <p:spPr>
          <a:xfrm>
            <a:off x="8829812" y="1862084"/>
            <a:ext cx="317480" cy="317480"/>
          </a:xfrm>
          <a:prstGeom prst="rect">
            <a:avLst/>
          </a:prstGeom>
        </p:spPr>
      </p:pic>
      <p:sp>
        <p:nvSpPr>
          <p:cNvPr id="17" name="Text 12"/>
          <p:cNvSpPr txBox="1"/>
          <p:nvPr/>
        </p:nvSpPr>
        <p:spPr>
          <a:xfrm>
            <a:off x="8705088" y="2395728"/>
            <a:ext cx="2651760" cy="822960"/>
          </a:xfrm>
          <a:prstGeom prst="rect">
            <a:avLst/>
          </a:prstGeom>
          <a:noFill/>
          <a:ln/>
        </p:spPr>
        <p:txBody>
          <a:bodyPr wrap="square" lIns="0" tIns="0" rIns="0" bIns="0" rtlCol="0" anchor="b"/>
          <a:lstStyle/>
          <a:p>
            <a:pPr indent="0" marL="0">
              <a:buNone/>
            </a:pPr>
            <a:r>
              <a:rPr lang="en-US" sz="3600" b="1" dirty="0">
                <a:solidFill>
                  <a:schemeClr val="accent3"/>
                </a:solidFill>
                <a:latin typeface="Georgia" pitchFamily="34" charset="0"/>
                <a:ea typeface="Georgia" pitchFamily="34" charset="-122"/>
                <a:cs typeface="Georgia" pitchFamily="34" charset="-120"/>
              </a:rPr>
              <a:t>At night</a:t>
            </a:r>
            <a:endParaRPr lang="en-US" sz="3600" dirty="0"/>
          </a:p>
        </p:txBody>
      </p:sp>
      <p:sp>
        <p:nvSpPr>
          <p:cNvPr id="18" name="Text 13"/>
          <p:cNvSpPr txBox="1"/>
          <p:nvPr/>
        </p:nvSpPr>
        <p:spPr>
          <a:xfrm>
            <a:off x="8705088" y="3337560"/>
            <a:ext cx="2560320" cy="777240"/>
          </a:xfrm>
          <a:prstGeom prst="rect">
            <a:avLst/>
          </a:prstGeom>
          <a:noFill/>
          <a:ln/>
        </p:spPr>
        <p:txBody>
          <a:bodyPr wrap="square" lIns="0" tIns="0" rIns="0" bIns="0" rtlCol="0" anchor="t"/>
          <a:lstStyle/>
          <a:p>
            <a:pPr indent="0" marL="0">
              <a:buNone/>
            </a:pPr>
            <a:r>
              <a:rPr lang="en-US" sz="1300" dirty="0">
                <a:solidFill>
                  <a:schemeClr val="tx1"/>
                </a:solidFill>
              </a:rPr>
              <a:t>lows from sulfonylureas or insulin strike while the patient sleeps and cannot react</a:t>
            </a:r>
            <a:endParaRPr lang="en-US" sz="1300" dirty="0"/>
          </a:p>
        </p:txBody>
      </p:sp>
      <p:sp>
        <p:nvSpPr>
          <p:cNvPr id="19" name="card"/>
          <p:cNvSpPr/>
          <p:nvPr/>
        </p:nvSpPr>
        <p:spPr>
          <a:xfrm>
            <a:off x="594360" y="4526280"/>
            <a:ext cx="11002975" cy="1508760"/>
          </a:xfrm>
          <a:prstGeom prst="roundRect">
            <a:avLst>
              <a:gd name="adj" fmla="val 8485"/>
            </a:avLst>
          </a:prstGeom>
          <a:solidFill>
            <a:schemeClr val="bg1"/>
          </a:solidFill>
          <a:ln/>
          <a:effectLst>
            <a:outerShdw sx="100000" sy="100000" kx="0" ky="0" algn="bl" rotWithShape="0" blurRad="177800" dist="38100" dir="5400000">
              <a:srgbClr val="0B2F3F">
                <a:alpha val="10000"/>
              </a:srgbClr>
            </a:outerShdw>
          </a:effectLst>
        </p:spPr>
      </p:sp>
      <p:sp>
        <p:nvSpPr>
          <p:cNvPr id="20" name="icon-dot"/>
          <p:cNvSpPr/>
          <p:nvPr/>
        </p:nvSpPr>
        <p:spPr>
          <a:xfrm>
            <a:off x="960120" y="4956048"/>
            <a:ext cx="658368" cy="658368"/>
          </a:xfrm>
          <a:prstGeom prst="ellipse">
            <a:avLst/>
          </a:prstGeom>
          <a:solidFill>
            <a:schemeClr val="accent6"/>
          </a:solidFill>
          <a:ln/>
        </p:spPr>
      </p:sp>
      <p:pic>
        <p:nvPicPr>
          <p:cNvPr id="21" name="icon-record" descr="C:\Users\Akhilesh\AppData\Local\Temp\claude\C--Users-Akhilesh-Desktop-Claude-code-Happiest-Health\47a587f0-c947-456b-8324-0bf75adb31d4\scratchpad\deck\img\icons\record.png">    </p:cNvPr>
          <p:cNvPicPr>
            <a:picLocks noChangeAspect="1"/>
          </p:cNvPicPr>
          <p:nvPr/>
        </p:nvPicPr>
        <p:blipFill>
          <a:blip r:embed="rId4"/>
          <a:stretch>
            <a:fillRect/>
          </a:stretch>
        </p:blipFill>
        <p:spPr>
          <a:xfrm>
            <a:off x="1104961" y="5100889"/>
            <a:ext cx="368686" cy="368686"/>
          </a:xfrm>
          <a:prstGeom prst="rect">
            <a:avLst/>
          </a:prstGeom>
        </p:spPr>
      </p:pic>
      <p:sp>
        <p:nvSpPr>
          <p:cNvPr id="22" name="Text 16"/>
          <p:cNvSpPr txBox="1"/>
          <p:nvPr/>
        </p:nvSpPr>
        <p:spPr>
          <a:xfrm>
            <a:off x="1783080" y="4919472"/>
            <a:ext cx="2103120" cy="731520"/>
          </a:xfrm>
          <a:prstGeom prst="rect">
            <a:avLst/>
          </a:prstGeom>
          <a:noFill/>
          <a:ln/>
        </p:spPr>
        <p:txBody>
          <a:bodyPr wrap="square" lIns="0" tIns="0" rIns="0" bIns="0" rtlCol="0" anchor="t"/>
          <a:lstStyle/>
          <a:p>
            <a:pPr indent="0" marL="0">
              <a:buNone/>
            </a:pPr>
            <a:r>
              <a:rPr lang="en-US" sz="1300" b="1" dirty="0">
                <a:solidFill>
                  <a:schemeClr val="tx1"/>
                </a:solidFill>
              </a:rPr>
              <a:t>Health record</a:t>
            </a:r>
            <a:endParaRPr lang="en-US" sz="1300" dirty="0"/>
          </a:p>
          <a:p>
            <a:pPr indent="0" marL="0">
              <a:buNone/>
            </a:pPr>
            <a:r>
              <a:rPr lang="en-US" sz="1300" dirty="0">
                <a:solidFill>
                  <a:schemeClr val="accent6"/>
                </a:solidFill>
              </a:rPr>
              <a:t>diagnoses, labs, medicines</a:t>
            </a:r>
            <a:endParaRPr lang="en-US" sz="1300" dirty="0"/>
          </a:p>
        </p:txBody>
      </p:sp>
      <p:sp>
        <p:nvSpPr>
          <p:cNvPr id="23" name="Shape 17"/>
          <p:cNvSpPr/>
          <p:nvPr/>
        </p:nvSpPr>
        <p:spPr>
          <a:xfrm>
            <a:off x="3931920" y="5285232"/>
            <a:ext cx="1417320" cy="0"/>
          </a:xfrm>
          <a:prstGeom prst="line">
            <a:avLst/>
          </a:prstGeom>
          <a:noFill/>
          <a:ln w="19050">
            <a:solidFill>
              <a:srgbClr val="7A8797"/>
            </a:solidFill>
            <a:prstDash val="dash"/>
          </a:ln>
        </p:spPr>
      </p:sp>
      <p:sp>
        <p:nvSpPr>
          <p:cNvPr id="24" name="pill"/>
          <p:cNvSpPr/>
          <p:nvPr/>
        </p:nvSpPr>
        <p:spPr>
          <a:xfrm>
            <a:off x="3840480" y="5102352"/>
            <a:ext cx="1600200" cy="365760"/>
          </a:xfrm>
          <a:prstGeom prst="roundRect">
            <a:avLst>
              <a:gd name="adj" fmla="val 50000"/>
            </a:avLst>
          </a:prstGeom>
          <a:solidFill>
            <a:srgbClr val="FBE3D8"/>
          </a:solidFill>
          <a:ln/>
        </p:spPr>
      </p:sp>
      <p:sp>
        <p:nvSpPr>
          <p:cNvPr id="25" name="Text 19"/>
          <p:cNvSpPr txBox="1"/>
          <p:nvPr/>
        </p:nvSpPr>
        <p:spPr>
          <a:xfrm>
            <a:off x="3840480" y="5102352"/>
            <a:ext cx="1600200" cy="365760"/>
          </a:xfrm>
          <a:prstGeom prst="rect">
            <a:avLst/>
          </a:prstGeom>
          <a:noFill/>
          <a:ln/>
        </p:spPr>
        <p:txBody>
          <a:bodyPr wrap="square" lIns="0" tIns="0" rIns="0" bIns="0" rtlCol="0" anchor="ctr"/>
          <a:lstStyle/>
          <a:p>
            <a:pPr algn="ctr" indent="0" marL="0">
              <a:buNone/>
            </a:pPr>
            <a:r>
              <a:rPr lang="en-US" sz="1200" b="1" dirty="0">
                <a:solidFill>
                  <a:schemeClr val="accent2"/>
                </a:solidFill>
              </a:rPr>
              <a:t>never combined</a:t>
            </a:r>
            <a:endParaRPr lang="en-US" sz="1200" dirty="0"/>
          </a:p>
        </p:txBody>
      </p:sp>
      <p:sp>
        <p:nvSpPr>
          <p:cNvPr id="26" name="icon-dot"/>
          <p:cNvSpPr/>
          <p:nvPr/>
        </p:nvSpPr>
        <p:spPr>
          <a:xfrm>
            <a:off x="5486400" y="4956048"/>
            <a:ext cx="658368" cy="658368"/>
          </a:xfrm>
          <a:prstGeom prst="ellipse">
            <a:avLst/>
          </a:prstGeom>
          <a:solidFill>
            <a:schemeClr val="accent3"/>
          </a:solidFill>
          <a:ln/>
        </p:spPr>
      </p:sp>
      <p:pic>
        <p:nvPicPr>
          <p:cNvPr id="27" name="icon-watch" descr="C:\Users\Akhilesh\AppData\Local\Temp\claude\C--Users-Akhilesh-Desktop-Claude-code-Happiest-Health\47a587f0-c947-456b-8324-0bf75adb31d4\scratchpad\deck\img\icons\watch.png">    </p:cNvPr>
          <p:cNvPicPr>
            <a:picLocks noChangeAspect="1"/>
          </p:cNvPicPr>
          <p:nvPr/>
        </p:nvPicPr>
        <p:blipFill>
          <a:blip r:embed="rId5"/>
          <a:stretch>
            <a:fillRect/>
          </a:stretch>
        </p:blipFill>
        <p:spPr>
          <a:xfrm>
            <a:off x="5631241" y="5100889"/>
            <a:ext cx="368686" cy="368686"/>
          </a:xfrm>
          <a:prstGeom prst="rect">
            <a:avLst/>
          </a:prstGeom>
        </p:spPr>
      </p:pic>
      <p:sp>
        <p:nvSpPr>
          <p:cNvPr id="28" name="Text 21"/>
          <p:cNvSpPr txBox="1"/>
          <p:nvPr/>
        </p:nvSpPr>
        <p:spPr>
          <a:xfrm>
            <a:off x="6309360" y="4919472"/>
            <a:ext cx="2194560" cy="731520"/>
          </a:xfrm>
          <a:prstGeom prst="rect">
            <a:avLst/>
          </a:prstGeom>
          <a:noFill/>
          <a:ln/>
        </p:spPr>
        <p:txBody>
          <a:bodyPr wrap="square" lIns="0" tIns="0" rIns="0" bIns="0" rtlCol="0" anchor="t"/>
          <a:lstStyle/>
          <a:p>
            <a:pPr indent="0" marL="0">
              <a:buNone/>
            </a:pPr>
            <a:r>
              <a:rPr lang="en-US" sz="1300" b="1" dirty="0">
                <a:solidFill>
                  <a:schemeClr val="tx1"/>
                </a:solidFill>
              </a:rPr>
              <a:t>Wearable sensor</a:t>
            </a:r>
            <a:endParaRPr lang="en-US" sz="1300" dirty="0"/>
          </a:p>
          <a:p>
            <a:pPr indent="0" marL="0">
              <a:buNone/>
            </a:pPr>
            <a:r>
              <a:rPr lang="en-US" sz="1300" dirty="0">
                <a:solidFill>
                  <a:schemeClr val="accent6"/>
                </a:solidFill>
              </a:rPr>
              <a:t>glucose every 5 minutes</a:t>
            </a:r>
            <a:endParaRPr lang="en-US" sz="1300" dirty="0"/>
          </a:p>
        </p:txBody>
      </p:sp>
      <p:sp>
        <p:nvSpPr>
          <p:cNvPr id="29" name="Text 22"/>
          <p:cNvSpPr txBox="1"/>
          <p:nvPr/>
        </p:nvSpPr>
        <p:spPr>
          <a:xfrm>
            <a:off x="8549640" y="4846320"/>
            <a:ext cx="2880360" cy="914400"/>
          </a:xfrm>
          <a:prstGeom prst="rect">
            <a:avLst/>
          </a:prstGeom>
          <a:noFill/>
          <a:ln/>
        </p:spPr>
        <p:txBody>
          <a:bodyPr wrap="square" lIns="0" tIns="0" rIns="0" bIns="0" rtlCol="0" anchor="ctr"/>
          <a:lstStyle/>
          <a:p>
            <a:pPr indent="0" marL="0">
              <a:buNone/>
            </a:pPr>
            <a:r>
              <a:rPr lang="en-US" sz="1500" b="1" dirty="0">
                <a:solidFill>
                  <a:schemeClr val="tx2"/>
                </a:solidFill>
              </a:rPr>
              <a:t>So nobody turns them into an early warning a doctor can act on.</a:t>
            </a:r>
            <a:endParaRPr lang="en-US" sz="1500" dirty="0"/>
          </a:p>
        </p:txBody>
      </p:sp>
      <p:sp>
        <p:nvSpPr>
          <p:cNvPr id="25" name="Slide Number Placeholder 0"/>
          <p:cNvSpPr>
            <a:spLocks noGrp="1"/>
          </p:cNvSpPr>
          <p:nvPr>
            <p:ph type="sldNum" sz="quarter" idx="4294967295"/>
          </p:nvPr>
        </p:nvSpPr>
        <p:spPr>
          <a:xfrm>
            <a:off x="11140135"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94360" y="292608"/>
            <a:ext cx="8229600" cy="256032"/>
          </a:xfrm>
          <a:prstGeom prst="rect">
            <a:avLst/>
          </a:prstGeom>
          <a:noFill/>
          <a:ln/>
        </p:spPr>
        <p:txBody>
          <a:bodyPr wrap="square" lIns="0" tIns="0" rIns="0" bIns="0" rtlCol="0" anchor="t"/>
          <a:lstStyle/>
          <a:p>
            <a:pPr indent="0" marL="0">
              <a:buNone/>
            </a:pPr>
            <a:r>
              <a:rPr lang="en-US" sz="1100" b="1" spc="300" kern="0" dirty="0">
                <a:solidFill>
                  <a:schemeClr val="accent1"/>
                </a:solidFill>
              </a:rPr>
              <a:t>02 · OUR ANSWER</a:t>
            </a:r>
            <a:endParaRPr lang="en-US" sz="1100" dirty="0"/>
          </a:p>
        </p:txBody>
      </p:sp>
      <p:sp>
        <p:nvSpPr>
          <p:cNvPr id="3" name="Text 0"/>
          <p:cNvSpPr/>
          <p:nvPr>
            <p:ph idx="100" type="title" hasCustomPrompt="1"/>
          </p:nvPr>
        </p:nvSpPr>
        <p:spPr>
          <a:xfrm>
            <a:off x="594360" y="566928"/>
            <a:ext cx="11002975" cy="658368"/>
          </a:xfrm>
          <a:prstGeom prst="rect">
            <a:avLst/>
          </a:prstGeom>
          <a:noFill/>
          <a:ln/>
        </p:spPr>
        <p:txBody>
          <a:bodyPr wrap="square" lIns="0" tIns="0" rIns="0" bIns="0" rtlCol="0" anchor="ctr"/>
          <a:lstStyle/>
          <a:p>
            <a:pPr algn="l" indent="0" marL="0">
              <a:buNone/>
            </a:pPr>
            <a:r>
              <a:rPr lang="en-US" sz="3000" b="1" dirty="0">
                <a:solidFill>
                  <a:schemeClr val="tx2"/>
                </a:solidFill>
                <a:latin typeface="Georgia" pitchFamily="34" charset="0"/>
                <a:ea typeface="Georgia" pitchFamily="34" charset="-122"/>
                <a:cs typeface="Georgia" pitchFamily="34" charset="-120"/>
              </a:rPr>
              <a:t>A digital twin of each patient</a:t>
            </a:r>
            <a:endParaRPr lang="en-US" sz="3000" dirty="0"/>
          </a:p>
        </p:txBody>
      </p:sp>
      <p:sp>
        <p:nvSpPr>
          <p:cNvPr id="4" name="card"/>
          <p:cNvSpPr/>
          <p:nvPr/>
        </p:nvSpPr>
        <p:spPr>
          <a:xfrm>
            <a:off x="594360" y="1508760"/>
            <a:ext cx="2624328" cy="3657600"/>
          </a:xfrm>
          <a:prstGeom prst="roundRect">
            <a:avLst>
              <a:gd name="adj" fmla="val 4878"/>
            </a:avLst>
          </a:prstGeom>
          <a:solidFill>
            <a:schemeClr val="bg1"/>
          </a:solidFill>
          <a:ln/>
          <a:effectLst>
            <a:outerShdw sx="100000" sy="100000" kx="0" ky="0" algn="bl" rotWithShape="0" blurRad="177800" dist="38100" dir="5400000">
              <a:srgbClr val="0B2F3F">
                <a:alpha val="10000"/>
              </a:srgbClr>
            </a:outerShdw>
          </a:effectLst>
        </p:spPr>
      </p:sp>
      <p:sp>
        <p:nvSpPr>
          <p:cNvPr id="5" name="icon-dot"/>
          <p:cNvSpPr/>
          <p:nvPr/>
        </p:nvSpPr>
        <p:spPr>
          <a:xfrm>
            <a:off x="914400" y="1828800"/>
            <a:ext cx="777240" cy="777240"/>
          </a:xfrm>
          <a:prstGeom prst="ellipse">
            <a:avLst/>
          </a:prstGeom>
          <a:solidFill>
            <a:schemeClr val="accent1"/>
          </a:solidFill>
          <a:ln/>
        </p:spPr>
      </p:sp>
      <p:pic>
        <p:nvPicPr>
          <p:cNvPr id="6" name="icon-trend" descr="C:\Users\Akhilesh\AppData\Local\Temp\claude\C--Users-Akhilesh-Desktop-Claude-code-Happiest-Health\47a587f0-c947-456b-8324-0bf75adb31d4\scratchpad\deck\img\icons\trend.png">    </p:cNvPr>
          <p:cNvPicPr>
            <a:picLocks noChangeAspect="1"/>
          </p:cNvPicPr>
          <p:nvPr/>
        </p:nvPicPr>
        <p:blipFill>
          <a:blip r:embed="rId1"/>
          <a:stretch>
            <a:fillRect/>
          </a:stretch>
        </p:blipFill>
        <p:spPr>
          <a:xfrm>
            <a:off x="1085393" y="1999793"/>
            <a:ext cx="435254" cy="435254"/>
          </a:xfrm>
          <a:prstGeom prst="rect">
            <a:avLst/>
          </a:prstGeom>
        </p:spPr>
      </p:pic>
      <p:sp>
        <p:nvSpPr>
          <p:cNvPr id="7" name="Text 4"/>
          <p:cNvSpPr txBox="1"/>
          <p:nvPr/>
        </p:nvSpPr>
        <p:spPr>
          <a:xfrm>
            <a:off x="2423160" y="1874520"/>
            <a:ext cx="548640" cy="365760"/>
          </a:xfrm>
          <a:prstGeom prst="rect">
            <a:avLst/>
          </a:prstGeom>
          <a:noFill/>
          <a:ln/>
        </p:spPr>
        <p:txBody>
          <a:bodyPr wrap="square" lIns="0" tIns="0" rIns="0" bIns="0" rtlCol="0" anchor="t"/>
          <a:lstStyle/>
          <a:p>
            <a:pPr algn="r" indent="0" marL="0">
              <a:buNone/>
            </a:pPr>
            <a:r>
              <a:rPr lang="en-US" sz="1400" b="1" dirty="0">
                <a:solidFill>
                  <a:schemeClr val="accent6"/>
                </a:solidFill>
              </a:rPr>
              <a:t>01</a:t>
            </a:r>
            <a:endParaRPr lang="en-US" sz="1400" dirty="0"/>
          </a:p>
        </p:txBody>
      </p:sp>
      <p:sp>
        <p:nvSpPr>
          <p:cNvPr id="8" name="Text 5"/>
          <p:cNvSpPr txBox="1"/>
          <p:nvPr/>
        </p:nvSpPr>
        <p:spPr>
          <a:xfrm>
            <a:off x="914400" y="2834640"/>
            <a:ext cx="2103120" cy="457200"/>
          </a:xfrm>
          <a:prstGeom prst="rect">
            <a:avLst/>
          </a:prstGeom>
          <a:noFill/>
          <a:ln/>
        </p:spPr>
        <p:txBody>
          <a:bodyPr wrap="square" lIns="0" tIns="0" rIns="0" bIns="0" rtlCol="0" anchor="t"/>
          <a:lstStyle/>
          <a:p>
            <a:pPr indent="0" marL="0">
              <a:buNone/>
            </a:pPr>
            <a:r>
              <a:rPr lang="en-US" sz="2200" b="1" dirty="0">
                <a:solidFill>
                  <a:schemeClr val="tx2"/>
                </a:solidFill>
                <a:latin typeface="Georgia" pitchFamily="34" charset="0"/>
                <a:ea typeface="Georgia" pitchFamily="34" charset="-122"/>
                <a:cs typeface="Georgia" pitchFamily="34" charset="-120"/>
              </a:rPr>
              <a:t>Predict</a:t>
            </a:r>
            <a:endParaRPr lang="en-US" sz="2200" dirty="0"/>
          </a:p>
        </p:txBody>
      </p:sp>
      <p:sp>
        <p:nvSpPr>
          <p:cNvPr id="9" name="Text 6"/>
          <p:cNvSpPr txBox="1"/>
          <p:nvPr/>
        </p:nvSpPr>
        <p:spPr>
          <a:xfrm>
            <a:off x="914400" y="3429000"/>
            <a:ext cx="2011680" cy="1554480"/>
          </a:xfrm>
          <a:prstGeom prst="rect">
            <a:avLst/>
          </a:prstGeom>
          <a:noFill/>
          <a:ln/>
        </p:spPr>
        <p:txBody>
          <a:bodyPr wrap="square" lIns="0" tIns="0" rIns="0" bIns="0" rtlCol="0" anchor="t"/>
          <a:lstStyle/>
          <a:p>
            <a:pPr indent="0" marL="0">
              <a:buNone/>
            </a:pPr>
            <a:r>
              <a:rPr lang="en-US" sz="1400" dirty="0">
                <a:solidFill>
                  <a:schemeClr val="tx1"/>
                </a:solidFill>
              </a:rPr>
              <a:t>Risk of glucose above 180 or below 70 mg/dL in the next 2 hours, every 30 minutes</a:t>
            </a:r>
            <a:endParaRPr lang="en-US" sz="1400" dirty="0"/>
          </a:p>
        </p:txBody>
      </p:sp>
      <p:sp>
        <p:nvSpPr>
          <p:cNvPr id="10" name="card"/>
          <p:cNvSpPr/>
          <p:nvPr/>
        </p:nvSpPr>
        <p:spPr>
          <a:xfrm>
            <a:off x="3401568" y="1508760"/>
            <a:ext cx="2624328" cy="3657600"/>
          </a:xfrm>
          <a:prstGeom prst="roundRect">
            <a:avLst>
              <a:gd name="adj" fmla="val 4878"/>
            </a:avLst>
          </a:prstGeom>
          <a:solidFill>
            <a:schemeClr val="bg1"/>
          </a:solidFill>
          <a:ln/>
          <a:effectLst>
            <a:outerShdw sx="100000" sy="100000" kx="0" ky="0" algn="bl" rotWithShape="0" blurRad="177800" dist="38100" dir="5400000">
              <a:srgbClr val="0B2F3F">
                <a:alpha val="10000"/>
              </a:srgbClr>
            </a:outerShdw>
          </a:effectLst>
        </p:spPr>
      </p:sp>
      <p:sp>
        <p:nvSpPr>
          <p:cNvPr id="11" name="icon-dot"/>
          <p:cNvSpPr/>
          <p:nvPr/>
        </p:nvSpPr>
        <p:spPr>
          <a:xfrm>
            <a:off x="3721608" y="1828800"/>
            <a:ext cx="777240" cy="777240"/>
          </a:xfrm>
          <a:prstGeom prst="ellipse">
            <a:avLst/>
          </a:prstGeom>
          <a:solidFill>
            <a:schemeClr val="accent2"/>
          </a:solidFill>
          <a:ln/>
        </p:spPr>
      </p:sp>
      <p:pic>
        <p:nvPicPr>
          <p:cNvPr id="12" name="icon-bell" descr="C:\Users\Akhilesh\AppData\Local\Temp\claude\C--Users-Akhilesh-Desktop-Claude-code-Happiest-Health\47a587f0-c947-456b-8324-0bf75adb31d4\scratchpad\deck\img\icons\bell.png">    </p:cNvPr>
          <p:cNvPicPr>
            <a:picLocks noChangeAspect="1"/>
          </p:cNvPicPr>
          <p:nvPr/>
        </p:nvPicPr>
        <p:blipFill>
          <a:blip r:embed="rId2"/>
          <a:stretch>
            <a:fillRect/>
          </a:stretch>
        </p:blipFill>
        <p:spPr>
          <a:xfrm>
            <a:off x="3892601" y="1999793"/>
            <a:ext cx="435254" cy="435254"/>
          </a:xfrm>
          <a:prstGeom prst="rect">
            <a:avLst/>
          </a:prstGeom>
        </p:spPr>
      </p:pic>
      <p:sp>
        <p:nvSpPr>
          <p:cNvPr id="13" name="Text 9"/>
          <p:cNvSpPr txBox="1"/>
          <p:nvPr/>
        </p:nvSpPr>
        <p:spPr>
          <a:xfrm>
            <a:off x="5230368" y="1874520"/>
            <a:ext cx="548640" cy="365760"/>
          </a:xfrm>
          <a:prstGeom prst="rect">
            <a:avLst/>
          </a:prstGeom>
          <a:noFill/>
          <a:ln/>
        </p:spPr>
        <p:txBody>
          <a:bodyPr wrap="square" lIns="0" tIns="0" rIns="0" bIns="0" rtlCol="0" anchor="t"/>
          <a:lstStyle/>
          <a:p>
            <a:pPr algn="r" indent="0" marL="0">
              <a:buNone/>
            </a:pPr>
            <a:r>
              <a:rPr lang="en-US" sz="1400" b="1" dirty="0">
                <a:solidFill>
                  <a:schemeClr val="accent6"/>
                </a:solidFill>
              </a:rPr>
              <a:t>02</a:t>
            </a:r>
            <a:endParaRPr lang="en-US" sz="1400" dirty="0"/>
          </a:p>
        </p:txBody>
      </p:sp>
      <p:sp>
        <p:nvSpPr>
          <p:cNvPr id="14" name="Text 10"/>
          <p:cNvSpPr txBox="1"/>
          <p:nvPr/>
        </p:nvSpPr>
        <p:spPr>
          <a:xfrm>
            <a:off x="3721608" y="2834640"/>
            <a:ext cx="2103120" cy="457200"/>
          </a:xfrm>
          <a:prstGeom prst="rect">
            <a:avLst/>
          </a:prstGeom>
          <a:noFill/>
          <a:ln/>
        </p:spPr>
        <p:txBody>
          <a:bodyPr wrap="square" lIns="0" tIns="0" rIns="0" bIns="0" rtlCol="0" anchor="t"/>
          <a:lstStyle/>
          <a:p>
            <a:pPr indent="0" marL="0">
              <a:buNone/>
            </a:pPr>
            <a:r>
              <a:rPr lang="en-US" sz="2200" b="1" dirty="0">
                <a:solidFill>
                  <a:schemeClr val="tx2"/>
                </a:solidFill>
                <a:latin typeface="Georgia" pitchFamily="34" charset="0"/>
                <a:ea typeface="Georgia" pitchFamily="34" charset="-122"/>
                <a:cs typeface="Georgia" pitchFamily="34" charset="-120"/>
              </a:rPr>
              <a:t>Alert</a:t>
            </a:r>
            <a:endParaRPr lang="en-US" sz="2200" dirty="0"/>
          </a:p>
        </p:txBody>
      </p:sp>
      <p:sp>
        <p:nvSpPr>
          <p:cNvPr id="15" name="Text 11"/>
          <p:cNvSpPr txBox="1"/>
          <p:nvPr/>
        </p:nvSpPr>
        <p:spPr>
          <a:xfrm>
            <a:off x="3721608" y="3429000"/>
            <a:ext cx="2011680" cy="1554480"/>
          </a:xfrm>
          <a:prstGeom prst="rect">
            <a:avLst/>
          </a:prstGeom>
          <a:noFill/>
          <a:ln/>
        </p:spPr>
        <p:txBody>
          <a:bodyPr wrap="square" lIns="0" tIns="0" rIns="0" bIns="0" rtlCol="0" anchor="t"/>
          <a:lstStyle/>
          <a:p>
            <a:pPr indent="0" marL="0">
              <a:buNone/>
            </a:pPr>
            <a:r>
              <a:rPr lang="en-US" sz="1400" dirty="0">
                <a:solidFill>
                  <a:schemeClr val="tx1"/>
                </a:solidFill>
              </a:rPr>
              <a:t>One alert per risk episode, tuned so clinicians are not flooded with alarms</a:t>
            </a:r>
            <a:endParaRPr lang="en-US" sz="1400" dirty="0"/>
          </a:p>
        </p:txBody>
      </p:sp>
      <p:sp>
        <p:nvSpPr>
          <p:cNvPr id="16" name="card"/>
          <p:cNvSpPr/>
          <p:nvPr/>
        </p:nvSpPr>
        <p:spPr>
          <a:xfrm>
            <a:off x="6208776" y="1508760"/>
            <a:ext cx="2624328" cy="3657600"/>
          </a:xfrm>
          <a:prstGeom prst="roundRect">
            <a:avLst>
              <a:gd name="adj" fmla="val 4878"/>
            </a:avLst>
          </a:prstGeom>
          <a:solidFill>
            <a:schemeClr val="bg1"/>
          </a:solidFill>
          <a:ln/>
          <a:effectLst>
            <a:outerShdw sx="100000" sy="100000" kx="0" ky="0" algn="bl" rotWithShape="0" blurRad="177800" dist="38100" dir="5400000">
              <a:srgbClr val="0B2F3F">
                <a:alpha val="10000"/>
              </a:srgbClr>
            </a:outerShdw>
          </a:effectLst>
        </p:spPr>
      </p:sp>
      <p:sp>
        <p:nvSpPr>
          <p:cNvPr id="17" name="icon-dot"/>
          <p:cNvSpPr/>
          <p:nvPr/>
        </p:nvSpPr>
        <p:spPr>
          <a:xfrm>
            <a:off x="6528816" y="1828800"/>
            <a:ext cx="777240" cy="777240"/>
          </a:xfrm>
          <a:prstGeom prst="ellipse">
            <a:avLst/>
          </a:prstGeom>
          <a:solidFill>
            <a:schemeClr val="accent3"/>
          </a:solidFill>
          <a:ln/>
        </p:spPr>
      </p:sp>
      <p:pic>
        <p:nvPicPr>
          <p:cNvPr id="18" name="icon-bulb" descr="C:\Users\Akhilesh\AppData\Local\Temp\claude\C--Users-Akhilesh-Desktop-Claude-code-Happiest-Health\47a587f0-c947-456b-8324-0bf75adb31d4\scratchpad\deck\img\icons\bulb.png">    </p:cNvPr>
          <p:cNvPicPr>
            <a:picLocks noChangeAspect="1"/>
          </p:cNvPicPr>
          <p:nvPr/>
        </p:nvPicPr>
        <p:blipFill>
          <a:blip r:embed="rId3"/>
          <a:stretch>
            <a:fillRect/>
          </a:stretch>
        </p:blipFill>
        <p:spPr>
          <a:xfrm>
            <a:off x="6699809" y="1999793"/>
            <a:ext cx="435254" cy="435254"/>
          </a:xfrm>
          <a:prstGeom prst="rect">
            <a:avLst/>
          </a:prstGeom>
        </p:spPr>
      </p:pic>
      <p:sp>
        <p:nvSpPr>
          <p:cNvPr id="19" name="Text 14"/>
          <p:cNvSpPr txBox="1"/>
          <p:nvPr/>
        </p:nvSpPr>
        <p:spPr>
          <a:xfrm>
            <a:off x="8037576" y="1874520"/>
            <a:ext cx="548640" cy="365760"/>
          </a:xfrm>
          <a:prstGeom prst="rect">
            <a:avLst/>
          </a:prstGeom>
          <a:noFill/>
          <a:ln/>
        </p:spPr>
        <p:txBody>
          <a:bodyPr wrap="square" lIns="0" tIns="0" rIns="0" bIns="0" rtlCol="0" anchor="t"/>
          <a:lstStyle/>
          <a:p>
            <a:pPr algn="r" indent="0" marL="0">
              <a:buNone/>
            </a:pPr>
            <a:r>
              <a:rPr lang="en-US" sz="1400" b="1" dirty="0">
                <a:solidFill>
                  <a:schemeClr val="accent6"/>
                </a:solidFill>
              </a:rPr>
              <a:t>03</a:t>
            </a:r>
            <a:endParaRPr lang="en-US" sz="1400" dirty="0"/>
          </a:p>
        </p:txBody>
      </p:sp>
      <p:sp>
        <p:nvSpPr>
          <p:cNvPr id="20" name="Text 15"/>
          <p:cNvSpPr txBox="1"/>
          <p:nvPr/>
        </p:nvSpPr>
        <p:spPr>
          <a:xfrm>
            <a:off x="6528816" y="2834640"/>
            <a:ext cx="2103120" cy="457200"/>
          </a:xfrm>
          <a:prstGeom prst="rect">
            <a:avLst/>
          </a:prstGeom>
          <a:noFill/>
          <a:ln/>
        </p:spPr>
        <p:txBody>
          <a:bodyPr wrap="square" lIns="0" tIns="0" rIns="0" bIns="0" rtlCol="0" anchor="t"/>
          <a:lstStyle/>
          <a:p>
            <a:pPr indent="0" marL="0">
              <a:buNone/>
            </a:pPr>
            <a:r>
              <a:rPr lang="en-US" sz="2200" b="1" dirty="0">
                <a:solidFill>
                  <a:schemeClr val="tx2"/>
                </a:solidFill>
                <a:latin typeface="Georgia" pitchFamily="34" charset="0"/>
                <a:ea typeface="Georgia" pitchFamily="34" charset="-122"/>
                <a:cs typeface="Georgia" pitchFamily="34" charset="-120"/>
              </a:rPr>
              <a:t>Explain</a:t>
            </a:r>
            <a:endParaRPr lang="en-US" sz="2200" dirty="0"/>
          </a:p>
        </p:txBody>
      </p:sp>
      <p:sp>
        <p:nvSpPr>
          <p:cNvPr id="21" name="Text 16"/>
          <p:cNvSpPr txBox="1"/>
          <p:nvPr/>
        </p:nvSpPr>
        <p:spPr>
          <a:xfrm>
            <a:off x="6528816" y="3429000"/>
            <a:ext cx="2011680" cy="1554480"/>
          </a:xfrm>
          <a:prstGeom prst="rect">
            <a:avLst/>
          </a:prstGeom>
          <a:noFill/>
          <a:ln/>
        </p:spPr>
        <p:txBody>
          <a:bodyPr wrap="square" lIns="0" tIns="0" rIns="0" bIns="0" rtlCol="0" anchor="t"/>
          <a:lstStyle/>
          <a:p>
            <a:pPr indent="0" marL="0">
              <a:buNone/>
            </a:pPr>
            <a:r>
              <a:rPr lang="en-US" sz="1400" dirty="0">
                <a:solidFill>
                  <a:schemeClr val="tx1"/>
                </a:solidFill>
              </a:rPr>
              <a:t>The top reasons behind every risk: falling glucose, a sulfonylurea dose, the time of day</a:t>
            </a:r>
            <a:endParaRPr lang="en-US" sz="1400" dirty="0"/>
          </a:p>
        </p:txBody>
      </p:sp>
      <p:sp>
        <p:nvSpPr>
          <p:cNvPr id="22" name="card"/>
          <p:cNvSpPr/>
          <p:nvPr/>
        </p:nvSpPr>
        <p:spPr>
          <a:xfrm>
            <a:off x="9015984" y="1508760"/>
            <a:ext cx="2624328" cy="3657600"/>
          </a:xfrm>
          <a:prstGeom prst="roundRect">
            <a:avLst>
              <a:gd name="adj" fmla="val 4878"/>
            </a:avLst>
          </a:prstGeom>
          <a:solidFill>
            <a:schemeClr val="bg1"/>
          </a:solidFill>
          <a:ln/>
          <a:effectLst>
            <a:outerShdw sx="100000" sy="100000" kx="0" ky="0" algn="bl" rotWithShape="0" blurRad="177800" dist="38100" dir="5400000">
              <a:srgbClr val="0B2F3F">
                <a:alpha val="10000"/>
              </a:srgbClr>
            </a:outerShdw>
          </a:effectLst>
        </p:spPr>
      </p:sp>
      <p:sp>
        <p:nvSpPr>
          <p:cNvPr id="23" name="icon-dot"/>
          <p:cNvSpPr/>
          <p:nvPr/>
        </p:nvSpPr>
        <p:spPr>
          <a:xfrm>
            <a:off x="9336024" y="1828800"/>
            <a:ext cx="777240" cy="777240"/>
          </a:xfrm>
          <a:prstGeom prst="ellipse">
            <a:avLst/>
          </a:prstGeom>
          <a:solidFill>
            <a:schemeClr val="accent1"/>
          </a:solidFill>
          <a:ln/>
        </p:spPr>
      </p:sp>
      <p:pic>
        <p:nvPicPr>
          <p:cNvPr id="24" name="icon-flask" descr="C:\Users\Akhilesh\AppData\Local\Temp\claude\C--Users-Akhilesh-Desktop-Claude-code-Happiest-Health\47a587f0-c947-456b-8324-0bf75adb31d4\scratchpad\deck\img\icons\flask.png">    </p:cNvPr>
          <p:cNvPicPr>
            <a:picLocks noChangeAspect="1"/>
          </p:cNvPicPr>
          <p:nvPr/>
        </p:nvPicPr>
        <p:blipFill>
          <a:blip r:embed="rId4"/>
          <a:stretch>
            <a:fillRect/>
          </a:stretch>
        </p:blipFill>
        <p:spPr>
          <a:xfrm>
            <a:off x="9507017" y="1999793"/>
            <a:ext cx="435254" cy="435254"/>
          </a:xfrm>
          <a:prstGeom prst="rect">
            <a:avLst/>
          </a:prstGeom>
        </p:spPr>
      </p:pic>
      <p:sp>
        <p:nvSpPr>
          <p:cNvPr id="25" name="Text 19"/>
          <p:cNvSpPr txBox="1"/>
          <p:nvPr/>
        </p:nvSpPr>
        <p:spPr>
          <a:xfrm>
            <a:off x="10844784" y="1874520"/>
            <a:ext cx="548640" cy="365760"/>
          </a:xfrm>
          <a:prstGeom prst="rect">
            <a:avLst/>
          </a:prstGeom>
          <a:noFill/>
          <a:ln/>
        </p:spPr>
        <p:txBody>
          <a:bodyPr wrap="square" lIns="0" tIns="0" rIns="0" bIns="0" rtlCol="0" anchor="t"/>
          <a:lstStyle/>
          <a:p>
            <a:pPr algn="r" indent="0" marL="0">
              <a:buNone/>
            </a:pPr>
            <a:r>
              <a:rPr lang="en-US" sz="1400" b="1" dirty="0">
                <a:solidFill>
                  <a:schemeClr val="accent6"/>
                </a:solidFill>
              </a:rPr>
              <a:t>04</a:t>
            </a:r>
            <a:endParaRPr lang="en-US" sz="1400" dirty="0"/>
          </a:p>
        </p:txBody>
      </p:sp>
      <p:sp>
        <p:nvSpPr>
          <p:cNvPr id="26" name="Text 20"/>
          <p:cNvSpPr txBox="1"/>
          <p:nvPr/>
        </p:nvSpPr>
        <p:spPr>
          <a:xfrm>
            <a:off x="9336024" y="2834640"/>
            <a:ext cx="2103120" cy="457200"/>
          </a:xfrm>
          <a:prstGeom prst="rect">
            <a:avLst/>
          </a:prstGeom>
          <a:noFill/>
          <a:ln/>
        </p:spPr>
        <p:txBody>
          <a:bodyPr wrap="square" lIns="0" tIns="0" rIns="0" bIns="0" rtlCol="0" anchor="t"/>
          <a:lstStyle/>
          <a:p>
            <a:pPr indent="0" marL="0">
              <a:buNone/>
            </a:pPr>
            <a:r>
              <a:rPr lang="en-US" sz="2200" b="1" dirty="0">
                <a:solidFill>
                  <a:schemeClr val="tx2"/>
                </a:solidFill>
                <a:latin typeface="Georgia" pitchFamily="34" charset="0"/>
                <a:ea typeface="Georgia" pitchFamily="34" charset="-122"/>
                <a:cs typeface="Georgia" pitchFamily="34" charset="-120"/>
              </a:rPr>
              <a:t>Simulate</a:t>
            </a:r>
            <a:endParaRPr lang="en-US" sz="2200" dirty="0"/>
          </a:p>
        </p:txBody>
      </p:sp>
      <p:sp>
        <p:nvSpPr>
          <p:cNvPr id="27" name="Text 21"/>
          <p:cNvSpPr txBox="1"/>
          <p:nvPr/>
        </p:nvSpPr>
        <p:spPr>
          <a:xfrm>
            <a:off x="9336024" y="3429000"/>
            <a:ext cx="2011680" cy="1554480"/>
          </a:xfrm>
          <a:prstGeom prst="rect">
            <a:avLst/>
          </a:prstGeom>
          <a:noFill/>
          <a:ln/>
        </p:spPr>
        <p:txBody>
          <a:bodyPr wrap="square" lIns="0" tIns="0" rIns="0" bIns="0" rtlCol="0" anchor="t"/>
          <a:lstStyle/>
          <a:p>
            <a:pPr indent="0" marL="0">
              <a:buNone/>
            </a:pPr>
            <a:r>
              <a:rPr lang="en-US" sz="1400" dirty="0">
                <a:solidFill>
                  <a:schemeClr val="tx1"/>
                </a:solidFill>
              </a:rPr>
              <a:t>A twin fitted to the patient's own data answers 'what if?' with an honest uncertainty band</a:t>
            </a:r>
            <a:endParaRPr lang="en-US" sz="1400" dirty="0"/>
          </a:p>
        </p:txBody>
      </p:sp>
      <p:sp>
        <p:nvSpPr>
          <p:cNvPr id="28" name="Text 22"/>
          <p:cNvSpPr txBox="1"/>
          <p:nvPr/>
        </p:nvSpPr>
        <p:spPr>
          <a:xfrm>
            <a:off x="594360" y="5440680"/>
            <a:ext cx="11002975" cy="411480"/>
          </a:xfrm>
          <a:prstGeom prst="rect">
            <a:avLst/>
          </a:prstGeom>
          <a:noFill/>
          <a:ln/>
        </p:spPr>
        <p:txBody>
          <a:bodyPr wrap="square" lIns="0" tIns="0" rIns="0" bIns="0" rtlCol="0" anchor="t"/>
          <a:lstStyle/>
          <a:p>
            <a:pPr indent="0" marL="0">
              <a:buNone/>
            </a:pPr>
            <a:r>
              <a:rPr lang="en-US" sz="1300" dirty="0">
                <a:solidFill>
                  <a:schemeClr val="accent6"/>
                </a:solidFill>
              </a:rPr>
              <a:t>Inputs: the last 6 hours of CGM, steps, heart rate and sleep, plus the health record. Output: an explained 2-hour early warning.</a:t>
            </a:r>
            <a:endParaRPr lang="en-US" sz="1300" dirty="0"/>
          </a:p>
        </p:txBody>
      </p:sp>
      <p:sp>
        <p:nvSpPr>
          <p:cNvPr id="25" name="Slide Number Placeholder 0"/>
          <p:cNvSpPr>
            <a:spLocks noGrp="1"/>
          </p:cNvSpPr>
          <p:nvPr>
            <p:ph type="sldNum" sz="quarter" idx="4294967295"/>
          </p:nvPr>
        </p:nvSpPr>
        <p:spPr>
          <a:xfrm>
            <a:off x="11140135"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94360" y="292608"/>
            <a:ext cx="8229600" cy="256032"/>
          </a:xfrm>
          <a:prstGeom prst="rect">
            <a:avLst/>
          </a:prstGeom>
          <a:noFill/>
          <a:ln/>
        </p:spPr>
        <p:txBody>
          <a:bodyPr wrap="square" lIns="0" tIns="0" rIns="0" bIns="0" rtlCol="0" anchor="t"/>
          <a:lstStyle/>
          <a:p>
            <a:pPr indent="0" marL="0">
              <a:buNone/>
            </a:pPr>
            <a:r>
              <a:rPr lang="en-US" sz="1100" b="1" spc="300" kern="0" dirty="0">
                <a:solidFill>
                  <a:schemeClr val="accent1"/>
                </a:solidFill>
              </a:rPr>
              <a:t>03 · HOW IT WORKS</a:t>
            </a:r>
            <a:endParaRPr lang="en-US" sz="1100" dirty="0"/>
          </a:p>
        </p:txBody>
      </p:sp>
      <p:sp>
        <p:nvSpPr>
          <p:cNvPr id="3" name="Text 0"/>
          <p:cNvSpPr/>
          <p:nvPr>
            <p:ph idx="100" type="title" hasCustomPrompt="1"/>
          </p:nvPr>
        </p:nvSpPr>
        <p:spPr>
          <a:xfrm>
            <a:off x="594360" y="566928"/>
            <a:ext cx="11002975" cy="658368"/>
          </a:xfrm>
          <a:prstGeom prst="rect">
            <a:avLst/>
          </a:prstGeom>
          <a:noFill/>
          <a:ln/>
        </p:spPr>
        <p:txBody>
          <a:bodyPr wrap="square" lIns="0" tIns="0" rIns="0" bIns="0" rtlCol="0" anchor="ctr"/>
          <a:lstStyle/>
          <a:p>
            <a:pPr algn="l" indent="0" marL="0">
              <a:buNone/>
            </a:pPr>
            <a:r>
              <a:rPr lang="en-US" sz="3000" b="1" dirty="0">
                <a:solidFill>
                  <a:schemeClr val="tx2"/>
                </a:solidFill>
                <a:latin typeface="Georgia" pitchFamily="34" charset="0"/>
                <a:ea typeface="Georgia" pitchFamily="34" charset="-122"/>
                <a:cs typeface="Georgia" pitchFamily="34" charset="-120"/>
              </a:rPr>
              <a:t>Five layers, from data to dashboard and API</a:t>
            </a:r>
            <a:endParaRPr lang="en-US" sz="3000" dirty="0"/>
          </a:p>
        </p:txBody>
      </p:sp>
      <p:sp>
        <p:nvSpPr>
          <p:cNvPr id="4" name="card"/>
          <p:cNvSpPr/>
          <p:nvPr/>
        </p:nvSpPr>
        <p:spPr>
          <a:xfrm>
            <a:off x="1325880" y="1371600"/>
            <a:ext cx="9537192" cy="5074920"/>
          </a:xfrm>
          <a:prstGeom prst="roundRect">
            <a:avLst>
              <a:gd name="adj" fmla="val 2523"/>
            </a:avLst>
          </a:prstGeom>
          <a:solidFill>
            <a:schemeClr val="bg1"/>
          </a:solidFill>
          <a:ln/>
          <a:effectLst>
            <a:outerShdw sx="100000" sy="100000" kx="0" ky="0" algn="bl" rotWithShape="0" blurRad="177800" dist="38100" dir="5400000">
              <a:srgbClr val="0B2F3F">
                <a:alpha val="10000"/>
              </a:srgbClr>
            </a:outerShdw>
          </a:effectLst>
        </p:spPr>
      </p:sp>
      <p:pic>
        <p:nvPicPr>
          <p:cNvPr id="5" name="architecture" descr="C:\Users\Akhilesh\Desktop\Claude code\Happiest Health\docs\architecture.png">    </p:cNvPr>
          <p:cNvPicPr>
            <a:picLocks noChangeAspect="1"/>
          </p:cNvPicPr>
          <p:nvPr/>
        </p:nvPicPr>
        <p:blipFill>
          <a:blip r:embed="rId1"/>
          <a:stretch>
            <a:fillRect/>
          </a:stretch>
        </p:blipFill>
        <p:spPr>
          <a:xfrm>
            <a:off x="1453896" y="1499616"/>
            <a:ext cx="9281160" cy="4818888"/>
          </a:xfrm>
          <a:prstGeom prst="rect">
            <a:avLst/>
          </a:prstGeom>
        </p:spPr>
      </p:pic>
      <p:sp>
        <p:nvSpPr>
          <p:cNvPr id="25" name="Slide Number Placeholder 0"/>
          <p:cNvSpPr>
            <a:spLocks noGrp="1"/>
          </p:cNvSpPr>
          <p:nvPr>
            <p:ph type="sldNum" sz="quarter" idx="4294967295"/>
          </p:nvPr>
        </p:nvSpPr>
        <p:spPr>
          <a:xfrm>
            <a:off x="11140135"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94360" y="292608"/>
            <a:ext cx="8229600" cy="256032"/>
          </a:xfrm>
          <a:prstGeom prst="rect">
            <a:avLst/>
          </a:prstGeom>
          <a:noFill/>
          <a:ln/>
        </p:spPr>
        <p:txBody>
          <a:bodyPr wrap="square" lIns="0" tIns="0" rIns="0" bIns="0" rtlCol="0" anchor="t"/>
          <a:lstStyle/>
          <a:p>
            <a:pPr indent="0" marL="0">
              <a:buNone/>
            </a:pPr>
            <a:r>
              <a:rPr lang="en-US" sz="1100" b="1" spc="300" kern="0" dirty="0">
                <a:solidFill>
                  <a:schemeClr val="accent1"/>
                </a:solidFill>
              </a:rPr>
              <a:t>04 · DATA</a:t>
            </a:r>
            <a:endParaRPr lang="en-US" sz="1100" dirty="0"/>
          </a:p>
        </p:txBody>
      </p:sp>
      <p:sp>
        <p:nvSpPr>
          <p:cNvPr id="3" name="Text 0"/>
          <p:cNvSpPr/>
          <p:nvPr>
            <p:ph idx="100" type="title" hasCustomPrompt="1"/>
          </p:nvPr>
        </p:nvSpPr>
        <p:spPr>
          <a:xfrm>
            <a:off x="594360" y="566928"/>
            <a:ext cx="11002975" cy="658368"/>
          </a:xfrm>
          <a:prstGeom prst="rect">
            <a:avLst/>
          </a:prstGeom>
          <a:noFill/>
          <a:ln/>
        </p:spPr>
        <p:txBody>
          <a:bodyPr wrap="square" lIns="0" tIns="0" rIns="0" bIns="0" rtlCol="0" anchor="ctr"/>
          <a:lstStyle/>
          <a:p>
            <a:pPr algn="l" indent="0" marL="0">
              <a:buNone/>
            </a:pPr>
            <a:r>
              <a:rPr lang="en-US" sz="3000" b="1" dirty="0">
                <a:solidFill>
                  <a:schemeClr val="tx2"/>
                </a:solidFill>
                <a:latin typeface="Georgia" pitchFamily="34" charset="0"/>
                <a:ea typeface="Georgia" pitchFamily="34" charset="-122"/>
                <a:cs typeface="Georgia" pitchFamily="34" charset="-120"/>
              </a:rPr>
              <a:t>A physiology simulator, honestly labelled</a:t>
            </a:r>
            <a:endParaRPr lang="en-US" sz="3000" dirty="0"/>
          </a:p>
        </p:txBody>
      </p:sp>
      <p:sp>
        <p:nvSpPr>
          <p:cNvPr id="4" name="card"/>
          <p:cNvSpPr/>
          <p:nvPr/>
        </p:nvSpPr>
        <p:spPr>
          <a:xfrm>
            <a:off x="594360" y="1463040"/>
            <a:ext cx="5989320" cy="4526280"/>
          </a:xfrm>
          <a:prstGeom prst="roundRect">
            <a:avLst>
              <a:gd name="adj" fmla="val 2828"/>
            </a:avLst>
          </a:prstGeom>
          <a:solidFill>
            <a:schemeClr val="bg1"/>
          </a:solidFill>
          <a:ln/>
          <a:effectLst>
            <a:outerShdw sx="100000" sy="100000" kx="0" ky="0" algn="bl" rotWithShape="0" blurRad="177800" dist="38100" dir="5400000">
              <a:srgbClr val="0B2F3F">
                <a:alpha val="10000"/>
              </a:srgbClr>
            </a:outerShdw>
          </a:effectLst>
        </p:spPr>
      </p:sp>
      <p:sp>
        <p:nvSpPr>
          <p:cNvPr id="5" name="Text 3"/>
          <p:cNvSpPr txBox="1"/>
          <p:nvPr/>
        </p:nvSpPr>
        <p:spPr>
          <a:xfrm>
            <a:off x="960120" y="1691640"/>
            <a:ext cx="5303520" cy="384048"/>
          </a:xfrm>
          <a:prstGeom prst="rect">
            <a:avLst/>
          </a:prstGeom>
          <a:noFill/>
          <a:ln/>
        </p:spPr>
        <p:txBody>
          <a:bodyPr wrap="square" lIns="0" tIns="0" rIns="0" bIns="0" rtlCol="0" anchor="t"/>
          <a:lstStyle/>
          <a:p>
            <a:pPr indent="0" marL="0">
              <a:buNone/>
            </a:pPr>
            <a:r>
              <a:rPr lang="en-US" sz="1800" b="1" dirty="0">
                <a:solidFill>
                  <a:schemeClr val="tx2"/>
                </a:solidFill>
                <a:latin typeface="Georgia" pitchFamily="34" charset="0"/>
                <a:ea typeface="Georgia" pitchFamily="34" charset="-122"/>
                <a:cs typeface="Georgia" pitchFamily="34" charset="-120"/>
              </a:rPr>
              <a:t>What we generate</a:t>
            </a:r>
            <a:endParaRPr lang="en-US" sz="1800" dirty="0"/>
          </a:p>
        </p:txBody>
      </p:sp>
      <p:sp>
        <p:nvSpPr>
          <p:cNvPr id="6" name="icon-dot"/>
          <p:cNvSpPr/>
          <p:nvPr/>
        </p:nvSpPr>
        <p:spPr>
          <a:xfrm>
            <a:off x="960120" y="2286000"/>
            <a:ext cx="548640" cy="548640"/>
          </a:xfrm>
          <a:prstGeom prst="ellipse">
            <a:avLst/>
          </a:prstGeom>
          <a:solidFill>
            <a:schemeClr val="accent1"/>
          </a:solidFill>
          <a:ln/>
        </p:spPr>
      </p:sp>
      <p:pic>
        <p:nvPicPr>
          <p:cNvPr id="7" name="icon-database" descr="C:\Users\Akhilesh\AppData\Local\Temp\claude\C--Users-Akhilesh-Desktop-Claude-code-Happiest-Health\47a587f0-c947-456b-8324-0bf75adb31d4\scratchpad\deck\img\icons\database.png">    </p:cNvPr>
          <p:cNvPicPr>
            <a:picLocks noChangeAspect="1"/>
          </p:cNvPicPr>
          <p:nvPr/>
        </p:nvPicPr>
        <p:blipFill>
          <a:blip r:embed="rId1"/>
          <a:stretch>
            <a:fillRect/>
          </a:stretch>
        </p:blipFill>
        <p:spPr>
          <a:xfrm>
            <a:off x="1080821" y="2406701"/>
            <a:ext cx="307238" cy="307238"/>
          </a:xfrm>
          <a:prstGeom prst="rect">
            <a:avLst/>
          </a:prstGeom>
        </p:spPr>
      </p:pic>
      <p:sp>
        <p:nvSpPr>
          <p:cNvPr id="8" name="Text 5"/>
          <p:cNvSpPr txBox="1"/>
          <p:nvPr/>
        </p:nvSpPr>
        <p:spPr>
          <a:xfrm>
            <a:off x="1691640" y="2267712"/>
            <a:ext cx="4663440" cy="731520"/>
          </a:xfrm>
          <a:prstGeom prst="rect">
            <a:avLst/>
          </a:prstGeom>
          <a:noFill/>
          <a:ln/>
        </p:spPr>
        <p:txBody>
          <a:bodyPr wrap="square" lIns="0" tIns="0" rIns="0" bIns="0" rtlCol="0" anchor="t"/>
          <a:lstStyle/>
          <a:p>
            <a:pPr indent="0" marL="0">
              <a:buNone/>
            </a:pPr>
            <a:r>
              <a:rPr lang="en-US" sz="1300" b="1" dirty="0">
                <a:solidFill>
                  <a:schemeClr val="tx1"/>
                </a:solidFill>
              </a:rPr>
              <a:t>300 patients × 14 days</a:t>
            </a:r>
            <a:endParaRPr lang="en-US" sz="1300" dirty="0"/>
          </a:p>
          <a:p>
            <a:pPr indent="0" marL="0">
              <a:buNone/>
            </a:pPr>
            <a:r>
              <a:rPr lang="en-US" sz="1300" dirty="0">
                <a:solidFill>
                  <a:schemeClr val="accent6"/>
                </a:solidFill>
              </a:rPr>
              <a:t>5-minute CGM with sensor lag, noise and dropouts</a:t>
            </a:r>
            <a:endParaRPr lang="en-US" sz="1300" dirty="0"/>
          </a:p>
        </p:txBody>
      </p:sp>
      <p:sp>
        <p:nvSpPr>
          <p:cNvPr id="9" name="icon-dot"/>
          <p:cNvSpPr/>
          <p:nvPr/>
        </p:nvSpPr>
        <p:spPr>
          <a:xfrm>
            <a:off x="960120" y="3182112"/>
            <a:ext cx="548640" cy="548640"/>
          </a:xfrm>
          <a:prstGeom prst="ellipse">
            <a:avLst/>
          </a:prstGeom>
          <a:solidFill>
            <a:schemeClr val="accent1"/>
          </a:solidFill>
          <a:ln/>
        </p:spPr>
      </p:sp>
      <p:pic>
        <p:nvPicPr>
          <p:cNvPr id="10" name="icon-record" descr="C:\Users\Akhilesh\AppData\Local\Temp\claude\C--Users-Akhilesh-Desktop-Claude-code-Happiest-Health\47a587f0-c947-456b-8324-0bf75adb31d4\scratchpad\deck\img\icons\record.png">    </p:cNvPr>
          <p:cNvPicPr>
            <a:picLocks noChangeAspect="1"/>
          </p:cNvPicPr>
          <p:nvPr/>
        </p:nvPicPr>
        <p:blipFill>
          <a:blip r:embed="rId2"/>
          <a:stretch>
            <a:fillRect/>
          </a:stretch>
        </p:blipFill>
        <p:spPr>
          <a:xfrm>
            <a:off x="1080821" y="3302813"/>
            <a:ext cx="307238" cy="307238"/>
          </a:xfrm>
          <a:prstGeom prst="rect">
            <a:avLst/>
          </a:prstGeom>
        </p:spPr>
      </p:pic>
      <p:sp>
        <p:nvSpPr>
          <p:cNvPr id="11" name="Text 7"/>
          <p:cNvSpPr txBox="1"/>
          <p:nvPr/>
        </p:nvSpPr>
        <p:spPr>
          <a:xfrm>
            <a:off x="1691640" y="3163824"/>
            <a:ext cx="4663440" cy="731520"/>
          </a:xfrm>
          <a:prstGeom prst="rect">
            <a:avLst/>
          </a:prstGeom>
          <a:noFill/>
          <a:ln/>
        </p:spPr>
        <p:txBody>
          <a:bodyPr wrap="square" lIns="0" tIns="0" rIns="0" bIns="0" rtlCol="0" anchor="t"/>
          <a:lstStyle/>
          <a:p>
            <a:pPr indent="0" marL="0">
              <a:buNone/>
            </a:pPr>
            <a:r>
              <a:rPr lang="en-US" sz="1300" b="1" dirty="0">
                <a:solidFill>
                  <a:schemeClr val="tx1"/>
                </a:solidFill>
              </a:rPr>
              <a:t>A full health record</a:t>
            </a:r>
            <a:endParaRPr lang="en-US" sz="1300" dirty="0"/>
          </a:p>
          <a:p>
            <a:pPr indent="0" marL="0">
              <a:buNone/>
            </a:pPr>
            <a:r>
              <a:rPr lang="en-US" sz="1300" dirty="0">
                <a:solidFill>
                  <a:schemeClr val="accent6"/>
                </a:solidFill>
              </a:rPr>
              <a:t>age, BMI, HbA1c, eGFR, lipids, comorbidities, drug doses</a:t>
            </a:r>
            <a:endParaRPr lang="en-US" sz="1300" dirty="0"/>
          </a:p>
        </p:txBody>
      </p:sp>
      <p:sp>
        <p:nvSpPr>
          <p:cNvPr id="12" name="icon-dot"/>
          <p:cNvSpPr/>
          <p:nvPr/>
        </p:nvSpPr>
        <p:spPr>
          <a:xfrm>
            <a:off x="960120" y="4078224"/>
            <a:ext cx="548640" cy="548640"/>
          </a:xfrm>
          <a:prstGeom prst="ellipse">
            <a:avLst/>
          </a:prstGeom>
          <a:solidFill>
            <a:schemeClr val="accent1"/>
          </a:solidFill>
          <a:ln/>
        </p:spPr>
      </p:sp>
      <p:pic>
        <p:nvPicPr>
          <p:cNvPr id="13" name="icon-meal" descr="C:\Users\Akhilesh\AppData\Local\Temp\claude\C--Users-Akhilesh-Desktop-Claude-code-Happiest-Health\47a587f0-c947-456b-8324-0bf75adb31d4\scratchpad\deck\img\icons\meal.png">    </p:cNvPr>
          <p:cNvPicPr>
            <a:picLocks noChangeAspect="1"/>
          </p:cNvPicPr>
          <p:nvPr/>
        </p:nvPicPr>
        <p:blipFill>
          <a:blip r:embed="rId3"/>
          <a:stretch>
            <a:fillRect/>
          </a:stretch>
        </p:blipFill>
        <p:spPr>
          <a:xfrm>
            <a:off x="1080821" y="4198925"/>
            <a:ext cx="307238" cy="307238"/>
          </a:xfrm>
          <a:prstGeom prst="rect">
            <a:avLst/>
          </a:prstGeom>
        </p:spPr>
      </p:pic>
      <p:sp>
        <p:nvSpPr>
          <p:cNvPr id="14" name="Text 9"/>
          <p:cNvSpPr txBox="1"/>
          <p:nvPr/>
        </p:nvSpPr>
        <p:spPr>
          <a:xfrm>
            <a:off x="1691640" y="4059936"/>
            <a:ext cx="4663440" cy="731520"/>
          </a:xfrm>
          <a:prstGeom prst="rect">
            <a:avLst/>
          </a:prstGeom>
          <a:noFill/>
          <a:ln/>
        </p:spPr>
        <p:txBody>
          <a:bodyPr wrap="square" lIns="0" tIns="0" rIns="0" bIns="0" rtlCol="0" anchor="t"/>
          <a:lstStyle/>
          <a:p>
            <a:pPr indent="0" marL="0">
              <a:buNone/>
            </a:pPr>
            <a:r>
              <a:rPr lang="en-US" sz="1300" b="1" dirty="0">
                <a:solidFill>
                  <a:schemeClr val="tx1"/>
                </a:solidFill>
              </a:rPr>
              <a:t>Indian-context physiology</a:t>
            </a:r>
            <a:endParaRPr lang="en-US" sz="1300" dirty="0"/>
          </a:p>
          <a:p>
            <a:pPr indent="0" marL="0">
              <a:buNone/>
            </a:pPr>
            <a:r>
              <a:rPr lang="en-US" sz="1300" dirty="0">
                <a:solidFill>
                  <a:schemeClr val="accent6"/>
                </a:solidFill>
              </a:rPr>
              <a:t>rice, roti, idli, poha; drug pharmacokinetics; sleep, activity, dawn effect</a:t>
            </a:r>
            <a:endParaRPr lang="en-US" sz="1300" dirty="0"/>
          </a:p>
        </p:txBody>
      </p:sp>
      <p:sp>
        <p:nvSpPr>
          <p:cNvPr id="15" name="icon-dot"/>
          <p:cNvSpPr/>
          <p:nvPr/>
        </p:nvSpPr>
        <p:spPr>
          <a:xfrm>
            <a:off x="960120" y="4974336"/>
            <a:ext cx="548640" cy="548640"/>
          </a:xfrm>
          <a:prstGeom prst="ellipse">
            <a:avLst/>
          </a:prstGeom>
          <a:solidFill>
            <a:schemeClr val="accent1"/>
          </a:solidFill>
          <a:ln/>
        </p:spPr>
      </p:sp>
      <p:pic>
        <p:nvPicPr>
          <p:cNvPr id="16" name="icon-users" descr="C:\Users\Akhilesh\AppData\Local\Temp\claude\C--Users-Akhilesh-Desktop-Claude-code-Happiest-Health\47a587f0-c947-456b-8324-0bf75adb31d4\scratchpad\deck\img\icons\users.png">    </p:cNvPr>
          <p:cNvPicPr>
            <a:picLocks noChangeAspect="1"/>
          </p:cNvPicPr>
          <p:nvPr/>
        </p:nvPicPr>
        <p:blipFill>
          <a:blip r:embed="rId4"/>
          <a:stretch>
            <a:fillRect/>
          </a:stretch>
        </p:blipFill>
        <p:spPr>
          <a:xfrm>
            <a:off x="1080821" y="5095037"/>
            <a:ext cx="307238" cy="307238"/>
          </a:xfrm>
          <a:prstGeom prst="rect">
            <a:avLst/>
          </a:prstGeom>
        </p:spPr>
      </p:pic>
      <p:sp>
        <p:nvSpPr>
          <p:cNvPr id="17" name="Text 11"/>
          <p:cNvSpPr txBox="1"/>
          <p:nvPr/>
        </p:nvSpPr>
        <p:spPr>
          <a:xfrm>
            <a:off x="1691640" y="4956048"/>
            <a:ext cx="4663440" cy="731520"/>
          </a:xfrm>
          <a:prstGeom prst="rect">
            <a:avLst/>
          </a:prstGeom>
          <a:noFill/>
          <a:ln/>
        </p:spPr>
        <p:txBody>
          <a:bodyPr wrap="square" lIns="0" tIns="0" rIns="0" bIns="0" rtlCol="0" anchor="t"/>
          <a:lstStyle/>
          <a:p>
            <a:pPr indent="0" marL="0">
              <a:buNone/>
            </a:pPr>
            <a:r>
              <a:rPr lang="en-US" sz="1300" b="1" dirty="0">
                <a:solidFill>
                  <a:schemeClr val="tx1"/>
                </a:solidFill>
              </a:rPr>
              <a:t>Split by patient</a:t>
            </a:r>
            <a:endParaRPr lang="en-US" sz="1300" dirty="0"/>
          </a:p>
          <a:p>
            <a:pPr indent="0" marL="0">
              <a:buNone/>
            </a:pPr>
            <a:r>
              <a:rPr lang="en-US" sz="1300" dirty="0">
                <a:solidFill>
                  <a:schemeClr val="accent6"/>
                </a:solidFill>
              </a:rPr>
              <a:t>194 train / 46 validation / 60 test, stratified by drug class</a:t>
            </a:r>
            <a:endParaRPr lang="en-US" sz="1300" dirty="0"/>
          </a:p>
        </p:txBody>
      </p:sp>
      <p:sp>
        <p:nvSpPr>
          <p:cNvPr id="18" name="card"/>
          <p:cNvSpPr/>
          <p:nvPr/>
        </p:nvSpPr>
        <p:spPr>
          <a:xfrm>
            <a:off x="6812280" y="1463040"/>
            <a:ext cx="4782312" cy="4526280"/>
          </a:xfrm>
          <a:prstGeom prst="roundRect">
            <a:avLst>
              <a:gd name="adj" fmla="val 2828"/>
            </a:avLst>
          </a:prstGeom>
          <a:solidFill>
            <a:schemeClr val="tx2"/>
          </a:solidFill>
          <a:ln/>
          <a:effectLst>
            <a:outerShdw sx="100000" sy="100000" kx="0" ky="0" algn="bl" rotWithShape="0" blurRad="177800" dist="38100" dir="5400000">
              <a:srgbClr val="0B2F3F">
                <a:alpha val="10000"/>
              </a:srgbClr>
            </a:outerShdw>
          </a:effectLst>
        </p:spPr>
      </p:sp>
      <p:sp>
        <p:nvSpPr>
          <p:cNvPr id="19" name="icon-dot"/>
          <p:cNvSpPr/>
          <p:nvPr/>
        </p:nvSpPr>
        <p:spPr>
          <a:xfrm>
            <a:off x="7178040" y="1783080"/>
            <a:ext cx="658368" cy="658368"/>
          </a:xfrm>
          <a:prstGeom prst="ellipse">
            <a:avLst/>
          </a:prstGeom>
          <a:solidFill>
            <a:schemeClr val="accent4"/>
          </a:solidFill>
          <a:ln/>
        </p:spPr>
      </p:sp>
      <p:pic>
        <p:nvPicPr>
          <p:cNvPr id="20" name="icon-shield" descr="C:\Users\Akhilesh\AppData\Local\Temp\claude\C--Users-Akhilesh-Desktop-Claude-code-Happiest-Health\47a587f0-c947-456b-8324-0bf75adb31d4\scratchpad\deck\img\icons\shield.png">    </p:cNvPr>
          <p:cNvPicPr>
            <a:picLocks noChangeAspect="1"/>
          </p:cNvPicPr>
          <p:nvPr/>
        </p:nvPicPr>
        <p:blipFill>
          <a:blip r:embed="rId5"/>
          <a:stretch>
            <a:fillRect/>
          </a:stretch>
        </p:blipFill>
        <p:spPr>
          <a:xfrm>
            <a:off x="7322881" y="1927921"/>
            <a:ext cx="368686" cy="368686"/>
          </a:xfrm>
          <a:prstGeom prst="rect">
            <a:avLst/>
          </a:prstGeom>
        </p:spPr>
      </p:pic>
      <p:sp>
        <p:nvSpPr>
          <p:cNvPr id="21" name="Text 14"/>
          <p:cNvSpPr txBox="1"/>
          <p:nvPr/>
        </p:nvSpPr>
        <p:spPr>
          <a:xfrm>
            <a:off x="7178040" y="2651760"/>
            <a:ext cx="4206240" cy="457200"/>
          </a:xfrm>
          <a:prstGeom prst="rect">
            <a:avLst/>
          </a:prstGeom>
          <a:noFill/>
          <a:ln/>
        </p:spPr>
        <p:txBody>
          <a:bodyPr wrap="square" lIns="0" tIns="0" rIns="0" bIns="0" rtlCol="0" anchor="t"/>
          <a:lstStyle/>
          <a:p>
            <a:pPr indent="0" marL="0">
              <a:buNone/>
            </a:pPr>
            <a:r>
              <a:rPr lang="en-US" sz="1900" b="1" dirty="0">
                <a:solidFill>
                  <a:schemeClr val="bg1"/>
                </a:solidFill>
                <a:latin typeface="Georgia" pitchFamily="34" charset="0"/>
                <a:ea typeface="Georgia" pitchFamily="34" charset="-122"/>
                <a:cs typeface="Georgia" pitchFamily="34" charset="-120"/>
              </a:rPr>
              <a:t>Synthetic by design, and labelled</a:t>
            </a:r>
            <a:endParaRPr lang="en-US" sz="1900" dirty="0"/>
          </a:p>
        </p:txBody>
      </p:sp>
      <p:sp>
        <p:nvSpPr>
          <p:cNvPr id="22" name="Text 15"/>
          <p:cNvSpPr txBox="1"/>
          <p:nvPr/>
        </p:nvSpPr>
        <p:spPr>
          <a:xfrm>
            <a:off x="7178040" y="3200400"/>
            <a:ext cx="4069080" cy="2560320"/>
          </a:xfrm>
          <a:prstGeom prst="rect">
            <a:avLst/>
          </a:prstGeom>
          <a:noFill/>
          <a:ln/>
        </p:spPr>
        <p:txBody>
          <a:bodyPr wrap="square" lIns="0" tIns="0" rIns="0" bIns="0" rtlCol="0" anchor="t"/>
          <a:lstStyle/>
          <a:p>
            <a:pPr indent="0" marL="0">
              <a:buNone/>
            </a:pPr>
            <a:r>
              <a:rPr lang="en-US" sz="1400" dirty="0">
                <a:solidFill>
                  <a:schemeClr val="bg1"/>
                </a:solidFill>
              </a:rPr>
              <a:t>No public dataset links hospital records and wearables for the same Indian patients, so we simulate both.</a:t>
            </a:r>
            <a:endParaRPr lang="en-US" sz="1400" dirty="0"/>
          </a:p>
          <a:p>
            <a:pPr indent="0" marL="0">
              <a:buNone/>
            </a:pPr>
            <a:r>
              <a:rPr lang="en-US" sz="800" dirty="0">
                <a:solidFill>
                  <a:schemeClr val="bg1"/>
                </a:solidFill>
              </a:rPr>
              <a:t> </a:t>
            </a:r>
            <a:endParaRPr lang="en-US" sz="1400" dirty="0"/>
          </a:p>
          <a:p>
            <a:pPr indent="0" marL="0">
              <a:buNone/>
            </a:pPr>
            <a:r>
              <a:rPr lang="en-US" sz="1400" dirty="0">
                <a:solidFill>
                  <a:schemeClr val="bg1"/>
                </a:solidFill>
              </a:rPr>
              <a:t>The simulator makes EHR traits drive glucose, so any EHR gain on this data is partly built in. </a:t>
            </a:r>
            <a:pPr indent="0" marL="0">
              <a:buNone/>
            </a:pPr>
            <a:r>
              <a:rPr lang="en-US" sz="1400" b="1" dirty="0">
                <a:solidFill>
                  <a:schemeClr val="accent4"/>
                </a:solidFill>
              </a:rPr>
              <a:t>That is why we went on to test the EHR on real linked records.</a:t>
            </a:r>
            <a:endParaRPr lang="en-US" sz="1400" dirty="0"/>
          </a:p>
        </p:txBody>
      </p:sp>
      <p:sp>
        <p:nvSpPr>
          <p:cNvPr id="25" name="Slide Number Placeholder 0"/>
          <p:cNvSpPr>
            <a:spLocks noGrp="1"/>
          </p:cNvSpPr>
          <p:nvPr>
            <p:ph type="sldNum" sz="quarter" idx="4294967295"/>
          </p:nvPr>
        </p:nvSpPr>
        <p:spPr>
          <a:xfrm>
            <a:off x="11140135"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94360" y="292608"/>
            <a:ext cx="8229600" cy="256032"/>
          </a:xfrm>
          <a:prstGeom prst="rect">
            <a:avLst/>
          </a:prstGeom>
          <a:noFill/>
          <a:ln/>
        </p:spPr>
        <p:txBody>
          <a:bodyPr wrap="square" lIns="0" tIns="0" rIns="0" bIns="0" rtlCol="0" anchor="t"/>
          <a:lstStyle/>
          <a:p>
            <a:pPr indent="0" marL="0">
              <a:buNone/>
            </a:pPr>
            <a:r>
              <a:rPr lang="en-US" sz="1100" b="1" spc="300" kern="0" dirty="0">
                <a:solidFill>
                  <a:schemeClr val="accent1"/>
                </a:solidFill>
              </a:rPr>
              <a:t>05 · RIGOUR</a:t>
            </a:r>
            <a:endParaRPr lang="en-US" sz="1100" dirty="0"/>
          </a:p>
        </p:txBody>
      </p:sp>
      <p:sp>
        <p:nvSpPr>
          <p:cNvPr id="3" name="Text 0"/>
          <p:cNvSpPr/>
          <p:nvPr>
            <p:ph idx="100" type="title" hasCustomPrompt="1"/>
          </p:nvPr>
        </p:nvSpPr>
        <p:spPr>
          <a:xfrm>
            <a:off x="594360" y="566928"/>
            <a:ext cx="11002975" cy="658368"/>
          </a:xfrm>
          <a:prstGeom prst="rect">
            <a:avLst/>
          </a:prstGeom>
          <a:noFill/>
          <a:ln/>
        </p:spPr>
        <p:txBody>
          <a:bodyPr wrap="square" lIns="0" tIns="0" rIns="0" bIns="0" rtlCol="0" anchor="ctr"/>
          <a:lstStyle/>
          <a:p>
            <a:pPr algn="l" indent="0" marL="0">
              <a:buNone/>
            </a:pPr>
            <a:r>
              <a:rPr lang="en-US" sz="3000" b="1" dirty="0">
                <a:solidFill>
                  <a:schemeClr val="tx2"/>
                </a:solidFill>
                <a:latin typeface="Georgia" pitchFamily="34" charset="0"/>
                <a:ea typeface="Georgia" pitchFamily="34" charset="-122"/>
                <a:cs typeface="Georgia" pitchFamily="34" charset="-120"/>
              </a:rPr>
              <a:t>Built so the numbers can be trusted</a:t>
            </a:r>
            <a:endParaRPr lang="en-US" sz="3000" dirty="0"/>
          </a:p>
        </p:txBody>
      </p:sp>
      <p:sp>
        <p:nvSpPr>
          <p:cNvPr id="4" name="card"/>
          <p:cNvSpPr/>
          <p:nvPr/>
        </p:nvSpPr>
        <p:spPr>
          <a:xfrm>
            <a:off x="594360" y="1508760"/>
            <a:ext cx="2103120" cy="3794760"/>
          </a:xfrm>
          <a:prstGeom prst="roundRect">
            <a:avLst>
              <a:gd name="adj" fmla="val 6087"/>
            </a:avLst>
          </a:prstGeom>
          <a:solidFill>
            <a:schemeClr val="bg1"/>
          </a:solidFill>
          <a:ln/>
          <a:effectLst>
            <a:outerShdw sx="100000" sy="100000" kx="0" ky="0" algn="bl" rotWithShape="0" blurRad="177800" dist="38100" dir="5400000">
              <a:srgbClr val="0B2F3F">
                <a:alpha val="10000"/>
              </a:srgbClr>
            </a:outerShdw>
          </a:effectLst>
        </p:spPr>
      </p:sp>
      <p:sp>
        <p:nvSpPr>
          <p:cNvPr id="5" name="icon-dot"/>
          <p:cNvSpPr/>
          <p:nvPr/>
        </p:nvSpPr>
        <p:spPr>
          <a:xfrm>
            <a:off x="868680" y="1783080"/>
            <a:ext cx="658368" cy="658368"/>
          </a:xfrm>
          <a:prstGeom prst="ellipse">
            <a:avLst/>
          </a:prstGeom>
          <a:solidFill>
            <a:schemeClr val="accent1"/>
          </a:solidFill>
          <a:ln/>
        </p:spPr>
      </p:sp>
      <p:pic>
        <p:nvPicPr>
          <p:cNvPr id="6" name="icon-users" descr="C:\Users\Akhilesh\AppData\Local\Temp\claude\C--Users-Akhilesh-Desktop-Claude-code-Happiest-Health\47a587f0-c947-456b-8324-0bf75adb31d4\scratchpad\deck\img\icons\users.png">    </p:cNvPr>
          <p:cNvPicPr>
            <a:picLocks noChangeAspect="1"/>
          </p:cNvPicPr>
          <p:nvPr/>
        </p:nvPicPr>
        <p:blipFill>
          <a:blip r:embed="rId1"/>
          <a:stretch>
            <a:fillRect/>
          </a:stretch>
        </p:blipFill>
        <p:spPr>
          <a:xfrm>
            <a:off x="1013521" y="1927921"/>
            <a:ext cx="368686" cy="368686"/>
          </a:xfrm>
          <a:prstGeom prst="rect">
            <a:avLst/>
          </a:prstGeom>
        </p:spPr>
      </p:pic>
      <p:sp>
        <p:nvSpPr>
          <p:cNvPr id="7" name="Text 4"/>
          <p:cNvSpPr txBox="1"/>
          <p:nvPr/>
        </p:nvSpPr>
        <p:spPr>
          <a:xfrm>
            <a:off x="1965960" y="1874520"/>
            <a:ext cx="502920" cy="365760"/>
          </a:xfrm>
          <a:prstGeom prst="rect">
            <a:avLst/>
          </a:prstGeom>
          <a:noFill/>
          <a:ln/>
        </p:spPr>
        <p:txBody>
          <a:bodyPr wrap="square" lIns="0" tIns="0" rIns="0" bIns="0" rtlCol="0" anchor="t"/>
          <a:lstStyle/>
          <a:p>
            <a:pPr algn="r" indent="0" marL="0">
              <a:buNone/>
            </a:pPr>
            <a:r>
              <a:rPr lang="en-US" sz="1300" b="1" dirty="0">
                <a:solidFill>
                  <a:schemeClr val="accent6"/>
                </a:solidFill>
              </a:rPr>
              <a:t>01</a:t>
            </a:r>
            <a:endParaRPr lang="en-US" sz="1300" dirty="0"/>
          </a:p>
        </p:txBody>
      </p:sp>
      <p:sp>
        <p:nvSpPr>
          <p:cNvPr id="8" name="Text 5"/>
          <p:cNvSpPr txBox="1"/>
          <p:nvPr/>
        </p:nvSpPr>
        <p:spPr>
          <a:xfrm>
            <a:off x="868680" y="2697480"/>
            <a:ext cx="1691640" cy="685800"/>
          </a:xfrm>
          <a:prstGeom prst="rect">
            <a:avLst/>
          </a:prstGeom>
          <a:noFill/>
          <a:ln/>
        </p:spPr>
        <p:txBody>
          <a:bodyPr wrap="square" lIns="0" tIns="0" rIns="0" bIns="0" rtlCol="0" anchor="t"/>
          <a:lstStyle/>
          <a:p>
            <a:pPr indent="0" marL="0">
              <a:buNone/>
            </a:pPr>
            <a:r>
              <a:rPr lang="en-US" sz="1600" b="1" dirty="0">
                <a:solidFill>
                  <a:schemeClr val="tx2"/>
                </a:solidFill>
                <a:latin typeface="Georgia" pitchFamily="34" charset="0"/>
                <a:ea typeface="Georgia" pitchFamily="34" charset="-122"/>
                <a:cs typeface="Georgia" pitchFamily="34" charset="-120"/>
              </a:rPr>
              <a:t>Patient-level split</a:t>
            </a:r>
            <a:endParaRPr lang="en-US" sz="1600" dirty="0"/>
          </a:p>
        </p:txBody>
      </p:sp>
      <p:sp>
        <p:nvSpPr>
          <p:cNvPr id="9" name="Text 6"/>
          <p:cNvSpPr txBox="1"/>
          <p:nvPr/>
        </p:nvSpPr>
        <p:spPr>
          <a:xfrm>
            <a:off x="868680" y="3429000"/>
            <a:ext cx="1645920" cy="1737360"/>
          </a:xfrm>
          <a:prstGeom prst="rect">
            <a:avLst/>
          </a:prstGeom>
          <a:noFill/>
          <a:ln/>
        </p:spPr>
        <p:txBody>
          <a:bodyPr wrap="square" lIns="0" tIns="0" rIns="0" bIns="0" rtlCol="0" anchor="t"/>
          <a:lstStyle/>
          <a:p>
            <a:pPr indent="0" marL="0">
              <a:buNone/>
            </a:pPr>
            <a:r>
              <a:rPr lang="en-US" sz="1300" dirty="0">
                <a:solidFill>
                  <a:schemeClr val="tx1"/>
                </a:solidFill>
              </a:rPr>
              <a:t>No patient in both training and test; the code raises an error if one appears</a:t>
            </a:r>
            <a:endParaRPr lang="en-US" sz="1300" dirty="0"/>
          </a:p>
        </p:txBody>
      </p:sp>
      <p:sp>
        <p:nvSpPr>
          <p:cNvPr id="10" name="card"/>
          <p:cNvSpPr/>
          <p:nvPr/>
        </p:nvSpPr>
        <p:spPr>
          <a:xfrm>
            <a:off x="2834640" y="1508760"/>
            <a:ext cx="2103120" cy="3794760"/>
          </a:xfrm>
          <a:prstGeom prst="roundRect">
            <a:avLst>
              <a:gd name="adj" fmla="val 6087"/>
            </a:avLst>
          </a:prstGeom>
          <a:solidFill>
            <a:schemeClr val="bg1"/>
          </a:solidFill>
          <a:ln/>
          <a:effectLst>
            <a:outerShdw sx="100000" sy="100000" kx="0" ky="0" algn="bl" rotWithShape="0" blurRad="177800" dist="38100" dir="5400000">
              <a:srgbClr val="0B2F3F">
                <a:alpha val="10000"/>
              </a:srgbClr>
            </a:outerShdw>
          </a:effectLst>
        </p:spPr>
      </p:sp>
      <p:sp>
        <p:nvSpPr>
          <p:cNvPr id="11" name="icon-dot"/>
          <p:cNvSpPr/>
          <p:nvPr/>
        </p:nvSpPr>
        <p:spPr>
          <a:xfrm>
            <a:off x="3108960" y="1783080"/>
            <a:ext cx="658368" cy="658368"/>
          </a:xfrm>
          <a:prstGeom prst="ellipse">
            <a:avLst/>
          </a:prstGeom>
          <a:solidFill>
            <a:schemeClr val="accent3"/>
          </a:solidFill>
          <a:ln/>
        </p:spPr>
      </p:sp>
      <p:pic>
        <p:nvPicPr>
          <p:cNvPr id="12" name="icon-timer" descr="C:\Users\Akhilesh\AppData\Local\Temp\claude\C--Users-Akhilesh-Desktop-Claude-code-Happiest-Health\47a587f0-c947-456b-8324-0bf75adb31d4\scratchpad\deck\img\icons\timer.png">    </p:cNvPr>
          <p:cNvPicPr>
            <a:picLocks noChangeAspect="1"/>
          </p:cNvPicPr>
          <p:nvPr/>
        </p:nvPicPr>
        <p:blipFill>
          <a:blip r:embed="rId2"/>
          <a:stretch>
            <a:fillRect/>
          </a:stretch>
        </p:blipFill>
        <p:spPr>
          <a:xfrm>
            <a:off x="3253801" y="1927921"/>
            <a:ext cx="368686" cy="368686"/>
          </a:xfrm>
          <a:prstGeom prst="rect">
            <a:avLst/>
          </a:prstGeom>
        </p:spPr>
      </p:pic>
      <p:sp>
        <p:nvSpPr>
          <p:cNvPr id="13" name="Text 9"/>
          <p:cNvSpPr txBox="1"/>
          <p:nvPr/>
        </p:nvSpPr>
        <p:spPr>
          <a:xfrm>
            <a:off x="4206240" y="1874520"/>
            <a:ext cx="502920" cy="365760"/>
          </a:xfrm>
          <a:prstGeom prst="rect">
            <a:avLst/>
          </a:prstGeom>
          <a:noFill/>
          <a:ln/>
        </p:spPr>
        <p:txBody>
          <a:bodyPr wrap="square" lIns="0" tIns="0" rIns="0" bIns="0" rtlCol="0" anchor="t"/>
          <a:lstStyle/>
          <a:p>
            <a:pPr algn="r" indent="0" marL="0">
              <a:buNone/>
            </a:pPr>
            <a:r>
              <a:rPr lang="en-US" sz="1300" b="1" dirty="0">
                <a:solidFill>
                  <a:schemeClr val="accent6"/>
                </a:solidFill>
              </a:rPr>
              <a:t>02</a:t>
            </a:r>
            <a:endParaRPr lang="en-US" sz="1300" dirty="0"/>
          </a:p>
        </p:txBody>
      </p:sp>
      <p:sp>
        <p:nvSpPr>
          <p:cNvPr id="14" name="Text 10"/>
          <p:cNvSpPr txBox="1"/>
          <p:nvPr/>
        </p:nvSpPr>
        <p:spPr>
          <a:xfrm>
            <a:off x="3108960" y="2697480"/>
            <a:ext cx="1691640" cy="685800"/>
          </a:xfrm>
          <a:prstGeom prst="rect">
            <a:avLst/>
          </a:prstGeom>
          <a:noFill/>
          <a:ln/>
        </p:spPr>
        <p:txBody>
          <a:bodyPr wrap="square" lIns="0" tIns="0" rIns="0" bIns="0" rtlCol="0" anchor="t"/>
          <a:lstStyle/>
          <a:p>
            <a:pPr indent="0" marL="0">
              <a:buNone/>
            </a:pPr>
            <a:r>
              <a:rPr lang="en-US" sz="1600" b="1" dirty="0">
                <a:solidFill>
                  <a:schemeClr val="tx2"/>
                </a:solidFill>
                <a:latin typeface="Georgia" pitchFamily="34" charset="0"/>
                <a:ea typeface="Georgia" pitchFamily="34" charset="-122"/>
                <a:cs typeface="Georgia" pitchFamily="34" charset="-120"/>
              </a:rPr>
              <a:t>Onset windows</a:t>
            </a:r>
            <a:endParaRPr lang="en-US" sz="1600" dirty="0"/>
          </a:p>
        </p:txBody>
      </p:sp>
      <p:sp>
        <p:nvSpPr>
          <p:cNvPr id="15" name="Text 11"/>
          <p:cNvSpPr txBox="1"/>
          <p:nvPr/>
        </p:nvSpPr>
        <p:spPr>
          <a:xfrm>
            <a:off x="3108960" y="3429000"/>
            <a:ext cx="1645920" cy="1737360"/>
          </a:xfrm>
          <a:prstGeom prst="rect">
            <a:avLst/>
          </a:prstGeom>
          <a:noFill/>
          <a:ln/>
        </p:spPr>
        <p:txBody>
          <a:bodyPr wrap="square" lIns="0" tIns="0" rIns="0" bIns="0" rtlCol="0" anchor="t"/>
          <a:lstStyle/>
          <a:p>
            <a:pPr indent="0" marL="0">
              <a:buNone/>
            </a:pPr>
            <a:r>
              <a:rPr lang="en-US" sz="1300" dirty="0">
                <a:solidFill>
                  <a:schemeClr val="tx1"/>
                </a:solidFill>
              </a:rPr>
              <a:t>Predictions are scored before the event starts, never once glucose is already low</a:t>
            </a:r>
            <a:endParaRPr lang="en-US" sz="1300" dirty="0"/>
          </a:p>
        </p:txBody>
      </p:sp>
      <p:sp>
        <p:nvSpPr>
          <p:cNvPr id="16" name="card"/>
          <p:cNvSpPr/>
          <p:nvPr/>
        </p:nvSpPr>
        <p:spPr>
          <a:xfrm>
            <a:off x="5074920" y="1508760"/>
            <a:ext cx="2103120" cy="3794760"/>
          </a:xfrm>
          <a:prstGeom prst="roundRect">
            <a:avLst>
              <a:gd name="adj" fmla="val 6087"/>
            </a:avLst>
          </a:prstGeom>
          <a:solidFill>
            <a:schemeClr val="bg1"/>
          </a:solidFill>
          <a:ln/>
          <a:effectLst>
            <a:outerShdw sx="100000" sy="100000" kx="0" ky="0" algn="bl" rotWithShape="0" blurRad="177800" dist="38100" dir="5400000">
              <a:srgbClr val="0B2F3F">
                <a:alpha val="10000"/>
              </a:srgbClr>
            </a:outerShdw>
          </a:effectLst>
        </p:spPr>
      </p:sp>
      <p:sp>
        <p:nvSpPr>
          <p:cNvPr id="17" name="icon-dot"/>
          <p:cNvSpPr/>
          <p:nvPr/>
        </p:nvSpPr>
        <p:spPr>
          <a:xfrm>
            <a:off x="5349240" y="1783080"/>
            <a:ext cx="658368" cy="658368"/>
          </a:xfrm>
          <a:prstGeom prst="ellipse">
            <a:avLst/>
          </a:prstGeom>
          <a:solidFill>
            <a:schemeClr val="accent1"/>
          </a:solidFill>
          <a:ln/>
        </p:spPr>
      </p:sp>
      <p:pic>
        <p:nvPicPr>
          <p:cNvPr id="18" name="icon-bars" descr="C:\Users\Akhilesh\AppData\Local\Temp\claude\C--Users-Akhilesh-Desktop-Claude-code-Happiest-Health\47a587f0-c947-456b-8324-0bf75adb31d4\scratchpad\deck\img\icons\bars.png">    </p:cNvPr>
          <p:cNvPicPr>
            <a:picLocks noChangeAspect="1"/>
          </p:cNvPicPr>
          <p:nvPr/>
        </p:nvPicPr>
        <p:blipFill>
          <a:blip r:embed="rId3"/>
          <a:stretch>
            <a:fillRect/>
          </a:stretch>
        </p:blipFill>
        <p:spPr>
          <a:xfrm>
            <a:off x="5494081" y="1927921"/>
            <a:ext cx="368686" cy="368686"/>
          </a:xfrm>
          <a:prstGeom prst="rect">
            <a:avLst/>
          </a:prstGeom>
        </p:spPr>
      </p:pic>
      <p:sp>
        <p:nvSpPr>
          <p:cNvPr id="19" name="Text 14"/>
          <p:cNvSpPr txBox="1"/>
          <p:nvPr/>
        </p:nvSpPr>
        <p:spPr>
          <a:xfrm>
            <a:off x="6446520" y="1874520"/>
            <a:ext cx="502920" cy="365760"/>
          </a:xfrm>
          <a:prstGeom prst="rect">
            <a:avLst/>
          </a:prstGeom>
          <a:noFill/>
          <a:ln/>
        </p:spPr>
        <p:txBody>
          <a:bodyPr wrap="square" lIns="0" tIns="0" rIns="0" bIns="0" rtlCol="0" anchor="t"/>
          <a:lstStyle/>
          <a:p>
            <a:pPr algn="r" indent="0" marL="0">
              <a:buNone/>
            </a:pPr>
            <a:r>
              <a:rPr lang="en-US" sz="1300" b="1" dirty="0">
                <a:solidFill>
                  <a:schemeClr val="accent6"/>
                </a:solidFill>
              </a:rPr>
              <a:t>03</a:t>
            </a:r>
            <a:endParaRPr lang="en-US" sz="1300" dirty="0"/>
          </a:p>
        </p:txBody>
      </p:sp>
      <p:sp>
        <p:nvSpPr>
          <p:cNvPr id="20" name="Text 15"/>
          <p:cNvSpPr txBox="1"/>
          <p:nvPr/>
        </p:nvSpPr>
        <p:spPr>
          <a:xfrm>
            <a:off x="5349240" y="2697480"/>
            <a:ext cx="1691640" cy="685800"/>
          </a:xfrm>
          <a:prstGeom prst="rect">
            <a:avLst/>
          </a:prstGeom>
          <a:noFill/>
          <a:ln/>
        </p:spPr>
        <p:txBody>
          <a:bodyPr wrap="square" lIns="0" tIns="0" rIns="0" bIns="0" rtlCol="0" anchor="t"/>
          <a:lstStyle/>
          <a:p>
            <a:pPr indent="0" marL="0">
              <a:buNone/>
            </a:pPr>
            <a:r>
              <a:rPr lang="en-US" sz="1600" b="1" dirty="0">
                <a:solidFill>
                  <a:schemeClr val="tx2"/>
                </a:solidFill>
                <a:latin typeface="Georgia" pitchFamily="34" charset="0"/>
                <a:ea typeface="Georgia" pitchFamily="34" charset="-122"/>
                <a:cs typeface="Georgia" pitchFamily="34" charset="-120"/>
              </a:rPr>
              <a:t>Paired bootstrap</a:t>
            </a:r>
            <a:endParaRPr lang="en-US" sz="1600" dirty="0"/>
          </a:p>
        </p:txBody>
      </p:sp>
      <p:sp>
        <p:nvSpPr>
          <p:cNvPr id="21" name="Text 16"/>
          <p:cNvSpPr txBox="1"/>
          <p:nvPr/>
        </p:nvSpPr>
        <p:spPr>
          <a:xfrm>
            <a:off x="5349240" y="3429000"/>
            <a:ext cx="1645920" cy="1737360"/>
          </a:xfrm>
          <a:prstGeom prst="rect">
            <a:avLst/>
          </a:prstGeom>
          <a:noFill/>
          <a:ln/>
        </p:spPr>
        <p:txBody>
          <a:bodyPr wrap="square" lIns="0" tIns="0" rIns="0" bIns="0" rtlCol="0" anchor="t"/>
          <a:lstStyle/>
          <a:p>
            <a:pPr indent="0" marL="0">
              <a:buNone/>
            </a:pPr>
            <a:r>
              <a:rPr lang="en-US" sz="1300" dirty="0">
                <a:solidFill>
                  <a:schemeClr val="tx1"/>
                </a:solidFill>
              </a:rPr>
              <a:t>Every comparison has a 95% confidence interval over patients</a:t>
            </a:r>
            <a:endParaRPr lang="en-US" sz="1300" dirty="0"/>
          </a:p>
        </p:txBody>
      </p:sp>
      <p:sp>
        <p:nvSpPr>
          <p:cNvPr id="22" name="card"/>
          <p:cNvSpPr/>
          <p:nvPr/>
        </p:nvSpPr>
        <p:spPr>
          <a:xfrm>
            <a:off x="7315200" y="1508760"/>
            <a:ext cx="2103120" cy="3794760"/>
          </a:xfrm>
          <a:prstGeom prst="roundRect">
            <a:avLst>
              <a:gd name="adj" fmla="val 6087"/>
            </a:avLst>
          </a:prstGeom>
          <a:solidFill>
            <a:schemeClr val="bg1"/>
          </a:solidFill>
          <a:ln/>
          <a:effectLst>
            <a:outerShdw sx="100000" sy="100000" kx="0" ky="0" algn="bl" rotWithShape="0" blurRad="177800" dist="38100" dir="5400000">
              <a:srgbClr val="0B2F3F">
                <a:alpha val="10000"/>
              </a:srgbClr>
            </a:outerShdw>
          </a:effectLst>
        </p:spPr>
      </p:sp>
      <p:sp>
        <p:nvSpPr>
          <p:cNvPr id="23" name="icon-dot"/>
          <p:cNvSpPr/>
          <p:nvPr/>
        </p:nvSpPr>
        <p:spPr>
          <a:xfrm>
            <a:off x="7589520" y="1783080"/>
            <a:ext cx="658368" cy="658368"/>
          </a:xfrm>
          <a:prstGeom prst="ellipse">
            <a:avLst/>
          </a:prstGeom>
          <a:solidFill>
            <a:schemeClr val="accent3"/>
          </a:solidFill>
          <a:ln/>
        </p:spPr>
      </p:sp>
      <p:pic>
        <p:nvPicPr>
          <p:cNvPr id="24" name="icon-shield" descr="C:\Users\Akhilesh\AppData\Local\Temp\claude\C--Users-Akhilesh-Desktop-Claude-code-Happiest-Health\47a587f0-c947-456b-8324-0bf75adb31d4\scratchpad\deck\img\icons\shield.png">    </p:cNvPr>
          <p:cNvPicPr>
            <a:picLocks noChangeAspect="1"/>
          </p:cNvPicPr>
          <p:nvPr/>
        </p:nvPicPr>
        <p:blipFill>
          <a:blip r:embed="rId4"/>
          <a:stretch>
            <a:fillRect/>
          </a:stretch>
        </p:blipFill>
        <p:spPr>
          <a:xfrm>
            <a:off x="7734361" y="1927921"/>
            <a:ext cx="368686" cy="368686"/>
          </a:xfrm>
          <a:prstGeom prst="rect">
            <a:avLst/>
          </a:prstGeom>
        </p:spPr>
      </p:pic>
      <p:sp>
        <p:nvSpPr>
          <p:cNvPr id="25" name="Text 19"/>
          <p:cNvSpPr txBox="1"/>
          <p:nvPr/>
        </p:nvSpPr>
        <p:spPr>
          <a:xfrm>
            <a:off x="8686800" y="1874520"/>
            <a:ext cx="502920" cy="365760"/>
          </a:xfrm>
          <a:prstGeom prst="rect">
            <a:avLst/>
          </a:prstGeom>
          <a:noFill/>
          <a:ln/>
        </p:spPr>
        <p:txBody>
          <a:bodyPr wrap="square" lIns="0" tIns="0" rIns="0" bIns="0" rtlCol="0" anchor="t"/>
          <a:lstStyle/>
          <a:p>
            <a:pPr algn="r" indent="0" marL="0">
              <a:buNone/>
            </a:pPr>
            <a:r>
              <a:rPr lang="en-US" sz="1300" b="1" dirty="0">
                <a:solidFill>
                  <a:schemeClr val="accent6"/>
                </a:solidFill>
              </a:rPr>
              <a:t>04</a:t>
            </a:r>
            <a:endParaRPr lang="en-US" sz="1300" dirty="0"/>
          </a:p>
        </p:txBody>
      </p:sp>
      <p:sp>
        <p:nvSpPr>
          <p:cNvPr id="26" name="Text 20"/>
          <p:cNvSpPr txBox="1"/>
          <p:nvPr/>
        </p:nvSpPr>
        <p:spPr>
          <a:xfrm>
            <a:off x="7589520" y="2697480"/>
            <a:ext cx="1691640" cy="685800"/>
          </a:xfrm>
          <a:prstGeom prst="rect">
            <a:avLst/>
          </a:prstGeom>
          <a:noFill/>
          <a:ln/>
        </p:spPr>
        <p:txBody>
          <a:bodyPr wrap="square" lIns="0" tIns="0" rIns="0" bIns="0" rtlCol="0" anchor="t"/>
          <a:lstStyle/>
          <a:p>
            <a:pPr indent="0" marL="0">
              <a:buNone/>
            </a:pPr>
            <a:r>
              <a:rPr lang="en-US" sz="1600" b="1" dirty="0">
                <a:solidFill>
                  <a:schemeClr val="tx2"/>
                </a:solidFill>
                <a:latin typeface="Georgia" pitchFamily="34" charset="0"/>
                <a:ea typeface="Georgia" pitchFamily="34" charset="-122"/>
                <a:cs typeface="Georgia" pitchFamily="34" charset="-120"/>
              </a:rPr>
              <a:t>Choices on validation</a:t>
            </a:r>
            <a:endParaRPr lang="en-US" sz="1600" dirty="0"/>
          </a:p>
        </p:txBody>
      </p:sp>
      <p:sp>
        <p:nvSpPr>
          <p:cNvPr id="27" name="Text 21"/>
          <p:cNvSpPr txBox="1"/>
          <p:nvPr/>
        </p:nvSpPr>
        <p:spPr>
          <a:xfrm>
            <a:off x="7589520" y="3429000"/>
            <a:ext cx="1645920" cy="1737360"/>
          </a:xfrm>
          <a:prstGeom prst="rect">
            <a:avLst/>
          </a:prstGeom>
          <a:noFill/>
          <a:ln/>
        </p:spPr>
        <p:txBody>
          <a:bodyPr wrap="square" lIns="0" tIns="0" rIns="0" bIns="0" rtlCol="0" anchor="t"/>
          <a:lstStyle/>
          <a:p>
            <a:pPr indent="0" marL="0">
              <a:buNone/>
            </a:pPr>
            <a:r>
              <a:rPr lang="en-US" sz="1300" dirty="0">
                <a:solidFill>
                  <a:schemeClr val="tx1"/>
                </a:solidFill>
              </a:rPr>
              <a:t>Alert thresholds and policy never see the test patients</a:t>
            </a:r>
            <a:endParaRPr lang="en-US" sz="1300" dirty="0"/>
          </a:p>
        </p:txBody>
      </p:sp>
      <p:sp>
        <p:nvSpPr>
          <p:cNvPr id="28" name="card"/>
          <p:cNvSpPr/>
          <p:nvPr/>
        </p:nvSpPr>
        <p:spPr>
          <a:xfrm>
            <a:off x="9555480" y="1508760"/>
            <a:ext cx="2103120" cy="3794760"/>
          </a:xfrm>
          <a:prstGeom prst="roundRect">
            <a:avLst>
              <a:gd name="adj" fmla="val 6087"/>
            </a:avLst>
          </a:prstGeom>
          <a:solidFill>
            <a:schemeClr val="bg1"/>
          </a:solidFill>
          <a:ln/>
          <a:effectLst>
            <a:outerShdw sx="100000" sy="100000" kx="0" ky="0" algn="bl" rotWithShape="0" blurRad="177800" dist="38100" dir="5400000">
              <a:srgbClr val="0B2F3F">
                <a:alpha val="10000"/>
              </a:srgbClr>
            </a:outerShdw>
          </a:effectLst>
        </p:spPr>
      </p:sp>
      <p:sp>
        <p:nvSpPr>
          <p:cNvPr id="29" name="icon-dot"/>
          <p:cNvSpPr/>
          <p:nvPr/>
        </p:nvSpPr>
        <p:spPr>
          <a:xfrm>
            <a:off x="9829800" y="1783080"/>
            <a:ext cx="658368" cy="658368"/>
          </a:xfrm>
          <a:prstGeom prst="ellipse">
            <a:avLst/>
          </a:prstGeom>
          <a:solidFill>
            <a:schemeClr val="accent1"/>
          </a:solidFill>
          <a:ln/>
        </p:spPr>
      </p:sp>
      <p:pic>
        <p:nvPicPr>
          <p:cNvPr id="30" name="icon-repeat" descr="C:\Users\Akhilesh\AppData\Local\Temp\claude\C--Users-Akhilesh-Desktop-Claude-code-Happiest-Health\47a587f0-c947-456b-8324-0bf75adb31d4\scratchpad\deck\img\icons\repeat.png">    </p:cNvPr>
          <p:cNvPicPr>
            <a:picLocks noChangeAspect="1"/>
          </p:cNvPicPr>
          <p:nvPr/>
        </p:nvPicPr>
        <p:blipFill>
          <a:blip r:embed="rId5"/>
          <a:stretch>
            <a:fillRect/>
          </a:stretch>
        </p:blipFill>
        <p:spPr>
          <a:xfrm>
            <a:off x="9974641" y="1927921"/>
            <a:ext cx="368686" cy="368686"/>
          </a:xfrm>
          <a:prstGeom prst="rect">
            <a:avLst/>
          </a:prstGeom>
        </p:spPr>
      </p:pic>
      <p:sp>
        <p:nvSpPr>
          <p:cNvPr id="31" name="Text 24"/>
          <p:cNvSpPr txBox="1"/>
          <p:nvPr/>
        </p:nvSpPr>
        <p:spPr>
          <a:xfrm>
            <a:off x="10927080" y="1874520"/>
            <a:ext cx="502920" cy="365760"/>
          </a:xfrm>
          <a:prstGeom prst="rect">
            <a:avLst/>
          </a:prstGeom>
          <a:noFill/>
          <a:ln/>
        </p:spPr>
        <p:txBody>
          <a:bodyPr wrap="square" lIns="0" tIns="0" rIns="0" bIns="0" rtlCol="0" anchor="t"/>
          <a:lstStyle/>
          <a:p>
            <a:pPr algn="r" indent="0" marL="0">
              <a:buNone/>
            </a:pPr>
            <a:r>
              <a:rPr lang="en-US" sz="1300" b="1" dirty="0">
                <a:solidFill>
                  <a:schemeClr val="accent6"/>
                </a:solidFill>
              </a:rPr>
              <a:t>05</a:t>
            </a:r>
            <a:endParaRPr lang="en-US" sz="1300" dirty="0"/>
          </a:p>
        </p:txBody>
      </p:sp>
      <p:sp>
        <p:nvSpPr>
          <p:cNvPr id="32" name="Text 25"/>
          <p:cNvSpPr txBox="1"/>
          <p:nvPr/>
        </p:nvSpPr>
        <p:spPr>
          <a:xfrm>
            <a:off x="9829800" y="2697480"/>
            <a:ext cx="1691640" cy="685800"/>
          </a:xfrm>
          <a:prstGeom prst="rect">
            <a:avLst/>
          </a:prstGeom>
          <a:noFill/>
          <a:ln/>
        </p:spPr>
        <p:txBody>
          <a:bodyPr wrap="square" lIns="0" tIns="0" rIns="0" bIns="0" rtlCol="0" anchor="t"/>
          <a:lstStyle/>
          <a:p>
            <a:pPr indent="0" marL="0">
              <a:buNone/>
            </a:pPr>
            <a:r>
              <a:rPr lang="en-US" sz="1600" b="1" dirty="0">
                <a:solidFill>
                  <a:schemeClr val="tx2"/>
                </a:solidFill>
                <a:latin typeface="Georgia" pitchFamily="34" charset="0"/>
                <a:ea typeface="Georgia" pitchFamily="34" charset="-122"/>
                <a:cs typeface="Georgia" pitchFamily="34" charset="-120"/>
              </a:rPr>
              <a:t>Reproducible</a:t>
            </a:r>
            <a:endParaRPr lang="en-US" sz="1600" dirty="0"/>
          </a:p>
        </p:txBody>
      </p:sp>
      <p:sp>
        <p:nvSpPr>
          <p:cNvPr id="33" name="Text 26"/>
          <p:cNvSpPr txBox="1"/>
          <p:nvPr/>
        </p:nvSpPr>
        <p:spPr>
          <a:xfrm>
            <a:off x="9829800" y="3429000"/>
            <a:ext cx="1645920" cy="1737360"/>
          </a:xfrm>
          <a:prstGeom prst="rect">
            <a:avLst/>
          </a:prstGeom>
          <a:noFill/>
          <a:ln/>
        </p:spPr>
        <p:txBody>
          <a:bodyPr wrap="square" lIns="0" tIns="0" rIns="0" bIns="0" rtlCol="0" anchor="t"/>
          <a:lstStyle/>
          <a:p>
            <a:pPr indent="0" marL="0">
              <a:buNone/>
            </a:pPr>
            <a:r>
              <a:rPr lang="en-US" sz="1300" dirty="0">
                <a:solidFill>
                  <a:schemeClr val="tx1"/>
                </a:solidFill>
              </a:rPr>
              <a:t>Fixed seeds, one command rebuilds everything, 140 tests on every push</a:t>
            </a:r>
            <a:endParaRPr lang="en-US" sz="1300" dirty="0"/>
          </a:p>
        </p:txBody>
      </p:sp>
      <p:sp>
        <p:nvSpPr>
          <p:cNvPr id="34" name="Text 27"/>
          <p:cNvSpPr txBox="1"/>
          <p:nvPr/>
        </p:nvSpPr>
        <p:spPr>
          <a:xfrm>
            <a:off x="594360" y="5577840"/>
            <a:ext cx="11002975" cy="411480"/>
          </a:xfrm>
          <a:prstGeom prst="rect">
            <a:avLst/>
          </a:prstGeom>
          <a:noFill/>
          <a:ln/>
        </p:spPr>
        <p:txBody>
          <a:bodyPr wrap="square" lIns="0" tIns="0" rIns="0" bIns="0" rtlCol="0" anchor="t"/>
          <a:lstStyle/>
          <a:p>
            <a:pPr indent="0" marL="0">
              <a:buNone/>
            </a:pPr>
            <a:r>
              <a:rPr lang="en-US" sz="1300" dirty="0">
                <a:solidFill>
                  <a:schemeClr val="accent6"/>
                </a:solidFill>
              </a:rPr>
              <a:t>Splitting by patient and scoring only onset windows remove the two most common ways glucose models look better than they are.</a:t>
            </a:r>
            <a:endParaRPr lang="en-US" sz="1300" dirty="0"/>
          </a:p>
        </p:txBody>
      </p:sp>
      <p:sp>
        <p:nvSpPr>
          <p:cNvPr id="25" name="Slide Number Placeholder 0"/>
          <p:cNvSpPr>
            <a:spLocks noGrp="1"/>
          </p:cNvSpPr>
          <p:nvPr>
            <p:ph type="sldNum" sz="quarter" idx="4294967295"/>
          </p:nvPr>
        </p:nvSpPr>
        <p:spPr>
          <a:xfrm>
            <a:off x="11140135"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94360" y="292608"/>
            <a:ext cx="8229600" cy="256032"/>
          </a:xfrm>
          <a:prstGeom prst="rect">
            <a:avLst/>
          </a:prstGeom>
          <a:noFill/>
          <a:ln/>
        </p:spPr>
        <p:txBody>
          <a:bodyPr wrap="square" lIns="0" tIns="0" rIns="0" bIns="0" rtlCol="0" anchor="t"/>
          <a:lstStyle/>
          <a:p>
            <a:pPr indent="0" marL="0">
              <a:buNone/>
            </a:pPr>
            <a:r>
              <a:rPr lang="en-US" sz="1100" b="1" spc="300" kern="0" dirty="0">
                <a:solidFill>
                  <a:schemeClr val="accent1"/>
                </a:solidFill>
              </a:rPr>
              <a:t>06 · RESULTS ON SYNTHETIC PATIENTS</a:t>
            </a:r>
            <a:endParaRPr lang="en-US" sz="1100" dirty="0"/>
          </a:p>
        </p:txBody>
      </p:sp>
      <p:sp>
        <p:nvSpPr>
          <p:cNvPr id="3" name="Text 0"/>
          <p:cNvSpPr/>
          <p:nvPr>
            <p:ph idx="100" type="title" hasCustomPrompt="1"/>
          </p:nvPr>
        </p:nvSpPr>
        <p:spPr>
          <a:xfrm>
            <a:off x="594360" y="566928"/>
            <a:ext cx="11002975" cy="658368"/>
          </a:xfrm>
          <a:prstGeom prst="rect">
            <a:avLst/>
          </a:prstGeom>
          <a:noFill/>
          <a:ln/>
        </p:spPr>
        <p:txBody>
          <a:bodyPr wrap="square" lIns="0" tIns="0" rIns="0" bIns="0" rtlCol="0" anchor="ctr"/>
          <a:lstStyle/>
          <a:p>
            <a:pPr algn="l" indent="0" marL="0">
              <a:buNone/>
            </a:pPr>
            <a:r>
              <a:rPr lang="en-US" sz="3000" b="1" dirty="0">
                <a:solidFill>
                  <a:schemeClr val="tx2"/>
                </a:solidFill>
                <a:latin typeface="Georgia" pitchFamily="34" charset="0"/>
                <a:ea typeface="Georgia" pitchFamily="34" charset="-122"/>
                <a:cs typeface="Georgia" pitchFamily="34" charset="-120"/>
              </a:rPr>
              <a:t>The model predicts both events well</a:t>
            </a:r>
            <a:endParaRPr lang="en-US" sz="3000" dirty="0"/>
          </a:p>
        </p:txBody>
      </p:sp>
      <p:sp>
        <p:nvSpPr>
          <p:cNvPr id="4" name="card"/>
          <p:cNvSpPr/>
          <p:nvPr/>
        </p:nvSpPr>
        <p:spPr>
          <a:xfrm>
            <a:off x="594360" y="1463040"/>
            <a:ext cx="7040880" cy="4526280"/>
          </a:xfrm>
          <a:prstGeom prst="roundRect">
            <a:avLst>
              <a:gd name="adj" fmla="val 2828"/>
            </a:avLst>
          </a:prstGeom>
          <a:solidFill>
            <a:schemeClr val="bg1"/>
          </a:solidFill>
          <a:ln/>
          <a:effectLst>
            <a:outerShdw sx="100000" sy="100000" kx="0" ky="0" algn="bl" rotWithShape="0" blurRad="177800" dist="38100" dir="5400000">
              <a:srgbClr val="0B2F3F">
                <a:alpha val="10000"/>
              </a:srgbClr>
            </a:outerShdw>
          </a:effectLst>
        </p:spPr>
      </p:sp>
      <p:sp>
        <p:nvSpPr>
          <p:cNvPr id="5" name="Text 3"/>
          <p:cNvSpPr txBox="1"/>
          <p:nvPr/>
        </p:nvSpPr>
        <p:spPr>
          <a:xfrm>
            <a:off x="914400" y="1645920"/>
            <a:ext cx="6400800" cy="384048"/>
          </a:xfrm>
          <a:prstGeom prst="rect">
            <a:avLst/>
          </a:prstGeom>
          <a:noFill/>
          <a:ln/>
        </p:spPr>
        <p:txBody>
          <a:bodyPr wrap="square" lIns="0" tIns="0" rIns="0" bIns="0" rtlCol="0" anchor="t"/>
          <a:lstStyle/>
          <a:p>
            <a:pPr indent="0" marL="0">
              <a:buNone/>
            </a:pPr>
            <a:r>
              <a:rPr lang="en-US" sz="1500" b="1" dirty="0">
                <a:solidFill>
                  <a:schemeClr val="tx2"/>
                </a:solidFill>
                <a:latin typeface="Georgia" pitchFamily="34" charset="0"/>
                <a:ea typeface="Georgia" pitchFamily="34" charset="-122"/>
                <a:cs typeface="Georgia" pitchFamily="34" charset="-120"/>
              </a:rPr>
              <a:t>Precision-recall (AUPRC) on 60 test patients</a:t>
            </a:r>
            <a:endParaRPr lang="en-US" sz="1500" dirty="0"/>
          </a:p>
        </p:txBody>
      </p:sp>
      <p:sp>
        <p:nvSpPr>
          <p:cNvPr id="6" name="Text 4"/>
          <p:cNvSpPr txBox="1"/>
          <p:nvPr/>
        </p:nvSpPr>
        <p:spPr>
          <a:xfrm>
            <a:off x="914400" y="2011680"/>
            <a:ext cx="6400800" cy="274320"/>
          </a:xfrm>
          <a:prstGeom prst="rect">
            <a:avLst/>
          </a:prstGeom>
          <a:noFill/>
          <a:ln/>
        </p:spPr>
        <p:txBody>
          <a:bodyPr wrap="square" lIns="0" tIns="0" rIns="0" bIns="0" rtlCol="0" anchor="t"/>
          <a:lstStyle/>
          <a:p>
            <a:pPr indent="0" marL="0">
              <a:buNone/>
            </a:pPr>
            <a:r>
              <a:rPr lang="en-US" sz="1200" dirty="0">
                <a:solidFill>
                  <a:schemeClr val="accent6"/>
                </a:solidFill>
              </a:rPr>
              <a:t>Higher is better. For rare lows, chance is about 0.02.</a:t>
            </a:r>
            <a:endParaRPr lang="en-US" sz="1200" dirty="0"/>
          </a:p>
        </p:txBody>
      </p:sp>
      <p:graphicFrame>
        <p:nvGraphicFramePr>
          <p:cNvPr id="7" name="chart-synthetic" descr=""/>
          <p:cNvGraphicFramePr/>
          <p:nvPr/>
        </p:nvGraphicFramePr>
        <p:xfrm>
          <a:off x="777240" y="2331720"/>
          <a:ext cx="6675120" cy="3566160"/>
        </p:xfrm>
        <a:graphic xmlns:a="http://schemas.openxmlformats.org/drawingml/2006/main">
          <a:graphicData uri="http://schemas.openxmlformats.org/drawingml/2006/chart">
            <c:chart xmlns:c="http://schemas.openxmlformats.org/drawingml/2006/chart" r:id="rId1"/>
          </a:graphicData>
        </a:graphic>
      </p:graphicFrame>
      <p:sp>
        <p:nvSpPr>
          <p:cNvPr id="8" name="card"/>
          <p:cNvSpPr/>
          <p:nvPr/>
        </p:nvSpPr>
        <p:spPr>
          <a:xfrm>
            <a:off x="7863840" y="1463040"/>
            <a:ext cx="1810512" cy="1417320"/>
          </a:xfrm>
          <a:prstGeom prst="roundRect">
            <a:avLst>
              <a:gd name="adj" fmla="val 9032"/>
            </a:avLst>
          </a:prstGeom>
          <a:solidFill>
            <a:schemeClr val="bg1"/>
          </a:solidFill>
          <a:ln/>
          <a:effectLst>
            <a:outerShdw sx="100000" sy="100000" kx="0" ky="0" algn="bl" rotWithShape="0" blurRad="177800" dist="38100" dir="5400000">
              <a:srgbClr val="0B2F3F">
                <a:alpha val="10000"/>
              </a:srgbClr>
            </a:outerShdw>
          </a:effectLst>
        </p:spPr>
      </p:sp>
      <p:sp>
        <p:nvSpPr>
          <p:cNvPr id="9" name="Text 6"/>
          <p:cNvSpPr txBox="1"/>
          <p:nvPr/>
        </p:nvSpPr>
        <p:spPr>
          <a:xfrm>
            <a:off x="8092440" y="1572768"/>
            <a:ext cx="1463040" cy="685800"/>
          </a:xfrm>
          <a:prstGeom prst="rect">
            <a:avLst/>
          </a:prstGeom>
          <a:noFill/>
          <a:ln/>
        </p:spPr>
        <p:txBody>
          <a:bodyPr wrap="square" lIns="0" tIns="0" rIns="0" bIns="0" rtlCol="0" anchor="b"/>
          <a:lstStyle/>
          <a:p>
            <a:pPr indent="0" marL="0">
              <a:buNone/>
            </a:pPr>
            <a:r>
              <a:rPr lang="en-US" sz="3200" b="1" dirty="0">
                <a:solidFill>
                  <a:schemeClr val="accent1"/>
                </a:solidFill>
                <a:latin typeface="Georgia" pitchFamily="34" charset="0"/>
                <a:ea typeface="Georgia" pitchFamily="34" charset="-122"/>
                <a:cs typeface="Georgia" pitchFamily="34" charset="-120"/>
              </a:rPr>
              <a:t>0.93</a:t>
            </a:r>
            <a:endParaRPr lang="en-US" sz="3200" dirty="0"/>
          </a:p>
        </p:txBody>
      </p:sp>
      <p:sp>
        <p:nvSpPr>
          <p:cNvPr id="10" name="Text 7"/>
          <p:cNvSpPr txBox="1"/>
          <p:nvPr/>
        </p:nvSpPr>
        <p:spPr>
          <a:xfrm>
            <a:off x="8092440" y="2286000"/>
            <a:ext cx="1463040" cy="457200"/>
          </a:xfrm>
          <a:prstGeom prst="rect">
            <a:avLst/>
          </a:prstGeom>
          <a:noFill/>
          <a:ln/>
        </p:spPr>
        <p:txBody>
          <a:bodyPr wrap="square" lIns="0" tIns="0" rIns="0" bIns="0" rtlCol="0" anchor="t"/>
          <a:lstStyle/>
          <a:p>
            <a:pPr indent="0" marL="0">
              <a:buNone/>
            </a:pPr>
            <a:r>
              <a:rPr lang="en-US" sz="1200" dirty="0">
                <a:solidFill>
                  <a:schemeClr val="accent6"/>
                </a:solidFill>
              </a:rPr>
              <a:t>AUROC for highs</a:t>
            </a:r>
            <a:endParaRPr lang="en-US" sz="1200" dirty="0"/>
          </a:p>
        </p:txBody>
      </p:sp>
      <p:sp>
        <p:nvSpPr>
          <p:cNvPr id="11" name="card"/>
          <p:cNvSpPr/>
          <p:nvPr/>
        </p:nvSpPr>
        <p:spPr>
          <a:xfrm>
            <a:off x="9765792" y="1463040"/>
            <a:ext cx="1810512" cy="1417320"/>
          </a:xfrm>
          <a:prstGeom prst="roundRect">
            <a:avLst>
              <a:gd name="adj" fmla="val 9032"/>
            </a:avLst>
          </a:prstGeom>
          <a:solidFill>
            <a:schemeClr val="bg1"/>
          </a:solidFill>
          <a:ln/>
          <a:effectLst>
            <a:outerShdw sx="100000" sy="100000" kx="0" ky="0" algn="bl" rotWithShape="0" blurRad="177800" dist="38100" dir="5400000">
              <a:srgbClr val="0B2F3F">
                <a:alpha val="10000"/>
              </a:srgbClr>
            </a:outerShdw>
          </a:effectLst>
        </p:spPr>
      </p:sp>
      <p:sp>
        <p:nvSpPr>
          <p:cNvPr id="12" name="Text 9"/>
          <p:cNvSpPr txBox="1"/>
          <p:nvPr/>
        </p:nvSpPr>
        <p:spPr>
          <a:xfrm>
            <a:off x="9994392" y="1572768"/>
            <a:ext cx="1463040" cy="685800"/>
          </a:xfrm>
          <a:prstGeom prst="rect">
            <a:avLst/>
          </a:prstGeom>
          <a:noFill/>
          <a:ln/>
        </p:spPr>
        <p:txBody>
          <a:bodyPr wrap="square" lIns="0" tIns="0" rIns="0" bIns="0" rtlCol="0" anchor="b"/>
          <a:lstStyle/>
          <a:p>
            <a:pPr indent="0" marL="0">
              <a:buNone/>
            </a:pPr>
            <a:r>
              <a:rPr lang="en-US" sz="3200" b="1" dirty="0">
                <a:solidFill>
                  <a:schemeClr val="accent1"/>
                </a:solidFill>
                <a:latin typeface="Georgia" pitchFamily="34" charset="0"/>
                <a:ea typeface="Georgia" pitchFamily="34" charset="-122"/>
                <a:cs typeface="Georgia" pitchFamily="34" charset="-120"/>
              </a:rPr>
              <a:t>0.99</a:t>
            </a:r>
            <a:endParaRPr lang="en-US" sz="3200" dirty="0"/>
          </a:p>
        </p:txBody>
      </p:sp>
      <p:sp>
        <p:nvSpPr>
          <p:cNvPr id="13" name="Text 10"/>
          <p:cNvSpPr txBox="1"/>
          <p:nvPr/>
        </p:nvSpPr>
        <p:spPr>
          <a:xfrm>
            <a:off x="9994392" y="2286000"/>
            <a:ext cx="1463040" cy="457200"/>
          </a:xfrm>
          <a:prstGeom prst="rect">
            <a:avLst/>
          </a:prstGeom>
          <a:noFill/>
          <a:ln/>
        </p:spPr>
        <p:txBody>
          <a:bodyPr wrap="square" lIns="0" tIns="0" rIns="0" bIns="0" rtlCol="0" anchor="t"/>
          <a:lstStyle/>
          <a:p>
            <a:pPr indent="0" marL="0">
              <a:buNone/>
            </a:pPr>
            <a:r>
              <a:rPr lang="en-US" sz="1200" dirty="0">
                <a:solidFill>
                  <a:schemeClr val="accent6"/>
                </a:solidFill>
              </a:rPr>
              <a:t>AUROC for lows</a:t>
            </a:r>
            <a:endParaRPr lang="en-US" sz="1200" dirty="0"/>
          </a:p>
        </p:txBody>
      </p:sp>
      <p:sp>
        <p:nvSpPr>
          <p:cNvPr id="14" name="card"/>
          <p:cNvSpPr/>
          <p:nvPr/>
        </p:nvSpPr>
        <p:spPr>
          <a:xfrm>
            <a:off x="7863840" y="3063240"/>
            <a:ext cx="3730752" cy="2926080"/>
          </a:xfrm>
          <a:prstGeom prst="roundRect">
            <a:avLst>
              <a:gd name="adj" fmla="val 4375"/>
            </a:avLst>
          </a:prstGeom>
          <a:solidFill>
            <a:schemeClr val="bg1"/>
          </a:solidFill>
          <a:ln/>
          <a:effectLst>
            <a:outerShdw sx="100000" sy="100000" kx="0" ky="0" algn="bl" rotWithShape="0" blurRad="177800" dist="38100" dir="5400000">
              <a:srgbClr val="0B2F3F">
                <a:alpha val="10000"/>
              </a:srgbClr>
            </a:outerShdw>
          </a:effectLst>
        </p:spPr>
      </p:sp>
      <p:sp>
        <p:nvSpPr>
          <p:cNvPr id="15" name="icon-dot"/>
          <p:cNvSpPr/>
          <p:nvPr/>
        </p:nvSpPr>
        <p:spPr>
          <a:xfrm>
            <a:off x="8092440" y="3291840"/>
            <a:ext cx="402336" cy="402336"/>
          </a:xfrm>
          <a:prstGeom prst="ellipse">
            <a:avLst/>
          </a:prstGeom>
          <a:solidFill>
            <a:schemeClr val="accent1"/>
          </a:solidFill>
          <a:ln/>
        </p:spPr>
      </p:sp>
      <p:pic>
        <p:nvPicPr>
          <p:cNvPr id="16" name="icon-cpu" descr="C:\Users\Akhilesh\AppData\Local\Temp\claude\C--Users-Akhilesh-Desktop-Claude-code-Happiest-Health\47a587f0-c947-456b-8324-0bf75adb31d4\scratchpad\deck\img\icons\cpu.png">    </p:cNvPr>
          <p:cNvPicPr>
            <a:picLocks noChangeAspect="1"/>
          </p:cNvPicPr>
          <p:nvPr/>
        </p:nvPicPr>
        <p:blipFill>
          <a:blip r:embed="rId2"/>
          <a:stretch>
            <a:fillRect/>
          </a:stretch>
        </p:blipFill>
        <p:spPr>
          <a:xfrm>
            <a:off x="8180954" y="3380354"/>
            <a:ext cx="225308" cy="225308"/>
          </a:xfrm>
          <a:prstGeom prst="rect">
            <a:avLst/>
          </a:prstGeom>
        </p:spPr>
      </p:pic>
      <p:sp>
        <p:nvSpPr>
          <p:cNvPr id="17" name="Text 13"/>
          <p:cNvSpPr txBox="1"/>
          <p:nvPr/>
        </p:nvSpPr>
        <p:spPr>
          <a:xfrm>
            <a:off x="8641080" y="3264408"/>
            <a:ext cx="2788920" cy="502920"/>
          </a:xfrm>
          <a:prstGeom prst="rect">
            <a:avLst/>
          </a:prstGeom>
          <a:noFill/>
          <a:ln/>
        </p:spPr>
        <p:txBody>
          <a:bodyPr wrap="square" lIns="0" tIns="0" rIns="0" bIns="0" rtlCol="0" anchor="ctr"/>
          <a:lstStyle/>
          <a:p>
            <a:pPr indent="0" marL="0">
              <a:buNone/>
            </a:pPr>
            <a:r>
              <a:rPr lang="en-US" sz="1200" dirty="0">
                <a:solidFill>
                  <a:schemeClr val="tx1"/>
                </a:solidFill>
              </a:rPr>
              <a:t>A deep GRU fusion network did not beat LightGBM</a:t>
            </a:r>
            <a:endParaRPr lang="en-US" sz="1200" dirty="0"/>
          </a:p>
        </p:txBody>
      </p:sp>
      <p:sp>
        <p:nvSpPr>
          <p:cNvPr id="18" name="icon-dot"/>
          <p:cNvSpPr/>
          <p:nvPr/>
        </p:nvSpPr>
        <p:spPr>
          <a:xfrm>
            <a:off x="8092440" y="3931920"/>
            <a:ext cx="402336" cy="402336"/>
          </a:xfrm>
          <a:prstGeom prst="ellipse">
            <a:avLst/>
          </a:prstGeom>
          <a:solidFill>
            <a:schemeClr val="accent1"/>
          </a:solidFill>
          <a:ln/>
        </p:spPr>
      </p:sp>
      <p:pic>
        <p:nvPicPr>
          <p:cNvPr id="19" name="icon-watch" descr="C:\Users\Akhilesh\AppData\Local\Temp\claude\C--Users-Akhilesh-Desktop-Claude-code-Happiest-Health\47a587f0-c947-456b-8324-0bf75adb31d4\scratchpad\deck\img\icons\watch.png">    </p:cNvPr>
          <p:cNvPicPr>
            <a:picLocks noChangeAspect="1"/>
          </p:cNvPicPr>
          <p:nvPr/>
        </p:nvPicPr>
        <p:blipFill>
          <a:blip r:embed="rId3"/>
          <a:stretch>
            <a:fillRect/>
          </a:stretch>
        </p:blipFill>
        <p:spPr>
          <a:xfrm>
            <a:off x="8180954" y="4020434"/>
            <a:ext cx="225308" cy="225308"/>
          </a:xfrm>
          <a:prstGeom prst="rect">
            <a:avLst/>
          </a:prstGeom>
        </p:spPr>
      </p:pic>
      <p:sp>
        <p:nvSpPr>
          <p:cNvPr id="20" name="Text 15"/>
          <p:cNvSpPr txBox="1"/>
          <p:nvPr/>
        </p:nvSpPr>
        <p:spPr>
          <a:xfrm>
            <a:off x="8641080" y="3904488"/>
            <a:ext cx="2788920" cy="502920"/>
          </a:xfrm>
          <a:prstGeom prst="rect">
            <a:avLst/>
          </a:prstGeom>
          <a:noFill/>
          <a:ln/>
        </p:spPr>
        <p:txBody>
          <a:bodyPr wrap="square" lIns="0" tIns="0" rIns="0" bIns="0" rtlCol="0" anchor="ctr"/>
          <a:lstStyle/>
          <a:p>
            <a:pPr indent="0" marL="0">
              <a:buNone/>
            </a:pPr>
            <a:r>
              <a:rPr lang="en-US" sz="1200" dirty="0">
                <a:solidFill>
                  <a:schemeClr val="tx1"/>
                </a:solidFill>
              </a:rPr>
              <a:t>Steps, heart rate and sleep added nothing measurable</a:t>
            </a:r>
            <a:endParaRPr lang="en-US" sz="1200" dirty="0"/>
          </a:p>
        </p:txBody>
      </p:sp>
      <p:sp>
        <p:nvSpPr>
          <p:cNvPr id="21" name="icon-dot"/>
          <p:cNvSpPr/>
          <p:nvPr/>
        </p:nvSpPr>
        <p:spPr>
          <a:xfrm>
            <a:off x="8092440" y="4572000"/>
            <a:ext cx="402336" cy="402336"/>
          </a:xfrm>
          <a:prstGeom prst="ellipse">
            <a:avLst/>
          </a:prstGeom>
          <a:solidFill>
            <a:schemeClr val="accent1"/>
          </a:solidFill>
          <a:ln/>
        </p:spPr>
      </p:sp>
      <p:pic>
        <p:nvPicPr>
          <p:cNvPr id="22" name="icon-gauge" descr="C:\Users\Akhilesh\AppData\Local\Temp\claude\C--Users-Akhilesh-Desktop-Claude-code-Happiest-Health\47a587f0-c947-456b-8324-0bf75adb31d4\scratchpad\deck\img\icons\gauge.png">    </p:cNvPr>
          <p:cNvPicPr>
            <a:picLocks noChangeAspect="1"/>
          </p:cNvPicPr>
          <p:nvPr/>
        </p:nvPicPr>
        <p:blipFill>
          <a:blip r:embed="rId4"/>
          <a:stretch>
            <a:fillRect/>
          </a:stretch>
        </p:blipFill>
        <p:spPr>
          <a:xfrm>
            <a:off x="8180954" y="4660514"/>
            <a:ext cx="225308" cy="225308"/>
          </a:xfrm>
          <a:prstGeom prst="rect">
            <a:avLst/>
          </a:prstGeom>
        </p:spPr>
      </p:pic>
      <p:sp>
        <p:nvSpPr>
          <p:cNvPr id="23" name="Text 17"/>
          <p:cNvSpPr txBox="1"/>
          <p:nvPr/>
        </p:nvSpPr>
        <p:spPr>
          <a:xfrm>
            <a:off x="8641080" y="4544568"/>
            <a:ext cx="2788920" cy="502920"/>
          </a:xfrm>
          <a:prstGeom prst="rect">
            <a:avLst/>
          </a:prstGeom>
          <a:noFill/>
          <a:ln/>
        </p:spPr>
        <p:txBody>
          <a:bodyPr wrap="square" lIns="0" tIns="0" rIns="0" bIns="0" rtlCol="0" anchor="ctr"/>
          <a:lstStyle/>
          <a:p>
            <a:pPr indent="0" marL="0">
              <a:buNone/>
            </a:pPr>
            <a:r>
              <a:rPr lang="en-US" sz="1200" dirty="0">
                <a:solidFill>
                  <a:schemeClr val="tx1"/>
                </a:solidFill>
              </a:rPr>
              <a:t>Well calibrated (hypo ECE 0.004), so LightGBM is deployed</a:t>
            </a:r>
            <a:endParaRPr lang="en-US" sz="1200" dirty="0"/>
          </a:p>
        </p:txBody>
      </p:sp>
      <p:sp>
        <p:nvSpPr>
          <p:cNvPr id="24" name="icon-dot"/>
          <p:cNvSpPr/>
          <p:nvPr/>
        </p:nvSpPr>
        <p:spPr>
          <a:xfrm>
            <a:off x="8092440" y="5212080"/>
            <a:ext cx="402336" cy="402336"/>
          </a:xfrm>
          <a:prstGeom prst="ellipse">
            <a:avLst/>
          </a:prstGeom>
          <a:solidFill>
            <a:schemeClr val="accent2"/>
          </a:solidFill>
          <a:ln/>
        </p:spPr>
      </p:sp>
      <p:pic>
        <p:nvPicPr>
          <p:cNvPr id="25" name="icon-alert" descr="C:\Users\Akhilesh\AppData\Local\Temp\claude\C--Users-Akhilesh-Desktop-Claude-code-Happiest-Health\47a587f0-c947-456b-8324-0bf75adb31d4\scratchpad\deck\img\icons\alert.png">    </p:cNvPr>
          <p:cNvPicPr>
            <a:picLocks noChangeAspect="1"/>
          </p:cNvPicPr>
          <p:nvPr/>
        </p:nvPicPr>
        <p:blipFill>
          <a:blip r:embed="rId5"/>
          <a:stretch>
            <a:fillRect/>
          </a:stretch>
        </p:blipFill>
        <p:spPr>
          <a:xfrm>
            <a:off x="8180954" y="5300594"/>
            <a:ext cx="225308" cy="225308"/>
          </a:xfrm>
          <a:prstGeom prst="rect">
            <a:avLst/>
          </a:prstGeom>
        </p:spPr>
      </p:pic>
      <p:sp>
        <p:nvSpPr>
          <p:cNvPr id="26" name="Text 19"/>
          <p:cNvSpPr txBox="1"/>
          <p:nvPr/>
        </p:nvSpPr>
        <p:spPr>
          <a:xfrm>
            <a:off x="8641080" y="5184648"/>
            <a:ext cx="2788920" cy="502920"/>
          </a:xfrm>
          <a:prstGeom prst="rect">
            <a:avLst/>
          </a:prstGeom>
          <a:noFill/>
          <a:ln/>
        </p:spPr>
        <p:txBody>
          <a:bodyPr wrap="square" lIns="0" tIns="0" rIns="0" bIns="0" rtlCol="0" anchor="ctr"/>
          <a:lstStyle/>
          <a:p>
            <a:pPr indent="0" marL="0">
              <a:buNone/>
            </a:pPr>
            <a:r>
              <a:rPr lang="en-US" sz="1200" dirty="0">
                <a:solidFill>
                  <a:schemeClr val="tx1"/>
                </a:solidFill>
              </a:rPr>
              <a:t>Optimistic: simulated lows drift in slowly</a:t>
            </a:r>
            <a:endParaRPr lang="en-US" sz="1200" dirty="0"/>
          </a:p>
        </p:txBody>
      </p:sp>
      <p:sp>
        <p:nvSpPr>
          <p:cNvPr id="25" name="Slide Number Placeholder 0"/>
          <p:cNvSpPr>
            <a:spLocks noGrp="1"/>
          </p:cNvSpPr>
          <p:nvPr>
            <p:ph type="sldNum" sz="quarter" idx="4294967295"/>
          </p:nvPr>
        </p:nvSpPr>
        <p:spPr>
          <a:xfrm>
            <a:off x="11140135"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94360" y="292608"/>
            <a:ext cx="8229600" cy="256032"/>
          </a:xfrm>
          <a:prstGeom prst="rect">
            <a:avLst/>
          </a:prstGeom>
          <a:noFill/>
          <a:ln/>
        </p:spPr>
        <p:txBody>
          <a:bodyPr wrap="square" lIns="0" tIns="0" rIns="0" bIns="0" rtlCol="0" anchor="t"/>
          <a:lstStyle/>
          <a:p>
            <a:pPr indent="0" marL="0">
              <a:buNone/>
            </a:pPr>
            <a:r>
              <a:rPr lang="en-US" sz="1100" b="1" spc="300" kern="0" dirty="0">
                <a:solidFill>
                  <a:schemeClr val="accent1"/>
                </a:solidFill>
              </a:rPr>
              <a:t>07 · ALERTING</a:t>
            </a:r>
            <a:endParaRPr lang="en-US" sz="1100" dirty="0"/>
          </a:p>
        </p:txBody>
      </p:sp>
      <p:sp>
        <p:nvSpPr>
          <p:cNvPr id="3" name="Text 0"/>
          <p:cNvSpPr/>
          <p:nvPr>
            <p:ph idx="100" type="title" hasCustomPrompt="1"/>
          </p:nvPr>
        </p:nvSpPr>
        <p:spPr>
          <a:xfrm>
            <a:off x="594360" y="566928"/>
            <a:ext cx="11002975" cy="658368"/>
          </a:xfrm>
          <a:prstGeom prst="rect">
            <a:avLst/>
          </a:prstGeom>
          <a:noFill/>
          <a:ln/>
        </p:spPr>
        <p:txBody>
          <a:bodyPr wrap="square" lIns="0" tIns="0" rIns="0" bIns="0" rtlCol="0" anchor="ctr"/>
          <a:lstStyle/>
          <a:p>
            <a:pPr algn="l" indent="0" marL="0">
              <a:buNone/>
            </a:pPr>
            <a:r>
              <a:rPr lang="en-US" sz="3000" b="1" dirty="0">
                <a:solidFill>
                  <a:schemeClr val="tx2"/>
                </a:solidFill>
                <a:latin typeface="Georgia" pitchFamily="34" charset="0"/>
                <a:ea typeface="Georgia" pitchFamily="34" charset="-122"/>
                <a:cs typeface="Georgia" pitchFamily="34" charset="-120"/>
              </a:rPr>
              <a:t>Alerts a clinic can live with, tested on real patients</a:t>
            </a:r>
            <a:endParaRPr lang="en-US" sz="3000" dirty="0"/>
          </a:p>
        </p:txBody>
      </p:sp>
      <p:sp>
        <p:nvSpPr>
          <p:cNvPr id="4" name="card"/>
          <p:cNvSpPr/>
          <p:nvPr/>
        </p:nvSpPr>
        <p:spPr>
          <a:xfrm>
            <a:off x="594360" y="1463040"/>
            <a:ext cx="11002975" cy="4526280"/>
          </a:xfrm>
          <a:prstGeom prst="roundRect">
            <a:avLst>
              <a:gd name="adj" fmla="val 2828"/>
            </a:avLst>
          </a:prstGeom>
          <a:solidFill>
            <a:schemeClr val="bg1"/>
          </a:solidFill>
          <a:ln/>
          <a:effectLst>
            <a:outerShdw sx="100000" sy="100000" kx="0" ky="0" algn="bl" rotWithShape="0" blurRad="177800" dist="38100" dir="5400000">
              <a:srgbClr val="0B2F3F">
                <a:alpha val="10000"/>
              </a:srgbClr>
            </a:outerShdw>
          </a:effectLst>
        </p:spPr>
      </p:sp>
      <p:sp>
        <p:nvSpPr>
          <p:cNvPr id="5" name="pill"/>
          <p:cNvSpPr/>
          <p:nvPr/>
        </p:nvSpPr>
        <p:spPr>
          <a:xfrm>
            <a:off x="914400" y="1691640"/>
            <a:ext cx="4206240" cy="365760"/>
          </a:xfrm>
          <a:prstGeom prst="roundRect">
            <a:avLst>
              <a:gd name="adj" fmla="val 50000"/>
            </a:avLst>
          </a:prstGeom>
          <a:solidFill>
            <a:srgbClr val="DCEFEC"/>
          </a:solidFill>
          <a:ln/>
        </p:spPr>
      </p:sp>
      <p:sp>
        <p:nvSpPr>
          <p:cNvPr id="6" name="Text 4"/>
          <p:cNvSpPr txBox="1"/>
          <p:nvPr/>
        </p:nvSpPr>
        <p:spPr>
          <a:xfrm>
            <a:off x="914400" y="1691640"/>
            <a:ext cx="4206240" cy="365760"/>
          </a:xfrm>
          <a:prstGeom prst="rect">
            <a:avLst/>
          </a:prstGeom>
          <a:noFill/>
          <a:ln/>
        </p:spPr>
        <p:txBody>
          <a:bodyPr wrap="square" lIns="0" tIns="0" rIns="0" bIns="0" rtlCol="0" anchor="ctr"/>
          <a:lstStyle/>
          <a:p>
            <a:pPr algn="ctr" indent="0" marL="0">
              <a:buNone/>
            </a:pPr>
            <a:r>
              <a:rPr lang="en-US" sz="1200" b="1" dirty="0">
                <a:solidFill>
                  <a:schemeClr val="accent1"/>
                </a:solidFill>
              </a:rPr>
              <a:t>60 synthetic test patients · synthetic-trained model</a:t>
            </a:r>
            <a:endParaRPr lang="en-US" sz="1200" dirty="0"/>
          </a:p>
        </p:txBody>
      </p:sp>
      <p:sp>
        <p:nvSpPr>
          <p:cNvPr id="7" name="pill"/>
          <p:cNvSpPr/>
          <p:nvPr/>
        </p:nvSpPr>
        <p:spPr>
          <a:xfrm>
            <a:off x="5303520" y="1691640"/>
            <a:ext cx="4206240" cy="365760"/>
          </a:xfrm>
          <a:prstGeom prst="roundRect">
            <a:avLst>
              <a:gd name="adj" fmla="val 50000"/>
            </a:avLst>
          </a:prstGeom>
          <a:solidFill>
            <a:srgbClr val="FBE3D8"/>
          </a:solidFill>
          <a:ln/>
        </p:spPr>
      </p:sp>
      <p:sp>
        <p:nvSpPr>
          <p:cNvPr id="8" name="Text 6"/>
          <p:cNvSpPr txBox="1"/>
          <p:nvPr/>
        </p:nvSpPr>
        <p:spPr>
          <a:xfrm>
            <a:off x="5303520" y="1691640"/>
            <a:ext cx="4206240" cy="365760"/>
          </a:xfrm>
          <a:prstGeom prst="rect">
            <a:avLst/>
          </a:prstGeom>
          <a:noFill/>
          <a:ln/>
        </p:spPr>
        <p:txBody>
          <a:bodyPr wrap="square" lIns="0" tIns="0" rIns="0" bIns="0" rtlCol="0" anchor="ctr"/>
          <a:lstStyle/>
          <a:p>
            <a:pPr algn="ctr" indent="0" marL="0">
              <a:buNone/>
            </a:pPr>
            <a:r>
              <a:rPr lang="en-US" sz="1200" b="1" dirty="0">
                <a:solidFill>
                  <a:schemeClr val="accent2"/>
                </a:solidFill>
              </a:rPr>
              <a:t>100 real patients (ShanghaiT2DM) · real-trained model</a:t>
            </a:r>
            <a:endParaRPr lang="en-US" sz="1200" dirty="0"/>
          </a:p>
        </p:txBody>
      </p:sp>
      <p:sp>
        <p:nvSpPr>
          <p:cNvPr id="9" name="icon-dot"/>
          <p:cNvSpPr/>
          <p:nvPr/>
        </p:nvSpPr>
        <p:spPr>
          <a:xfrm>
            <a:off x="914400" y="2377440"/>
            <a:ext cx="502920" cy="502920"/>
          </a:xfrm>
          <a:prstGeom prst="ellipse">
            <a:avLst/>
          </a:prstGeom>
          <a:solidFill>
            <a:schemeClr val="tx2"/>
          </a:solidFill>
          <a:ln/>
        </p:spPr>
      </p:sp>
      <p:pic>
        <p:nvPicPr>
          <p:cNvPr id="10" name="icon-target" descr="C:\Users\Akhilesh\AppData\Local\Temp\claude\C--Users-Akhilesh-Desktop-Claude-code-Happiest-Health\47a587f0-c947-456b-8324-0bf75adb31d4\scratchpad\deck\img\icons\target.png">    </p:cNvPr>
          <p:cNvPicPr>
            <a:picLocks noChangeAspect="1"/>
          </p:cNvPicPr>
          <p:nvPr/>
        </p:nvPicPr>
        <p:blipFill>
          <a:blip r:embed="rId1"/>
          <a:stretch>
            <a:fillRect/>
          </a:stretch>
        </p:blipFill>
        <p:spPr>
          <a:xfrm>
            <a:off x="1025042" y="2488082"/>
            <a:ext cx="281635" cy="281635"/>
          </a:xfrm>
          <a:prstGeom prst="rect">
            <a:avLst/>
          </a:prstGeom>
        </p:spPr>
      </p:pic>
      <p:sp>
        <p:nvSpPr>
          <p:cNvPr id="11" name="Text 8"/>
          <p:cNvSpPr txBox="1"/>
          <p:nvPr/>
        </p:nvSpPr>
        <p:spPr>
          <a:xfrm>
            <a:off x="1600200" y="2313432"/>
            <a:ext cx="3520440" cy="640080"/>
          </a:xfrm>
          <a:prstGeom prst="rect">
            <a:avLst/>
          </a:prstGeom>
          <a:noFill/>
          <a:ln/>
        </p:spPr>
        <p:txBody>
          <a:bodyPr wrap="square" lIns="0" tIns="0" rIns="0" bIns="0" rtlCol="0" anchor="ctr"/>
          <a:lstStyle/>
          <a:p>
            <a:pPr indent="0" marL="0">
              <a:buNone/>
            </a:pPr>
            <a:r>
              <a:rPr lang="en-US" sz="1300" b="1" dirty="0">
                <a:solidFill>
                  <a:schemeClr val="tx1"/>
                </a:solidFill>
              </a:rPr>
              <a:t>Lows warned at least 30 minutes ahead</a:t>
            </a:r>
            <a:endParaRPr lang="en-US" sz="1300" dirty="0"/>
          </a:p>
          <a:p>
            <a:pPr indent="0" marL="0">
              <a:buNone/>
            </a:pPr>
            <a:r>
              <a:rPr lang="en-US" sz="1100" dirty="0">
                <a:solidFill>
                  <a:schemeClr val="accent6"/>
                </a:solidFill>
              </a:rPr>
              <a:t>53% at 15 minutes on real patients</a:t>
            </a:r>
            <a:endParaRPr lang="en-US" sz="1300" dirty="0"/>
          </a:p>
        </p:txBody>
      </p:sp>
      <p:sp>
        <p:nvSpPr>
          <p:cNvPr id="12" name="track"/>
          <p:cNvSpPr/>
          <p:nvPr/>
        </p:nvSpPr>
        <p:spPr>
          <a:xfrm>
            <a:off x="5257800" y="2331720"/>
            <a:ext cx="5120640" cy="237744"/>
          </a:xfrm>
          <a:prstGeom prst="roundRect">
            <a:avLst>
              <a:gd name="adj" fmla="val 50000"/>
            </a:avLst>
          </a:prstGeom>
          <a:solidFill>
            <a:srgbClr val="EEF3F6"/>
          </a:solidFill>
          <a:ln/>
        </p:spPr>
      </p:sp>
      <p:sp>
        <p:nvSpPr>
          <p:cNvPr id="13" name="bar"/>
          <p:cNvSpPr/>
          <p:nvPr/>
        </p:nvSpPr>
        <p:spPr>
          <a:xfrm>
            <a:off x="5257800" y="2331720"/>
            <a:ext cx="3891686" cy="237744"/>
          </a:xfrm>
          <a:prstGeom prst="roundRect">
            <a:avLst>
              <a:gd name="adj" fmla="val 50000"/>
            </a:avLst>
          </a:prstGeom>
          <a:solidFill>
            <a:srgbClr val="0F766E"/>
          </a:solidFill>
          <a:ln/>
        </p:spPr>
      </p:sp>
      <p:sp>
        <p:nvSpPr>
          <p:cNvPr id="14" name="Text 11"/>
          <p:cNvSpPr txBox="1"/>
          <p:nvPr/>
        </p:nvSpPr>
        <p:spPr>
          <a:xfrm>
            <a:off x="10515600" y="2276856"/>
            <a:ext cx="914400" cy="347472"/>
          </a:xfrm>
          <a:prstGeom prst="rect">
            <a:avLst/>
          </a:prstGeom>
          <a:noFill/>
          <a:ln/>
        </p:spPr>
        <p:txBody>
          <a:bodyPr wrap="square" lIns="0" tIns="0" rIns="0" bIns="0" rtlCol="0" anchor="ctr"/>
          <a:lstStyle/>
          <a:p>
            <a:pPr indent="0" marL="0">
              <a:buNone/>
            </a:pPr>
            <a:r>
              <a:rPr lang="en-US" sz="1400" b="1" dirty="0">
                <a:solidFill>
                  <a:schemeClr val="accent1"/>
                </a:solidFill>
              </a:rPr>
              <a:t>76%</a:t>
            </a:r>
            <a:endParaRPr lang="en-US" sz="1400" dirty="0"/>
          </a:p>
        </p:txBody>
      </p:sp>
      <p:sp>
        <p:nvSpPr>
          <p:cNvPr id="15" name="track"/>
          <p:cNvSpPr/>
          <p:nvPr/>
        </p:nvSpPr>
        <p:spPr>
          <a:xfrm>
            <a:off x="5257800" y="2660904"/>
            <a:ext cx="5120640" cy="237744"/>
          </a:xfrm>
          <a:prstGeom prst="roundRect">
            <a:avLst>
              <a:gd name="adj" fmla="val 50000"/>
            </a:avLst>
          </a:prstGeom>
          <a:solidFill>
            <a:srgbClr val="EEF3F6"/>
          </a:solidFill>
          <a:ln/>
        </p:spPr>
      </p:sp>
      <p:sp>
        <p:nvSpPr>
          <p:cNvPr id="16" name="bar"/>
          <p:cNvSpPr/>
          <p:nvPr/>
        </p:nvSpPr>
        <p:spPr>
          <a:xfrm>
            <a:off x="5257800" y="2660904"/>
            <a:ext cx="1792224" cy="237744"/>
          </a:xfrm>
          <a:prstGeom prst="roundRect">
            <a:avLst>
              <a:gd name="adj" fmla="val 50000"/>
            </a:avLst>
          </a:prstGeom>
          <a:solidFill>
            <a:srgbClr val="E8643A"/>
          </a:solidFill>
          <a:ln/>
        </p:spPr>
      </p:sp>
      <p:sp>
        <p:nvSpPr>
          <p:cNvPr id="17" name="Text 14"/>
          <p:cNvSpPr txBox="1"/>
          <p:nvPr/>
        </p:nvSpPr>
        <p:spPr>
          <a:xfrm>
            <a:off x="10515600" y="2606040"/>
            <a:ext cx="914400" cy="347472"/>
          </a:xfrm>
          <a:prstGeom prst="rect">
            <a:avLst/>
          </a:prstGeom>
          <a:noFill/>
          <a:ln/>
        </p:spPr>
        <p:txBody>
          <a:bodyPr wrap="square" lIns="0" tIns="0" rIns="0" bIns="0" rtlCol="0" anchor="ctr"/>
          <a:lstStyle/>
          <a:p>
            <a:pPr indent="0" marL="0">
              <a:buNone/>
            </a:pPr>
            <a:r>
              <a:rPr lang="en-US" sz="1400" b="1" dirty="0">
                <a:solidFill>
                  <a:schemeClr val="accent2"/>
                </a:solidFill>
              </a:rPr>
              <a:t>35%</a:t>
            </a:r>
            <a:endParaRPr lang="en-US" sz="1400" dirty="0"/>
          </a:p>
        </p:txBody>
      </p:sp>
      <p:sp>
        <p:nvSpPr>
          <p:cNvPr id="18" name="icon-dot"/>
          <p:cNvSpPr/>
          <p:nvPr/>
        </p:nvSpPr>
        <p:spPr>
          <a:xfrm>
            <a:off x="914400" y="3273552"/>
            <a:ext cx="502920" cy="502920"/>
          </a:xfrm>
          <a:prstGeom prst="ellipse">
            <a:avLst/>
          </a:prstGeom>
          <a:solidFill>
            <a:schemeClr val="tx2"/>
          </a:solidFill>
          <a:ln/>
        </p:spPr>
      </p:sp>
      <p:pic>
        <p:nvPicPr>
          <p:cNvPr id="19" name="icon-clock" descr="C:\Users\Akhilesh\AppData\Local\Temp\claude\C--Users-Akhilesh-Desktop-Claude-code-Happiest-Health\47a587f0-c947-456b-8324-0bf75adb31d4\scratchpad\deck\img\icons\clock.png">    </p:cNvPr>
          <p:cNvPicPr>
            <a:picLocks noChangeAspect="1"/>
          </p:cNvPicPr>
          <p:nvPr/>
        </p:nvPicPr>
        <p:blipFill>
          <a:blip r:embed="rId2"/>
          <a:stretch>
            <a:fillRect/>
          </a:stretch>
        </p:blipFill>
        <p:spPr>
          <a:xfrm>
            <a:off x="1025042" y="3384194"/>
            <a:ext cx="281635" cy="281635"/>
          </a:xfrm>
          <a:prstGeom prst="rect">
            <a:avLst/>
          </a:prstGeom>
        </p:spPr>
      </p:pic>
      <p:sp>
        <p:nvSpPr>
          <p:cNvPr id="20" name="Text 16"/>
          <p:cNvSpPr txBox="1"/>
          <p:nvPr/>
        </p:nvSpPr>
        <p:spPr>
          <a:xfrm>
            <a:off x="1600200" y="3209544"/>
            <a:ext cx="3520440" cy="640080"/>
          </a:xfrm>
          <a:prstGeom prst="rect">
            <a:avLst/>
          </a:prstGeom>
          <a:noFill/>
          <a:ln/>
        </p:spPr>
        <p:txBody>
          <a:bodyPr wrap="square" lIns="0" tIns="0" rIns="0" bIns="0" rtlCol="0" anchor="ctr"/>
          <a:lstStyle/>
          <a:p>
            <a:pPr indent="0" marL="0">
              <a:buNone/>
            </a:pPr>
            <a:r>
              <a:rPr lang="en-US" sz="1300" b="1" dirty="0">
                <a:solidFill>
                  <a:schemeClr val="tx1"/>
                </a:solidFill>
              </a:rPr>
              <a:t>Median warning before a low</a:t>
            </a:r>
            <a:endParaRPr lang="en-US" sz="1300" dirty="0"/>
          </a:p>
        </p:txBody>
      </p:sp>
      <p:sp>
        <p:nvSpPr>
          <p:cNvPr id="21" name="track"/>
          <p:cNvSpPr/>
          <p:nvPr/>
        </p:nvSpPr>
        <p:spPr>
          <a:xfrm>
            <a:off x="5257800" y="3227832"/>
            <a:ext cx="5120640" cy="237744"/>
          </a:xfrm>
          <a:prstGeom prst="roundRect">
            <a:avLst>
              <a:gd name="adj" fmla="val 50000"/>
            </a:avLst>
          </a:prstGeom>
          <a:solidFill>
            <a:srgbClr val="EEF3F6"/>
          </a:solidFill>
          <a:ln/>
        </p:spPr>
      </p:sp>
      <p:sp>
        <p:nvSpPr>
          <p:cNvPr id="22" name="bar"/>
          <p:cNvSpPr/>
          <p:nvPr/>
        </p:nvSpPr>
        <p:spPr>
          <a:xfrm>
            <a:off x="5257800" y="3227832"/>
            <a:ext cx="4160520" cy="237744"/>
          </a:xfrm>
          <a:prstGeom prst="roundRect">
            <a:avLst>
              <a:gd name="adj" fmla="val 50000"/>
            </a:avLst>
          </a:prstGeom>
          <a:solidFill>
            <a:srgbClr val="0F766E"/>
          </a:solidFill>
          <a:ln/>
        </p:spPr>
      </p:sp>
      <p:sp>
        <p:nvSpPr>
          <p:cNvPr id="23" name="Text 19"/>
          <p:cNvSpPr txBox="1"/>
          <p:nvPr/>
        </p:nvSpPr>
        <p:spPr>
          <a:xfrm>
            <a:off x="10515600" y="3172968"/>
            <a:ext cx="914400" cy="347472"/>
          </a:xfrm>
          <a:prstGeom prst="rect">
            <a:avLst/>
          </a:prstGeom>
          <a:noFill/>
          <a:ln/>
        </p:spPr>
        <p:txBody>
          <a:bodyPr wrap="square" lIns="0" tIns="0" rIns="0" bIns="0" rtlCol="0" anchor="ctr"/>
          <a:lstStyle/>
          <a:p>
            <a:pPr indent="0" marL="0">
              <a:buNone/>
            </a:pPr>
            <a:r>
              <a:rPr lang="en-US" sz="1400" b="1" dirty="0">
                <a:solidFill>
                  <a:schemeClr val="accent1"/>
                </a:solidFill>
              </a:rPr>
              <a:t>65 min</a:t>
            </a:r>
            <a:endParaRPr lang="en-US" sz="1400" dirty="0"/>
          </a:p>
        </p:txBody>
      </p:sp>
      <p:sp>
        <p:nvSpPr>
          <p:cNvPr id="24" name="track"/>
          <p:cNvSpPr/>
          <p:nvPr/>
        </p:nvSpPr>
        <p:spPr>
          <a:xfrm>
            <a:off x="5257800" y="3557016"/>
            <a:ext cx="5120640" cy="237744"/>
          </a:xfrm>
          <a:prstGeom prst="roundRect">
            <a:avLst>
              <a:gd name="adj" fmla="val 50000"/>
            </a:avLst>
          </a:prstGeom>
          <a:solidFill>
            <a:srgbClr val="EEF3F6"/>
          </a:solidFill>
          <a:ln/>
        </p:spPr>
      </p:sp>
      <p:sp>
        <p:nvSpPr>
          <p:cNvPr id="25" name="bar"/>
          <p:cNvSpPr/>
          <p:nvPr/>
        </p:nvSpPr>
        <p:spPr>
          <a:xfrm>
            <a:off x="5257800" y="3557016"/>
            <a:ext cx="1600200" cy="237744"/>
          </a:xfrm>
          <a:prstGeom prst="roundRect">
            <a:avLst>
              <a:gd name="adj" fmla="val 50000"/>
            </a:avLst>
          </a:prstGeom>
          <a:solidFill>
            <a:srgbClr val="E8643A"/>
          </a:solidFill>
          <a:ln/>
        </p:spPr>
      </p:sp>
      <p:sp>
        <p:nvSpPr>
          <p:cNvPr id="26" name="Text 22"/>
          <p:cNvSpPr txBox="1"/>
          <p:nvPr/>
        </p:nvSpPr>
        <p:spPr>
          <a:xfrm>
            <a:off x="10515600" y="3502152"/>
            <a:ext cx="914400" cy="347472"/>
          </a:xfrm>
          <a:prstGeom prst="rect">
            <a:avLst/>
          </a:prstGeom>
          <a:noFill/>
          <a:ln/>
        </p:spPr>
        <p:txBody>
          <a:bodyPr wrap="square" lIns="0" tIns="0" rIns="0" bIns="0" rtlCol="0" anchor="ctr"/>
          <a:lstStyle/>
          <a:p>
            <a:pPr indent="0" marL="0">
              <a:buNone/>
            </a:pPr>
            <a:r>
              <a:rPr lang="en-US" sz="1400" b="1" dirty="0">
                <a:solidFill>
                  <a:schemeClr val="accent2"/>
                </a:solidFill>
              </a:rPr>
              <a:t>25 min</a:t>
            </a:r>
            <a:endParaRPr lang="en-US" sz="1400" dirty="0"/>
          </a:p>
        </p:txBody>
      </p:sp>
      <p:sp>
        <p:nvSpPr>
          <p:cNvPr id="27" name="icon-dot"/>
          <p:cNvSpPr/>
          <p:nvPr/>
        </p:nvSpPr>
        <p:spPr>
          <a:xfrm>
            <a:off x="914400" y="4169664"/>
            <a:ext cx="502920" cy="502920"/>
          </a:xfrm>
          <a:prstGeom prst="ellipse">
            <a:avLst/>
          </a:prstGeom>
          <a:solidFill>
            <a:schemeClr val="tx2"/>
          </a:solidFill>
          <a:ln/>
        </p:spPr>
      </p:sp>
      <p:pic>
        <p:nvPicPr>
          <p:cNvPr id="28" name="icon-bell" descr="C:\Users\Akhilesh\AppData\Local\Temp\claude\C--Users-Akhilesh-Desktop-Claude-code-Happiest-Health\47a587f0-c947-456b-8324-0bf75adb31d4\scratchpad\deck\img\icons\bell.png">    </p:cNvPr>
          <p:cNvPicPr>
            <a:picLocks noChangeAspect="1"/>
          </p:cNvPicPr>
          <p:nvPr/>
        </p:nvPicPr>
        <p:blipFill>
          <a:blip r:embed="rId3"/>
          <a:stretch>
            <a:fillRect/>
          </a:stretch>
        </p:blipFill>
        <p:spPr>
          <a:xfrm>
            <a:off x="1025042" y="4280306"/>
            <a:ext cx="281635" cy="281635"/>
          </a:xfrm>
          <a:prstGeom prst="rect">
            <a:avLst/>
          </a:prstGeom>
        </p:spPr>
      </p:pic>
      <p:sp>
        <p:nvSpPr>
          <p:cNvPr id="29" name="Text 24"/>
          <p:cNvSpPr txBox="1"/>
          <p:nvPr/>
        </p:nvSpPr>
        <p:spPr>
          <a:xfrm>
            <a:off x="1600200" y="4105656"/>
            <a:ext cx="3520440" cy="640080"/>
          </a:xfrm>
          <a:prstGeom prst="rect">
            <a:avLst/>
          </a:prstGeom>
          <a:noFill/>
          <a:ln/>
        </p:spPr>
        <p:txBody>
          <a:bodyPr wrap="square" lIns="0" tIns="0" rIns="0" bIns="0" rtlCol="0" anchor="ctr"/>
          <a:lstStyle/>
          <a:p>
            <a:pPr indent="0" marL="0">
              <a:buNone/>
            </a:pPr>
            <a:r>
              <a:rPr lang="en-US" sz="1300" b="1" dirty="0">
                <a:solidFill>
                  <a:schemeClr val="tx1"/>
                </a:solidFill>
              </a:rPr>
              <a:t>Alerts per patient per day</a:t>
            </a:r>
            <a:endParaRPr lang="en-US" sz="1300" dirty="0"/>
          </a:p>
          <a:p>
            <a:pPr indent="0" marL="0">
              <a:buNone/>
            </a:pPr>
            <a:r>
              <a:rPr lang="en-US" sz="1100" dirty="0">
                <a:solidFill>
                  <a:schemeClr val="accent6"/>
                </a:solidFill>
              </a:rPr>
              <a:t>about one every two days</a:t>
            </a:r>
            <a:endParaRPr lang="en-US" sz="1300" dirty="0"/>
          </a:p>
        </p:txBody>
      </p:sp>
      <p:sp>
        <p:nvSpPr>
          <p:cNvPr id="30" name="track"/>
          <p:cNvSpPr/>
          <p:nvPr/>
        </p:nvSpPr>
        <p:spPr>
          <a:xfrm>
            <a:off x="5257800" y="4123944"/>
            <a:ext cx="5120640" cy="237744"/>
          </a:xfrm>
          <a:prstGeom prst="roundRect">
            <a:avLst>
              <a:gd name="adj" fmla="val 50000"/>
            </a:avLst>
          </a:prstGeom>
          <a:solidFill>
            <a:srgbClr val="EEF3F6"/>
          </a:solidFill>
          <a:ln/>
        </p:spPr>
      </p:sp>
      <p:sp>
        <p:nvSpPr>
          <p:cNvPr id="31" name="bar"/>
          <p:cNvSpPr/>
          <p:nvPr/>
        </p:nvSpPr>
        <p:spPr>
          <a:xfrm>
            <a:off x="5257800" y="4123944"/>
            <a:ext cx="2509114" cy="237744"/>
          </a:xfrm>
          <a:prstGeom prst="roundRect">
            <a:avLst>
              <a:gd name="adj" fmla="val 50000"/>
            </a:avLst>
          </a:prstGeom>
          <a:solidFill>
            <a:srgbClr val="0F766E"/>
          </a:solidFill>
          <a:ln/>
        </p:spPr>
      </p:sp>
      <p:sp>
        <p:nvSpPr>
          <p:cNvPr id="32" name="Text 27"/>
          <p:cNvSpPr txBox="1"/>
          <p:nvPr/>
        </p:nvSpPr>
        <p:spPr>
          <a:xfrm>
            <a:off x="10515600" y="4069080"/>
            <a:ext cx="914400" cy="347472"/>
          </a:xfrm>
          <a:prstGeom prst="rect">
            <a:avLst/>
          </a:prstGeom>
          <a:noFill/>
          <a:ln/>
        </p:spPr>
        <p:txBody>
          <a:bodyPr wrap="square" lIns="0" tIns="0" rIns="0" bIns="0" rtlCol="0" anchor="ctr"/>
          <a:lstStyle/>
          <a:p>
            <a:pPr indent="0" marL="0">
              <a:buNone/>
            </a:pPr>
            <a:r>
              <a:rPr lang="en-US" sz="1400" b="1" dirty="0">
                <a:solidFill>
                  <a:schemeClr val="accent1"/>
                </a:solidFill>
              </a:rPr>
              <a:t>0.49</a:t>
            </a:r>
            <a:endParaRPr lang="en-US" sz="1400" dirty="0"/>
          </a:p>
        </p:txBody>
      </p:sp>
      <p:sp>
        <p:nvSpPr>
          <p:cNvPr id="33" name="track"/>
          <p:cNvSpPr/>
          <p:nvPr/>
        </p:nvSpPr>
        <p:spPr>
          <a:xfrm>
            <a:off x="5257800" y="4453128"/>
            <a:ext cx="5120640" cy="237744"/>
          </a:xfrm>
          <a:prstGeom prst="roundRect">
            <a:avLst>
              <a:gd name="adj" fmla="val 50000"/>
            </a:avLst>
          </a:prstGeom>
          <a:solidFill>
            <a:srgbClr val="EEF3F6"/>
          </a:solidFill>
          <a:ln/>
        </p:spPr>
      </p:sp>
      <p:sp>
        <p:nvSpPr>
          <p:cNvPr id="34" name="bar"/>
          <p:cNvSpPr/>
          <p:nvPr/>
        </p:nvSpPr>
        <p:spPr>
          <a:xfrm>
            <a:off x="5257800" y="4453128"/>
            <a:ext cx="3123590" cy="237744"/>
          </a:xfrm>
          <a:prstGeom prst="roundRect">
            <a:avLst>
              <a:gd name="adj" fmla="val 50000"/>
            </a:avLst>
          </a:prstGeom>
          <a:solidFill>
            <a:srgbClr val="E8643A"/>
          </a:solidFill>
          <a:ln/>
        </p:spPr>
      </p:sp>
      <p:sp>
        <p:nvSpPr>
          <p:cNvPr id="35" name="Text 30"/>
          <p:cNvSpPr txBox="1"/>
          <p:nvPr/>
        </p:nvSpPr>
        <p:spPr>
          <a:xfrm>
            <a:off x="10515600" y="4398264"/>
            <a:ext cx="914400" cy="347472"/>
          </a:xfrm>
          <a:prstGeom prst="rect">
            <a:avLst/>
          </a:prstGeom>
          <a:noFill/>
          <a:ln/>
        </p:spPr>
        <p:txBody>
          <a:bodyPr wrap="square" lIns="0" tIns="0" rIns="0" bIns="0" rtlCol="0" anchor="ctr"/>
          <a:lstStyle/>
          <a:p>
            <a:pPr indent="0" marL="0">
              <a:buNone/>
            </a:pPr>
            <a:r>
              <a:rPr lang="en-US" sz="1400" b="1" dirty="0">
                <a:solidFill>
                  <a:schemeClr val="accent2"/>
                </a:solidFill>
              </a:rPr>
              <a:t>0.61</a:t>
            </a:r>
            <a:endParaRPr lang="en-US" sz="1400" dirty="0"/>
          </a:p>
        </p:txBody>
      </p:sp>
      <p:sp>
        <p:nvSpPr>
          <p:cNvPr id="36" name="icon-dot"/>
          <p:cNvSpPr/>
          <p:nvPr/>
        </p:nvSpPr>
        <p:spPr>
          <a:xfrm>
            <a:off x="914400" y="5065776"/>
            <a:ext cx="502920" cy="502920"/>
          </a:xfrm>
          <a:prstGeom prst="ellipse">
            <a:avLst/>
          </a:prstGeom>
          <a:solidFill>
            <a:schemeClr val="tx2"/>
          </a:solidFill>
          <a:ln/>
        </p:spPr>
      </p:sp>
      <p:pic>
        <p:nvPicPr>
          <p:cNvPr id="37" name="icon-check" descr="C:\Users\Akhilesh\AppData\Local\Temp\claude\C--Users-Akhilesh-Desktop-Claude-code-Happiest-Health\47a587f0-c947-456b-8324-0bf75adb31d4\scratchpad\deck\img\icons\check.png">    </p:cNvPr>
          <p:cNvPicPr>
            <a:picLocks noChangeAspect="1"/>
          </p:cNvPicPr>
          <p:nvPr/>
        </p:nvPicPr>
        <p:blipFill>
          <a:blip r:embed="rId4"/>
          <a:stretch>
            <a:fillRect/>
          </a:stretch>
        </p:blipFill>
        <p:spPr>
          <a:xfrm>
            <a:off x="1025042" y="5176418"/>
            <a:ext cx="281635" cy="281635"/>
          </a:xfrm>
          <a:prstGeom prst="rect">
            <a:avLst/>
          </a:prstGeom>
        </p:spPr>
      </p:pic>
      <p:sp>
        <p:nvSpPr>
          <p:cNvPr id="38" name="Text 32"/>
          <p:cNvSpPr txBox="1"/>
          <p:nvPr/>
        </p:nvSpPr>
        <p:spPr>
          <a:xfrm>
            <a:off x="1600200" y="5001768"/>
            <a:ext cx="3520440" cy="640080"/>
          </a:xfrm>
          <a:prstGeom prst="rect">
            <a:avLst/>
          </a:prstGeom>
          <a:noFill/>
          <a:ln/>
        </p:spPr>
        <p:txBody>
          <a:bodyPr wrap="square" lIns="0" tIns="0" rIns="0" bIns="0" rtlCol="0" anchor="ctr"/>
          <a:lstStyle/>
          <a:p>
            <a:pPr indent="0" marL="0">
              <a:buNone/>
            </a:pPr>
            <a:r>
              <a:rPr lang="en-US" sz="1300" b="1" dirty="0">
                <a:solidFill>
                  <a:schemeClr val="tx1"/>
                </a:solidFill>
              </a:rPr>
              <a:t>Alerts followed by a real low</a:t>
            </a:r>
            <a:endParaRPr lang="en-US" sz="1300" dirty="0"/>
          </a:p>
        </p:txBody>
      </p:sp>
      <p:sp>
        <p:nvSpPr>
          <p:cNvPr id="39" name="track"/>
          <p:cNvSpPr/>
          <p:nvPr/>
        </p:nvSpPr>
        <p:spPr>
          <a:xfrm>
            <a:off x="5257800" y="5020056"/>
            <a:ext cx="5120640" cy="237744"/>
          </a:xfrm>
          <a:prstGeom prst="roundRect">
            <a:avLst>
              <a:gd name="adj" fmla="val 50000"/>
            </a:avLst>
          </a:prstGeom>
          <a:solidFill>
            <a:srgbClr val="EEF3F6"/>
          </a:solidFill>
          <a:ln/>
        </p:spPr>
      </p:sp>
      <p:sp>
        <p:nvSpPr>
          <p:cNvPr id="40" name="bar"/>
          <p:cNvSpPr/>
          <p:nvPr/>
        </p:nvSpPr>
        <p:spPr>
          <a:xfrm>
            <a:off x="5257800" y="5020056"/>
            <a:ext cx="3379622" cy="237744"/>
          </a:xfrm>
          <a:prstGeom prst="roundRect">
            <a:avLst>
              <a:gd name="adj" fmla="val 50000"/>
            </a:avLst>
          </a:prstGeom>
          <a:solidFill>
            <a:srgbClr val="0F766E"/>
          </a:solidFill>
          <a:ln/>
        </p:spPr>
      </p:sp>
      <p:sp>
        <p:nvSpPr>
          <p:cNvPr id="41" name="Text 35"/>
          <p:cNvSpPr txBox="1"/>
          <p:nvPr/>
        </p:nvSpPr>
        <p:spPr>
          <a:xfrm>
            <a:off x="10515600" y="4965192"/>
            <a:ext cx="914400" cy="347472"/>
          </a:xfrm>
          <a:prstGeom prst="rect">
            <a:avLst/>
          </a:prstGeom>
          <a:noFill/>
          <a:ln/>
        </p:spPr>
        <p:txBody>
          <a:bodyPr wrap="square" lIns="0" tIns="0" rIns="0" bIns="0" rtlCol="0" anchor="ctr"/>
          <a:lstStyle/>
          <a:p>
            <a:pPr indent="0" marL="0">
              <a:buNone/>
            </a:pPr>
            <a:r>
              <a:rPr lang="en-US" sz="1400" b="1" dirty="0">
                <a:solidFill>
                  <a:schemeClr val="accent1"/>
                </a:solidFill>
              </a:rPr>
              <a:t>66%</a:t>
            </a:r>
            <a:endParaRPr lang="en-US" sz="1400" dirty="0"/>
          </a:p>
        </p:txBody>
      </p:sp>
      <p:sp>
        <p:nvSpPr>
          <p:cNvPr id="42" name="track"/>
          <p:cNvSpPr/>
          <p:nvPr/>
        </p:nvSpPr>
        <p:spPr>
          <a:xfrm>
            <a:off x="5257800" y="5349240"/>
            <a:ext cx="5120640" cy="237744"/>
          </a:xfrm>
          <a:prstGeom prst="roundRect">
            <a:avLst>
              <a:gd name="adj" fmla="val 50000"/>
            </a:avLst>
          </a:prstGeom>
          <a:solidFill>
            <a:srgbClr val="EEF3F6"/>
          </a:solidFill>
          <a:ln/>
        </p:spPr>
      </p:sp>
      <p:sp>
        <p:nvSpPr>
          <p:cNvPr id="43" name="bar"/>
          <p:cNvSpPr/>
          <p:nvPr/>
        </p:nvSpPr>
        <p:spPr>
          <a:xfrm>
            <a:off x="5257800" y="5349240"/>
            <a:ext cx="2253082" cy="237744"/>
          </a:xfrm>
          <a:prstGeom prst="roundRect">
            <a:avLst>
              <a:gd name="adj" fmla="val 50000"/>
            </a:avLst>
          </a:prstGeom>
          <a:solidFill>
            <a:srgbClr val="E8643A"/>
          </a:solidFill>
          <a:ln/>
        </p:spPr>
      </p:sp>
      <p:sp>
        <p:nvSpPr>
          <p:cNvPr id="44" name="Text 38"/>
          <p:cNvSpPr txBox="1"/>
          <p:nvPr/>
        </p:nvSpPr>
        <p:spPr>
          <a:xfrm>
            <a:off x="10515600" y="5294376"/>
            <a:ext cx="914400" cy="347472"/>
          </a:xfrm>
          <a:prstGeom prst="rect">
            <a:avLst/>
          </a:prstGeom>
          <a:noFill/>
          <a:ln/>
        </p:spPr>
        <p:txBody>
          <a:bodyPr wrap="square" lIns="0" tIns="0" rIns="0" bIns="0" rtlCol="0" anchor="ctr"/>
          <a:lstStyle/>
          <a:p>
            <a:pPr indent="0" marL="0">
              <a:buNone/>
            </a:pPr>
            <a:r>
              <a:rPr lang="en-US" sz="1400" b="1" dirty="0">
                <a:solidFill>
                  <a:schemeClr val="accent2"/>
                </a:solidFill>
              </a:rPr>
              <a:t>44%</a:t>
            </a:r>
            <a:endParaRPr lang="en-US" sz="1400" dirty="0"/>
          </a:p>
        </p:txBody>
      </p:sp>
      <p:sp>
        <p:nvSpPr>
          <p:cNvPr id="45" name="Text 39"/>
          <p:cNvSpPr txBox="1"/>
          <p:nvPr/>
        </p:nvSpPr>
        <p:spPr>
          <a:xfrm>
            <a:off x="914400" y="6035040"/>
            <a:ext cx="10362895" cy="320040"/>
          </a:xfrm>
          <a:prstGeom prst="rect">
            <a:avLst/>
          </a:prstGeom>
          <a:noFill/>
          <a:ln/>
        </p:spPr>
        <p:txBody>
          <a:bodyPr wrap="square" lIns="0" tIns="0" rIns="0" bIns="0" rtlCol="0" anchor="t"/>
          <a:lstStyle/>
          <a:p>
            <a:pPr indent="0" marL="0">
              <a:buNone/>
            </a:pPr>
            <a:r>
              <a:rPr lang="en-US" sz="1200" dirty="0">
                <a:solidFill>
                  <a:schemeClr val="accent6"/>
                </a:solidFill>
              </a:rPr>
              <a:t>Real lows arrive faster than simulated ones, so the synthetic figure is an upper bound. The real-patient numbers are the honest baseline to improve.</a:t>
            </a:r>
            <a:endParaRPr lang="en-US" sz="1200" dirty="0"/>
          </a:p>
        </p:txBody>
      </p:sp>
      <p:sp>
        <p:nvSpPr>
          <p:cNvPr id="25" name="Slide Number Placeholder 0"/>
          <p:cNvSpPr>
            <a:spLocks noGrp="1"/>
          </p:cNvSpPr>
          <p:nvPr>
            <p:ph type="sldNum" sz="quarter" idx="4294967295"/>
          </p:nvPr>
        </p:nvSpPr>
        <p:spPr>
          <a:xfrm>
            <a:off x="11140135"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94360" y="292608"/>
            <a:ext cx="8229600" cy="256032"/>
          </a:xfrm>
          <a:prstGeom prst="rect">
            <a:avLst/>
          </a:prstGeom>
          <a:noFill/>
          <a:ln/>
        </p:spPr>
        <p:txBody>
          <a:bodyPr wrap="square" lIns="0" tIns="0" rIns="0" bIns="0" rtlCol="0" anchor="t"/>
          <a:lstStyle/>
          <a:p>
            <a:pPr indent="0" marL="0">
              <a:buNone/>
            </a:pPr>
            <a:r>
              <a:rPr lang="en-US" sz="1100" b="1" spc="300" kern="0" dirty="0">
                <a:solidFill>
                  <a:schemeClr val="accent1"/>
                </a:solidFill>
              </a:rPr>
              <a:t>08 · LIVE REPLAY</a:t>
            </a:r>
            <a:endParaRPr lang="en-US" sz="1100" dirty="0"/>
          </a:p>
        </p:txBody>
      </p:sp>
      <p:sp>
        <p:nvSpPr>
          <p:cNvPr id="3" name="Text 0"/>
          <p:cNvSpPr/>
          <p:nvPr>
            <p:ph idx="100" type="title" hasCustomPrompt="1"/>
          </p:nvPr>
        </p:nvSpPr>
        <p:spPr>
          <a:xfrm>
            <a:off x="594360" y="566928"/>
            <a:ext cx="11002975" cy="658368"/>
          </a:xfrm>
          <a:prstGeom prst="rect">
            <a:avLst/>
          </a:prstGeom>
          <a:noFill/>
          <a:ln/>
        </p:spPr>
        <p:txBody>
          <a:bodyPr wrap="square" lIns="0" tIns="0" rIns="0" bIns="0" rtlCol="0" anchor="ctr"/>
          <a:lstStyle/>
          <a:p>
            <a:pPr algn="l" indent="0" marL="0">
              <a:buNone/>
            </a:pPr>
            <a:r>
              <a:rPr lang="en-US" sz="3000" b="1" dirty="0">
                <a:solidFill>
                  <a:schemeClr val="tx2"/>
                </a:solidFill>
                <a:latin typeface="Georgia" pitchFamily="34" charset="0"/>
                <a:ea typeface="Georgia" pitchFamily="34" charset="-122"/>
                <a:cs typeface="Georgia" pitchFamily="34" charset="-120"/>
              </a:rPr>
              <a:t>The alert arrives 75 minutes before the low</a:t>
            </a:r>
            <a:endParaRPr lang="en-US" sz="3000" dirty="0"/>
          </a:p>
        </p:txBody>
      </p:sp>
      <p:sp>
        <p:nvSpPr>
          <p:cNvPr id="4" name="card"/>
          <p:cNvSpPr/>
          <p:nvPr/>
        </p:nvSpPr>
        <p:spPr>
          <a:xfrm>
            <a:off x="594360" y="1463040"/>
            <a:ext cx="8183880" cy="4526280"/>
          </a:xfrm>
          <a:prstGeom prst="roundRect">
            <a:avLst>
              <a:gd name="adj" fmla="val 2828"/>
            </a:avLst>
          </a:prstGeom>
          <a:solidFill>
            <a:schemeClr val="bg1"/>
          </a:solidFill>
          <a:ln/>
          <a:effectLst>
            <a:outerShdw sx="100000" sy="100000" kx="0" ky="0" algn="bl" rotWithShape="0" blurRad="177800" dist="38100" dir="5400000">
              <a:srgbClr val="0B2F3F">
                <a:alpha val="10000"/>
              </a:srgbClr>
            </a:outerShdw>
          </a:effectLst>
        </p:spPr>
      </p:sp>
      <p:pic>
        <p:nvPicPr>
          <p:cNvPr id="5" name="replay" descr="C:\Users\Akhilesh\AppData\Local\Temp\claude\C--Users-Akhilesh-Desktop-Claude-code-Happiest-Health\47a587f0-c947-456b-8324-0bf75adb31d4\scratchpad\deck\img\replay.png">    </p:cNvPr>
          <p:cNvPicPr>
            <a:picLocks noChangeAspect="1"/>
          </p:cNvPicPr>
          <p:nvPr/>
        </p:nvPicPr>
        <p:blipFill>
          <a:blip r:embed="rId1"/>
          <a:stretch>
            <a:fillRect/>
          </a:stretch>
        </p:blipFill>
        <p:spPr>
          <a:xfrm>
            <a:off x="722376" y="1591056"/>
            <a:ext cx="7927848" cy="4270248"/>
          </a:xfrm>
          <a:prstGeom prst="rect">
            <a:avLst/>
          </a:prstGeom>
        </p:spPr>
      </p:pic>
      <p:sp>
        <p:nvSpPr>
          <p:cNvPr id="6" name="card"/>
          <p:cNvSpPr/>
          <p:nvPr/>
        </p:nvSpPr>
        <p:spPr>
          <a:xfrm>
            <a:off x="9006840" y="1463040"/>
            <a:ext cx="2587752" cy="4526280"/>
          </a:xfrm>
          <a:prstGeom prst="roundRect">
            <a:avLst>
              <a:gd name="adj" fmla="val 4947"/>
            </a:avLst>
          </a:prstGeom>
          <a:solidFill>
            <a:schemeClr val="bg1"/>
          </a:solidFill>
          <a:ln/>
          <a:effectLst>
            <a:outerShdw sx="100000" sy="100000" kx="0" ky="0" algn="bl" rotWithShape="0" blurRad="177800" dist="38100" dir="5400000">
              <a:srgbClr val="0B2F3F">
                <a:alpha val="10000"/>
              </a:srgbClr>
            </a:outerShdw>
          </a:effectLst>
        </p:spPr>
      </p:sp>
      <p:sp>
        <p:nvSpPr>
          <p:cNvPr id="7" name="icon-dot"/>
          <p:cNvSpPr/>
          <p:nvPr/>
        </p:nvSpPr>
        <p:spPr>
          <a:xfrm>
            <a:off x="9281160" y="1737360"/>
            <a:ext cx="548640" cy="548640"/>
          </a:xfrm>
          <a:prstGeom prst="ellipse">
            <a:avLst/>
          </a:prstGeom>
          <a:solidFill>
            <a:schemeClr val="accent3"/>
          </a:solidFill>
          <a:ln/>
        </p:spPr>
      </p:sp>
      <p:pic>
        <p:nvPicPr>
          <p:cNvPr id="8" name="icon-bell" descr="C:\Users\Akhilesh\AppData\Local\Temp\claude\C--Users-Akhilesh-Desktop-Claude-code-Happiest-Health\47a587f0-c947-456b-8324-0bf75adb31d4\scratchpad\deck\img\icons\bell.png">    </p:cNvPr>
          <p:cNvPicPr>
            <a:picLocks noChangeAspect="1"/>
          </p:cNvPicPr>
          <p:nvPr/>
        </p:nvPicPr>
        <p:blipFill>
          <a:blip r:embed="rId2"/>
          <a:stretch>
            <a:fillRect/>
          </a:stretch>
        </p:blipFill>
        <p:spPr>
          <a:xfrm>
            <a:off x="9401861" y="1858061"/>
            <a:ext cx="307238" cy="307238"/>
          </a:xfrm>
          <a:prstGeom prst="rect">
            <a:avLst/>
          </a:prstGeom>
        </p:spPr>
      </p:pic>
      <p:sp>
        <p:nvSpPr>
          <p:cNvPr id="9" name="Text 5"/>
          <p:cNvSpPr txBox="1"/>
          <p:nvPr/>
        </p:nvSpPr>
        <p:spPr>
          <a:xfrm>
            <a:off x="9966960" y="1691640"/>
            <a:ext cx="1554480" cy="731520"/>
          </a:xfrm>
          <a:prstGeom prst="rect">
            <a:avLst/>
          </a:prstGeom>
          <a:noFill/>
          <a:ln/>
        </p:spPr>
        <p:txBody>
          <a:bodyPr wrap="square" lIns="0" tIns="0" rIns="0" bIns="0" rtlCol="0" anchor="t"/>
          <a:lstStyle/>
          <a:p>
            <a:pPr indent="0" marL="0">
              <a:buNone/>
            </a:pPr>
            <a:r>
              <a:rPr lang="en-US" sz="2400" b="1" dirty="0">
                <a:solidFill>
                  <a:schemeClr val="accent3"/>
                </a:solidFill>
              </a:rPr>
              <a:t>08:25</a:t>
            </a:r>
            <a:endParaRPr lang="en-US" sz="1200" dirty="0"/>
          </a:p>
          <a:p>
            <a:pPr indent="0" marL="0">
              <a:buNone/>
            </a:pPr>
            <a:r>
              <a:rPr lang="en-US" sz="1200" dirty="0">
                <a:solidFill>
                  <a:schemeClr val="tx1"/>
                </a:solidFill>
              </a:rPr>
              <a:t>Hypo alert at 70% risk</a:t>
            </a:r>
            <a:endParaRPr lang="en-US" sz="1200" dirty="0"/>
          </a:p>
        </p:txBody>
      </p:sp>
      <p:sp>
        <p:nvSpPr>
          <p:cNvPr id="10" name="Shape 6"/>
          <p:cNvSpPr/>
          <p:nvPr/>
        </p:nvSpPr>
        <p:spPr>
          <a:xfrm>
            <a:off x="9555480" y="2331720"/>
            <a:ext cx="0" cy="2148840"/>
          </a:xfrm>
          <a:prstGeom prst="line">
            <a:avLst/>
          </a:prstGeom>
          <a:noFill/>
          <a:ln w="25400">
            <a:solidFill>
              <a:srgbClr val="2A78D6"/>
            </a:solidFill>
            <a:prstDash val="dash"/>
          </a:ln>
        </p:spPr>
      </p:sp>
      <p:sp>
        <p:nvSpPr>
          <p:cNvPr id="11" name="pill"/>
          <p:cNvSpPr/>
          <p:nvPr/>
        </p:nvSpPr>
        <p:spPr>
          <a:xfrm>
            <a:off x="9692640" y="3200400"/>
            <a:ext cx="1691640" cy="365760"/>
          </a:xfrm>
          <a:prstGeom prst="roundRect">
            <a:avLst>
              <a:gd name="adj" fmla="val 50000"/>
            </a:avLst>
          </a:prstGeom>
          <a:solidFill>
            <a:srgbClr val="DCE9F8"/>
          </a:solidFill>
          <a:ln/>
        </p:spPr>
      </p:sp>
      <p:sp>
        <p:nvSpPr>
          <p:cNvPr id="12" name="Text 8"/>
          <p:cNvSpPr txBox="1"/>
          <p:nvPr/>
        </p:nvSpPr>
        <p:spPr>
          <a:xfrm>
            <a:off x="9692640" y="3200400"/>
            <a:ext cx="1691640" cy="365760"/>
          </a:xfrm>
          <a:prstGeom prst="rect">
            <a:avLst/>
          </a:prstGeom>
          <a:noFill/>
          <a:ln/>
        </p:spPr>
        <p:txBody>
          <a:bodyPr wrap="square" lIns="0" tIns="0" rIns="0" bIns="0" rtlCol="0" anchor="ctr"/>
          <a:lstStyle/>
          <a:p>
            <a:pPr algn="ctr" indent="0" marL="0">
              <a:buNone/>
            </a:pPr>
            <a:r>
              <a:rPr lang="en-US" sz="1200" b="1" dirty="0">
                <a:solidFill>
                  <a:schemeClr val="accent3"/>
                </a:solidFill>
              </a:rPr>
              <a:t>75 min warning</a:t>
            </a:r>
            <a:endParaRPr lang="en-US" sz="1200" dirty="0"/>
          </a:p>
        </p:txBody>
      </p:sp>
      <p:sp>
        <p:nvSpPr>
          <p:cNvPr id="13" name="Text 9"/>
          <p:cNvSpPr txBox="1"/>
          <p:nvPr/>
        </p:nvSpPr>
        <p:spPr>
          <a:xfrm>
            <a:off x="9692640" y="3657600"/>
            <a:ext cx="1783080" cy="777240"/>
          </a:xfrm>
          <a:prstGeom prst="rect">
            <a:avLst/>
          </a:prstGeom>
          <a:noFill/>
          <a:ln/>
        </p:spPr>
        <p:txBody>
          <a:bodyPr wrap="square" lIns="0" tIns="0" rIns="0" bIns="0" rtlCol="0" anchor="t"/>
          <a:lstStyle/>
          <a:p>
            <a:pPr indent="0" marL="0">
              <a:buNone/>
            </a:pPr>
            <a:r>
              <a:rPr lang="en-US" sz="1100" b="1" dirty="0">
                <a:solidFill>
                  <a:schemeClr val="accent6"/>
                </a:solidFill>
              </a:rPr>
              <a:t>Why: </a:t>
            </a:r>
            <a:pPr indent="0" marL="0">
              <a:buNone/>
            </a:pPr>
            <a:r>
              <a:rPr lang="en-US" sz="1100" dirty="0">
                <a:solidFill>
                  <a:schemeClr val="accent6"/>
                </a:solidFill>
              </a:rPr>
              <a:t>sulfonylurea dose; glucose falling 0.9 mg/dL per minute</a:t>
            </a:r>
            <a:endParaRPr lang="en-US" sz="1100" dirty="0"/>
          </a:p>
        </p:txBody>
      </p:sp>
      <p:sp>
        <p:nvSpPr>
          <p:cNvPr id="14" name="icon-dot"/>
          <p:cNvSpPr/>
          <p:nvPr/>
        </p:nvSpPr>
        <p:spPr>
          <a:xfrm>
            <a:off x="9281160" y="4526280"/>
            <a:ext cx="548640" cy="548640"/>
          </a:xfrm>
          <a:prstGeom prst="ellipse">
            <a:avLst/>
          </a:prstGeom>
          <a:solidFill>
            <a:schemeClr val="accent2"/>
          </a:solidFill>
          <a:ln/>
        </p:spPr>
      </p:sp>
      <p:pic>
        <p:nvPicPr>
          <p:cNvPr id="15" name="icon-drop" descr="C:\Users\Akhilesh\AppData\Local\Temp\claude\C--Users-Akhilesh-Desktop-Claude-code-Happiest-Health\47a587f0-c947-456b-8324-0bf75adb31d4\scratchpad\deck\img\icons\drop.png">    </p:cNvPr>
          <p:cNvPicPr>
            <a:picLocks noChangeAspect="1"/>
          </p:cNvPicPr>
          <p:nvPr/>
        </p:nvPicPr>
        <p:blipFill>
          <a:blip r:embed="rId3"/>
          <a:stretch>
            <a:fillRect/>
          </a:stretch>
        </p:blipFill>
        <p:spPr>
          <a:xfrm>
            <a:off x="9401861" y="4646981"/>
            <a:ext cx="307238" cy="307238"/>
          </a:xfrm>
          <a:prstGeom prst="rect">
            <a:avLst/>
          </a:prstGeom>
        </p:spPr>
      </p:pic>
      <p:sp>
        <p:nvSpPr>
          <p:cNvPr id="16" name="Text 11"/>
          <p:cNvSpPr txBox="1"/>
          <p:nvPr/>
        </p:nvSpPr>
        <p:spPr>
          <a:xfrm>
            <a:off x="9966960" y="4480560"/>
            <a:ext cx="1554480" cy="731520"/>
          </a:xfrm>
          <a:prstGeom prst="rect">
            <a:avLst/>
          </a:prstGeom>
          <a:noFill/>
          <a:ln/>
        </p:spPr>
        <p:txBody>
          <a:bodyPr wrap="square" lIns="0" tIns="0" rIns="0" bIns="0" rtlCol="0" anchor="t"/>
          <a:lstStyle/>
          <a:p>
            <a:pPr indent="0" marL="0">
              <a:buNone/>
            </a:pPr>
            <a:r>
              <a:rPr lang="en-US" sz="2400" b="1" dirty="0">
                <a:solidFill>
                  <a:schemeClr val="accent2"/>
                </a:solidFill>
              </a:rPr>
              <a:t>09:40</a:t>
            </a:r>
            <a:endParaRPr lang="en-US" sz="1200" dirty="0"/>
          </a:p>
          <a:p>
            <a:pPr indent="0" marL="0">
              <a:buNone/>
            </a:pPr>
            <a:r>
              <a:rPr lang="en-US" sz="1200" dirty="0">
                <a:solidFill>
                  <a:schemeClr val="tx1"/>
                </a:solidFill>
              </a:rPr>
              <a:t>Glucose falls below 70</a:t>
            </a:r>
            <a:endParaRPr lang="en-US" sz="1200" dirty="0"/>
          </a:p>
        </p:txBody>
      </p:sp>
      <p:sp>
        <p:nvSpPr>
          <p:cNvPr id="17" name="Text 12"/>
          <p:cNvSpPr txBox="1"/>
          <p:nvPr/>
        </p:nvSpPr>
        <p:spPr>
          <a:xfrm>
            <a:off x="9281160" y="5349240"/>
            <a:ext cx="2148840" cy="548640"/>
          </a:xfrm>
          <a:prstGeom prst="rect">
            <a:avLst/>
          </a:prstGeom>
          <a:noFill/>
          <a:ln/>
        </p:spPr>
        <p:txBody>
          <a:bodyPr wrap="square" lIns="0" tIns="0" rIns="0" bIns="0" rtlCol="0" anchor="t"/>
          <a:lstStyle/>
          <a:p>
            <a:pPr indent="0" marL="0">
              <a:buNone/>
            </a:pPr>
            <a:r>
              <a:rPr lang="en-US" sz="1000" dirty="0">
                <a:solidFill>
                  <a:schemeClr val="accent6"/>
                </a:solidFill>
              </a:rPr>
              <a:t>Synthetic patient P0014. The model sees only data up to the moving line.</a:t>
            </a:r>
            <a:endParaRPr lang="en-US" sz="1000" dirty="0"/>
          </a:p>
        </p:txBody>
      </p:sp>
      <p:sp>
        <p:nvSpPr>
          <p:cNvPr id="25" name="Slide Number Placeholder 0"/>
          <p:cNvSpPr>
            <a:spLocks noGrp="1"/>
          </p:cNvSpPr>
          <p:nvPr>
            <p:ph type="sldNum" sz="quarter" idx="4294967295"/>
          </p:nvPr>
        </p:nvSpPr>
        <p:spPr>
          <a:xfrm>
            <a:off x="11140135"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94360" y="292608"/>
            <a:ext cx="8229600" cy="256032"/>
          </a:xfrm>
          <a:prstGeom prst="rect">
            <a:avLst/>
          </a:prstGeom>
          <a:noFill/>
          <a:ln/>
        </p:spPr>
        <p:txBody>
          <a:bodyPr wrap="square" lIns="0" tIns="0" rIns="0" bIns="0" rtlCol="0" anchor="t"/>
          <a:lstStyle/>
          <a:p>
            <a:pPr indent="0" marL="0">
              <a:buNone/>
            </a:pPr>
            <a:r>
              <a:rPr lang="en-US" sz="1100" b="1" spc="300" kern="0" dirty="0">
                <a:solidFill>
                  <a:schemeClr val="accent1"/>
                </a:solidFill>
              </a:rPr>
              <a:t>09 · EXPLANATIONS</a:t>
            </a:r>
            <a:endParaRPr lang="en-US" sz="1100" dirty="0"/>
          </a:p>
        </p:txBody>
      </p:sp>
      <p:sp>
        <p:nvSpPr>
          <p:cNvPr id="3" name="Text 0"/>
          <p:cNvSpPr/>
          <p:nvPr>
            <p:ph idx="100" type="title" hasCustomPrompt="1"/>
          </p:nvPr>
        </p:nvSpPr>
        <p:spPr>
          <a:xfrm>
            <a:off x="594360" y="566928"/>
            <a:ext cx="11002975" cy="658368"/>
          </a:xfrm>
          <a:prstGeom prst="rect">
            <a:avLst/>
          </a:prstGeom>
          <a:noFill/>
          <a:ln/>
        </p:spPr>
        <p:txBody>
          <a:bodyPr wrap="square" lIns="0" tIns="0" rIns="0" bIns="0" rtlCol="0" anchor="ctr"/>
          <a:lstStyle/>
          <a:p>
            <a:pPr algn="l" indent="0" marL="0">
              <a:buNone/>
            </a:pPr>
            <a:r>
              <a:rPr lang="en-US" sz="3000" b="1" dirty="0">
                <a:solidFill>
                  <a:schemeClr val="tx2"/>
                </a:solidFill>
                <a:latin typeface="Georgia" pitchFamily="34" charset="0"/>
                <a:ea typeface="Georgia" pitchFamily="34" charset="-122"/>
                <a:cs typeface="Georgia" pitchFamily="34" charset="-120"/>
              </a:rPr>
              <a:t>Every alert explains itself</a:t>
            </a:r>
            <a:endParaRPr lang="en-US" sz="3000" dirty="0"/>
          </a:p>
        </p:txBody>
      </p:sp>
      <p:sp>
        <p:nvSpPr>
          <p:cNvPr id="4" name="card"/>
          <p:cNvSpPr/>
          <p:nvPr/>
        </p:nvSpPr>
        <p:spPr>
          <a:xfrm>
            <a:off x="594360" y="1463040"/>
            <a:ext cx="7223760" cy="3657600"/>
          </a:xfrm>
          <a:prstGeom prst="roundRect">
            <a:avLst>
              <a:gd name="adj" fmla="val 3500"/>
            </a:avLst>
          </a:prstGeom>
          <a:solidFill>
            <a:schemeClr val="bg1"/>
          </a:solidFill>
          <a:ln/>
          <a:effectLst>
            <a:outerShdw sx="100000" sy="100000" kx="0" ky="0" algn="bl" rotWithShape="0" blurRad="177800" dist="38100" dir="5400000">
              <a:srgbClr val="0B2F3F">
                <a:alpha val="10000"/>
              </a:srgbClr>
            </a:outerShdw>
          </a:effectLst>
        </p:spPr>
      </p:sp>
      <p:pic>
        <p:nvPicPr>
          <p:cNvPr id="5" name="drivers" descr="C:\Users\Akhilesh\AppData\Local\Temp\claude\C--Users-Akhilesh-Desktop-Claude-code-Happiest-Health\47a587f0-c947-456b-8324-0bf75adb31d4\scratchpad\deck\img\drivers.png">    </p:cNvPr>
          <p:cNvPicPr>
            <a:picLocks noChangeAspect="1"/>
          </p:cNvPicPr>
          <p:nvPr/>
        </p:nvPicPr>
        <p:blipFill>
          <a:blip r:embed="rId1"/>
          <a:stretch>
            <a:fillRect/>
          </a:stretch>
        </p:blipFill>
        <p:spPr>
          <a:xfrm>
            <a:off x="722376" y="1591056"/>
            <a:ext cx="6967728" cy="3401568"/>
          </a:xfrm>
          <a:prstGeom prst="rect">
            <a:avLst/>
          </a:prstGeom>
        </p:spPr>
      </p:pic>
      <p:sp>
        <p:nvSpPr>
          <p:cNvPr id="6" name="Text 3"/>
          <p:cNvSpPr txBox="1"/>
          <p:nvPr/>
        </p:nvSpPr>
        <p:spPr>
          <a:xfrm>
            <a:off x="594360" y="5303520"/>
            <a:ext cx="7223760" cy="548640"/>
          </a:xfrm>
          <a:prstGeom prst="rect">
            <a:avLst/>
          </a:prstGeom>
          <a:noFill/>
          <a:ln/>
        </p:spPr>
        <p:txBody>
          <a:bodyPr wrap="square" lIns="0" tIns="0" rIns="0" bIns="0" rtlCol="0" anchor="t"/>
          <a:lstStyle/>
          <a:p>
            <a:pPr indent="0" marL="0">
              <a:buNone/>
            </a:pPr>
            <a:r>
              <a:rPr lang="en-US" sz="1200" dirty="0">
                <a:solidFill>
                  <a:schemeClr val="accent6"/>
                </a:solidFill>
              </a:rPr>
              <a:t>Hypoglycaemia risk 95% for synthetic patient P0014: current glucose, the sulfonylurea dose and the time of day push it up.</a:t>
            </a:r>
            <a:endParaRPr lang="en-US" sz="1200" dirty="0"/>
          </a:p>
        </p:txBody>
      </p:sp>
      <p:sp>
        <p:nvSpPr>
          <p:cNvPr id="7" name="card"/>
          <p:cNvSpPr/>
          <p:nvPr/>
        </p:nvSpPr>
        <p:spPr>
          <a:xfrm>
            <a:off x="8092440" y="1463040"/>
            <a:ext cx="3502152" cy="4526280"/>
          </a:xfrm>
          <a:prstGeom prst="roundRect">
            <a:avLst>
              <a:gd name="adj" fmla="val 3655"/>
            </a:avLst>
          </a:prstGeom>
          <a:solidFill>
            <a:schemeClr val="bg1"/>
          </a:solidFill>
          <a:ln/>
          <a:effectLst>
            <a:outerShdw sx="100000" sy="100000" kx="0" ky="0" algn="bl" rotWithShape="0" blurRad="177800" dist="38100" dir="5400000">
              <a:srgbClr val="0B2F3F">
                <a:alpha val="10000"/>
              </a:srgbClr>
            </a:outerShdw>
          </a:effectLst>
        </p:spPr>
      </p:sp>
      <p:sp>
        <p:nvSpPr>
          <p:cNvPr id="8" name="Text 5"/>
          <p:cNvSpPr txBox="1"/>
          <p:nvPr/>
        </p:nvSpPr>
        <p:spPr>
          <a:xfrm>
            <a:off x="8412480" y="1691640"/>
            <a:ext cx="2926080" cy="384048"/>
          </a:xfrm>
          <a:prstGeom prst="rect">
            <a:avLst/>
          </a:prstGeom>
          <a:noFill/>
          <a:ln/>
        </p:spPr>
        <p:txBody>
          <a:bodyPr wrap="square" lIns="0" tIns="0" rIns="0" bIns="0" rtlCol="0" anchor="t"/>
          <a:lstStyle/>
          <a:p>
            <a:pPr indent="0" marL="0">
              <a:buNone/>
            </a:pPr>
            <a:r>
              <a:rPr lang="en-US" sz="1800" b="1" dirty="0">
                <a:solidFill>
                  <a:schemeClr val="tx2"/>
                </a:solidFill>
                <a:latin typeface="Georgia" pitchFamily="34" charset="0"/>
                <a:ea typeface="Georgia" pitchFamily="34" charset="-122"/>
                <a:cs typeface="Georgia" pitchFamily="34" charset="-120"/>
              </a:rPr>
              <a:t>TreeSHAP drivers</a:t>
            </a:r>
            <a:endParaRPr lang="en-US" sz="1800" dirty="0"/>
          </a:p>
        </p:txBody>
      </p:sp>
      <p:sp>
        <p:nvSpPr>
          <p:cNvPr id="9" name="icon-dot"/>
          <p:cNvSpPr/>
          <p:nvPr/>
        </p:nvSpPr>
        <p:spPr>
          <a:xfrm>
            <a:off x="8412480" y="2286000"/>
            <a:ext cx="438912" cy="438912"/>
          </a:xfrm>
          <a:prstGeom prst="ellipse">
            <a:avLst/>
          </a:prstGeom>
          <a:solidFill>
            <a:schemeClr val="accent1"/>
          </a:solidFill>
          <a:ln/>
        </p:spPr>
      </p:sp>
      <p:pic>
        <p:nvPicPr>
          <p:cNvPr id="10" name="icon-target" descr="C:\Users\Akhilesh\AppData\Local\Temp\claude\C--Users-Akhilesh-Desktop-Claude-code-Happiest-Health\47a587f0-c947-456b-8324-0bf75adb31d4\scratchpad\deck\img\icons\target.png">    </p:cNvPr>
          <p:cNvPicPr>
            <a:picLocks noChangeAspect="1"/>
          </p:cNvPicPr>
          <p:nvPr/>
        </p:nvPicPr>
        <p:blipFill>
          <a:blip r:embed="rId2"/>
          <a:stretch>
            <a:fillRect/>
          </a:stretch>
        </p:blipFill>
        <p:spPr>
          <a:xfrm>
            <a:off x="8509041" y="2382561"/>
            <a:ext cx="245791" cy="245791"/>
          </a:xfrm>
          <a:prstGeom prst="rect">
            <a:avLst/>
          </a:prstGeom>
        </p:spPr>
      </p:pic>
      <p:sp>
        <p:nvSpPr>
          <p:cNvPr id="11" name="Text 7"/>
          <p:cNvSpPr txBox="1"/>
          <p:nvPr/>
        </p:nvSpPr>
        <p:spPr>
          <a:xfrm>
            <a:off x="9006840" y="2240280"/>
            <a:ext cx="2377440" cy="685800"/>
          </a:xfrm>
          <a:prstGeom prst="rect">
            <a:avLst/>
          </a:prstGeom>
          <a:noFill/>
          <a:ln/>
        </p:spPr>
        <p:txBody>
          <a:bodyPr wrap="square" lIns="0" tIns="0" rIns="0" bIns="0" rtlCol="0" anchor="ctr"/>
          <a:lstStyle/>
          <a:p>
            <a:pPr indent="0" marL="0">
              <a:buNone/>
            </a:pPr>
            <a:r>
              <a:rPr lang="en-US" sz="1200" dirty="0">
                <a:solidFill>
                  <a:schemeClr val="tx1"/>
                </a:solidFill>
              </a:rPr>
              <a:t>Exact contribution of each input, for this patient at this moment</a:t>
            </a:r>
            <a:endParaRPr lang="en-US" sz="1200" dirty="0"/>
          </a:p>
        </p:txBody>
      </p:sp>
      <p:sp>
        <p:nvSpPr>
          <p:cNvPr id="12" name="icon-dot"/>
          <p:cNvSpPr/>
          <p:nvPr/>
        </p:nvSpPr>
        <p:spPr>
          <a:xfrm>
            <a:off x="8412480" y="3154680"/>
            <a:ext cx="438912" cy="438912"/>
          </a:xfrm>
          <a:prstGeom prst="ellipse">
            <a:avLst/>
          </a:prstGeom>
          <a:solidFill>
            <a:schemeClr val="accent1"/>
          </a:solidFill>
          <a:ln/>
        </p:spPr>
      </p:sp>
      <p:pic>
        <p:nvPicPr>
          <p:cNvPr id="13" name="icon-layers" descr="C:\Users\Akhilesh\AppData\Local\Temp\claude\C--Users-Akhilesh-Desktop-Claude-code-Happiest-Health\47a587f0-c947-456b-8324-0bf75adb31d4\scratchpad\deck\img\icons\layers.png">    </p:cNvPr>
          <p:cNvPicPr>
            <a:picLocks noChangeAspect="1"/>
          </p:cNvPicPr>
          <p:nvPr/>
        </p:nvPicPr>
        <p:blipFill>
          <a:blip r:embed="rId3"/>
          <a:stretch>
            <a:fillRect/>
          </a:stretch>
        </p:blipFill>
        <p:spPr>
          <a:xfrm>
            <a:off x="8509041" y="3251241"/>
            <a:ext cx="245791" cy="245791"/>
          </a:xfrm>
          <a:prstGeom prst="rect">
            <a:avLst/>
          </a:prstGeom>
        </p:spPr>
      </p:pic>
      <p:sp>
        <p:nvSpPr>
          <p:cNvPr id="14" name="Text 9"/>
          <p:cNvSpPr txBox="1"/>
          <p:nvPr/>
        </p:nvSpPr>
        <p:spPr>
          <a:xfrm>
            <a:off x="9006840" y="3108960"/>
            <a:ext cx="2377440" cy="685800"/>
          </a:xfrm>
          <a:prstGeom prst="rect">
            <a:avLst/>
          </a:prstGeom>
          <a:noFill/>
          <a:ln/>
        </p:spPr>
        <p:txBody>
          <a:bodyPr wrap="square" lIns="0" tIns="0" rIns="0" bIns="0" rtlCol="0" anchor="ctr"/>
          <a:lstStyle/>
          <a:p>
            <a:pPr indent="0" marL="0">
              <a:buNone/>
            </a:pPr>
            <a:r>
              <a:rPr lang="en-US" sz="1200" dirty="0">
                <a:solidFill>
                  <a:schemeClr val="tx1"/>
                </a:solidFill>
              </a:rPr>
              <a:t>Grouped by data stream: CGM, time, activity and sleep, EHR</a:t>
            </a:r>
            <a:endParaRPr lang="en-US" sz="1200" dirty="0"/>
          </a:p>
        </p:txBody>
      </p:sp>
      <p:sp>
        <p:nvSpPr>
          <p:cNvPr id="15" name="icon-dot"/>
          <p:cNvSpPr/>
          <p:nvPr/>
        </p:nvSpPr>
        <p:spPr>
          <a:xfrm>
            <a:off x="8412480" y="4023360"/>
            <a:ext cx="438912" cy="438912"/>
          </a:xfrm>
          <a:prstGeom prst="ellipse">
            <a:avLst/>
          </a:prstGeom>
          <a:solidFill>
            <a:schemeClr val="accent1"/>
          </a:solidFill>
          <a:ln/>
        </p:spPr>
      </p:sp>
      <p:pic>
        <p:nvPicPr>
          <p:cNvPr id="16" name="icon-message" descr="C:\Users\Akhilesh\AppData\Local\Temp\claude\C--Users-Akhilesh-Desktop-Claude-code-Happiest-Health\47a587f0-c947-456b-8324-0bf75adb31d4\scratchpad\deck\img\icons\message.png">    </p:cNvPr>
          <p:cNvPicPr>
            <a:picLocks noChangeAspect="1"/>
          </p:cNvPicPr>
          <p:nvPr/>
        </p:nvPicPr>
        <p:blipFill>
          <a:blip r:embed="rId4"/>
          <a:stretch>
            <a:fillRect/>
          </a:stretch>
        </p:blipFill>
        <p:spPr>
          <a:xfrm>
            <a:off x="8509041" y="4119921"/>
            <a:ext cx="245791" cy="245791"/>
          </a:xfrm>
          <a:prstGeom prst="rect">
            <a:avLst/>
          </a:prstGeom>
        </p:spPr>
      </p:pic>
      <p:sp>
        <p:nvSpPr>
          <p:cNvPr id="17" name="Text 11"/>
          <p:cNvSpPr txBox="1"/>
          <p:nvPr/>
        </p:nvSpPr>
        <p:spPr>
          <a:xfrm>
            <a:off x="9006840" y="3977640"/>
            <a:ext cx="2377440" cy="685800"/>
          </a:xfrm>
          <a:prstGeom prst="rect">
            <a:avLst/>
          </a:prstGeom>
          <a:noFill/>
          <a:ln/>
        </p:spPr>
        <p:txBody>
          <a:bodyPr wrap="square" lIns="0" tIns="0" rIns="0" bIns="0" rtlCol="0" anchor="ctr"/>
          <a:lstStyle/>
          <a:p>
            <a:pPr indent="0" marL="0">
              <a:buNone/>
            </a:pPr>
            <a:r>
              <a:rPr lang="en-US" sz="1200" dirty="0">
                <a:solidFill>
                  <a:schemeClr val="tx1"/>
                </a:solidFill>
              </a:rPr>
              <a:t>Written as plain sentences for the clinician</a:t>
            </a:r>
            <a:endParaRPr lang="en-US" sz="1200" dirty="0"/>
          </a:p>
        </p:txBody>
      </p:sp>
      <p:sp>
        <p:nvSpPr>
          <p:cNvPr id="18" name="icon-dot"/>
          <p:cNvSpPr/>
          <p:nvPr/>
        </p:nvSpPr>
        <p:spPr>
          <a:xfrm>
            <a:off x="8412480" y="4892040"/>
            <a:ext cx="438912" cy="438912"/>
          </a:xfrm>
          <a:prstGeom prst="ellipse">
            <a:avLst/>
          </a:prstGeom>
          <a:solidFill>
            <a:schemeClr val="accent2"/>
          </a:solidFill>
          <a:ln/>
        </p:spPr>
      </p:sp>
      <p:pic>
        <p:nvPicPr>
          <p:cNvPr id="19" name="icon-alert" descr="C:\Users\Akhilesh\AppData\Local\Temp\claude\C--Users-Akhilesh-Desktop-Claude-code-Happiest-Health\47a587f0-c947-456b-8324-0bf75adb31d4\scratchpad\deck\img\icons\alert.png">    </p:cNvPr>
          <p:cNvPicPr>
            <a:picLocks noChangeAspect="1"/>
          </p:cNvPicPr>
          <p:nvPr/>
        </p:nvPicPr>
        <p:blipFill>
          <a:blip r:embed="rId5"/>
          <a:stretch>
            <a:fillRect/>
          </a:stretch>
        </p:blipFill>
        <p:spPr>
          <a:xfrm>
            <a:off x="8509041" y="4988601"/>
            <a:ext cx="245791" cy="245791"/>
          </a:xfrm>
          <a:prstGeom prst="rect">
            <a:avLst/>
          </a:prstGeom>
        </p:spPr>
      </p:pic>
      <p:sp>
        <p:nvSpPr>
          <p:cNvPr id="20" name="Text 13"/>
          <p:cNvSpPr txBox="1"/>
          <p:nvPr/>
        </p:nvSpPr>
        <p:spPr>
          <a:xfrm>
            <a:off x="9006840" y="4846320"/>
            <a:ext cx="2377440" cy="685800"/>
          </a:xfrm>
          <a:prstGeom prst="rect">
            <a:avLst/>
          </a:prstGeom>
          <a:noFill/>
          <a:ln/>
        </p:spPr>
        <p:txBody>
          <a:bodyPr wrap="square" lIns="0" tIns="0" rIns="0" bIns="0" rtlCol="0" anchor="ctr"/>
          <a:lstStyle/>
          <a:p>
            <a:pPr indent="0" marL="0">
              <a:buNone/>
            </a:pPr>
            <a:r>
              <a:rPr lang="en-US" sz="1200" dirty="0">
                <a:solidFill>
                  <a:schemeClr val="tx1"/>
                </a:solidFill>
              </a:rPr>
              <a:t>They explain the model, not the physiology, and the dashboard says so</a:t>
            </a:r>
            <a:endParaRPr lang="en-US" sz="1200" dirty="0"/>
          </a:p>
        </p:txBody>
      </p:sp>
      <p:sp>
        <p:nvSpPr>
          <p:cNvPr id="25" name="Slide Number Placeholder 0"/>
          <p:cNvSpPr>
            <a:spLocks noGrp="1"/>
          </p:cNvSpPr>
          <p:nvPr>
            <p:ph type="sldNum" sz="quarter" idx="4294967295"/>
          </p:nvPr>
        </p:nvSpPr>
        <p:spPr>
          <a:xfrm>
            <a:off x="11140135"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94360" y="292608"/>
            <a:ext cx="8229600" cy="256032"/>
          </a:xfrm>
          <a:prstGeom prst="rect">
            <a:avLst/>
          </a:prstGeom>
          <a:noFill/>
          <a:ln/>
        </p:spPr>
        <p:txBody>
          <a:bodyPr wrap="square" lIns="0" tIns="0" rIns="0" bIns="0" rtlCol="0" anchor="t"/>
          <a:lstStyle/>
          <a:p>
            <a:pPr indent="0" marL="0">
              <a:buNone/>
            </a:pPr>
            <a:r>
              <a:rPr lang="en-US" sz="1100" b="1" spc="300" kern="0" dirty="0">
                <a:solidFill>
                  <a:schemeClr val="accent1"/>
                </a:solidFill>
              </a:rPr>
              <a:t>10 · THE PERSONALISED TWIN</a:t>
            </a:r>
            <a:endParaRPr lang="en-US" sz="1100" dirty="0"/>
          </a:p>
        </p:txBody>
      </p:sp>
      <p:sp>
        <p:nvSpPr>
          <p:cNvPr id="3" name="Text 0"/>
          <p:cNvSpPr/>
          <p:nvPr>
            <p:ph idx="100" type="title" hasCustomPrompt="1"/>
          </p:nvPr>
        </p:nvSpPr>
        <p:spPr>
          <a:xfrm>
            <a:off x="594360" y="566928"/>
            <a:ext cx="11002975" cy="658368"/>
          </a:xfrm>
          <a:prstGeom prst="rect">
            <a:avLst/>
          </a:prstGeom>
          <a:noFill/>
          <a:ln/>
        </p:spPr>
        <p:txBody>
          <a:bodyPr wrap="square" lIns="0" tIns="0" rIns="0" bIns="0" rtlCol="0" anchor="ctr"/>
          <a:lstStyle/>
          <a:p>
            <a:pPr algn="l" indent="0" marL="0">
              <a:buNone/>
            </a:pPr>
            <a:r>
              <a:rPr lang="en-US" sz="3000" b="1" dirty="0">
                <a:solidFill>
                  <a:schemeClr val="tx2"/>
                </a:solidFill>
                <a:latin typeface="Georgia" pitchFamily="34" charset="0"/>
                <a:ea typeface="Georgia" pitchFamily="34" charset="-122"/>
                <a:cs typeface="Georgia" pitchFamily="34" charset="-120"/>
              </a:rPr>
              <a:t>Ask the twin 'what if?'</a:t>
            </a:r>
            <a:endParaRPr lang="en-US" sz="3000" dirty="0"/>
          </a:p>
        </p:txBody>
      </p:sp>
      <p:sp>
        <p:nvSpPr>
          <p:cNvPr id="4" name="card"/>
          <p:cNvSpPr/>
          <p:nvPr/>
        </p:nvSpPr>
        <p:spPr>
          <a:xfrm>
            <a:off x="594360" y="1463040"/>
            <a:ext cx="7589520" cy="3246120"/>
          </a:xfrm>
          <a:prstGeom prst="roundRect">
            <a:avLst>
              <a:gd name="adj" fmla="val 3944"/>
            </a:avLst>
          </a:prstGeom>
          <a:solidFill>
            <a:schemeClr val="bg1"/>
          </a:solidFill>
          <a:ln/>
          <a:effectLst>
            <a:outerShdw sx="100000" sy="100000" kx="0" ky="0" algn="bl" rotWithShape="0" blurRad="177800" dist="38100" dir="5400000">
              <a:srgbClr val="0B2F3F">
                <a:alpha val="10000"/>
              </a:srgbClr>
            </a:outerShdw>
          </a:effectLst>
        </p:spPr>
      </p:sp>
      <p:pic>
        <p:nvPicPr>
          <p:cNvPr id="5" name="whatif" descr="C:\Users\Akhilesh\AppData\Local\Temp\claude\C--Users-Akhilesh-Desktop-Claude-code-Happiest-Health\47a587f0-c947-456b-8324-0bf75adb31d4\scratchpad\deck\img\whatif.png">    </p:cNvPr>
          <p:cNvPicPr>
            <a:picLocks noChangeAspect="1"/>
          </p:cNvPicPr>
          <p:nvPr/>
        </p:nvPicPr>
        <p:blipFill>
          <a:blip r:embed="rId1"/>
          <a:stretch>
            <a:fillRect/>
          </a:stretch>
        </p:blipFill>
        <p:spPr>
          <a:xfrm>
            <a:off x="722376" y="1591056"/>
            <a:ext cx="7333488" cy="2990088"/>
          </a:xfrm>
          <a:prstGeom prst="rect">
            <a:avLst/>
          </a:prstGeom>
        </p:spPr>
      </p:pic>
      <p:sp>
        <p:nvSpPr>
          <p:cNvPr id="6" name="Text 3"/>
          <p:cNvSpPr txBox="1"/>
          <p:nvPr/>
        </p:nvSpPr>
        <p:spPr>
          <a:xfrm>
            <a:off x="594360" y="4892040"/>
            <a:ext cx="7589520" cy="1051560"/>
          </a:xfrm>
          <a:prstGeom prst="rect">
            <a:avLst/>
          </a:prstGeom>
          <a:noFill/>
          <a:ln/>
        </p:spPr>
        <p:txBody>
          <a:bodyPr wrap="square" lIns="0" tIns="0" rIns="0" bIns="0" rtlCol="0" anchor="t"/>
          <a:lstStyle/>
          <a:p>
            <a:pPr indent="0" marL="0">
              <a:buNone/>
            </a:pPr>
            <a:r>
              <a:rPr lang="en-US" sz="1300" b="1" dirty="0">
                <a:solidFill>
                  <a:schemeClr val="tx1"/>
                </a:solidFill>
              </a:rPr>
              <a:t>How it works: </a:t>
            </a:r>
            <a:pPr indent="0" marL="0">
              <a:buNone/>
            </a:pPr>
            <a:r>
              <a:rPr lang="en-US" sz="1300" dirty="0">
                <a:solidFill>
                  <a:schemeClr val="tx1"/>
                </a:solidFill>
              </a:rPr>
              <a:t>four physiology parameters are fitted to the patient's first week (basal glucose, carb sensitivity, clearance, drug sensitivity); a state observer tracks the CGM up to now; scenarios are re-simulated with a calibrated band. Shown: an extra 8 U insulin dose pushes the projected low from 64 to 55 mg/dL.</a:t>
            </a:r>
            <a:endParaRPr lang="en-US" sz="1300" dirty="0"/>
          </a:p>
        </p:txBody>
      </p:sp>
      <p:sp>
        <p:nvSpPr>
          <p:cNvPr id="7" name="card"/>
          <p:cNvSpPr/>
          <p:nvPr/>
        </p:nvSpPr>
        <p:spPr>
          <a:xfrm>
            <a:off x="8458200" y="1463040"/>
            <a:ext cx="3136392" cy="2194560"/>
          </a:xfrm>
          <a:prstGeom prst="roundRect">
            <a:avLst>
              <a:gd name="adj" fmla="val 5833"/>
            </a:avLst>
          </a:prstGeom>
          <a:solidFill>
            <a:schemeClr val="bg1"/>
          </a:solidFill>
          <a:ln/>
          <a:effectLst>
            <a:outerShdw sx="100000" sy="100000" kx="0" ky="0" algn="bl" rotWithShape="0" blurRad="177800" dist="38100" dir="5400000">
              <a:srgbClr val="0B2F3F">
                <a:alpha val="10000"/>
              </a:srgbClr>
            </a:outerShdw>
          </a:effectLst>
        </p:spPr>
      </p:sp>
      <p:sp>
        <p:nvSpPr>
          <p:cNvPr id="8" name="icon-dot"/>
          <p:cNvSpPr/>
          <p:nvPr/>
        </p:nvSpPr>
        <p:spPr>
          <a:xfrm>
            <a:off x="8732520" y="1737360"/>
            <a:ext cx="502920" cy="502920"/>
          </a:xfrm>
          <a:prstGeom prst="ellipse">
            <a:avLst/>
          </a:prstGeom>
          <a:solidFill>
            <a:schemeClr val="accent1"/>
          </a:solidFill>
          <a:ln/>
        </p:spPr>
      </p:sp>
      <p:pic>
        <p:nvPicPr>
          <p:cNvPr id="9" name="icon-target" descr="C:\Users\Akhilesh\AppData\Local\Temp\claude\C--Users-Akhilesh-Desktop-Claude-code-Happiest-Health\47a587f0-c947-456b-8324-0bf75adb31d4\scratchpad\deck\img\icons\target.png">    </p:cNvPr>
          <p:cNvPicPr>
            <a:picLocks noChangeAspect="1"/>
          </p:cNvPicPr>
          <p:nvPr/>
        </p:nvPicPr>
        <p:blipFill>
          <a:blip r:embed="rId2"/>
          <a:stretch>
            <a:fillRect/>
          </a:stretch>
        </p:blipFill>
        <p:spPr>
          <a:xfrm>
            <a:off x="8843162" y="1848002"/>
            <a:ext cx="281635" cy="281635"/>
          </a:xfrm>
          <a:prstGeom prst="rect">
            <a:avLst/>
          </a:prstGeom>
        </p:spPr>
      </p:pic>
      <p:sp>
        <p:nvSpPr>
          <p:cNvPr id="10" name="Text 6"/>
          <p:cNvSpPr txBox="1"/>
          <p:nvPr/>
        </p:nvSpPr>
        <p:spPr>
          <a:xfrm>
            <a:off x="8732520" y="2286000"/>
            <a:ext cx="2743200" cy="640080"/>
          </a:xfrm>
          <a:prstGeom prst="rect">
            <a:avLst/>
          </a:prstGeom>
          <a:noFill/>
          <a:ln/>
        </p:spPr>
        <p:txBody>
          <a:bodyPr wrap="square" lIns="0" tIns="0" rIns="0" bIns="0" rtlCol="0" anchor="b"/>
          <a:lstStyle/>
          <a:p>
            <a:pPr indent="0" marL="0">
              <a:buNone/>
            </a:pPr>
            <a:r>
              <a:rPr lang="en-US" sz="3000" b="1" dirty="0">
                <a:solidFill>
                  <a:schemeClr val="accent1"/>
                </a:solidFill>
                <a:latin typeface="Georgia" pitchFamily="34" charset="0"/>
                <a:ea typeface="Georgia" pitchFamily="34" charset="-122"/>
                <a:cs typeface="Georgia" pitchFamily="34" charset="-120"/>
              </a:rPr>
              <a:t>5.9 vs 12.1</a:t>
            </a:r>
            <a:endParaRPr lang="en-US" sz="3000" dirty="0"/>
          </a:p>
        </p:txBody>
      </p:sp>
      <p:sp>
        <p:nvSpPr>
          <p:cNvPr id="11" name="Text 7"/>
          <p:cNvSpPr txBox="1"/>
          <p:nvPr/>
        </p:nvSpPr>
        <p:spPr>
          <a:xfrm>
            <a:off x="8732520" y="2971800"/>
            <a:ext cx="2651760" cy="594360"/>
          </a:xfrm>
          <a:prstGeom prst="rect">
            <a:avLst/>
          </a:prstGeom>
          <a:noFill/>
          <a:ln/>
        </p:spPr>
        <p:txBody>
          <a:bodyPr wrap="square" lIns="0" tIns="0" rIns="0" bIns="0" rtlCol="0" anchor="t"/>
          <a:lstStyle/>
          <a:p>
            <a:pPr indent="0" marL="0">
              <a:buNone/>
            </a:pPr>
            <a:r>
              <a:rPr lang="en-US" sz="1200" dirty="0">
                <a:solidFill>
                  <a:schemeClr val="accent6"/>
                </a:solidFill>
              </a:rPr>
              <a:t>mg/dL error on a held-out week: fitted twin vs EHR defaults</a:t>
            </a:r>
            <a:endParaRPr lang="en-US" sz="1200" dirty="0"/>
          </a:p>
        </p:txBody>
      </p:sp>
      <p:sp>
        <p:nvSpPr>
          <p:cNvPr id="12" name="card"/>
          <p:cNvSpPr/>
          <p:nvPr/>
        </p:nvSpPr>
        <p:spPr>
          <a:xfrm>
            <a:off x="8458200" y="3794760"/>
            <a:ext cx="3136392" cy="2194560"/>
          </a:xfrm>
          <a:prstGeom prst="roundRect">
            <a:avLst>
              <a:gd name="adj" fmla="val 5833"/>
            </a:avLst>
          </a:prstGeom>
          <a:solidFill>
            <a:schemeClr val="bg1"/>
          </a:solidFill>
          <a:ln/>
          <a:effectLst>
            <a:outerShdw sx="100000" sy="100000" kx="0" ky="0" algn="bl" rotWithShape="0" blurRad="177800" dist="38100" dir="5400000">
              <a:srgbClr val="0B2F3F">
                <a:alpha val="10000"/>
              </a:srgbClr>
            </a:outerShdw>
          </a:effectLst>
        </p:spPr>
      </p:sp>
      <p:sp>
        <p:nvSpPr>
          <p:cNvPr id="13" name="icon-dot"/>
          <p:cNvSpPr/>
          <p:nvPr/>
        </p:nvSpPr>
        <p:spPr>
          <a:xfrm>
            <a:off x="8732520" y="4069080"/>
            <a:ext cx="502920" cy="502920"/>
          </a:xfrm>
          <a:prstGeom prst="ellipse">
            <a:avLst/>
          </a:prstGeom>
          <a:solidFill>
            <a:schemeClr val="accent1"/>
          </a:solidFill>
          <a:ln/>
        </p:spPr>
      </p:sp>
      <p:pic>
        <p:nvPicPr>
          <p:cNvPr id="14" name="icon-gauge" descr="C:\Users\Akhilesh\AppData\Local\Temp\claude\C--Users-Akhilesh-Desktop-Claude-code-Happiest-Health\47a587f0-c947-456b-8324-0bf75adb31d4\scratchpad\deck\img\icons\gauge.png">    </p:cNvPr>
          <p:cNvPicPr>
            <a:picLocks noChangeAspect="1"/>
          </p:cNvPicPr>
          <p:nvPr/>
        </p:nvPicPr>
        <p:blipFill>
          <a:blip r:embed="rId3"/>
          <a:stretch>
            <a:fillRect/>
          </a:stretch>
        </p:blipFill>
        <p:spPr>
          <a:xfrm>
            <a:off x="8843162" y="4179722"/>
            <a:ext cx="281635" cy="281635"/>
          </a:xfrm>
          <a:prstGeom prst="rect">
            <a:avLst/>
          </a:prstGeom>
        </p:spPr>
      </p:pic>
      <p:sp>
        <p:nvSpPr>
          <p:cNvPr id="15" name="Text 10"/>
          <p:cNvSpPr txBox="1"/>
          <p:nvPr/>
        </p:nvSpPr>
        <p:spPr>
          <a:xfrm>
            <a:off x="8732520" y="4617720"/>
            <a:ext cx="2743200" cy="640080"/>
          </a:xfrm>
          <a:prstGeom prst="rect">
            <a:avLst/>
          </a:prstGeom>
          <a:noFill/>
          <a:ln/>
        </p:spPr>
        <p:txBody>
          <a:bodyPr wrap="square" lIns="0" tIns="0" rIns="0" bIns="0" rtlCol="0" anchor="b"/>
          <a:lstStyle/>
          <a:p>
            <a:pPr indent="0" marL="0">
              <a:buNone/>
            </a:pPr>
            <a:r>
              <a:rPr lang="en-US" sz="3000" b="1" dirty="0">
                <a:solidFill>
                  <a:schemeClr val="accent1"/>
                </a:solidFill>
                <a:latin typeface="Georgia" pitchFamily="34" charset="0"/>
                <a:ea typeface="Georgia" pitchFamily="34" charset="-122"/>
                <a:cs typeface="Georgia" pitchFamily="34" charset="-120"/>
              </a:rPr>
              <a:t>79%</a:t>
            </a:r>
            <a:endParaRPr lang="en-US" sz="3000" dirty="0"/>
          </a:p>
        </p:txBody>
      </p:sp>
      <p:sp>
        <p:nvSpPr>
          <p:cNvPr id="16" name="Text 11"/>
          <p:cNvSpPr txBox="1"/>
          <p:nvPr/>
        </p:nvSpPr>
        <p:spPr>
          <a:xfrm>
            <a:off x="8732520" y="5303520"/>
            <a:ext cx="2651760" cy="594360"/>
          </a:xfrm>
          <a:prstGeom prst="rect">
            <a:avLst/>
          </a:prstGeom>
          <a:noFill/>
          <a:ln/>
        </p:spPr>
        <p:txBody>
          <a:bodyPr wrap="square" lIns="0" tIns="0" rIns="0" bIns="0" rtlCol="0" anchor="t"/>
          <a:lstStyle/>
          <a:p>
            <a:pPr indent="0" marL="0">
              <a:buNone/>
            </a:pPr>
            <a:r>
              <a:rPr lang="en-US" sz="1200" dirty="0">
                <a:solidFill>
                  <a:schemeClr val="accent6"/>
                </a:solidFill>
              </a:rPr>
              <a:t>of readings inside the 80% band, on patients the band never saw</a:t>
            </a:r>
            <a:endParaRPr lang="en-US" sz="1200" dirty="0"/>
          </a:p>
        </p:txBody>
      </p:sp>
      <p:sp>
        <p:nvSpPr>
          <p:cNvPr id="25" name="Slide Number Placeholder 0"/>
          <p:cNvSpPr>
            <a:spLocks noGrp="1"/>
          </p:cNvSpPr>
          <p:nvPr>
            <p:ph type="sldNum" sz="quarter" idx="4294967295"/>
          </p:nvPr>
        </p:nvSpPr>
        <p:spPr>
          <a:xfrm>
            <a:off x="11140135"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85800" y="1234440"/>
            <a:ext cx="5486400" cy="274320"/>
          </a:xfrm>
          <a:prstGeom prst="rect">
            <a:avLst/>
          </a:prstGeom>
          <a:noFill/>
          <a:ln/>
        </p:spPr>
        <p:txBody>
          <a:bodyPr wrap="square" lIns="0" tIns="0" rIns="0" bIns="0" rtlCol="0" anchor="t"/>
          <a:lstStyle/>
          <a:p>
            <a:pPr indent="0" marL="0">
              <a:buNone/>
            </a:pPr>
            <a:r>
              <a:rPr lang="en-US" sz="1100" b="1" spc="300" kern="0" dirty="0">
                <a:solidFill>
                  <a:schemeClr val="accent4"/>
                </a:solidFill>
              </a:rPr>
              <a:t>PART TWO</a:t>
            </a:r>
            <a:endParaRPr lang="en-US" sz="1100" dirty="0"/>
          </a:p>
        </p:txBody>
      </p:sp>
      <p:sp>
        <p:nvSpPr>
          <p:cNvPr id="3" name="Text 0"/>
          <p:cNvSpPr/>
          <p:nvPr>
            <p:ph idx="101" type="title" hasCustomPrompt="1"/>
          </p:nvPr>
        </p:nvSpPr>
        <p:spPr>
          <a:xfrm>
            <a:off x="685800" y="1600200"/>
            <a:ext cx="10058400" cy="1097280"/>
          </a:xfrm>
          <a:prstGeom prst="rect">
            <a:avLst/>
          </a:prstGeom>
          <a:noFill/>
          <a:ln/>
        </p:spPr>
        <p:txBody>
          <a:bodyPr wrap="square" lIns="0" tIns="0" rIns="0" bIns="0" rtlCol="0" anchor="b"/>
          <a:lstStyle/>
          <a:p>
            <a:pPr algn="l" indent="0" marL="0">
              <a:buNone/>
            </a:pPr>
            <a:r>
              <a:rPr lang="en-US" sz="4000" b="1" dirty="0">
                <a:solidFill>
                  <a:schemeClr val="bg1"/>
                </a:solidFill>
                <a:latin typeface="Georgia" pitchFamily="34" charset="0"/>
                <a:ea typeface="Georgia" pitchFamily="34" charset="-122"/>
                <a:cs typeface="Georgia" pitchFamily="34" charset="-120"/>
              </a:rPr>
              <a:t>Then we tested it on real people</a:t>
            </a:r>
            <a:endParaRPr lang="en-US" sz="4000" dirty="0"/>
          </a:p>
        </p:txBody>
      </p:sp>
      <p:sp>
        <p:nvSpPr>
          <p:cNvPr id="4" name="Text 0"/>
          <p:cNvSpPr/>
          <p:nvPr>
            <p:ph idx="102" type="body" hasCustomPrompt="1"/>
          </p:nvPr>
        </p:nvSpPr>
        <p:spPr>
          <a:xfrm>
            <a:off x="685800" y="2834640"/>
            <a:ext cx="9144000" cy="822960"/>
          </a:xfrm>
          <a:prstGeom prst="rect">
            <a:avLst/>
          </a:prstGeom>
          <a:noFill/>
          <a:ln/>
        </p:spPr>
        <p:txBody>
          <a:bodyPr wrap="square" lIns="0" tIns="0" rIns="0" bIns="0" rtlCol="0" anchor="t"/>
          <a:lstStyle/>
          <a:p>
            <a:pPr algn="l" indent="0" marL="0">
              <a:buNone/>
            </a:pPr>
            <a:r>
              <a:rPr lang="en-US" sz="1800" dirty="0">
                <a:solidFill>
                  <a:schemeClr val="bg2"/>
                </a:solidFill>
              </a:rPr>
              <a:t>Two public datasets of real patients. Both stay outside the repository.</a:t>
            </a:r>
            <a:endParaRPr lang="en-US" sz="1800" dirty="0"/>
          </a:p>
        </p:txBody>
      </p:sp>
      <p:sp>
        <p:nvSpPr>
          <p:cNvPr id="5" name="chip"/>
          <p:cNvSpPr/>
          <p:nvPr/>
        </p:nvSpPr>
        <p:spPr>
          <a:xfrm>
            <a:off x="685800" y="3520440"/>
            <a:ext cx="4114800" cy="566928"/>
          </a:xfrm>
          <a:prstGeom prst="roundRect">
            <a:avLst>
              <a:gd name="adj" fmla="val 50000"/>
            </a:avLst>
          </a:prstGeom>
          <a:solidFill>
            <a:srgbClr val="FFFFFF">
              <a:alpha val="12000"/>
            </a:srgbClr>
          </a:solidFill>
          <a:ln w="12700">
            <a:solidFill>
              <a:srgbClr val="FFFFFF">
                <a:alpha val="30000"/>
              </a:srgbClr>
            </a:solidFill>
            <a:prstDash val="solid"/>
          </a:ln>
        </p:spPr>
      </p:sp>
      <p:sp>
        <p:nvSpPr>
          <p:cNvPr id="6" name="icon-dot"/>
          <p:cNvSpPr/>
          <p:nvPr/>
        </p:nvSpPr>
        <p:spPr>
          <a:xfrm>
            <a:off x="777240" y="3575304"/>
            <a:ext cx="457200" cy="457200"/>
          </a:xfrm>
          <a:prstGeom prst="ellipse">
            <a:avLst/>
          </a:prstGeom>
          <a:solidFill>
            <a:schemeClr val="accent1"/>
          </a:solidFill>
          <a:ln/>
        </p:spPr>
      </p:sp>
      <p:pic>
        <p:nvPicPr>
          <p:cNvPr id="7" name="icon-pin" descr="C:\Users\Akhilesh\AppData\Local\Temp\claude\C--Users-Akhilesh-Desktop-Claude-code-Happiest-Health\47a587f0-c947-456b-8324-0bf75adb31d4\scratchpad\deck\img\icons\pin.png">    </p:cNvPr>
          <p:cNvPicPr>
            <a:picLocks noChangeAspect="1"/>
          </p:cNvPicPr>
          <p:nvPr/>
        </p:nvPicPr>
        <p:blipFill>
          <a:blip r:embed="rId1"/>
          <a:stretch>
            <a:fillRect/>
          </a:stretch>
        </p:blipFill>
        <p:spPr>
          <a:xfrm>
            <a:off x="877824" y="3675888"/>
            <a:ext cx="256032" cy="256032"/>
          </a:xfrm>
          <a:prstGeom prst="rect">
            <a:avLst/>
          </a:prstGeom>
        </p:spPr>
      </p:pic>
      <p:sp>
        <p:nvSpPr>
          <p:cNvPr id="8" name="Text 5"/>
          <p:cNvSpPr txBox="1"/>
          <p:nvPr/>
        </p:nvSpPr>
        <p:spPr>
          <a:xfrm>
            <a:off x="1371600" y="3520440"/>
            <a:ext cx="3291840" cy="566928"/>
          </a:xfrm>
          <a:prstGeom prst="rect">
            <a:avLst/>
          </a:prstGeom>
          <a:noFill/>
          <a:ln/>
        </p:spPr>
        <p:txBody>
          <a:bodyPr wrap="square" lIns="0" tIns="0" rIns="0" bIns="0" rtlCol="0" anchor="ctr"/>
          <a:lstStyle/>
          <a:p>
            <a:pPr indent="0" marL="0">
              <a:buNone/>
            </a:pPr>
            <a:r>
              <a:rPr lang="en-US" sz="1400" b="1" dirty="0">
                <a:solidFill>
                  <a:schemeClr val="bg1"/>
                </a:solidFill>
              </a:rPr>
              <a:t>CGMacros  ·  14 US adults with T2D</a:t>
            </a:r>
            <a:endParaRPr lang="en-US" sz="1400" dirty="0"/>
          </a:p>
        </p:txBody>
      </p:sp>
      <p:sp>
        <p:nvSpPr>
          <p:cNvPr id="9" name="chip"/>
          <p:cNvSpPr/>
          <p:nvPr/>
        </p:nvSpPr>
        <p:spPr>
          <a:xfrm>
            <a:off x="4983480" y="3520440"/>
            <a:ext cx="6035040" cy="566928"/>
          </a:xfrm>
          <a:prstGeom prst="roundRect">
            <a:avLst>
              <a:gd name="adj" fmla="val 50000"/>
            </a:avLst>
          </a:prstGeom>
          <a:solidFill>
            <a:srgbClr val="FFFFFF">
              <a:alpha val="12000"/>
            </a:srgbClr>
          </a:solidFill>
          <a:ln w="12700">
            <a:solidFill>
              <a:srgbClr val="FFFFFF">
                <a:alpha val="30000"/>
              </a:srgbClr>
            </a:solidFill>
            <a:prstDash val="solid"/>
          </a:ln>
        </p:spPr>
      </p:sp>
      <p:sp>
        <p:nvSpPr>
          <p:cNvPr id="10" name="icon-dot"/>
          <p:cNvSpPr/>
          <p:nvPr/>
        </p:nvSpPr>
        <p:spPr>
          <a:xfrm>
            <a:off x="5074920" y="3575304"/>
            <a:ext cx="457200" cy="457200"/>
          </a:xfrm>
          <a:prstGeom prst="ellipse">
            <a:avLst/>
          </a:prstGeom>
          <a:solidFill>
            <a:schemeClr val="accent1"/>
          </a:solidFill>
          <a:ln/>
        </p:spPr>
      </p:sp>
      <p:pic>
        <p:nvPicPr>
          <p:cNvPr id="11" name="icon-link" descr="C:\Users\Akhilesh\AppData\Local\Temp\claude\C--Users-Akhilesh-Desktop-Claude-code-Happiest-Health\47a587f0-c947-456b-8324-0bf75adb31d4\scratchpad\deck\img\icons\link.png">    </p:cNvPr>
          <p:cNvPicPr>
            <a:picLocks noChangeAspect="1"/>
          </p:cNvPicPr>
          <p:nvPr/>
        </p:nvPicPr>
        <p:blipFill>
          <a:blip r:embed="rId2"/>
          <a:stretch>
            <a:fillRect/>
          </a:stretch>
        </p:blipFill>
        <p:spPr>
          <a:xfrm>
            <a:off x="5175504" y="3675888"/>
            <a:ext cx="256032" cy="256032"/>
          </a:xfrm>
          <a:prstGeom prst="rect">
            <a:avLst/>
          </a:prstGeom>
        </p:spPr>
      </p:pic>
      <p:sp>
        <p:nvSpPr>
          <p:cNvPr id="12" name="Text 8"/>
          <p:cNvSpPr txBox="1"/>
          <p:nvPr/>
        </p:nvSpPr>
        <p:spPr>
          <a:xfrm>
            <a:off x="5669280" y="3520440"/>
            <a:ext cx="5212080" cy="566928"/>
          </a:xfrm>
          <a:prstGeom prst="rect">
            <a:avLst/>
          </a:prstGeom>
          <a:noFill/>
          <a:ln/>
        </p:spPr>
        <p:txBody>
          <a:bodyPr wrap="square" lIns="0" tIns="0" rIns="0" bIns="0" rtlCol="0" anchor="ctr"/>
          <a:lstStyle/>
          <a:p>
            <a:pPr indent="0" marL="0">
              <a:buNone/>
            </a:pPr>
            <a:r>
              <a:rPr lang="en-US" sz="1400" b="1" dirty="0">
                <a:solidFill>
                  <a:schemeClr val="bg1"/>
                </a:solidFill>
              </a:rPr>
              <a:t>ShanghaiT2DM  ·  100 patients, CGM + their own records</a:t>
            </a:r>
            <a:endParaRPr lang="en-US" sz="14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94360" y="292608"/>
            <a:ext cx="8229600" cy="256032"/>
          </a:xfrm>
          <a:prstGeom prst="rect">
            <a:avLst/>
          </a:prstGeom>
          <a:noFill/>
          <a:ln/>
        </p:spPr>
        <p:txBody>
          <a:bodyPr wrap="square" lIns="0" tIns="0" rIns="0" bIns="0" rtlCol="0" anchor="t"/>
          <a:lstStyle/>
          <a:p>
            <a:pPr indent="0" marL="0">
              <a:buNone/>
            </a:pPr>
            <a:r>
              <a:rPr lang="en-US" sz="1100" b="1" spc="300" kern="0" dirty="0">
                <a:solidFill>
                  <a:schemeClr val="accent1"/>
                </a:solidFill>
              </a:rPr>
              <a:t>11 · REAL CGM</a:t>
            </a:r>
            <a:endParaRPr lang="en-US" sz="1100" dirty="0"/>
          </a:p>
        </p:txBody>
      </p:sp>
      <p:sp>
        <p:nvSpPr>
          <p:cNvPr id="3" name="Text 0"/>
          <p:cNvSpPr/>
          <p:nvPr>
            <p:ph idx="100" type="title" hasCustomPrompt="1"/>
          </p:nvPr>
        </p:nvSpPr>
        <p:spPr>
          <a:xfrm>
            <a:off x="594360" y="566928"/>
            <a:ext cx="11002975" cy="658368"/>
          </a:xfrm>
          <a:prstGeom prst="rect">
            <a:avLst/>
          </a:prstGeom>
          <a:noFill/>
          <a:ln/>
        </p:spPr>
        <p:txBody>
          <a:bodyPr wrap="square" lIns="0" tIns="0" rIns="0" bIns="0" rtlCol="0" anchor="ctr"/>
          <a:lstStyle/>
          <a:p>
            <a:pPr algn="l" indent="0" marL="0">
              <a:buNone/>
            </a:pPr>
            <a:r>
              <a:rPr lang="en-US" sz="3000" b="1" dirty="0">
                <a:solidFill>
                  <a:schemeClr val="tx2"/>
                </a:solidFill>
                <a:latin typeface="Georgia" pitchFamily="34" charset="0"/>
                <a:ea typeface="Georgia" pitchFamily="34" charset="-122"/>
                <a:cs typeface="Georgia" pitchFamily="34" charset="-120"/>
              </a:rPr>
              <a:t>Performance drops on real CGM, and we show it</a:t>
            </a:r>
            <a:endParaRPr lang="en-US" sz="3000" dirty="0"/>
          </a:p>
        </p:txBody>
      </p:sp>
      <p:sp>
        <p:nvSpPr>
          <p:cNvPr id="4" name="card"/>
          <p:cNvSpPr/>
          <p:nvPr/>
        </p:nvSpPr>
        <p:spPr>
          <a:xfrm>
            <a:off x="594360" y="1463040"/>
            <a:ext cx="4937760" cy="4526280"/>
          </a:xfrm>
          <a:prstGeom prst="roundRect">
            <a:avLst>
              <a:gd name="adj" fmla="val 2828"/>
            </a:avLst>
          </a:prstGeom>
          <a:solidFill>
            <a:schemeClr val="bg1"/>
          </a:solidFill>
          <a:ln/>
          <a:effectLst>
            <a:outerShdw sx="100000" sy="100000" kx="0" ky="0" algn="bl" rotWithShape="0" blurRad="177800" dist="38100" dir="5400000">
              <a:srgbClr val="0B2F3F">
                <a:alpha val="10000"/>
              </a:srgbClr>
            </a:outerShdw>
          </a:effectLst>
        </p:spPr>
      </p:sp>
      <p:sp>
        <p:nvSpPr>
          <p:cNvPr id="5" name="Text 3"/>
          <p:cNvSpPr txBox="1"/>
          <p:nvPr/>
        </p:nvSpPr>
        <p:spPr>
          <a:xfrm>
            <a:off x="914400" y="1645920"/>
            <a:ext cx="4389120" cy="384048"/>
          </a:xfrm>
          <a:prstGeom prst="rect">
            <a:avLst/>
          </a:prstGeom>
          <a:noFill/>
          <a:ln/>
        </p:spPr>
        <p:txBody>
          <a:bodyPr wrap="square" lIns="0" tIns="0" rIns="0" bIns="0" rtlCol="0" anchor="t"/>
          <a:lstStyle/>
          <a:p>
            <a:pPr indent="0" marL="0">
              <a:buNone/>
            </a:pPr>
            <a:r>
              <a:rPr lang="en-US" sz="1500" b="1" dirty="0">
                <a:solidFill>
                  <a:schemeClr val="tx2"/>
                </a:solidFill>
                <a:latin typeface="Georgia" pitchFamily="34" charset="0"/>
                <a:ea typeface="Georgia" pitchFamily="34" charset="-122"/>
                <a:cs typeface="Georgia" pitchFamily="34" charset="-120"/>
              </a:rPr>
              <a:t>Predicting highs: AUROC</a:t>
            </a:r>
            <a:endParaRPr lang="en-US" sz="1500" dirty="0"/>
          </a:p>
        </p:txBody>
      </p:sp>
      <p:sp>
        <p:nvSpPr>
          <p:cNvPr id="6" name="Text 4"/>
          <p:cNvSpPr txBox="1"/>
          <p:nvPr/>
        </p:nvSpPr>
        <p:spPr>
          <a:xfrm>
            <a:off x="914400" y="2011680"/>
            <a:ext cx="4389120" cy="274320"/>
          </a:xfrm>
          <a:prstGeom prst="rect">
            <a:avLst/>
          </a:prstGeom>
          <a:noFill/>
          <a:ln/>
        </p:spPr>
        <p:txBody>
          <a:bodyPr wrap="square" lIns="0" tIns="0" rIns="0" bIns="0" rtlCol="0" anchor="t"/>
          <a:lstStyle/>
          <a:p>
            <a:pPr indent="0" marL="0">
              <a:buNone/>
            </a:pPr>
            <a:r>
              <a:rPr lang="en-US" sz="1200" dirty="0">
                <a:solidFill>
                  <a:schemeClr val="accent6"/>
                </a:solidFill>
              </a:rPr>
              <a:t>CGMacros, 14 adults with T2D. 0.5 is chance.</a:t>
            </a:r>
            <a:endParaRPr lang="en-US" sz="1200" dirty="0"/>
          </a:p>
        </p:txBody>
      </p:sp>
      <p:graphicFrame>
        <p:nvGraphicFramePr>
          <p:cNvPr id="7" name="chart-cgmacros" descr=""/>
          <p:cNvGraphicFramePr/>
          <p:nvPr/>
        </p:nvGraphicFramePr>
        <p:xfrm>
          <a:off x="777240" y="2377440"/>
          <a:ext cx="4572000" cy="3520440"/>
        </p:xfrm>
        <a:graphic xmlns:a="http://schemas.openxmlformats.org/drawingml/2006/main">
          <a:graphicData uri="http://schemas.openxmlformats.org/drawingml/2006/chart">
            <c:chart xmlns:c="http://schemas.openxmlformats.org/drawingml/2006/chart" r:id="rId1"/>
          </a:graphicData>
        </a:graphic>
      </p:graphicFrame>
      <p:sp>
        <p:nvSpPr>
          <p:cNvPr id="8" name="card"/>
          <p:cNvSpPr/>
          <p:nvPr/>
        </p:nvSpPr>
        <p:spPr>
          <a:xfrm>
            <a:off x="5715000" y="1463040"/>
            <a:ext cx="3108960" cy="4526280"/>
          </a:xfrm>
          <a:prstGeom prst="roundRect">
            <a:avLst>
              <a:gd name="adj" fmla="val 4118"/>
            </a:avLst>
          </a:prstGeom>
          <a:solidFill>
            <a:schemeClr val="bg1"/>
          </a:solidFill>
          <a:ln/>
          <a:effectLst>
            <a:outerShdw sx="100000" sy="100000" kx="0" ky="0" algn="bl" rotWithShape="0" blurRad="177800" dist="38100" dir="5400000">
              <a:srgbClr val="0B2F3F">
                <a:alpha val="10000"/>
              </a:srgbClr>
            </a:outerShdw>
          </a:effectLst>
        </p:spPr>
      </p:sp>
      <p:sp>
        <p:nvSpPr>
          <p:cNvPr id="9" name="Text 6"/>
          <p:cNvSpPr txBox="1"/>
          <p:nvPr/>
        </p:nvSpPr>
        <p:spPr>
          <a:xfrm>
            <a:off x="6035040" y="1645920"/>
            <a:ext cx="2651760" cy="384048"/>
          </a:xfrm>
          <a:prstGeom prst="rect">
            <a:avLst/>
          </a:prstGeom>
          <a:noFill/>
          <a:ln/>
        </p:spPr>
        <p:txBody>
          <a:bodyPr wrap="square" lIns="0" tIns="0" rIns="0" bIns="0" rtlCol="0" anchor="t"/>
          <a:lstStyle/>
          <a:p>
            <a:pPr indent="0" marL="0">
              <a:buNone/>
            </a:pPr>
            <a:r>
              <a:rPr lang="en-US" sz="1500" b="1" dirty="0">
                <a:solidFill>
                  <a:schemeClr val="tx2"/>
                </a:solidFill>
                <a:latin typeface="Georgia" pitchFamily="34" charset="0"/>
                <a:ea typeface="Georgia" pitchFamily="34" charset="-122"/>
                <a:cs typeface="Georgia" pitchFamily="34" charset="-120"/>
              </a:rPr>
              <a:t>Calibration error</a:t>
            </a:r>
            <a:endParaRPr lang="en-US" sz="1500" dirty="0"/>
          </a:p>
        </p:txBody>
      </p:sp>
      <p:sp>
        <p:nvSpPr>
          <p:cNvPr id="10" name="Text 7"/>
          <p:cNvSpPr txBox="1"/>
          <p:nvPr/>
        </p:nvSpPr>
        <p:spPr>
          <a:xfrm>
            <a:off x="6035040" y="2011680"/>
            <a:ext cx="2651760" cy="274320"/>
          </a:xfrm>
          <a:prstGeom prst="rect">
            <a:avLst/>
          </a:prstGeom>
          <a:noFill/>
          <a:ln/>
        </p:spPr>
        <p:txBody>
          <a:bodyPr wrap="square" lIns="0" tIns="0" rIns="0" bIns="0" rtlCol="0" anchor="t"/>
          <a:lstStyle/>
          <a:p>
            <a:pPr indent="0" marL="0">
              <a:buNone/>
            </a:pPr>
            <a:r>
              <a:rPr lang="en-US" sz="1200" dirty="0">
                <a:solidFill>
                  <a:schemeClr val="accent6"/>
                </a:solidFill>
              </a:rPr>
              <a:t>Lower is better</a:t>
            </a:r>
            <a:endParaRPr lang="en-US" sz="1200" dirty="0"/>
          </a:p>
        </p:txBody>
      </p:sp>
      <p:graphicFrame>
        <p:nvGraphicFramePr>
          <p:cNvPr id="11" name="chart-recal" descr=""/>
          <p:cNvGraphicFramePr/>
          <p:nvPr/>
        </p:nvGraphicFramePr>
        <p:xfrm>
          <a:off x="5852160" y="2377440"/>
          <a:ext cx="2834640" cy="3520440"/>
        </p:xfrm>
        <a:graphic xmlns:a="http://schemas.openxmlformats.org/drawingml/2006/main">
          <a:graphicData uri="http://schemas.openxmlformats.org/drawingml/2006/chart">
            <c:chart xmlns:c="http://schemas.openxmlformats.org/drawingml/2006/chart" r:id="rId2"/>
          </a:graphicData>
        </a:graphic>
      </p:graphicFrame>
      <p:sp>
        <p:nvSpPr>
          <p:cNvPr id="12" name="card"/>
          <p:cNvSpPr/>
          <p:nvPr/>
        </p:nvSpPr>
        <p:spPr>
          <a:xfrm>
            <a:off x="9006840" y="1463040"/>
            <a:ext cx="2587752" cy="4526280"/>
          </a:xfrm>
          <a:prstGeom prst="roundRect">
            <a:avLst>
              <a:gd name="adj" fmla="val 4947"/>
            </a:avLst>
          </a:prstGeom>
          <a:solidFill>
            <a:schemeClr val="tx2"/>
          </a:solidFill>
          <a:ln/>
          <a:effectLst>
            <a:outerShdw sx="100000" sy="100000" kx="0" ky="0" algn="bl" rotWithShape="0" blurRad="177800" dist="38100" dir="5400000">
              <a:srgbClr val="0B2F3F">
                <a:alpha val="10000"/>
              </a:srgbClr>
            </a:outerShdw>
          </a:effectLst>
        </p:spPr>
      </p:sp>
      <p:sp>
        <p:nvSpPr>
          <p:cNvPr id="13" name="icon-dot"/>
          <p:cNvSpPr/>
          <p:nvPr/>
        </p:nvSpPr>
        <p:spPr>
          <a:xfrm>
            <a:off x="9281160" y="1737360"/>
            <a:ext cx="502920" cy="502920"/>
          </a:xfrm>
          <a:prstGeom prst="ellipse">
            <a:avLst/>
          </a:prstGeom>
          <a:solidFill>
            <a:schemeClr val="accent2"/>
          </a:solidFill>
          <a:ln/>
        </p:spPr>
      </p:sp>
      <p:pic>
        <p:nvPicPr>
          <p:cNvPr id="14" name="icon-alert" descr="C:\Users\Akhilesh\AppData\Local\Temp\claude\C--Users-Akhilesh-Desktop-Claude-code-Happiest-Health\47a587f0-c947-456b-8324-0bf75adb31d4\scratchpad\deck\img\icons\alert.png">    </p:cNvPr>
          <p:cNvPicPr>
            <a:picLocks noChangeAspect="1"/>
          </p:cNvPicPr>
          <p:nvPr/>
        </p:nvPicPr>
        <p:blipFill>
          <a:blip r:embed="rId3"/>
          <a:stretch>
            <a:fillRect/>
          </a:stretch>
        </p:blipFill>
        <p:spPr>
          <a:xfrm>
            <a:off x="9391802" y="1848002"/>
            <a:ext cx="281635" cy="281635"/>
          </a:xfrm>
          <a:prstGeom prst="rect">
            <a:avLst/>
          </a:prstGeom>
        </p:spPr>
      </p:pic>
      <p:sp>
        <p:nvSpPr>
          <p:cNvPr id="15" name="Text 10"/>
          <p:cNvSpPr txBox="1"/>
          <p:nvPr/>
        </p:nvSpPr>
        <p:spPr>
          <a:xfrm>
            <a:off x="9281160" y="2377440"/>
            <a:ext cx="2103120" cy="1463040"/>
          </a:xfrm>
          <a:prstGeom prst="rect">
            <a:avLst/>
          </a:prstGeom>
          <a:noFill/>
          <a:ln/>
        </p:spPr>
        <p:txBody>
          <a:bodyPr wrap="square" lIns="0" tIns="0" rIns="0" bIns="0" rtlCol="0" anchor="t"/>
          <a:lstStyle/>
          <a:p>
            <a:pPr indent="0" marL="0">
              <a:buNone/>
            </a:pPr>
            <a:r>
              <a:rPr lang="en-US" sz="1500" b="1" dirty="0">
                <a:solidFill>
                  <a:schemeClr val="bg1"/>
                </a:solidFill>
              </a:rPr>
              <a:t>Honest gap</a:t>
            </a:r>
            <a:endParaRPr lang="en-US" sz="1200" dirty="0"/>
          </a:p>
          <a:p>
            <a:pPr indent="0" marL="0">
              <a:buNone/>
            </a:pPr>
            <a:r>
              <a:rPr lang="en-US" sz="1200" dirty="0">
                <a:solidFill>
                  <a:schemeClr val="bg2"/>
                </a:solidFill>
              </a:rPr>
              <a:t>Real lows fall about twice as fast as simulated ones, and real swings are bigger</a:t>
            </a:r>
            <a:endParaRPr lang="en-US" sz="1200" dirty="0"/>
          </a:p>
        </p:txBody>
      </p:sp>
      <p:sp>
        <p:nvSpPr>
          <p:cNvPr id="16" name="icon-dot"/>
          <p:cNvSpPr/>
          <p:nvPr/>
        </p:nvSpPr>
        <p:spPr>
          <a:xfrm>
            <a:off x="9281160" y="3931920"/>
            <a:ext cx="502920" cy="502920"/>
          </a:xfrm>
          <a:prstGeom prst="ellipse">
            <a:avLst/>
          </a:prstGeom>
          <a:solidFill>
            <a:schemeClr val="accent4"/>
          </a:solidFill>
          <a:ln/>
        </p:spPr>
      </p:sp>
      <p:pic>
        <p:nvPicPr>
          <p:cNvPr id="17" name="icon-sliders" descr="C:\Users\Akhilesh\AppData\Local\Temp\claude\C--Users-Akhilesh-Desktop-Claude-code-Happiest-Health\47a587f0-c947-456b-8324-0bf75adb31d4\scratchpad\deck\img\icons\sliders.png">    </p:cNvPr>
          <p:cNvPicPr>
            <a:picLocks noChangeAspect="1"/>
          </p:cNvPicPr>
          <p:nvPr/>
        </p:nvPicPr>
        <p:blipFill>
          <a:blip r:embed="rId4"/>
          <a:stretch>
            <a:fillRect/>
          </a:stretch>
        </p:blipFill>
        <p:spPr>
          <a:xfrm>
            <a:off x="9391802" y="4042562"/>
            <a:ext cx="281635" cy="281635"/>
          </a:xfrm>
          <a:prstGeom prst="rect">
            <a:avLst/>
          </a:prstGeom>
        </p:spPr>
      </p:pic>
      <p:sp>
        <p:nvSpPr>
          <p:cNvPr id="18" name="Text 12"/>
          <p:cNvSpPr txBox="1"/>
          <p:nvPr/>
        </p:nvSpPr>
        <p:spPr>
          <a:xfrm>
            <a:off x="9281160" y="4572000"/>
            <a:ext cx="2103120" cy="1325880"/>
          </a:xfrm>
          <a:prstGeom prst="rect">
            <a:avLst/>
          </a:prstGeom>
          <a:noFill/>
          <a:ln/>
        </p:spPr>
        <p:txBody>
          <a:bodyPr wrap="square" lIns="0" tIns="0" rIns="0" bIns="0" rtlCol="0" anchor="t"/>
          <a:lstStyle/>
          <a:p>
            <a:pPr indent="0" marL="0">
              <a:buNone/>
            </a:pPr>
            <a:r>
              <a:rPr lang="en-US" sz="1500" b="1" dirty="0">
                <a:solidFill>
                  <a:schemeClr val="bg1"/>
                </a:solidFill>
              </a:rPr>
              <a:t>Fixable</a:t>
            </a:r>
            <a:endParaRPr lang="en-US" sz="1200" dirty="0"/>
          </a:p>
          <a:p>
            <a:pPr indent="0" marL="0">
              <a:buNone/>
            </a:pPr>
            <a:r>
              <a:rPr lang="en-US" sz="1200" dirty="0">
                <a:solidFill>
                  <a:schemeClr val="bg2"/>
                </a:solidFill>
              </a:rPr>
              <a:t>Recalibrating on other real patients makes the probabilities trustworthy, without retraining</a:t>
            </a:r>
            <a:endParaRPr lang="en-US" sz="1200" dirty="0"/>
          </a:p>
        </p:txBody>
      </p:sp>
      <p:sp>
        <p:nvSpPr>
          <p:cNvPr id="25" name="Slide Number Placeholder 0"/>
          <p:cNvSpPr>
            <a:spLocks noGrp="1"/>
          </p:cNvSpPr>
          <p:nvPr>
            <p:ph type="sldNum" sz="quarter" idx="4294967295"/>
          </p:nvPr>
        </p:nvSpPr>
        <p:spPr>
          <a:xfrm>
            <a:off x="11140135"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94360" y="292608"/>
            <a:ext cx="8229600" cy="256032"/>
          </a:xfrm>
          <a:prstGeom prst="rect">
            <a:avLst/>
          </a:prstGeom>
          <a:noFill/>
          <a:ln/>
        </p:spPr>
        <p:txBody>
          <a:bodyPr wrap="square" lIns="0" tIns="0" rIns="0" bIns="0" rtlCol="0" anchor="t"/>
          <a:lstStyle/>
          <a:p>
            <a:pPr indent="0" marL="0">
              <a:buNone/>
            </a:pPr>
            <a:r>
              <a:rPr lang="en-US" sz="1100" b="1" spc="300" kern="0" dirty="0">
                <a:solidFill>
                  <a:schemeClr val="accent1"/>
                </a:solidFill>
              </a:rPr>
              <a:t>12 · REAL LINKED RECORDS</a:t>
            </a:r>
            <a:endParaRPr lang="en-US" sz="1100" dirty="0"/>
          </a:p>
        </p:txBody>
      </p:sp>
      <p:sp>
        <p:nvSpPr>
          <p:cNvPr id="3" name="Text 0"/>
          <p:cNvSpPr/>
          <p:nvPr>
            <p:ph idx="100" type="title" hasCustomPrompt="1"/>
          </p:nvPr>
        </p:nvSpPr>
        <p:spPr>
          <a:xfrm>
            <a:off x="594360" y="566928"/>
            <a:ext cx="11002975" cy="658368"/>
          </a:xfrm>
          <a:prstGeom prst="rect">
            <a:avLst/>
          </a:prstGeom>
          <a:noFill/>
          <a:ln/>
        </p:spPr>
        <p:txBody>
          <a:bodyPr wrap="square" lIns="0" tIns="0" rIns="0" bIns="0" rtlCol="0" anchor="ctr"/>
          <a:lstStyle/>
          <a:p>
            <a:pPr algn="l" indent="0" marL="0">
              <a:buNone/>
            </a:pPr>
            <a:r>
              <a:rPr lang="en-US" sz="3000" b="1" dirty="0">
                <a:solidFill>
                  <a:schemeClr val="tx2"/>
                </a:solidFill>
                <a:latin typeface="Georgia" pitchFamily="34" charset="0"/>
                <a:ea typeface="Georgia" pitchFamily="34" charset="-122"/>
                <a:cs typeface="Georgia" pitchFamily="34" charset="-120"/>
              </a:rPr>
              <a:t>The CGM model predicts real lows well</a:t>
            </a:r>
            <a:endParaRPr lang="en-US" sz="3000" dirty="0"/>
          </a:p>
        </p:txBody>
      </p:sp>
      <p:sp>
        <p:nvSpPr>
          <p:cNvPr id="4" name="card"/>
          <p:cNvSpPr/>
          <p:nvPr/>
        </p:nvSpPr>
        <p:spPr>
          <a:xfrm>
            <a:off x="594360" y="1463040"/>
            <a:ext cx="7086600" cy="4526280"/>
          </a:xfrm>
          <a:prstGeom prst="roundRect">
            <a:avLst>
              <a:gd name="adj" fmla="val 2828"/>
            </a:avLst>
          </a:prstGeom>
          <a:solidFill>
            <a:schemeClr val="bg1"/>
          </a:solidFill>
          <a:ln/>
          <a:effectLst>
            <a:outerShdw sx="100000" sy="100000" kx="0" ky="0" algn="bl" rotWithShape="0" blurRad="177800" dist="38100" dir="5400000">
              <a:srgbClr val="0B2F3F">
                <a:alpha val="10000"/>
              </a:srgbClr>
            </a:outerShdw>
          </a:effectLst>
        </p:spPr>
      </p:sp>
      <p:sp>
        <p:nvSpPr>
          <p:cNvPr id="5" name="Text 3"/>
          <p:cNvSpPr txBox="1"/>
          <p:nvPr/>
        </p:nvSpPr>
        <p:spPr>
          <a:xfrm>
            <a:off x="914400" y="1645920"/>
            <a:ext cx="6400800" cy="384048"/>
          </a:xfrm>
          <a:prstGeom prst="rect">
            <a:avLst/>
          </a:prstGeom>
          <a:noFill/>
          <a:ln/>
        </p:spPr>
        <p:txBody>
          <a:bodyPr wrap="square" lIns="0" tIns="0" rIns="0" bIns="0" rtlCol="0" anchor="t"/>
          <a:lstStyle/>
          <a:p>
            <a:pPr indent="0" marL="0">
              <a:buNone/>
            </a:pPr>
            <a:r>
              <a:rPr lang="en-US" sz="1500" b="1" dirty="0">
                <a:solidFill>
                  <a:schemeClr val="tx2"/>
                </a:solidFill>
                <a:latin typeface="Georgia" pitchFamily="34" charset="0"/>
                <a:ea typeface="Georgia" pitchFamily="34" charset="-122"/>
                <a:cs typeface="Georgia" pitchFamily="34" charset="-120"/>
              </a:rPr>
              <a:t>Predicting real lows: AUPRC</a:t>
            </a:r>
            <a:endParaRPr lang="en-US" sz="1500" dirty="0"/>
          </a:p>
        </p:txBody>
      </p:sp>
      <p:sp>
        <p:nvSpPr>
          <p:cNvPr id="6" name="Text 4"/>
          <p:cNvSpPr txBox="1"/>
          <p:nvPr/>
        </p:nvSpPr>
        <p:spPr>
          <a:xfrm>
            <a:off x="914400" y="2011680"/>
            <a:ext cx="6400800" cy="274320"/>
          </a:xfrm>
          <a:prstGeom prst="rect">
            <a:avLst/>
          </a:prstGeom>
          <a:noFill/>
          <a:ln/>
        </p:spPr>
        <p:txBody>
          <a:bodyPr wrap="square" lIns="0" tIns="0" rIns="0" bIns="0" rtlCol="0" anchor="t"/>
          <a:lstStyle/>
          <a:p>
            <a:pPr indent="0" marL="0">
              <a:buNone/>
            </a:pPr>
            <a:r>
              <a:rPr lang="en-US" sz="1200" dirty="0">
                <a:solidFill>
                  <a:schemeClr val="accent6"/>
                </a:solidFill>
              </a:rPr>
              <a:t>ShanghaiT2DM, 100 patients, patient-grouped cross-validation. Chance is 0.027.</a:t>
            </a:r>
            <a:endParaRPr lang="en-US" sz="1200" dirty="0"/>
          </a:p>
        </p:txBody>
      </p:sp>
      <p:graphicFrame>
        <p:nvGraphicFramePr>
          <p:cNvPr id="7" name="chart-shanghai" descr=""/>
          <p:cNvGraphicFramePr/>
          <p:nvPr/>
        </p:nvGraphicFramePr>
        <p:xfrm>
          <a:off x="777240" y="2331720"/>
          <a:ext cx="6720840" cy="3566160"/>
        </p:xfrm>
        <a:graphic xmlns:a="http://schemas.openxmlformats.org/drawingml/2006/main">
          <a:graphicData uri="http://schemas.openxmlformats.org/drawingml/2006/chart">
            <c:chart xmlns:c="http://schemas.openxmlformats.org/drawingml/2006/chart" r:id="rId1"/>
          </a:graphicData>
        </a:graphic>
      </p:graphicFrame>
      <p:sp>
        <p:nvSpPr>
          <p:cNvPr id="8" name="card"/>
          <p:cNvSpPr/>
          <p:nvPr/>
        </p:nvSpPr>
        <p:spPr>
          <a:xfrm>
            <a:off x="7863840" y="1463040"/>
            <a:ext cx="3730752" cy="1371600"/>
          </a:xfrm>
          <a:prstGeom prst="roundRect">
            <a:avLst>
              <a:gd name="adj" fmla="val 9333"/>
            </a:avLst>
          </a:prstGeom>
          <a:solidFill>
            <a:schemeClr val="bg1"/>
          </a:solidFill>
          <a:ln/>
          <a:effectLst>
            <a:outerShdw sx="100000" sy="100000" kx="0" ky="0" algn="bl" rotWithShape="0" blurRad="177800" dist="38100" dir="5400000">
              <a:srgbClr val="0B2F3F">
                <a:alpha val="10000"/>
              </a:srgbClr>
            </a:outerShdw>
          </a:effectLst>
        </p:spPr>
      </p:sp>
      <p:sp>
        <p:nvSpPr>
          <p:cNvPr id="9" name="icon-dot"/>
          <p:cNvSpPr/>
          <p:nvPr/>
        </p:nvSpPr>
        <p:spPr>
          <a:xfrm>
            <a:off x="8092440" y="1874520"/>
            <a:ext cx="548640" cy="548640"/>
          </a:xfrm>
          <a:prstGeom prst="ellipse">
            <a:avLst/>
          </a:prstGeom>
          <a:solidFill>
            <a:schemeClr val="accent1"/>
          </a:solidFill>
          <a:ln/>
        </p:spPr>
      </p:sp>
      <p:pic>
        <p:nvPicPr>
          <p:cNvPr id="10" name="icon-badge" descr="C:\Users\Akhilesh\AppData\Local\Temp\claude\C--Users-Akhilesh-Desktop-Claude-code-Happiest-Health\47a587f0-c947-456b-8324-0bf75adb31d4\scratchpad\deck\img\icons\badge.png">    </p:cNvPr>
          <p:cNvPicPr>
            <a:picLocks noChangeAspect="1"/>
          </p:cNvPicPr>
          <p:nvPr/>
        </p:nvPicPr>
        <p:blipFill>
          <a:blip r:embed="rId2"/>
          <a:stretch>
            <a:fillRect/>
          </a:stretch>
        </p:blipFill>
        <p:spPr>
          <a:xfrm>
            <a:off x="8213141" y="1995221"/>
            <a:ext cx="307238" cy="307238"/>
          </a:xfrm>
          <a:prstGeom prst="rect">
            <a:avLst/>
          </a:prstGeom>
        </p:spPr>
      </p:pic>
      <p:sp>
        <p:nvSpPr>
          <p:cNvPr id="11" name="Text 7"/>
          <p:cNvSpPr txBox="1"/>
          <p:nvPr/>
        </p:nvSpPr>
        <p:spPr>
          <a:xfrm>
            <a:off x="8778240" y="1627632"/>
            <a:ext cx="2651760" cy="548640"/>
          </a:xfrm>
          <a:prstGeom prst="rect">
            <a:avLst/>
          </a:prstGeom>
          <a:noFill/>
          <a:ln/>
        </p:spPr>
        <p:txBody>
          <a:bodyPr wrap="square" lIns="0" tIns="0" rIns="0" bIns="0" rtlCol="0" anchor="b"/>
          <a:lstStyle/>
          <a:p>
            <a:pPr indent="0" marL="0">
              <a:buNone/>
            </a:pPr>
            <a:r>
              <a:rPr lang="en-US" sz="2600" b="1" dirty="0">
                <a:solidFill>
                  <a:schemeClr val="accent1"/>
                </a:solidFill>
                <a:latin typeface="Georgia" pitchFamily="34" charset="0"/>
                <a:ea typeface="Georgia" pitchFamily="34" charset="-122"/>
                <a:cs typeface="Georgia" pitchFamily="34" charset="-120"/>
              </a:rPr>
              <a:t>0.89</a:t>
            </a:r>
            <a:endParaRPr lang="en-US" sz="2600" dirty="0"/>
          </a:p>
        </p:txBody>
      </p:sp>
      <p:sp>
        <p:nvSpPr>
          <p:cNvPr id="12" name="Text 8"/>
          <p:cNvSpPr txBox="1"/>
          <p:nvPr/>
        </p:nvSpPr>
        <p:spPr>
          <a:xfrm>
            <a:off x="8778240" y="2212848"/>
            <a:ext cx="2697480" cy="548640"/>
          </a:xfrm>
          <a:prstGeom prst="rect">
            <a:avLst/>
          </a:prstGeom>
          <a:noFill/>
          <a:ln/>
        </p:spPr>
        <p:txBody>
          <a:bodyPr wrap="square" lIns="0" tIns="0" rIns="0" bIns="0" rtlCol="0" anchor="t"/>
          <a:lstStyle/>
          <a:p>
            <a:pPr indent="0" marL="0">
              <a:buNone/>
            </a:pPr>
            <a:r>
              <a:rPr lang="en-US" sz="1100" dirty="0">
                <a:solidFill>
                  <a:schemeClr val="accent6"/>
                </a:solidFill>
              </a:rPr>
              <a:t>AUROC for real lows; 0.91 at night; well calibrated</a:t>
            </a:r>
            <a:endParaRPr lang="en-US" sz="1100" dirty="0"/>
          </a:p>
        </p:txBody>
      </p:sp>
      <p:sp>
        <p:nvSpPr>
          <p:cNvPr id="13" name="card"/>
          <p:cNvSpPr/>
          <p:nvPr/>
        </p:nvSpPr>
        <p:spPr>
          <a:xfrm>
            <a:off x="7863840" y="2999232"/>
            <a:ext cx="3730752" cy="1371600"/>
          </a:xfrm>
          <a:prstGeom prst="roundRect">
            <a:avLst>
              <a:gd name="adj" fmla="val 9333"/>
            </a:avLst>
          </a:prstGeom>
          <a:solidFill>
            <a:schemeClr val="bg1"/>
          </a:solidFill>
          <a:ln/>
          <a:effectLst>
            <a:outerShdw sx="100000" sy="100000" kx="0" ky="0" algn="bl" rotWithShape="0" blurRad="177800" dist="38100" dir="5400000">
              <a:srgbClr val="0B2F3F">
                <a:alpha val="10000"/>
              </a:srgbClr>
            </a:outerShdw>
          </a:effectLst>
        </p:spPr>
      </p:sp>
      <p:sp>
        <p:nvSpPr>
          <p:cNvPr id="14" name="icon-dot"/>
          <p:cNvSpPr/>
          <p:nvPr/>
        </p:nvSpPr>
        <p:spPr>
          <a:xfrm>
            <a:off x="8092440" y="3410712"/>
            <a:ext cx="548640" cy="548640"/>
          </a:xfrm>
          <a:prstGeom prst="ellipse">
            <a:avLst/>
          </a:prstGeom>
          <a:solidFill>
            <a:schemeClr val="accent1"/>
          </a:solidFill>
          <a:ln/>
        </p:spPr>
      </p:sp>
      <p:pic>
        <p:nvPicPr>
          <p:cNvPr id="15" name="icon-trend" descr="C:\Users\Akhilesh\AppData\Local\Temp\claude\C--Users-Akhilesh-Desktop-Claude-code-Happiest-Health\47a587f0-c947-456b-8324-0bf75adb31d4\scratchpad\deck\img\icons\trend.png">    </p:cNvPr>
          <p:cNvPicPr>
            <a:picLocks noChangeAspect="1"/>
          </p:cNvPicPr>
          <p:nvPr/>
        </p:nvPicPr>
        <p:blipFill>
          <a:blip r:embed="rId3"/>
          <a:stretch>
            <a:fillRect/>
          </a:stretch>
        </p:blipFill>
        <p:spPr>
          <a:xfrm>
            <a:off x="8213141" y="3531413"/>
            <a:ext cx="307238" cy="307238"/>
          </a:xfrm>
          <a:prstGeom prst="rect">
            <a:avLst/>
          </a:prstGeom>
        </p:spPr>
      </p:pic>
      <p:sp>
        <p:nvSpPr>
          <p:cNvPr id="16" name="Text 11"/>
          <p:cNvSpPr txBox="1"/>
          <p:nvPr/>
        </p:nvSpPr>
        <p:spPr>
          <a:xfrm>
            <a:off x="8778240" y="3163824"/>
            <a:ext cx="2651760" cy="548640"/>
          </a:xfrm>
          <a:prstGeom prst="rect">
            <a:avLst/>
          </a:prstGeom>
          <a:noFill/>
          <a:ln/>
        </p:spPr>
        <p:txBody>
          <a:bodyPr wrap="square" lIns="0" tIns="0" rIns="0" bIns="0" rtlCol="0" anchor="b"/>
          <a:lstStyle/>
          <a:p>
            <a:pPr indent="0" marL="0">
              <a:buNone/>
            </a:pPr>
            <a:r>
              <a:rPr lang="en-US" sz="2600" b="1" dirty="0">
                <a:solidFill>
                  <a:schemeClr val="accent1"/>
                </a:solidFill>
                <a:latin typeface="Georgia" pitchFamily="34" charset="0"/>
                <a:ea typeface="Georgia" pitchFamily="34" charset="-122"/>
                <a:cs typeface="Georgia" pitchFamily="34" charset="-120"/>
              </a:rPr>
              <a:t>+0.07</a:t>
            </a:r>
            <a:endParaRPr lang="en-US" sz="2600" dirty="0"/>
          </a:p>
        </p:txBody>
      </p:sp>
      <p:sp>
        <p:nvSpPr>
          <p:cNvPr id="17" name="Text 12"/>
          <p:cNvSpPr txBox="1"/>
          <p:nvPr/>
        </p:nvSpPr>
        <p:spPr>
          <a:xfrm>
            <a:off x="8778240" y="3749040"/>
            <a:ext cx="2697480" cy="548640"/>
          </a:xfrm>
          <a:prstGeom prst="rect">
            <a:avLst/>
          </a:prstGeom>
          <a:noFill/>
          <a:ln/>
        </p:spPr>
        <p:txBody>
          <a:bodyPr wrap="square" lIns="0" tIns="0" rIns="0" bIns="0" rtlCol="0" anchor="t"/>
          <a:lstStyle/>
          <a:p>
            <a:pPr indent="0" marL="0">
              <a:buNone/>
            </a:pPr>
            <a:r>
              <a:rPr lang="en-US" sz="1100" dirty="0">
                <a:solidFill>
                  <a:schemeClr val="accent6"/>
                </a:solidFill>
              </a:rPr>
              <a:t>the synthetic-trained model beats trend extrapolation on real lows</a:t>
            </a:r>
            <a:endParaRPr lang="en-US" sz="1100" dirty="0"/>
          </a:p>
        </p:txBody>
      </p:sp>
      <p:sp>
        <p:nvSpPr>
          <p:cNvPr id="18" name="card"/>
          <p:cNvSpPr/>
          <p:nvPr/>
        </p:nvSpPr>
        <p:spPr>
          <a:xfrm>
            <a:off x="7863840" y="4535424"/>
            <a:ext cx="3730752" cy="1371600"/>
          </a:xfrm>
          <a:prstGeom prst="roundRect">
            <a:avLst>
              <a:gd name="adj" fmla="val 9333"/>
            </a:avLst>
          </a:prstGeom>
          <a:solidFill>
            <a:schemeClr val="bg1"/>
          </a:solidFill>
          <a:ln/>
          <a:effectLst>
            <a:outerShdw sx="100000" sy="100000" kx="0" ky="0" algn="bl" rotWithShape="0" blurRad="177800" dist="38100" dir="5400000">
              <a:srgbClr val="0B2F3F">
                <a:alpha val="10000"/>
              </a:srgbClr>
            </a:outerShdw>
          </a:effectLst>
        </p:spPr>
      </p:sp>
      <p:sp>
        <p:nvSpPr>
          <p:cNvPr id="19" name="icon-dot"/>
          <p:cNvSpPr/>
          <p:nvPr/>
        </p:nvSpPr>
        <p:spPr>
          <a:xfrm>
            <a:off x="8092440" y="4946904"/>
            <a:ext cx="548640" cy="548640"/>
          </a:xfrm>
          <a:prstGeom prst="ellipse">
            <a:avLst/>
          </a:prstGeom>
          <a:solidFill>
            <a:schemeClr val="accent2"/>
          </a:solidFill>
          <a:ln/>
        </p:spPr>
      </p:sp>
      <p:pic>
        <p:nvPicPr>
          <p:cNvPr id="20" name="icon-x" descr="C:\Users\Akhilesh\AppData\Local\Temp\claude\C--Users-Akhilesh-Desktop-Claude-code-Happiest-Health\47a587f0-c947-456b-8324-0bf75adb31d4\scratchpad\deck\img\icons\x.png">    </p:cNvPr>
          <p:cNvPicPr>
            <a:picLocks noChangeAspect="1"/>
          </p:cNvPicPr>
          <p:nvPr/>
        </p:nvPicPr>
        <p:blipFill>
          <a:blip r:embed="rId4"/>
          <a:stretch>
            <a:fillRect/>
          </a:stretch>
        </p:blipFill>
        <p:spPr>
          <a:xfrm>
            <a:off x="8213141" y="5067605"/>
            <a:ext cx="307238" cy="307238"/>
          </a:xfrm>
          <a:prstGeom prst="rect">
            <a:avLst/>
          </a:prstGeom>
        </p:spPr>
      </p:pic>
      <p:sp>
        <p:nvSpPr>
          <p:cNvPr id="21" name="Text 15"/>
          <p:cNvSpPr txBox="1"/>
          <p:nvPr/>
        </p:nvSpPr>
        <p:spPr>
          <a:xfrm>
            <a:off x="8778240" y="4700016"/>
            <a:ext cx="2651760" cy="548640"/>
          </a:xfrm>
          <a:prstGeom prst="rect">
            <a:avLst/>
          </a:prstGeom>
          <a:noFill/>
          <a:ln/>
        </p:spPr>
        <p:txBody>
          <a:bodyPr wrap="square" lIns="0" tIns="0" rIns="0" bIns="0" rtlCol="0" anchor="b"/>
          <a:lstStyle/>
          <a:p>
            <a:pPr indent="0" marL="0">
              <a:buNone/>
            </a:pPr>
            <a:r>
              <a:rPr lang="en-US" sz="2600" b="1" dirty="0">
                <a:solidFill>
                  <a:schemeClr val="accent2"/>
                </a:solidFill>
                <a:latin typeface="Georgia" pitchFamily="34" charset="0"/>
                <a:ea typeface="Georgia" pitchFamily="34" charset="-122"/>
                <a:cs typeface="Georgia" pitchFamily="34" charset="-120"/>
              </a:rPr>
              <a:t>No gain</a:t>
            </a:r>
            <a:endParaRPr lang="en-US" sz="2600" dirty="0"/>
          </a:p>
        </p:txBody>
      </p:sp>
      <p:sp>
        <p:nvSpPr>
          <p:cNvPr id="22" name="Text 16"/>
          <p:cNvSpPr txBox="1"/>
          <p:nvPr/>
        </p:nvSpPr>
        <p:spPr>
          <a:xfrm>
            <a:off x="8778240" y="5285232"/>
            <a:ext cx="2697480" cy="548640"/>
          </a:xfrm>
          <a:prstGeom prst="rect">
            <a:avLst/>
          </a:prstGeom>
          <a:noFill/>
          <a:ln/>
        </p:spPr>
        <p:txBody>
          <a:bodyPr wrap="square" lIns="0" tIns="0" rIns="0" bIns="0" rtlCol="0" anchor="t"/>
          <a:lstStyle/>
          <a:p>
            <a:pPr indent="0" marL="0">
              <a:buNone/>
            </a:pPr>
            <a:r>
              <a:rPr lang="en-US" sz="1100" dirty="0">
                <a:solidFill>
                  <a:schemeClr val="accent6"/>
                </a:solidFill>
              </a:rPr>
              <a:t>from the health record, logged doses or the full clinical record</a:t>
            </a:r>
            <a:endParaRPr lang="en-US" sz="1100" dirty="0"/>
          </a:p>
        </p:txBody>
      </p:sp>
      <p:sp>
        <p:nvSpPr>
          <p:cNvPr id="25" name="Slide Number Placeholder 0"/>
          <p:cNvSpPr>
            <a:spLocks noGrp="1"/>
          </p:cNvSpPr>
          <p:nvPr>
            <p:ph type="sldNum" sz="quarter" idx="4294967295"/>
          </p:nvPr>
        </p:nvSpPr>
        <p:spPr>
          <a:xfrm>
            <a:off x="11140135"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94360" y="292608"/>
            <a:ext cx="8229600" cy="256032"/>
          </a:xfrm>
          <a:prstGeom prst="rect">
            <a:avLst/>
          </a:prstGeom>
          <a:noFill/>
          <a:ln/>
        </p:spPr>
        <p:txBody>
          <a:bodyPr wrap="square" lIns="0" tIns="0" rIns="0" bIns="0" rtlCol="0" anchor="t"/>
          <a:lstStyle/>
          <a:p>
            <a:pPr indent="0" marL="0">
              <a:buNone/>
            </a:pPr>
            <a:r>
              <a:rPr lang="en-US" sz="1100" b="1" spc="300" kern="0" dirty="0">
                <a:solidFill>
                  <a:schemeClr val="accent1"/>
                </a:solidFill>
              </a:rPr>
              <a:t>13 · WHAT THE RECORD IS FOR</a:t>
            </a:r>
            <a:endParaRPr lang="en-US" sz="1100" dirty="0"/>
          </a:p>
        </p:txBody>
      </p:sp>
      <p:sp>
        <p:nvSpPr>
          <p:cNvPr id="3" name="Text 0"/>
          <p:cNvSpPr/>
          <p:nvPr>
            <p:ph idx="100" type="title" hasCustomPrompt="1"/>
          </p:nvPr>
        </p:nvSpPr>
        <p:spPr>
          <a:xfrm>
            <a:off x="594360" y="566928"/>
            <a:ext cx="11002975" cy="658368"/>
          </a:xfrm>
          <a:prstGeom prst="rect">
            <a:avLst/>
          </a:prstGeom>
          <a:noFill/>
          <a:ln/>
        </p:spPr>
        <p:txBody>
          <a:bodyPr wrap="square" lIns="0" tIns="0" rIns="0" bIns="0" rtlCol="0" anchor="ctr"/>
          <a:lstStyle/>
          <a:p>
            <a:pPr algn="l" indent="0" marL="0">
              <a:buNone/>
            </a:pPr>
            <a:r>
              <a:rPr lang="en-US" sz="3000" b="1" dirty="0">
                <a:solidFill>
                  <a:schemeClr val="tx2"/>
                </a:solidFill>
                <a:latin typeface="Georgia" pitchFamily="34" charset="0"/>
                <a:ea typeface="Georgia" pitchFamily="34" charset="-122"/>
                <a:cs typeface="Georgia" pitchFamily="34" charset="-120"/>
              </a:rPr>
              <a:t>The health record helps only before the sensor starts</a:t>
            </a:r>
            <a:endParaRPr lang="en-US" sz="3000" dirty="0"/>
          </a:p>
        </p:txBody>
      </p:sp>
      <p:sp>
        <p:nvSpPr>
          <p:cNvPr id="4" name="card"/>
          <p:cNvSpPr/>
          <p:nvPr/>
        </p:nvSpPr>
        <p:spPr>
          <a:xfrm>
            <a:off x="594360" y="1463040"/>
            <a:ext cx="7086600" cy="4526280"/>
          </a:xfrm>
          <a:prstGeom prst="roundRect">
            <a:avLst>
              <a:gd name="adj" fmla="val 2828"/>
            </a:avLst>
          </a:prstGeom>
          <a:solidFill>
            <a:schemeClr val="bg1"/>
          </a:solidFill>
          <a:ln/>
          <a:effectLst>
            <a:outerShdw sx="100000" sy="100000" kx="0" ky="0" algn="bl" rotWithShape="0" blurRad="177800" dist="38100" dir="5400000">
              <a:srgbClr val="0B2F3F">
                <a:alpha val="10000"/>
              </a:srgbClr>
            </a:outerShdw>
          </a:effectLst>
        </p:spPr>
      </p:sp>
      <p:sp>
        <p:nvSpPr>
          <p:cNvPr id="5" name="Text 3"/>
          <p:cNvSpPr txBox="1"/>
          <p:nvPr/>
        </p:nvSpPr>
        <p:spPr>
          <a:xfrm>
            <a:off x="914400" y="1645920"/>
            <a:ext cx="6583680" cy="384048"/>
          </a:xfrm>
          <a:prstGeom prst="rect">
            <a:avLst/>
          </a:prstGeom>
          <a:noFill/>
          <a:ln/>
        </p:spPr>
        <p:txBody>
          <a:bodyPr wrap="square" lIns="0" tIns="0" rIns="0" bIns="0" rtlCol="0" anchor="t"/>
          <a:lstStyle/>
          <a:p>
            <a:pPr indent="0" marL="0">
              <a:buNone/>
            </a:pPr>
            <a:r>
              <a:rPr lang="en-US" sz="1500" b="1" dirty="0">
                <a:solidFill>
                  <a:schemeClr val="tx2"/>
                </a:solidFill>
                <a:latin typeface="Georgia" pitchFamily="34" charset="0"/>
                <a:ea typeface="Georgia" pitchFamily="34" charset="-122"/>
                <a:cs typeface="Georgia" pitchFamily="34" charset="-120"/>
              </a:rPr>
              <a:t>Predicting real lows, by hours of CGM available: AUROC</a:t>
            </a:r>
            <a:endParaRPr lang="en-US" sz="1500" dirty="0"/>
          </a:p>
        </p:txBody>
      </p:sp>
      <p:sp>
        <p:nvSpPr>
          <p:cNvPr id="6" name="Text 4"/>
          <p:cNvSpPr txBox="1"/>
          <p:nvPr/>
        </p:nvSpPr>
        <p:spPr>
          <a:xfrm>
            <a:off x="914400" y="2011680"/>
            <a:ext cx="6583680" cy="274320"/>
          </a:xfrm>
          <a:prstGeom prst="rect">
            <a:avLst/>
          </a:prstGeom>
          <a:noFill/>
          <a:ln/>
        </p:spPr>
        <p:txBody>
          <a:bodyPr wrap="square" lIns="0" tIns="0" rIns="0" bIns="0" rtlCol="0" anchor="t"/>
          <a:lstStyle/>
          <a:p>
            <a:pPr indent="0" marL="0">
              <a:buNone/>
            </a:pPr>
            <a:r>
              <a:rPr lang="en-US" sz="1200" dirty="0">
                <a:solidFill>
                  <a:schemeClr val="accent6"/>
                </a:solidFill>
              </a:rPr>
              <a:t>ShanghaiT2DM. CGM alone vs CGM + 8 core record fields (low-capacity model).</a:t>
            </a:r>
            <a:endParaRPr lang="en-US" sz="1200" dirty="0"/>
          </a:p>
        </p:txBody>
      </p:sp>
      <p:graphicFrame>
        <p:nvGraphicFramePr>
          <p:cNvPr id="7" name="chart-coldstart" descr=""/>
          <p:cNvGraphicFramePr/>
          <p:nvPr/>
        </p:nvGraphicFramePr>
        <p:xfrm>
          <a:off x="777240" y="2331720"/>
          <a:ext cx="6720840" cy="3566160"/>
        </p:xfrm>
        <a:graphic xmlns:a="http://schemas.openxmlformats.org/drawingml/2006/main">
          <a:graphicData uri="http://schemas.openxmlformats.org/drawingml/2006/chart">
            <c:chart xmlns:c="http://schemas.openxmlformats.org/drawingml/2006/chart" r:id="rId1"/>
          </a:graphicData>
        </a:graphic>
      </p:graphicFrame>
      <p:sp>
        <p:nvSpPr>
          <p:cNvPr id="8" name="card"/>
          <p:cNvSpPr/>
          <p:nvPr/>
        </p:nvSpPr>
        <p:spPr>
          <a:xfrm>
            <a:off x="7863840" y="1463040"/>
            <a:ext cx="3730752" cy="1719072"/>
          </a:xfrm>
          <a:prstGeom prst="roundRect">
            <a:avLst>
              <a:gd name="adj" fmla="val 7447"/>
            </a:avLst>
          </a:prstGeom>
          <a:solidFill>
            <a:schemeClr val="bg1"/>
          </a:solidFill>
          <a:ln/>
          <a:effectLst>
            <a:outerShdw sx="100000" sy="100000" kx="0" ky="0" algn="bl" rotWithShape="0" blurRad="177800" dist="38100" dir="5400000">
              <a:srgbClr val="0B2F3F">
                <a:alpha val="10000"/>
              </a:srgbClr>
            </a:outerShdw>
          </a:effectLst>
        </p:spPr>
      </p:sp>
      <p:sp>
        <p:nvSpPr>
          <p:cNvPr id="9" name="icon-dot"/>
          <p:cNvSpPr/>
          <p:nvPr/>
        </p:nvSpPr>
        <p:spPr>
          <a:xfrm>
            <a:off x="8092440" y="1737360"/>
            <a:ext cx="457200" cy="457200"/>
          </a:xfrm>
          <a:prstGeom prst="ellipse">
            <a:avLst/>
          </a:prstGeom>
          <a:solidFill>
            <a:schemeClr val="accent2"/>
          </a:solidFill>
          <a:ln/>
        </p:spPr>
      </p:sp>
      <p:pic>
        <p:nvPicPr>
          <p:cNvPr id="10" name="icon-eyeoff" descr="C:\Users\Akhilesh\AppData\Local\Temp\claude\C--Users-Akhilesh-Desktop-Claude-code-Happiest-Health\47a587f0-c947-456b-8324-0bf75adb31d4\scratchpad\deck\img\icons\eyeoff.png">    </p:cNvPr>
          <p:cNvPicPr>
            <a:picLocks noChangeAspect="1"/>
          </p:cNvPicPr>
          <p:nvPr/>
        </p:nvPicPr>
        <p:blipFill>
          <a:blip r:embed="rId2"/>
          <a:stretch>
            <a:fillRect/>
          </a:stretch>
        </p:blipFill>
        <p:spPr>
          <a:xfrm>
            <a:off x="8193024" y="1837944"/>
            <a:ext cx="256032" cy="256032"/>
          </a:xfrm>
          <a:prstGeom prst="rect">
            <a:avLst/>
          </a:prstGeom>
        </p:spPr>
      </p:pic>
      <p:sp>
        <p:nvSpPr>
          <p:cNvPr id="11" name="Text 7"/>
          <p:cNvSpPr txBox="1"/>
          <p:nvPr/>
        </p:nvSpPr>
        <p:spPr>
          <a:xfrm>
            <a:off x="8686800" y="1737360"/>
            <a:ext cx="2743200" cy="457200"/>
          </a:xfrm>
          <a:prstGeom prst="rect">
            <a:avLst/>
          </a:prstGeom>
          <a:noFill/>
          <a:ln/>
        </p:spPr>
        <p:txBody>
          <a:bodyPr wrap="square" lIns="0" tIns="0" rIns="0" bIns="0" rtlCol="0" anchor="ctr"/>
          <a:lstStyle/>
          <a:p>
            <a:pPr indent="0" marL="0">
              <a:buNone/>
            </a:pPr>
            <a:r>
              <a:rPr lang="en-US" sz="1400" b="1" dirty="0">
                <a:solidFill>
                  <a:schemeClr val="tx2"/>
                </a:solidFill>
              </a:rPr>
              <a:t>No CGM yet</a:t>
            </a:r>
            <a:endParaRPr lang="en-US" sz="1400" dirty="0"/>
          </a:p>
        </p:txBody>
      </p:sp>
      <p:sp>
        <p:nvSpPr>
          <p:cNvPr id="12" name="Text 8"/>
          <p:cNvSpPr txBox="1"/>
          <p:nvPr/>
        </p:nvSpPr>
        <p:spPr>
          <a:xfrm>
            <a:off x="8092440" y="2240280"/>
            <a:ext cx="3291840" cy="457200"/>
          </a:xfrm>
          <a:prstGeom prst="rect">
            <a:avLst/>
          </a:prstGeom>
          <a:noFill/>
          <a:ln/>
        </p:spPr>
        <p:txBody>
          <a:bodyPr wrap="square" lIns="0" tIns="0" rIns="0" bIns="0" rtlCol="0" anchor="t"/>
          <a:lstStyle/>
          <a:p>
            <a:pPr indent="0" marL="0">
              <a:buNone/>
            </a:pPr>
            <a:r>
              <a:rPr lang="en-US" sz="2400" b="1" dirty="0">
                <a:solidFill>
                  <a:schemeClr val="accent2"/>
                </a:solidFill>
                <a:latin typeface="Georgia" pitchFamily="34" charset="0"/>
                <a:ea typeface="Georgia" pitchFamily="34" charset="-122"/>
                <a:cs typeface="Georgia" pitchFamily="34" charset="-120"/>
              </a:rPr>
              <a:t>0.41 → 0.54</a:t>
            </a:r>
            <a:endParaRPr lang="en-US" sz="2400" dirty="0"/>
          </a:p>
        </p:txBody>
      </p:sp>
      <p:sp>
        <p:nvSpPr>
          <p:cNvPr id="13" name="Text 9"/>
          <p:cNvSpPr txBox="1"/>
          <p:nvPr/>
        </p:nvSpPr>
        <p:spPr>
          <a:xfrm>
            <a:off x="8092440" y="2697480"/>
            <a:ext cx="3337560" cy="457200"/>
          </a:xfrm>
          <a:prstGeom prst="rect">
            <a:avLst/>
          </a:prstGeom>
          <a:noFill/>
          <a:ln/>
        </p:spPr>
        <p:txBody>
          <a:bodyPr wrap="square" lIns="0" tIns="0" rIns="0" bIns="0" rtlCol="0" anchor="t"/>
          <a:lstStyle/>
          <a:p>
            <a:pPr indent="0" marL="0">
              <a:buNone/>
            </a:pPr>
            <a:r>
              <a:rPr lang="en-US" sz="1100" dirty="0">
                <a:solidFill>
                  <a:schemeClr val="accent6"/>
                </a:solidFill>
              </a:rPr>
              <a:t>The record carries a weak but real signal: enough to decide who to watch</a:t>
            </a:r>
            <a:endParaRPr lang="en-US" sz="1100" dirty="0"/>
          </a:p>
        </p:txBody>
      </p:sp>
      <p:sp>
        <p:nvSpPr>
          <p:cNvPr id="14" name="card"/>
          <p:cNvSpPr/>
          <p:nvPr/>
        </p:nvSpPr>
        <p:spPr>
          <a:xfrm>
            <a:off x="7863840" y="3337560"/>
            <a:ext cx="3730752" cy="1719072"/>
          </a:xfrm>
          <a:prstGeom prst="roundRect">
            <a:avLst>
              <a:gd name="adj" fmla="val 7447"/>
            </a:avLst>
          </a:prstGeom>
          <a:solidFill>
            <a:schemeClr val="bg1"/>
          </a:solidFill>
          <a:ln/>
          <a:effectLst>
            <a:outerShdw sx="100000" sy="100000" kx="0" ky="0" algn="bl" rotWithShape="0" blurRad="177800" dist="38100" dir="5400000">
              <a:srgbClr val="0B2F3F">
                <a:alpha val="10000"/>
              </a:srgbClr>
            </a:outerShdw>
          </a:effectLst>
        </p:spPr>
      </p:sp>
      <p:sp>
        <p:nvSpPr>
          <p:cNvPr id="15" name="icon-dot"/>
          <p:cNvSpPr/>
          <p:nvPr/>
        </p:nvSpPr>
        <p:spPr>
          <a:xfrm>
            <a:off x="8092440" y="3611880"/>
            <a:ext cx="457200" cy="457200"/>
          </a:xfrm>
          <a:prstGeom prst="ellipse">
            <a:avLst/>
          </a:prstGeom>
          <a:solidFill>
            <a:schemeClr val="accent1"/>
          </a:solidFill>
          <a:ln/>
        </p:spPr>
      </p:sp>
      <p:pic>
        <p:nvPicPr>
          <p:cNvPr id="16" name="icon-pulse" descr="C:\Users\Akhilesh\AppData\Local\Temp\claude\C--Users-Akhilesh-Desktop-Claude-code-Happiest-Health\47a587f0-c947-456b-8324-0bf75adb31d4\scratchpad\deck\img\icons\pulse.png">    </p:cNvPr>
          <p:cNvPicPr>
            <a:picLocks noChangeAspect="1"/>
          </p:cNvPicPr>
          <p:nvPr/>
        </p:nvPicPr>
        <p:blipFill>
          <a:blip r:embed="rId3"/>
          <a:stretch>
            <a:fillRect/>
          </a:stretch>
        </p:blipFill>
        <p:spPr>
          <a:xfrm>
            <a:off x="8193024" y="3712464"/>
            <a:ext cx="256032" cy="256032"/>
          </a:xfrm>
          <a:prstGeom prst="rect">
            <a:avLst/>
          </a:prstGeom>
        </p:spPr>
      </p:pic>
      <p:sp>
        <p:nvSpPr>
          <p:cNvPr id="17" name="Text 12"/>
          <p:cNvSpPr txBox="1"/>
          <p:nvPr/>
        </p:nvSpPr>
        <p:spPr>
          <a:xfrm>
            <a:off x="8686800" y="3611880"/>
            <a:ext cx="2743200" cy="457200"/>
          </a:xfrm>
          <a:prstGeom prst="rect">
            <a:avLst/>
          </a:prstGeom>
          <a:noFill/>
          <a:ln/>
        </p:spPr>
        <p:txBody>
          <a:bodyPr wrap="square" lIns="0" tIns="0" rIns="0" bIns="0" rtlCol="0" anchor="ctr"/>
          <a:lstStyle/>
          <a:p>
            <a:pPr indent="0" marL="0">
              <a:buNone/>
            </a:pPr>
            <a:r>
              <a:rPr lang="en-US" sz="1400" b="1" dirty="0">
                <a:solidFill>
                  <a:schemeClr val="tx2"/>
                </a:solidFill>
              </a:rPr>
              <a:t>30 minutes of CGM</a:t>
            </a:r>
            <a:endParaRPr lang="en-US" sz="1400" dirty="0"/>
          </a:p>
        </p:txBody>
      </p:sp>
      <p:sp>
        <p:nvSpPr>
          <p:cNvPr id="18" name="Text 13"/>
          <p:cNvSpPr txBox="1"/>
          <p:nvPr/>
        </p:nvSpPr>
        <p:spPr>
          <a:xfrm>
            <a:off x="8092440" y="4114800"/>
            <a:ext cx="3291840" cy="457200"/>
          </a:xfrm>
          <a:prstGeom prst="rect">
            <a:avLst/>
          </a:prstGeom>
          <a:noFill/>
          <a:ln/>
        </p:spPr>
        <p:txBody>
          <a:bodyPr wrap="square" lIns="0" tIns="0" rIns="0" bIns="0" rtlCol="0" anchor="t"/>
          <a:lstStyle/>
          <a:p>
            <a:pPr indent="0" marL="0">
              <a:buNone/>
            </a:pPr>
            <a:r>
              <a:rPr lang="en-US" sz="2400" b="1" dirty="0">
                <a:solidFill>
                  <a:schemeClr val="accent1"/>
                </a:solidFill>
                <a:latin typeface="Georgia" pitchFamily="34" charset="0"/>
                <a:ea typeface="Georgia" pitchFamily="34" charset="-122"/>
                <a:cs typeface="Georgia" pitchFamily="34" charset="-120"/>
              </a:rPr>
              <a:t>0.88</a:t>
            </a:r>
            <a:endParaRPr lang="en-US" sz="2400" dirty="0"/>
          </a:p>
        </p:txBody>
      </p:sp>
      <p:sp>
        <p:nvSpPr>
          <p:cNvPr id="19" name="Text 14"/>
          <p:cNvSpPr txBox="1"/>
          <p:nvPr/>
        </p:nvSpPr>
        <p:spPr>
          <a:xfrm>
            <a:off x="8092440" y="4572000"/>
            <a:ext cx="3337560" cy="457200"/>
          </a:xfrm>
          <a:prstGeom prst="rect">
            <a:avLst/>
          </a:prstGeom>
          <a:noFill/>
          <a:ln/>
        </p:spPr>
        <p:txBody>
          <a:bodyPr wrap="square" lIns="0" tIns="0" rIns="0" bIns="0" rtlCol="0" anchor="t"/>
          <a:lstStyle/>
          <a:p>
            <a:pPr indent="0" marL="0">
              <a:buNone/>
            </a:pPr>
            <a:r>
              <a:rPr lang="en-US" sz="1100" dirty="0">
                <a:solidFill>
                  <a:schemeClr val="accent6"/>
                </a:solidFill>
              </a:rPr>
              <a:t>Almost as good as 6 hours, and from then on the record adds nothing</a:t>
            </a:r>
            <a:endParaRPr lang="en-US" sz="1100" dirty="0"/>
          </a:p>
        </p:txBody>
      </p:sp>
      <p:sp>
        <p:nvSpPr>
          <p:cNvPr id="20" name="card"/>
          <p:cNvSpPr/>
          <p:nvPr/>
        </p:nvSpPr>
        <p:spPr>
          <a:xfrm>
            <a:off x="7863840" y="5212080"/>
            <a:ext cx="3730752" cy="777240"/>
          </a:xfrm>
          <a:prstGeom prst="roundRect">
            <a:avLst>
              <a:gd name="adj" fmla="val 16471"/>
            </a:avLst>
          </a:prstGeom>
          <a:solidFill>
            <a:schemeClr val="tx2"/>
          </a:solidFill>
          <a:ln/>
          <a:effectLst>
            <a:outerShdw sx="100000" sy="100000" kx="0" ky="0" algn="bl" rotWithShape="0" blurRad="177800" dist="38100" dir="5400000">
              <a:srgbClr val="0B2F3F">
                <a:alpha val="10000"/>
              </a:srgbClr>
            </a:outerShdw>
          </a:effectLst>
        </p:spPr>
      </p:sp>
      <p:sp>
        <p:nvSpPr>
          <p:cNvPr id="21" name="Text 16"/>
          <p:cNvSpPr txBox="1"/>
          <p:nvPr/>
        </p:nvSpPr>
        <p:spPr>
          <a:xfrm>
            <a:off x="8092440" y="5212080"/>
            <a:ext cx="3383280" cy="777240"/>
          </a:xfrm>
          <a:prstGeom prst="rect">
            <a:avLst/>
          </a:prstGeom>
          <a:noFill/>
          <a:ln/>
        </p:spPr>
        <p:txBody>
          <a:bodyPr wrap="square" lIns="0" tIns="0" rIns="0" bIns="0" rtlCol="0" anchor="ctr"/>
          <a:lstStyle/>
          <a:p>
            <a:pPr indent="0" marL="0">
              <a:buNone/>
            </a:pPr>
            <a:r>
              <a:rPr lang="en-US" sz="1400" b="1" dirty="0">
                <a:solidFill>
                  <a:schemeClr val="bg1"/>
                </a:solidFill>
              </a:rPr>
              <a:t>So the record is a prior, not a forecaster</a:t>
            </a:r>
            <a:endParaRPr lang="en-US" sz="1400" dirty="0"/>
          </a:p>
        </p:txBody>
      </p:sp>
      <p:sp>
        <p:nvSpPr>
          <p:cNvPr id="25" name="Slide Number Placeholder 0"/>
          <p:cNvSpPr>
            <a:spLocks noGrp="1"/>
          </p:cNvSpPr>
          <p:nvPr>
            <p:ph type="sldNum" sz="quarter" idx="4294967295"/>
          </p:nvPr>
        </p:nvSpPr>
        <p:spPr>
          <a:xfrm>
            <a:off x="11140135"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94360" y="292608"/>
            <a:ext cx="8229600" cy="256032"/>
          </a:xfrm>
          <a:prstGeom prst="rect">
            <a:avLst/>
          </a:prstGeom>
          <a:noFill/>
          <a:ln/>
        </p:spPr>
        <p:txBody>
          <a:bodyPr wrap="square" lIns="0" tIns="0" rIns="0" bIns="0" rtlCol="0" anchor="t"/>
          <a:lstStyle/>
          <a:p>
            <a:pPr indent="0" marL="0">
              <a:buNone/>
            </a:pPr>
            <a:r>
              <a:rPr lang="en-US" sz="1100" b="1" spc="300" kern="0" dirty="0">
                <a:solidFill>
                  <a:schemeClr val="accent1"/>
                </a:solidFill>
              </a:rPr>
              <a:t>14 · INTEGRITY</a:t>
            </a:r>
            <a:endParaRPr lang="en-US" sz="1100" dirty="0"/>
          </a:p>
        </p:txBody>
      </p:sp>
      <p:sp>
        <p:nvSpPr>
          <p:cNvPr id="3" name="Text 0"/>
          <p:cNvSpPr/>
          <p:nvPr>
            <p:ph idx="100" type="title" hasCustomPrompt="1"/>
          </p:nvPr>
        </p:nvSpPr>
        <p:spPr>
          <a:xfrm>
            <a:off x="594360" y="566928"/>
            <a:ext cx="11002975" cy="658368"/>
          </a:xfrm>
          <a:prstGeom prst="rect">
            <a:avLst/>
          </a:prstGeom>
          <a:noFill/>
          <a:ln/>
        </p:spPr>
        <p:txBody>
          <a:bodyPr wrap="square" lIns="0" tIns="0" rIns="0" bIns="0" rtlCol="0" anchor="ctr"/>
          <a:lstStyle/>
          <a:p>
            <a:pPr algn="l" indent="0" marL="0">
              <a:buNone/>
            </a:pPr>
            <a:r>
              <a:rPr lang="en-US" sz="3000" b="1" dirty="0">
                <a:solidFill>
                  <a:schemeClr val="tx2"/>
                </a:solidFill>
                <a:latin typeface="Georgia" pitchFamily="34" charset="0"/>
                <a:ea typeface="Georgia" pitchFamily="34" charset="-122"/>
                <a:cs typeface="Georgia" pitchFamily="34" charset="-120"/>
              </a:rPr>
              <a:t>What we claim, and what we no longer claim</a:t>
            </a:r>
            <a:endParaRPr lang="en-US" sz="3000" dirty="0"/>
          </a:p>
        </p:txBody>
      </p:sp>
      <p:sp>
        <p:nvSpPr>
          <p:cNvPr id="4" name="card"/>
          <p:cNvSpPr/>
          <p:nvPr/>
        </p:nvSpPr>
        <p:spPr>
          <a:xfrm>
            <a:off x="594360" y="1463040"/>
            <a:ext cx="5486400" cy="4526280"/>
          </a:xfrm>
          <a:prstGeom prst="roundRect">
            <a:avLst>
              <a:gd name="adj" fmla="val 2828"/>
            </a:avLst>
          </a:prstGeom>
          <a:solidFill>
            <a:schemeClr val="bg1"/>
          </a:solidFill>
          <a:ln/>
          <a:effectLst>
            <a:outerShdw sx="100000" sy="100000" kx="0" ky="0" algn="bl" rotWithShape="0" blurRad="177800" dist="38100" dir="5400000">
              <a:srgbClr val="0B2F3F">
                <a:alpha val="10000"/>
              </a:srgbClr>
            </a:outerShdw>
          </a:effectLst>
        </p:spPr>
      </p:sp>
      <p:sp>
        <p:nvSpPr>
          <p:cNvPr id="5" name="Text 3"/>
          <p:cNvSpPr txBox="1"/>
          <p:nvPr/>
        </p:nvSpPr>
        <p:spPr>
          <a:xfrm>
            <a:off x="960120" y="1691640"/>
            <a:ext cx="4572000" cy="457200"/>
          </a:xfrm>
          <a:prstGeom prst="rect">
            <a:avLst/>
          </a:prstGeom>
          <a:noFill/>
          <a:ln/>
        </p:spPr>
        <p:txBody>
          <a:bodyPr wrap="square" lIns="0" tIns="0" rIns="0" bIns="0" rtlCol="0" anchor="t"/>
          <a:lstStyle/>
          <a:p>
            <a:pPr indent="0" marL="0">
              <a:buNone/>
            </a:pPr>
            <a:r>
              <a:rPr lang="en-US" sz="2200" b="1" dirty="0">
                <a:solidFill>
                  <a:schemeClr val="accent1"/>
                </a:solidFill>
                <a:latin typeface="Georgia" pitchFamily="34" charset="0"/>
                <a:ea typeface="Georgia" pitchFamily="34" charset="-122"/>
                <a:cs typeface="Georgia" pitchFamily="34" charset="-120"/>
              </a:rPr>
              <a:t>We claim</a:t>
            </a:r>
            <a:endParaRPr lang="en-US" sz="2200" dirty="0"/>
          </a:p>
        </p:txBody>
      </p:sp>
      <p:sp>
        <p:nvSpPr>
          <p:cNvPr id="6" name="icon-dot"/>
          <p:cNvSpPr/>
          <p:nvPr/>
        </p:nvSpPr>
        <p:spPr>
          <a:xfrm>
            <a:off x="960120" y="2377440"/>
            <a:ext cx="384048" cy="384048"/>
          </a:xfrm>
          <a:prstGeom prst="ellipse">
            <a:avLst/>
          </a:prstGeom>
          <a:solidFill>
            <a:schemeClr val="accent1"/>
          </a:solidFill>
          <a:ln/>
        </p:spPr>
      </p:sp>
      <p:pic>
        <p:nvPicPr>
          <p:cNvPr id="7" name="icon-check" descr="C:\Users\Akhilesh\AppData\Local\Temp\claude\C--Users-Akhilesh-Desktop-Claude-code-Happiest-Health\47a587f0-c947-456b-8324-0bf75adb31d4\scratchpad\deck\img\icons\check.png">    </p:cNvPr>
          <p:cNvPicPr>
            <a:picLocks noChangeAspect="1"/>
          </p:cNvPicPr>
          <p:nvPr/>
        </p:nvPicPr>
        <p:blipFill>
          <a:blip r:embed="rId1"/>
          <a:stretch>
            <a:fillRect/>
          </a:stretch>
        </p:blipFill>
        <p:spPr>
          <a:xfrm>
            <a:off x="1044611" y="2461931"/>
            <a:ext cx="215067" cy="215067"/>
          </a:xfrm>
          <a:prstGeom prst="rect">
            <a:avLst/>
          </a:prstGeom>
        </p:spPr>
      </p:pic>
      <p:sp>
        <p:nvSpPr>
          <p:cNvPr id="8" name="Text 5"/>
          <p:cNvSpPr txBox="1"/>
          <p:nvPr/>
        </p:nvSpPr>
        <p:spPr>
          <a:xfrm>
            <a:off x="1508760" y="2322576"/>
            <a:ext cx="4343400" cy="548640"/>
          </a:xfrm>
          <a:prstGeom prst="rect">
            <a:avLst/>
          </a:prstGeom>
          <a:noFill/>
          <a:ln/>
        </p:spPr>
        <p:txBody>
          <a:bodyPr wrap="square" lIns="0" tIns="0" rIns="0" bIns="0" rtlCol="0" anchor="ctr"/>
          <a:lstStyle/>
          <a:p>
            <a:pPr indent="0" marL="0">
              <a:buNone/>
            </a:pPr>
            <a:r>
              <a:rPr lang="en-US" sz="1300" dirty="0">
                <a:solidFill>
                  <a:schemeClr val="tx1"/>
                </a:solidFill>
              </a:rPr>
              <a:t>A CGM-based twin predicts real lows 2 hours ahead (AUROC 0.89 on 100 real patients)</a:t>
            </a:r>
            <a:endParaRPr lang="en-US" sz="1300" dirty="0"/>
          </a:p>
        </p:txBody>
      </p:sp>
      <p:sp>
        <p:nvSpPr>
          <p:cNvPr id="9" name="icon-dot"/>
          <p:cNvSpPr/>
          <p:nvPr/>
        </p:nvSpPr>
        <p:spPr>
          <a:xfrm>
            <a:off x="960120" y="3063240"/>
            <a:ext cx="384048" cy="384048"/>
          </a:xfrm>
          <a:prstGeom prst="ellipse">
            <a:avLst/>
          </a:prstGeom>
          <a:solidFill>
            <a:schemeClr val="accent1"/>
          </a:solidFill>
          <a:ln/>
        </p:spPr>
      </p:sp>
      <p:pic>
        <p:nvPicPr>
          <p:cNvPr id="10" name="icon-check" descr="C:\Users\Akhilesh\AppData\Local\Temp\claude\C--Users-Akhilesh-Desktop-Claude-code-Happiest-Health\47a587f0-c947-456b-8324-0bf75adb31d4\scratchpad\deck\img\icons\check.png">    </p:cNvPr>
          <p:cNvPicPr>
            <a:picLocks noChangeAspect="1"/>
          </p:cNvPicPr>
          <p:nvPr/>
        </p:nvPicPr>
        <p:blipFill>
          <a:blip r:embed="rId2"/>
          <a:stretch>
            <a:fillRect/>
          </a:stretch>
        </p:blipFill>
        <p:spPr>
          <a:xfrm>
            <a:off x="1044611" y="3147731"/>
            <a:ext cx="215067" cy="215067"/>
          </a:xfrm>
          <a:prstGeom prst="rect">
            <a:avLst/>
          </a:prstGeom>
        </p:spPr>
      </p:pic>
      <p:sp>
        <p:nvSpPr>
          <p:cNvPr id="11" name="Text 7"/>
          <p:cNvSpPr txBox="1"/>
          <p:nvPr/>
        </p:nvSpPr>
        <p:spPr>
          <a:xfrm>
            <a:off x="1508760" y="3008376"/>
            <a:ext cx="4343400" cy="548640"/>
          </a:xfrm>
          <a:prstGeom prst="rect">
            <a:avLst/>
          </a:prstGeom>
          <a:noFill/>
          <a:ln/>
        </p:spPr>
        <p:txBody>
          <a:bodyPr wrap="square" lIns="0" tIns="0" rIns="0" bIns="0" rtlCol="0" anchor="ctr"/>
          <a:lstStyle/>
          <a:p>
            <a:pPr indent="0" marL="0">
              <a:buNone/>
            </a:pPr>
            <a:r>
              <a:rPr lang="en-US" sz="1300" dirty="0">
                <a:solidFill>
                  <a:schemeClr val="tx1"/>
                </a:solidFill>
              </a:rPr>
              <a:t>On real patients, alerts warn of 35% of lows 30 minutes ahead at 0.6 a day: an honest baseline</a:t>
            </a:r>
            <a:endParaRPr lang="en-US" sz="1300" dirty="0"/>
          </a:p>
        </p:txBody>
      </p:sp>
      <p:sp>
        <p:nvSpPr>
          <p:cNvPr id="12" name="icon-dot"/>
          <p:cNvSpPr/>
          <p:nvPr/>
        </p:nvSpPr>
        <p:spPr>
          <a:xfrm>
            <a:off x="960120" y="3749040"/>
            <a:ext cx="384048" cy="384048"/>
          </a:xfrm>
          <a:prstGeom prst="ellipse">
            <a:avLst/>
          </a:prstGeom>
          <a:solidFill>
            <a:schemeClr val="accent1"/>
          </a:solidFill>
          <a:ln/>
        </p:spPr>
      </p:sp>
      <p:pic>
        <p:nvPicPr>
          <p:cNvPr id="13" name="icon-check" descr="C:\Users\Akhilesh\AppData\Local\Temp\claude\C--Users-Akhilesh-Desktop-Claude-code-Happiest-Health\47a587f0-c947-456b-8324-0bf75adb31d4\scratchpad\deck\img\icons\check.png">    </p:cNvPr>
          <p:cNvPicPr>
            <a:picLocks noChangeAspect="1"/>
          </p:cNvPicPr>
          <p:nvPr/>
        </p:nvPicPr>
        <p:blipFill>
          <a:blip r:embed="rId3"/>
          <a:stretch>
            <a:fillRect/>
          </a:stretch>
        </p:blipFill>
        <p:spPr>
          <a:xfrm>
            <a:off x="1044611" y="3833531"/>
            <a:ext cx="215067" cy="215067"/>
          </a:xfrm>
          <a:prstGeom prst="rect">
            <a:avLst/>
          </a:prstGeom>
        </p:spPr>
      </p:pic>
      <p:sp>
        <p:nvSpPr>
          <p:cNvPr id="14" name="Text 9"/>
          <p:cNvSpPr txBox="1"/>
          <p:nvPr/>
        </p:nvSpPr>
        <p:spPr>
          <a:xfrm>
            <a:off x="1508760" y="3694176"/>
            <a:ext cx="4343400" cy="548640"/>
          </a:xfrm>
          <a:prstGeom prst="rect">
            <a:avLst/>
          </a:prstGeom>
          <a:noFill/>
          <a:ln/>
        </p:spPr>
        <p:txBody>
          <a:bodyPr wrap="square" lIns="0" tIns="0" rIns="0" bIns="0" rtlCol="0" anchor="ctr"/>
          <a:lstStyle/>
          <a:p>
            <a:pPr indent="0" marL="0">
              <a:buNone/>
            </a:pPr>
            <a:r>
              <a:rPr lang="en-US" sz="1300" dirty="0">
                <a:solidFill>
                  <a:schemeClr val="tx1"/>
                </a:solidFill>
              </a:rPr>
              <a:t>Recalibration on local data fixes the probabilities</a:t>
            </a:r>
            <a:endParaRPr lang="en-US" sz="1300" dirty="0"/>
          </a:p>
        </p:txBody>
      </p:sp>
      <p:sp>
        <p:nvSpPr>
          <p:cNvPr id="15" name="icon-dot"/>
          <p:cNvSpPr/>
          <p:nvPr/>
        </p:nvSpPr>
        <p:spPr>
          <a:xfrm>
            <a:off x="960120" y="4434840"/>
            <a:ext cx="384048" cy="384048"/>
          </a:xfrm>
          <a:prstGeom prst="ellipse">
            <a:avLst/>
          </a:prstGeom>
          <a:solidFill>
            <a:schemeClr val="accent1"/>
          </a:solidFill>
          <a:ln/>
        </p:spPr>
      </p:sp>
      <p:pic>
        <p:nvPicPr>
          <p:cNvPr id="16" name="icon-check" descr="C:\Users\Akhilesh\AppData\Local\Temp\claude\C--Users-Akhilesh-Desktop-Claude-code-Happiest-Health\47a587f0-c947-456b-8324-0bf75adb31d4\scratchpad\deck\img\icons\check.png">    </p:cNvPr>
          <p:cNvPicPr>
            <a:picLocks noChangeAspect="1"/>
          </p:cNvPicPr>
          <p:nvPr/>
        </p:nvPicPr>
        <p:blipFill>
          <a:blip r:embed="rId4"/>
          <a:stretch>
            <a:fillRect/>
          </a:stretch>
        </p:blipFill>
        <p:spPr>
          <a:xfrm>
            <a:off x="1044611" y="4519331"/>
            <a:ext cx="215067" cy="215067"/>
          </a:xfrm>
          <a:prstGeom prst="rect">
            <a:avLst/>
          </a:prstGeom>
        </p:spPr>
      </p:pic>
      <p:sp>
        <p:nvSpPr>
          <p:cNvPr id="17" name="Text 11"/>
          <p:cNvSpPr txBox="1"/>
          <p:nvPr/>
        </p:nvSpPr>
        <p:spPr>
          <a:xfrm>
            <a:off x="1508760" y="4379976"/>
            <a:ext cx="4343400" cy="548640"/>
          </a:xfrm>
          <a:prstGeom prst="rect">
            <a:avLst/>
          </a:prstGeom>
          <a:noFill/>
          <a:ln/>
        </p:spPr>
        <p:txBody>
          <a:bodyPr wrap="square" lIns="0" tIns="0" rIns="0" bIns="0" rtlCol="0" anchor="ctr"/>
          <a:lstStyle/>
          <a:p>
            <a:pPr indent="0" marL="0">
              <a:buNone/>
            </a:pPr>
            <a:r>
              <a:rPr lang="en-US" sz="1300" dirty="0">
                <a:solidFill>
                  <a:schemeClr val="tx1"/>
                </a:solidFill>
              </a:rPr>
              <a:t>A personalised twin halves projection error, with honest bands</a:t>
            </a:r>
            <a:endParaRPr lang="en-US" sz="1300" dirty="0"/>
          </a:p>
        </p:txBody>
      </p:sp>
      <p:sp>
        <p:nvSpPr>
          <p:cNvPr id="18" name="icon-dot"/>
          <p:cNvSpPr/>
          <p:nvPr/>
        </p:nvSpPr>
        <p:spPr>
          <a:xfrm>
            <a:off x="960120" y="5120640"/>
            <a:ext cx="384048" cy="384048"/>
          </a:xfrm>
          <a:prstGeom prst="ellipse">
            <a:avLst/>
          </a:prstGeom>
          <a:solidFill>
            <a:schemeClr val="accent1"/>
          </a:solidFill>
          <a:ln/>
        </p:spPr>
      </p:sp>
      <p:pic>
        <p:nvPicPr>
          <p:cNvPr id="19" name="icon-check" descr="C:\Users\Akhilesh\AppData\Local\Temp\claude\C--Users-Akhilesh-Desktop-Claude-code-Happiest-Health\47a587f0-c947-456b-8324-0bf75adb31d4\scratchpad\deck\img\icons\check.png">    </p:cNvPr>
          <p:cNvPicPr>
            <a:picLocks noChangeAspect="1"/>
          </p:cNvPicPr>
          <p:nvPr/>
        </p:nvPicPr>
        <p:blipFill>
          <a:blip r:embed="rId5"/>
          <a:stretch>
            <a:fillRect/>
          </a:stretch>
        </p:blipFill>
        <p:spPr>
          <a:xfrm>
            <a:off x="1044611" y="5205131"/>
            <a:ext cx="215067" cy="215067"/>
          </a:xfrm>
          <a:prstGeom prst="rect">
            <a:avLst/>
          </a:prstGeom>
        </p:spPr>
      </p:pic>
      <p:sp>
        <p:nvSpPr>
          <p:cNvPr id="20" name="Text 13"/>
          <p:cNvSpPr txBox="1"/>
          <p:nvPr/>
        </p:nvSpPr>
        <p:spPr>
          <a:xfrm>
            <a:off x="1508760" y="5065776"/>
            <a:ext cx="4343400" cy="548640"/>
          </a:xfrm>
          <a:prstGeom prst="rect">
            <a:avLst/>
          </a:prstGeom>
          <a:noFill/>
          <a:ln/>
        </p:spPr>
        <p:txBody>
          <a:bodyPr wrap="square" lIns="0" tIns="0" rIns="0" bIns="0" rtlCol="0" anchor="ctr"/>
          <a:lstStyle/>
          <a:p>
            <a:pPr indent="0" marL="0">
              <a:buNone/>
            </a:pPr>
            <a:r>
              <a:rPr lang="en-US" sz="1300" dirty="0">
                <a:solidFill>
                  <a:schemeClr val="tx1"/>
                </a:solidFill>
              </a:rPr>
              <a:t>The product ships a model trained on real patients</a:t>
            </a:r>
            <a:endParaRPr lang="en-US" sz="1300" dirty="0"/>
          </a:p>
        </p:txBody>
      </p:sp>
      <p:sp>
        <p:nvSpPr>
          <p:cNvPr id="21" name="card"/>
          <p:cNvSpPr/>
          <p:nvPr/>
        </p:nvSpPr>
        <p:spPr>
          <a:xfrm>
            <a:off x="6263640" y="1463040"/>
            <a:ext cx="5330952" cy="4526280"/>
          </a:xfrm>
          <a:prstGeom prst="roundRect">
            <a:avLst>
              <a:gd name="adj" fmla="val 2828"/>
            </a:avLst>
          </a:prstGeom>
          <a:solidFill>
            <a:schemeClr val="tx2"/>
          </a:solidFill>
          <a:ln/>
          <a:effectLst>
            <a:outerShdw sx="100000" sy="100000" kx="0" ky="0" algn="bl" rotWithShape="0" blurRad="177800" dist="38100" dir="5400000">
              <a:srgbClr val="0B2F3F">
                <a:alpha val="10000"/>
              </a:srgbClr>
            </a:outerShdw>
          </a:effectLst>
        </p:spPr>
      </p:sp>
      <p:sp>
        <p:nvSpPr>
          <p:cNvPr id="22" name="Text 15"/>
          <p:cNvSpPr txBox="1"/>
          <p:nvPr/>
        </p:nvSpPr>
        <p:spPr>
          <a:xfrm>
            <a:off x="6629400" y="1691640"/>
            <a:ext cx="4572000" cy="457200"/>
          </a:xfrm>
          <a:prstGeom prst="rect">
            <a:avLst/>
          </a:prstGeom>
          <a:noFill/>
          <a:ln/>
        </p:spPr>
        <p:txBody>
          <a:bodyPr wrap="square" lIns="0" tIns="0" rIns="0" bIns="0" rtlCol="0" anchor="t"/>
          <a:lstStyle/>
          <a:p>
            <a:pPr indent="0" marL="0">
              <a:buNone/>
            </a:pPr>
            <a:r>
              <a:rPr lang="en-US" sz="2200" b="1" dirty="0">
                <a:solidFill>
                  <a:schemeClr val="bg1"/>
                </a:solidFill>
                <a:latin typeface="Georgia" pitchFamily="34" charset="0"/>
                <a:ea typeface="Georgia" pitchFamily="34" charset="-122"/>
                <a:cs typeface="Georgia" pitchFamily="34" charset="-120"/>
              </a:rPr>
              <a:t>We no longer claim</a:t>
            </a:r>
            <a:endParaRPr lang="en-US" sz="2200" dirty="0"/>
          </a:p>
        </p:txBody>
      </p:sp>
      <p:sp>
        <p:nvSpPr>
          <p:cNvPr id="23" name="icon-dot"/>
          <p:cNvSpPr/>
          <p:nvPr/>
        </p:nvSpPr>
        <p:spPr>
          <a:xfrm>
            <a:off x="6629400" y="2377440"/>
            <a:ext cx="384048" cy="384048"/>
          </a:xfrm>
          <a:prstGeom prst="ellipse">
            <a:avLst/>
          </a:prstGeom>
          <a:solidFill>
            <a:schemeClr val="accent2"/>
          </a:solidFill>
          <a:ln/>
        </p:spPr>
      </p:sp>
      <p:pic>
        <p:nvPicPr>
          <p:cNvPr id="24" name="icon-x" descr="C:\Users\Akhilesh\AppData\Local\Temp\claude\C--Users-Akhilesh-Desktop-Claude-code-Happiest-Health\47a587f0-c947-456b-8324-0bf75adb31d4\scratchpad\deck\img\icons\x.png">    </p:cNvPr>
          <p:cNvPicPr>
            <a:picLocks noChangeAspect="1"/>
          </p:cNvPicPr>
          <p:nvPr/>
        </p:nvPicPr>
        <p:blipFill>
          <a:blip r:embed="rId6"/>
          <a:stretch>
            <a:fillRect/>
          </a:stretch>
        </p:blipFill>
        <p:spPr>
          <a:xfrm>
            <a:off x="6713891" y="2461931"/>
            <a:ext cx="215067" cy="215067"/>
          </a:xfrm>
          <a:prstGeom prst="rect">
            <a:avLst/>
          </a:prstGeom>
        </p:spPr>
      </p:pic>
      <p:sp>
        <p:nvSpPr>
          <p:cNvPr id="25" name="Text 17"/>
          <p:cNvSpPr txBox="1"/>
          <p:nvPr/>
        </p:nvSpPr>
        <p:spPr>
          <a:xfrm>
            <a:off x="7178040" y="2286000"/>
            <a:ext cx="4114800" cy="640080"/>
          </a:xfrm>
          <a:prstGeom prst="rect">
            <a:avLst/>
          </a:prstGeom>
          <a:noFill/>
          <a:ln/>
        </p:spPr>
        <p:txBody>
          <a:bodyPr wrap="square" lIns="0" tIns="0" rIns="0" bIns="0" rtlCol="0" anchor="ctr"/>
          <a:lstStyle/>
          <a:p>
            <a:pPr indent="0" marL="0">
              <a:buNone/>
            </a:pPr>
            <a:r>
              <a:rPr lang="en-US" sz="1300" dirty="0">
                <a:solidFill>
                  <a:schemeClr val="bg1"/>
                </a:solidFill>
              </a:rPr>
              <a:t>That adding the health record improves the 2-hour forecast: true on synthetic data only</a:t>
            </a:r>
            <a:endParaRPr lang="en-US" sz="1300" dirty="0"/>
          </a:p>
        </p:txBody>
      </p:sp>
      <p:sp>
        <p:nvSpPr>
          <p:cNvPr id="26" name="icon-dot"/>
          <p:cNvSpPr/>
          <p:nvPr/>
        </p:nvSpPr>
        <p:spPr>
          <a:xfrm>
            <a:off x="6629400" y="3200400"/>
            <a:ext cx="384048" cy="384048"/>
          </a:xfrm>
          <a:prstGeom prst="ellipse">
            <a:avLst/>
          </a:prstGeom>
          <a:solidFill>
            <a:schemeClr val="accent2"/>
          </a:solidFill>
          <a:ln/>
        </p:spPr>
      </p:sp>
      <p:pic>
        <p:nvPicPr>
          <p:cNvPr id="27" name="icon-x" descr="C:\Users\Akhilesh\AppData\Local\Temp\claude\C--Users-Akhilesh-Desktop-Claude-code-Happiest-Health\47a587f0-c947-456b-8324-0bf75adb31d4\scratchpad\deck\img\icons\x.png">    </p:cNvPr>
          <p:cNvPicPr>
            <a:picLocks noChangeAspect="1"/>
          </p:cNvPicPr>
          <p:nvPr/>
        </p:nvPicPr>
        <p:blipFill>
          <a:blip r:embed="rId7"/>
          <a:stretch>
            <a:fillRect/>
          </a:stretch>
        </p:blipFill>
        <p:spPr>
          <a:xfrm>
            <a:off x="6713891" y="3284891"/>
            <a:ext cx="215067" cy="215067"/>
          </a:xfrm>
          <a:prstGeom prst="rect">
            <a:avLst/>
          </a:prstGeom>
        </p:spPr>
      </p:pic>
      <p:sp>
        <p:nvSpPr>
          <p:cNvPr id="28" name="Text 19"/>
          <p:cNvSpPr txBox="1"/>
          <p:nvPr/>
        </p:nvSpPr>
        <p:spPr>
          <a:xfrm>
            <a:off x="7178040" y="3108960"/>
            <a:ext cx="4114800" cy="640080"/>
          </a:xfrm>
          <a:prstGeom prst="rect">
            <a:avLst/>
          </a:prstGeom>
          <a:noFill/>
          <a:ln/>
        </p:spPr>
        <p:txBody>
          <a:bodyPr wrap="square" lIns="0" tIns="0" rIns="0" bIns="0" rtlCol="0" anchor="ctr"/>
          <a:lstStyle/>
          <a:p>
            <a:pPr indent="0" marL="0">
              <a:buNone/>
            </a:pPr>
            <a:r>
              <a:rPr lang="en-US" sz="1300" dirty="0">
                <a:solidFill>
                  <a:schemeClr val="bg1"/>
                </a:solidFill>
              </a:rPr>
              <a:t>That synthetic accuracy (0.93) is what real patients would see</a:t>
            </a:r>
            <a:endParaRPr lang="en-US" sz="1300" dirty="0"/>
          </a:p>
        </p:txBody>
      </p:sp>
      <p:sp>
        <p:nvSpPr>
          <p:cNvPr id="29" name="icon-dot"/>
          <p:cNvSpPr/>
          <p:nvPr/>
        </p:nvSpPr>
        <p:spPr>
          <a:xfrm>
            <a:off x="6629400" y="4023360"/>
            <a:ext cx="384048" cy="384048"/>
          </a:xfrm>
          <a:prstGeom prst="ellipse">
            <a:avLst/>
          </a:prstGeom>
          <a:solidFill>
            <a:schemeClr val="accent2"/>
          </a:solidFill>
          <a:ln/>
        </p:spPr>
      </p:sp>
      <p:pic>
        <p:nvPicPr>
          <p:cNvPr id="30" name="icon-x" descr="C:\Users\Akhilesh\AppData\Local\Temp\claude\C--Users-Akhilesh-Desktop-Claude-code-Happiest-Health\47a587f0-c947-456b-8324-0bf75adb31d4\scratchpad\deck\img\icons\x.png">    </p:cNvPr>
          <p:cNvPicPr>
            <a:picLocks noChangeAspect="1"/>
          </p:cNvPicPr>
          <p:nvPr/>
        </p:nvPicPr>
        <p:blipFill>
          <a:blip r:embed="rId8"/>
          <a:stretch>
            <a:fillRect/>
          </a:stretch>
        </p:blipFill>
        <p:spPr>
          <a:xfrm>
            <a:off x="6713891" y="4107851"/>
            <a:ext cx="215067" cy="215067"/>
          </a:xfrm>
          <a:prstGeom prst="rect">
            <a:avLst/>
          </a:prstGeom>
        </p:spPr>
      </p:pic>
      <p:sp>
        <p:nvSpPr>
          <p:cNvPr id="31" name="Text 21"/>
          <p:cNvSpPr txBox="1"/>
          <p:nvPr/>
        </p:nvSpPr>
        <p:spPr>
          <a:xfrm>
            <a:off x="7178040" y="3931920"/>
            <a:ext cx="4114800" cy="640080"/>
          </a:xfrm>
          <a:prstGeom prst="rect">
            <a:avLst/>
          </a:prstGeom>
          <a:noFill/>
          <a:ln/>
        </p:spPr>
        <p:txBody>
          <a:bodyPr wrap="square" lIns="0" tIns="0" rIns="0" bIns="0" rtlCol="0" anchor="ctr"/>
          <a:lstStyle/>
          <a:p>
            <a:pPr indent="0" marL="0">
              <a:buNone/>
            </a:pPr>
            <a:r>
              <a:rPr lang="en-US" sz="1300" dirty="0">
                <a:solidFill>
                  <a:schemeClr val="bg1"/>
                </a:solidFill>
              </a:rPr>
              <a:t>Any clinical validity: this is a research prototype</a:t>
            </a:r>
            <a:endParaRPr lang="en-US" sz="1300" dirty="0"/>
          </a:p>
        </p:txBody>
      </p:sp>
      <p:sp>
        <p:nvSpPr>
          <p:cNvPr id="32" name="Text 22"/>
          <p:cNvSpPr txBox="1"/>
          <p:nvPr/>
        </p:nvSpPr>
        <p:spPr>
          <a:xfrm>
            <a:off x="6629400" y="5074920"/>
            <a:ext cx="4663440" cy="640080"/>
          </a:xfrm>
          <a:prstGeom prst="rect">
            <a:avLst/>
          </a:prstGeom>
          <a:noFill/>
          <a:ln/>
        </p:spPr>
        <p:txBody>
          <a:bodyPr wrap="square" lIns="0" tIns="0" rIns="0" bIns="0" rtlCol="0" anchor="t"/>
          <a:lstStyle/>
          <a:p>
            <a:pPr indent="0" marL="0">
              <a:buNone/>
            </a:pPr>
            <a:r>
              <a:rPr lang="en-US" sz="1300" i="1" dirty="0">
                <a:solidFill>
                  <a:schemeClr val="accent4"/>
                </a:solidFill>
              </a:rPr>
              <a:t>We changed our own headline claim when real data disagreed with the simulator.</a:t>
            </a:r>
            <a:endParaRPr lang="en-US" sz="1300" dirty="0"/>
          </a:p>
        </p:txBody>
      </p:sp>
      <p:sp>
        <p:nvSpPr>
          <p:cNvPr id="25" name="Slide Number Placeholder 0"/>
          <p:cNvSpPr>
            <a:spLocks noGrp="1"/>
          </p:cNvSpPr>
          <p:nvPr>
            <p:ph type="sldNum" sz="quarter" idx="4294967295"/>
          </p:nvPr>
        </p:nvSpPr>
        <p:spPr>
          <a:xfrm>
            <a:off x="11140135"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94360" y="292608"/>
            <a:ext cx="8229600" cy="256032"/>
          </a:xfrm>
          <a:prstGeom prst="rect">
            <a:avLst/>
          </a:prstGeom>
          <a:noFill/>
          <a:ln/>
        </p:spPr>
        <p:txBody>
          <a:bodyPr wrap="square" lIns="0" tIns="0" rIns="0" bIns="0" rtlCol="0" anchor="t"/>
          <a:lstStyle/>
          <a:p>
            <a:pPr indent="0" marL="0">
              <a:buNone/>
            </a:pPr>
            <a:r>
              <a:rPr lang="en-US" sz="1100" b="1" spc="300" kern="0" dirty="0">
                <a:solidFill>
                  <a:schemeClr val="accent1"/>
                </a:solidFill>
              </a:rPr>
              <a:t>15 · PATH FORWARD</a:t>
            </a:r>
            <a:endParaRPr lang="en-US" sz="1100" dirty="0"/>
          </a:p>
        </p:txBody>
      </p:sp>
      <p:sp>
        <p:nvSpPr>
          <p:cNvPr id="3" name="Text 0"/>
          <p:cNvSpPr/>
          <p:nvPr>
            <p:ph idx="100" type="title" hasCustomPrompt="1"/>
          </p:nvPr>
        </p:nvSpPr>
        <p:spPr>
          <a:xfrm>
            <a:off x="594360" y="566928"/>
            <a:ext cx="11002975" cy="658368"/>
          </a:xfrm>
          <a:prstGeom prst="rect">
            <a:avLst/>
          </a:prstGeom>
          <a:noFill/>
          <a:ln/>
        </p:spPr>
        <p:txBody>
          <a:bodyPr wrap="square" lIns="0" tIns="0" rIns="0" bIns="0" rtlCol="0" anchor="ctr"/>
          <a:lstStyle/>
          <a:p>
            <a:pPr algn="l" indent="0" marL="0">
              <a:buNone/>
            </a:pPr>
            <a:r>
              <a:rPr lang="en-US" sz="3000" b="1" dirty="0">
                <a:solidFill>
                  <a:schemeClr val="tx2"/>
                </a:solidFill>
                <a:latin typeface="Georgia" pitchFamily="34" charset="0"/>
                <a:ea typeface="Georgia" pitchFamily="34" charset="-122"/>
                <a:cs typeface="Georgia" pitchFamily="34" charset="-120"/>
              </a:rPr>
              <a:t>Path to real use in India</a:t>
            </a:r>
            <a:endParaRPr lang="en-US" sz="3000" dirty="0"/>
          </a:p>
        </p:txBody>
      </p:sp>
      <p:sp>
        <p:nvSpPr>
          <p:cNvPr id="4" name="Shape 2"/>
          <p:cNvSpPr/>
          <p:nvPr/>
        </p:nvSpPr>
        <p:spPr>
          <a:xfrm>
            <a:off x="1920240" y="1920240"/>
            <a:ext cx="8458200" cy="0"/>
          </a:xfrm>
          <a:prstGeom prst="line">
            <a:avLst/>
          </a:prstGeom>
          <a:noFill/>
          <a:ln w="31750">
            <a:solidFill>
              <a:srgbClr val="5EC2B7"/>
            </a:solidFill>
            <a:prstDash val="solid"/>
          </a:ln>
        </p:spPr>
      </p:sp>
      <p:sp>
        <p:nvSpPr>
          <p:cNvPr id="5" name="icon-dot"/>
          <p:cNvSpPr/>
          <p:nvPr/>
        </p:nvSpPr>
        <p:spPr>
          <a:xfrm>
            <a:off x="1508760" y="1508760"/>
            <a:ext cx="822960" cy="822960"/>
          </a:xfrm>
          <a:prstGeom prst="ellipse">
            <a:avLst/>
          </a:prstGeom>
          <a:solidFill>
            <a:schemeClr val="accent1"/>
          </a:solidFill>
          <a:ln/>
        </p:spPr>
      </p:sp>
      <p:pic>
        <p:nvPicPr>
          <p:cNvPr id="6" name="icon-search" descr="C:\Users\Akhilesh\AppData\Local\Temp\claude\C--Users-Akhilesh-Desktop-Claude-code-Happiest-Health\47a587f0-c947-456b-8324-0bf75adb31d4\scratchpad\deck\img\icons\search.png">    </p:cNvPr>
          <p:cNvPicPr>
            <a:picLocks noChangeAspect="1"/>
          </p:cNvPicPr>
          <p:nvPr/>
        </p:nvPicPr>
        <p:blipFill>
          <a:blip r:embed="rId1"/>
          <a:stretch>
            <a:fillRect/>
          </a:stretch>
        </p:blipFill>
        <p:spPr>
          <a:xfrm>
            <a:off x="1689811" y="1689811"/>
            <a:ext cx="460858" cy="460858"/>
          </a:xfrm>
          <a:prstGeom prst="rect">
            <a:avLst/>
          </a:prstGeom>
        </p:spPr>
      </p:pic>
      <p:sp>
        <p:nvSpPr>
          <p:cNvPr id="7" name="Text 4"/>
          <p:cNvSpPr txBox="1"/>
          <p:nvPr/>
        </p:nvSpPr>
        <p:spPr>
          <a:xfrm>
            <a:off x="594360" y="2468880"/>
            <a:ext cx="2651760" cy="274320"/>
          </a:xfrm>
          <a:prstGeom prst="rect">
            <a:avLst/>
          </a:prstGeom>
          <a:noFill/>
          <a:ln/>
        </p:spPr>
        <p:txBody>
          <a:bodyPr wrap="square" lIns="0" tIns="0" rIns="0" bIns="0" rtlCol="0" anchor="t"/>
          <a:lstStyle/>
          <a:p>
            <a:pPr algn="ctr" indent="0" marL="0">
              <a:buNone/>
            </a:pPr>
            <a:r>
              <a:rPr lang="en-US" sz="1100" b="1" spc="200" kern="0" dirty="0">
                <a:solidFill>
                  <a:schemeClr val="accent6"/>
                </a:solidFill>
              </a:rPr>
              <a:t>STEP 1</a:t>
            </a:r>
            <a:endParaRPr lang="en-US" sz="1100" dirty="0"/>
          </a:p>
        </p:txBody>
      </p:sp>
      <p:sp>
        <p:nvSpPr>
          <p:cNvPr id="8" name="Text 5"/>
          <p:cNvSpPr txBox="1"/>
          <p:nvPr/>
        </p:nvSpPr>
        <p:spPr>
          <a:xfrm>
            <a:off x="594360" y="2743200"/>
            <a:ext cx="2651760" cy="384048"/>
          </a:xfrm>
          <a:prstGeom prst="rect">
            <a:avLst/>
          </a:prstGeom>
          <a:noFill/>
          <a:ln/>
        </p:spPr>
        <p:txBody>
          <a:bodyPr wrap="square" lIns="0" tIns="0" rIns="0" bIns="0" rtlCol="0" anchor="t"/>
          <a:lstStyle/>
          <a:p>
            <a:pPr algn="ctr" indent="0" marL="0">
              <a:buNone/>
            </a:pPr>
            <a:r>
              <a:rPr lang="en-US" sz="1700" b="1" dirty="0">
                <a:solidFill>
                  <a:schemeClr val="tx2"/>
                </a:solidFill>
                <a:latin typeface="Georgia" pitchFamily="34" charset="0"/>
                <a:ea typeface="Georgia" pitchFamily="34" charset="-122"/>
                <a:cs typeface="Georgia" pitchFamily="34" charset="-120"/>
              </a:rPr>
              <a:t>Real-data study</a:t>
            </a:r>
            <a:endParaRPr lang="en-US" sz="1700" dirty="0"/>
          </a:p>
        </p:txBody>
      </p:sp>
      <p:sp>
        <p:nvSpPr>
          <p:cNvPr id="9" name="Text 6"/>
          <p:cNvSpPr txBox="1"/>
          <p:nvPr/>
        </p:nvSpPr>
        <p:spPr>
          <a:xfrm>
            <a:off x="777240" y="3200400"/>
            <a:ext cx="2286000" cy="914400"/>
          </a:xfrm>
          <a:prstGeom prst="rect">
            <a:avLst/>
          </a:prstGeom>
          <a:noFill/>
          <a:ln/>
        </p:spPr>
        <p:txBody>
          <a:bodyPr wrap="square" lIns="0" tIns="0" rIns="0" bIns="0" rtlCol="0" anchor="t"/>
          <a:lstStyle/>
          <a:p>
            <a:pPr algn="ctr" indent="0" marL="0">
              <a:buNone/>
            </a:pPr>
            <a:r>
              <a:rPr lang="en-US" sz="1200" dirty="0">
                <a:solidFill>
                  <a:schemeClr val="accent6"/>
                </a:solidFill>
              </a:rPr>
              <a:t>Linked records and CGM from Indian T2D clinics, with ethics approval (ICMR AI guidelines)</a:t>
            </a:r>
            <a:endParaRPr lang="en-US" sz="1200" dirty="0"/>
          </a:p>
        </p:txBody>
      </p:sp>
      <p:sp>
        <p:nvSpPr>
          <p:cNvPr id="10" name="icon-dot"/>
          <p:cNvSpPr/>
          <p:nvPr/>
        </p:nvSpPr>
        <p:spPr>
          <a:xfrm>
            <a:off x="4325112" y="1508760"/>
            <a:ext cx="822960" cy="822960"/>
          </a:xfrm>
          <a:prstGeom prst="ellipse">
            <a:avLst/>
          </a:prstGeom>
          <a:solidFill>
            <a:schemeClr val="accent1"/>
          </a:solidFill>
          <a:ln/>
        </p:spPr>
      </p:sp>
      <p:pic>
        <p:nvPicPr>
          <p:cNvPr id="11" name="icon-sliders" descr="C:\Users\Akhilesh\AppData\Local\Temp\claude\C--Users-Akhilesh-Desktop-Claude-code-Happiest-Health\47a587f0-c947-456b-8324-0bf75adb31d4\scratchpad\deck\img\icons\sliders.png">    </p:cNvPr>
          <p:cNvPicPr>
            <a:picLocks noChangeAspect="1"/>
          </p:cNvPicPr>
          <p:nvPr/>
        </p:nvPicPr>
        <p:blipFill>
          <a:blip r:embed="rId2"/>
          <a:stretch>
            <a:fillRect/>
          </a:stretch>
        </p:blipFill>
        <p:spPr>
          <a:xfrm>
            <a:off x="4506163" y="1689811"/>
            <a:ext cx="460858" cy="460858"/>
          </a:xfrm>
          <a:prstGeom prst="rect">
            <a:avLst/>
          </a:prstGeom>
        </p:spPr>
      </p:pic>
      <p:sp>
        <p:nvSpPr>
          <p:cNvPr id="12" name="Text 8"/>
          <p:cNvSpPr txBox="1"/>
          <p:nvPr/>
        </p:nvSpPr>
        <p:spPr>
          <a:xfrm>
            <a:off x="3410712" y="2468880"/>
            <a:ext cx="2651760" cy="274320"/>
          </a:xfrm>
          <a:prstGeom prst="rect">
            <a:avLst/>
          </a:prstGeom>
          <a:noFill/>
          <a:ln/>
        </p:spPr>
        <p:txBody>
          <a:bodyPr wrap="square" lIns="0" tIns="0" rIns="0" bIns="0" rtlCol="0" anchor="t"/>
          <a:lstStyle/>
          <a:p>
            <a:pPr algn="ctr" indent="0" marL="0">
              <a:buNone/>
            </a:pPr>
            <a:r>
              <a:rPr lang="en-US" sz="1100" b="1" spc="200" kern="0" dirty="0">
                <a:solidFill>
                  <a:schemeClr val="accent6"/>
                </a:solidFill>
              </a:rPr>
              <a:t>STEP 2</a:t>
            </a:r>
            <a:endParaRPr lang="en-US" sz="1100" dirty="0"/>
          </a:p>
        </p:txBody>
      </p:sp>
      <p:sp>
        <p:nvSpPr>
          <p:cNvPr id="13" name="Text 9"/>
          <p:cNvSpPr txBox="1"/>
          <p:nvPr/>
        </p:nvSpPr>
        <p:spPr>
          <a:xfrm>
            <a:off x="3410712" y="2743200"/>
            <a:ext cx="2651760" cy="384048"/>
          </a:xfrm>
          <a:prstGeom prst="rect">
            <a:avLst/>
          </a:prstGeom>
          <a:noFill/>
          <a:ln/>
        </p:spPr>
        <p:txBody>
          <a:bodyPr wrap="square" lIns="0" tIns="0" rIns="0" bIns="0" rtlCol="0" anchor="t"/>
          <a:lstStyle/>
          <a:p>
            <a:pPr algn="ctr" indent="0" marL="0">
              <a:buNone/>
            </a:pPr>
            <a:r>
              <a:rPr lang="en-US" sz="1700" b="1" dirty="0">
                <a:solidFill>
                  <a:schemeClr val="tx2"/>
                </a:solidFill>
                <a:latin typeface="Georgia" pitchFamily="34" charset="0"/>
                <a:ea typeface="Georgia" pitchFamily="34" charset="-122"/>
                <a:cs typeface="Georgia" pitchFamily="34" charset="-120"/>
              </a:rPr>
              <a:t>Recalibrate</a:t>
            </a:r>
            <a:endParaRPr lang="en-US" sz="1700" dirty="0"/>
          </a:p>
        </p:txBody>
      </p:sp>
      <p:sp>
        <p:nvSpPr>
          <p:cNvPr id="14" name="Text 10"/>
          <p:cNvSpPr txBox="1"/>
          <p:nvPr/>
        </p:nvSpPr>
        <p:spPr>
          <a:xfrm>
            <a:off x="3593592" y="3200400"/>
            <a:ext cx="2286000" cy="914400"/>
          </a:xfrm>
          <a:prstGeom prst="rect">
            <a:avLst/>
          </a:prstGeom>
          <a:noFill/>
          <a:ln/>
        </p:spPr>
        <p:txBody>
          <a:bodyPr wrap="square" lIns="0" tIns="0" rIns="0" bIns="0" rtlCol="0" anchor="t"/>
          <a:lstStyle/>
          <a:p>
            <a:pPr algn="ctr" indent="0" marL="0">
              <a:buNone/>
            </a:pPr>
            <a:r>
              <a:rPr lang="en-US" sz="1200" dirty="0">
                <a:solidFill>
                  <a:schemeClr val="accent6"/>
                </a:solidFill>
              </a:rPr>
              <a:t>Fit probabilities and alert thresholds to the local population</a:t>
            </a:r>
            <a:endParaRPr lang="en-US" sz="1200" dirty="0"/>
          </a:p>
        </p:txBody>
      </p:sp>
      <p:sp>
        <p:nvSpPr>
          <p:cNvPr id="15" name="icon-dot"/>
          <p:cNvSpPr/>
          <p:nvPr/>
        </p:nvSpPr>
        <p:spPr>
          <a:xfrm>
            <a:off x="7141464" y="1508760"/>
            <a:ext cx="822960" cy="822960"/>
          </a:xfrm>
          <a:prstGeom prst="ellipse">
            <a:avLst/>
          </a:prstGeom>
          <a:solidFill>
            <a:schemeClr val="accent1"/>
          </a:solidFill>
          <a:ln/>
        </p:spPr>
      </p:sp>
      <p:pic>
        <p:nvPicPr>
          <p:cNvPr id="16" name="icon-eyeoff" descr="C:\Users\Akhilesh\AppData\Local\Temp\claude\C--Users-Akhilesh-Desktop-Claude-code-Happiest-Health\47a587f0-c947-456b-8324-0bf75adb31d4\scratchpad\deck\img\icons\eyeoff.png">    </p:cNvPr>
          <p:cNvPicPr>
            <a:picLocks noChangeAspect="1"/>
          </p:cNvPicPr>
          <p:nvPr/>
        </p:nvPicPr>
        <p:blipFill>
          <a:blip r:embed="rId3"/>
          <a:stretch>
            <a:fillRect/>
          </a:stretch>
        </p:blipFill>
        <p:spPr>
          <a:xfrm>
            <a:off x="7322515" y="1689811"/>
            <a:ext cx="460858" cy="460858"/>
          </a:xfrm>
          <a:prstGeom prst="rect">
            <a:avLst/>
          </a:prstGeom>
        </p:spPr>
      </p:pic>
      <p:sp>
        <p:nvSpPr>
          <p:cNvPr id="17" name="Text 12"/>
          <p:cNvSpPr txBox="1"/>
          <p:nvPr/>
        </p:nvSpPr>
        <p:spPr>
          <a:xfrm>
            <a:off x="6227064" y="2468880"/>
            <a:ext cx="2651760" cy="274320"/>
          </a:xfrm>
          <a:prstGeom prst="rect">
            <a:avLst/>
          </a:prstGeom>
          <a:noFill/>
          <a:ln/>
        </p:spPr>
        <p:txBody>
          <a:bodyPr wrap="square" lIns="0" tIns="0" rIns="0" bIns="0" rtlCol="0" anchor="t"/>
          <a:lstStyle/>
          <a:p>
            <a:pPr algn="ctr" indent="0" marL="0">
              <a:buNone/>
            </a:pPr>
            <a:r>
              <a:rPr lang="en-US" sz="1100" b="1" spc="200" kern="0" dirty="0">
                <a:solidFill>
                  <a:schemeClr val="accent6"/>
                </a:solidFill>
              </a:rPr>
              <a:t>STEP 3</a:t>
            </a:r>
            <a:endParaRPr lang="en-US" sz="1100" dirty="0"/>
          </a:p>
        </p:txBody>
      </p:sp>
      <p:sp>
        <p:nvSpPr>
          <p:cNvPr id="18" name="Text 13"/>
          <p:cNvSpPr txBox="1"/>
          <p:nvPr/>
        </p:nvSpPr>
        <p:spPr>
          <a:xfrm>
            <a:off x="6227064" y="2743200"/>
            <a:ext cx="2651760" cy="384048"/>
          </a:xfrm>
          <a:prstGeom prst="rect">
            <a:avLst/>
          </a:prstGeom>
          <a:noFill/>
          <a:ln/>
        </p:spPr>
        <p:txBody>
          <a:bodyPr wrap="square" lIns="0" tIns="0" rIns="0" bIns="0" rtlCol="0" anchor="t"/>
          <a:lstStyle/>
          <a:p>
            <a:pPr algn="ctr" indent="0" marL="0">
              <a:buNone/>
            </a:pPr>
            <a:r>
              <a:rPr lang="en-US" sz="1700" b="1" dirty="0">
                <a:solidFill>
                  <a:schemeClr val="tx2"/>
                </a:solidFill>
                <a:latin typeface="Georgia" pitchFamily="34" charset="0"/>
                <a:ea typeface="Georgia" pitchFamily="34" charset="-122"/>
                <a:cs typeface="Georgia" pitchFamily="34" charset="-120"/>
              </a:rPr>
              <a:t>Silent pilot</a:t>
            </a:r>
            <a:endParaRPr lang="en-US" sz="1700" dirty="0"/>
          </a:p>
        </p:txBody>
      </p:sp>
      <p:sp>
        <p:nvSpPr>
          <p:cNvPr id="19" name="Text 14"/>
          <p:cNvSpPr txBox="1"/>
          <p:nvPr/>
        </p:nvSpPr>
        <p:spPr>
          <a:xfrm>
            <a:off x="6409944" y="3200400"/>
            <a:ext cx="2286000" cy="914400"/>
          </a:xfrm>
          <a:prstGeom prst="rect">
            <a:avLst/>
          </a:prstGeom>
          <a:noFill/>
          <a:ln/>
        </p:spPr>
        <p:txBody>
          <a:bodyPr wrap="square" lIns="0" tIns="0" rIns="0" bIns="0" rtlCol="0" anchor="t"/>
          <a:lstStyle/>
          <a:p>
            <a:pPr algn="ctr" indent="0" marL="0">
              <a:buNone/>
            </a:pPr>
            <a:r>
              <a:rPr lang="en-US" sz="1200" dirty="0">
                <a:solidFill>
                  <a:schemeClr val="accent6"/>
                </a:solidFill>
              </a:rPr>
              <a:t>The model scores in the background; outcomes are compared afterwards</a:t>
            </a:r>
            <a:endParaRPr lang="en-US" sz="1200" dirty="0"/>
          </a:p>
        </p:txBody>
      </p:sp>
      <p:sp>
        <p:nvSpPr>
          <p:cNvPr id="20" name="icon-dot"/>
          <p:cNvSpPr/>
          <p:nvPr/>
        </p:nvSpPr>
        <p:spPr>
          <a:xfrm>
            <a:off x="9957816" y="1508760"/>
            <a:ext cx="822960" cy="822960"/>
          </a:xfrm>
          <a:prstGeom prst="ellipse">
            <a:avLst/>
          </a:prstGeom>
          <a:solidFill>
            <a:schemeClr val="accent2"/>
          </a:solidFill>
          <a:ln/>
        </p:spPr>
      </p:sp>
      <p:pic>
        <p:nvPicPr>
          <p:cNvPr id="21" name="icon-stethoscope" descr="C:\Users\Akhilesh\AppData\Local\Temp\claude\C--Users-Akhilesh-Desktop-Claude-code-Happiest-Health\47a587f0-c947-456b-8324-0bf75adb31d4\scratchpad\deck\img\icons\stethoscope.png">    </p:cNvPr>
          <p:cNvPicPr>
            <a:picLocks noChangeAspect="1"/>
          </p:cNvPicPr>
          <p:nvPr/>
        </p:nvPicPr>
        <p:blipFill>
          <a:blip r:embed="rId4"/>
          <a:stretch>
            <a:fillRect/>
          </a:stretch>
        </p:blipFill>
        <p:spPr>
          <a:xfrm>
            <a:off x="10138867" y="1689811"/>
            <a:ext cx="460858" cy="460858"/>
          </a:xfrm>
          <a:prstGeom prst="rect">
            <a:avLst/>
          </a:prstGeom>
        </p:spPr>
      </p:pic>
      <p:sp>
        <p:nvSpPr>
          <p:cNvPr id="22" name="Text 16"/>
          <p:cNvSpPr txBox="1"/>
          <p:nvPr/>
        </p:nvSpPr>
        <p:spPr>
          <a:xfrm>
            <a:off x="9043416" y="2468880"/>
            <a:ext cx="2651760" cy="274320"/>
          </a:xfrm>
          <a:prstGeom prst="rect">
            <a:avLst/>
          </a:prstGeom>
          <a:noFill/>
          <a:ln/>
        </p:spPr>
        <p:txBody>
          <a:bodyPr wrap="square" lIns="0" tIns="0" rIns="0" bIns="0" rtlCol="0" anchor="t"/>
          <a:lstStyle/>
          <a:p>
            <a:pPr algn="ctr" indent="0" marL="0">
              <a:buNone/>
            </a:pPr>
            <a:r>
              <a:rPr lang="en-US" sz="1100" b="1" spc="200" kern="0" dirty="0">
                <a:solidFill>
                  <a:schemeClr val="accent6"/>
                </a:solidFill>
              </a:rPr>
              <a:t>STEP 4</a:t>
            </a:r>
            <a:endParaRPr lang="en-US" sz="1100" dirty="0"/>
          </a:p>
        </p:txBody>
      </p:sp>
      <p:sp>
        <p:nvSpPr>
          <p:cNvPr id="23" name="Text 17"/>
          <p:cNvSpPr txBox="1"/>
          <p:nvPr/>
        </p:nvSpPr>
        <p:spPr>
          <a:xfrm>
            <a:off x="9043416" y="2743200"/>
            <a:ext cx="2651760" cy="384048"/>
          </a:xfrm>
          <a:prstGeom prst="rect">
            <a:avLst/>
          </a:prstGeom>
          <a:noFill/>
          <a:ln/>
        </p:spPr>
        <p:txBody>
          <a:bodyPr wrap="square" lIns="0" tIns="0" rIns="0" bIns="0" rtlCol="0" anchor="t"/>
          <a:lstStyle/>
          <a:p>
            <a:pPr algn="ctr" indent="0" marL="0">
              <a:buNone/>
            </a:pPr>
            <a:r>
              <a:rPr lang="en-US" sz="1700" b="1" dirty="0">
                <a:solidFill>
                  <a:schemeClr val="tx2"/>
                </a:solidFill>
                <a:latin typeface="Georgia" pitchFamily="34" charset="0"/>
                <a:ea typeface="Georgia" pitchFamily="34" charset="-122"/>
                <a:cs typeface="Georgia" pitchFamily="34" charset="-120"/>
              </a:rPr>
              <a:t>Clinician pilot</a:t>
            </a:r>
            <a:endParaRPr lang="en-US" sz="1700" dirty="0"/>
          </a:p>
        </p:txBody>
      </p:sp>
      <p:sp>
        <p:nvSpPr>
          <p:cNvPr id="24" name="Text 18"/>
          <p:cNvSpPr txBox="1"/>
          <p:nvPr/>
        </p:nvSpPr>
        <p:spPr>
          <a:xfrm>
            <a:off x="9226296" y="3200400"/>
            <a:ext cx="2286000" cy="914400"/>
          </a:xfrm>
          <a:prstGeom prst="rect">
            <a:avLst/>
          </a:prstGeom>
          <a:noFill/>
          <a:ln/>
        </p:spPr>
        <p:txBody>
          <a:bodyPr wrap="square" lIns="0" tIns="0" rIns="0" bIns="0" rtlCol="0" anchor="t"/>
          <a:lstStyle/>
          <a:p>
            <a:pPr algn="ctr" indent="0" marL="0">
              <a:buNone/>
            </a:pPr>
            <a:r>
              <a:rPr lang="en-US" sz="1200" dirty="0">
                <a:solidFill>
                  <a:schemeClr val="accent6"/>
                </a:solidFill>
              </a:rPr>
              <a:t>Diabetologists judge usefulness, workload and safety</a:t>
            </a:r>
            <a:endParaRPr lang="en-US" sz="1200" dirty="0"/>
          </a:p>
        </p:txBody>
      </p:sp>
      <p:sp>
        <p:nvSpPr>
          <p:cNvPr id="25" name="card"/>
          <p:cNvSpPr/>
          <p:nvPr/>
        </p:nvSpPr>
        <p:spPr>
          <a:xfrm>
            <a:off x="594360" y="4434840"/>
            <a:ext cx="5440680" cy="658368"/>
          </a:xfrm>
          <a:prstGeom prst="roundRect">
            <a:avLst>
              <a:gd name="adj" fmla="val 19444"/>
            </a:avLst>
          </a:prstGeom>
          <a:solidFill>
            <a:schemeClr val="bg1"/>
          </a:solidFill>
          <a:ln/>
          <a:effectLst>
            <a:outerShdw sx="100000" sy="100000" kx="0" ky="0" algn="bl" rotWithShape="0" blurRad="177800" dist="38100" dir="5400000">
              <a:srgbClr val="0B2F3F">
                <a:alpha val="10000"/>
              </a:srgbClr>
            </a:outerShdw>
          </a:effectLst>
        </p:spPr>
      </p:sp>
      <p:sp>
        <p:nvSpPr>
          <p:cNvPr id="26" name="icon-dot"/>
          <p:cNvSpPr/>
          <p:nvPr/>
        </p:nvSpPr>
        <p:spPr>
          <a:xfrm>
            <a:off x="758952" y="4553712"/>
            <a:ext cx="420624" cy="420624"/>
          </a:xfrm>
          <a:prstGeom prst="ellipse">
            <a:avLst/>
          </a:prstGeom>
          <a:solidFill>
            <a:schemeClr val="tx2"/>
          </a:solidFill>
          <a:ln/>
        </p:spPr>
      </p:sp>
      <p:pic>
        <p:nvPicPr>
          <p:cNvPr id="27" name="icon-lock" descr="C:\Users\Akhilesh\AppData\Local\Temp\claude\C--Users-Akhilesh-Desktop-Claude-code-Happiest-Health\47a587f0-c947-456b-8324-0bf75adb31d4\scratchpad\deck\img\icons\lock.png">    </p:cNvPr>
          <p:cNvPicPr>
            <a:picLocks noChangeAspect="1"/>
          </p:cNvPicPr>
          <p:nvPr/>
        </p:nvPicPr>
        <p:blipFill>
          <a:blip r:embed="rId5"/>
          <a:stretch>
            <a:fillRect/>
          </a:stretch>
        </p:blipFill>
        <p:spPr>
          <a:xfrm>
            <a:off x="851489" y="4646249"/>
            <a:ext cx="235549" cy="235549"/>
          </a:xfrm>
          <a:prstGeom prst="rect">
            <a:avLst/>
          </a:prstGeom>
        </p:spPr>
      </p:pic>
      <p:sp>
        <p:nvSpPr>
          <p:cNvPr id="28" name="Text 21"/>
          <p:cNvSpPr txBox="1"/>
          <p:nvPr/>
        </p:nvSpPr>
        <p:spPr>
          <a:xfrm>
            <a:off x="1325880" y="4434840"/>
            <a:ext cx="4572000" cy="658368"/>
          </a:xfrm>
          <a:prstGeom prst="rect">
            <a:avLst/>
          </a:prstGeom>
          <a:noFill/>
          <a:ln/>
        </p:spPr>
        <p:txBody>
          <a:bodyPr wrap="square" lIns="0" tIns="0" rIns="0" bIns="0" rtlCol="0" anchor="ctr"/>
          <a:lstStyle/>
          <a:p>
            <a:pPr indent="0" marL="0">
              <a:buNone/>
            </a:pPr>
            <a:r>
              <a:rPr lang="en-US" sz="1300" dirty="0">
                <a:solidFill>
                  <a:schemeClr val="tx1"/>
                </a:solidFill>
              </a:rPr>
              <a:t>DPDP Act 2023 &amp; Rules 2025: consent, purpose limits, security</a:t>
            </a:r>
            <a:endParaRPr lang="en-US" sz="1300" dirty="0"/>
          </a:p>
        </p:txBody>
      </p:sp>
      <p:sp>
        <p:nvSpPr>
          <p:cNvPr id="29" name="card"/>
          <p:cNvSpPr/>
          <p:nvPr/>
        </p:nvSpPr>
        <p:spPr>
          <a:xfrm>
            <a:off x="6153912" y="4434840"/>
            <a:ext cx="5440680" cy="658368"/>
          </a:xfrm>
          <a:prstGeom prst="roundRect">
            <a:avLst>
              <a:gd name="adj" fmla="val 19444"/>
            </a:avLst>
          </a:prstGeom>
          <a:solidFill>
            <a:schemeClr val="bg1"/>
          </a:solidFill>
          <a:ln/>
          <a:effectLst>
            <a:outerShdw sx="100000" sy="100000" kx="0" ky="0" algn="bl" rotWithShape="0" blurRad="177800" dist="38100" dir="5400000">
              <a:srgbClr val="0B2F3F">
                <a:alpha val="10000"/>
              </a:srgbClr>
            </a:outerShdw>
          </a:effectLst>
        </p:spPr>
      </p:sp>
      <p:sp>
        <p:nvSpPr>
          <p:cNvPr id="30" name="icon-dot"/>
          <p:cNvSpPr/>
          <p:nvPr/>
        </p:nvSpPr>
        <p:spPr>
          <a:xfrm>
            <a:off x="6318504" y="4553712"/>
            <a:ext cx="420624" cy="420624"/>
          </a:xfrm>
          <a:prstGeom prst="ellipse">
            <a:avLst/>
          </a:prstGeom>
          <a:solidFill>
            <a:schemeClr val="tx2"/>
          </a:solidFill>
          <a:ln/>
        </p:spPr>
      </p:sp>
      <p:pic>
        <p:nvPicPr>
          <p:cNvPr id="31" name="icon-key" descr="C:\Users\Akhilesh\AppData\Local\Temp\claude\C--Users-Akhilesh-Desktop-Claude-code-Happiest-Health\47a587f0-c947-456b-8324-0bf75adb31d4\scratchpad\deck\img\icons\key.png">    </p:cNvPr>
          <p:cNvPicPr>
            <a:picLocks noChangeAspect="1"/>
          </p:cNvPicPr>
          <p:nvPr/>
        </p:nvPicPr>
        <p:blipFill>
          <a:blip r:embed="rId6"/>
          <a:stretch>
            <a:fillRect/>
          </a:stretch>
        </p:blipFill>
        <p:spPr>
          <a:xfrm>
            <a:off x="6411041" y="4646249"/>
            <a:ext cx="235549" cy="235549"/>
          </a:xfrm>
          <a:prstGeom prst="rect">
            <a:avLst/>
          </a:prstGeom>
        </p:spPr>
      </p:pic>
      <p:sp>
        <p:nvSpPr>
          <p:cNvPr id="32" name="Text 24"/>
          <p:cNvSpPr txBox="1"/>
          <p:nvPr/>
        </p:nvSpPr>
        <p:spPr>
          <a:xfrm>
            <a:off x="6885432" y="4434840"/>
            <a:ext cx="4572000" cy="658368"/>
          </a:xfrm>
          <a:prstGeom prst="rect">
            <a:avLst/>
          </a:prstGeom>
          <a:noFill/>
          <a:ln/>
        </p:spPr>
        <p:txBody>
          <a:bodyPr wrap="square" lIns="0" tIns="0" rIns="0" bIns="0" rtlCol="0" anchor="ctr"/>
          <a:lstStyle/>
          <a:p>
            <a:pPr indent="0" marL="0">
              <a:buNone/>
            </a:pPr>
            <a:r>
              <a:rPr lang="en-US" sz="1300" dirty="0">
                <a:solidFill>
                  <a:schemeClr val="tx1"/>
                </a:solidFill>
              </a:rPr>
              <a:t>ABDM / ABHA consent flows to link a record to a device</a:t>
            </a:r>
            <a:endParaRPr lang="en-US" sz="1300" dirty="0"/>
          </a:p>
        </p:txBody>
      </p:sp>
      <p:sp>
        <p:nvSpPr>
          <p:cNvPr id="33" name="card"/>
          <p:cNvSpPr/>
          <p:nvPr/>
        </p:nvSpPr>
        <p:spPr>
          <a:xfrm>
            <a:off x="594360" y="5239512"/>
            <a:ext cx="5440680" cy="658368"/>
          </a:xfrm>
          <a:prstGeom prst="roundRect">
            <a:avLst>
              <a:gd name="adj" fmla="val 19444"/>
            </a:avLst>
          </a:prstGeom>
          <a:solidFill>
            <a:schemeClr val="bg1"/>
          </a:solidFill>
          <a:ln/>
          <a:effectLst>
            <a:outerShdw sx="100000" sy="100000" kx="0" ky="0" algn="bl" rotWithShape="0" blurRad="177800" dist="38100" dir="5400000">
              <a:srgbClr val="0B2F3F">
                <a:alpha val="10000"/>
              </a:srgbClr>
            </a:outerShdw>
          </a:effectLst>
        </p:spPr>
      </p:sp>
      <p:sp>
        <p:nvSpPr>
          <p:cNvPr id="34" name="icon-dot"/>
          <p:cNvSpPr/>
          <p:nvPr/>
        </p:nvSpPr>
        <p:spPr>
          <a:xfrm>
            <a:off x="758952" y="5358384"/>
            <a:ext cx="420624" cy="420624"/>
          </a:xfrm>
          <a:prstGeom prst="ellipse">
            <a:avLst/>
          </a:prstGeom>
          <a:solidFill>
            <a:schemeClr val="tx2"/>
          </a:solidFill>
          <a:ln/>
        </p:spPr>
      </p:sp>
      <p:pic>
        <p:nvPicPr>
          <p:cNvPr id="35" name="icon-filecheck" descr="C:\Users\Akhilesh\AppData\Local\Temp\claude\C--Users-Akhilesh-Desktop-Claude-code-Happiest-Health\47a587f0-c947-456b-8324-0bf75adb31d4\scratchpad\deck\img\icons\filecheck.png">    </p:cNvPr>
          <p:cNvPicPr>
            <a:picLocks noChangeAspect="1"/>
          </p:cNvPicPr>
          <p:nvPr/>
        </p:nvPicPr>
        <p:blipFill>
          <a:blip r:embed="rId7"/>
          <a:stretch>
            <a:fillRect/>
          </a:stretch>
        </p:blipFill>
        <p:spPr>
          <a:xfrm>
            <a:off x="851489" y="5450921"/>
            <a:ext cx="235549" cy="235549"/>
          </a:xfrm>
          <a:prstGeom prst="rect">
            <a:avLst/>
          </a:prstGeom>
        </p:spPr>
      </p:pic>
      <p:sp>
        <p:nvSpPr>
          <p:cNvPr id="36" name="Text 27"/>
          <p:cNvSpPr txBox="1"/>
          <p:nvPr/>
        </p:nvSpPr>
        <p:spPr>
          <a:xfrm>
            <a:off x="1325880" y="5239512"/>
            <a:ext cx="4572000" cy="658368"/>
          </a:xfrm>
          <a:prstGeom prst="rect">
            <a:avLst/>
          </a:prstGeom>
          <a:noFill/>
          <a:ln/>
        </p:spPr>
        <p:txBody>
          <a:bodyPr wrap="square" lIns="0" tIns="0" rIns="0" bIns="0" rtlCol="0" anchor="ctr"/>
          <a:lstStyle/>
          <a:p>
            <a:pPr indent="0" marL="0">
              <a:buNone/>
            </a:pPr>
            <a:r>
              <a:rPr lang="en-US" sz="1300" dirty="0">
                <a:solidFill>
                  <a:schemeClr val="tx1"/>
                </a:solidFill>
              </a:rPr>
              <a:t>CDSCO medical device software rules (risk class to confirm)</a:t>
            </a:r>
            <a:endParaRPr lang="en-US" sz="1300" dirty="0"/>
          </a:p>
        </p:txBody>
      </p:sp>
      <p:sp>
        <p:nvSpPr>
          <p:cNvPr id="37" name="card"/>
          <p:cNvSpPr/>
          <p:nvPr/>
        </p:nvSpPr>
        <p:spPr>
          <a:xfrm>
            <a:off x="6153912" y="5239512"/>
            <a:ext cx="5440680" cy="658368"/>
          </a:xfrm>
          <a:prstGeom prst="roundRect">
            <a:avLst>
              <a:gd name="adj" fmla="val 19444"/>
            </a:avLst>
          </a:prstGeom>
          <a:solidFill>
            <a:schemeClr val="bg1"/>
          </a:solidFill>
          <a:ln/>
          <a:effectLst>
            <a:outerShdw sx="100000" sy="100000" kx="0" ky="0" algn="bl" rotWithShape="0" blurRad="177800" dist="38100" dir="5400000">
              <a:srgbClr val="0B2F3F">
                <a:alpha val="10000"/>
              </a:srgbClr>
            </a:outerShdw>
          </a:effectLst>
        </p:spPr>
      </p:sp>
      <p:sp>
        <p:nvSpPr>
          <p:cNvPr id="38" name="icon-dot"/>
          <p:cNvSpPr/>
          <p:nvPr/>
        </p:nvSpPr>
        <p:spPr>
          <a:xfrm>
            <a:off x="6318504" y="5358384"/>
            <a:ext cx="420624" cy="420624"/>
          </a:xfrm>
          <a:prstGeom prst="ellipse">
            <a:avLst/>
          </a:prstGeom>
          <a:solidFill>
            <a:schemeClr val="tx2"/>
          </a:solidFill>
          <a:ln/>
        </p:spPr>
      </p:sp>
      <p:pic>
        <p:nvPicPr>
          <p:cNvPr id="39" name="icon-bell" descr="C:\Users\Akhilesh\AppData\Local\Temp\claude\C--Users-Akhilesh-Desktop-Claude-code-Happiest-Health\47a587f0-c947-456b-8324-0bf75adb31d4\scratchpad\deck\img\icons\bell.png">    </p:cNvPr>
          <p:cNvPicPr>
            <a:picLocks noChangeAspect="1"/>
          </p:cNvPicPr>
          <p:nvPr/>
        </p:nvPicPr>
        <p:blipFill>
          <a:blip r:embed="rId8"/>
          <a:stretch>
            <a:fillRect/>
          </a:stretch>
        </p:blipFill>
        <p:spPr>
          <a:xfrm>
            <a:off x="6411041" y="5450921"/>
            <a:ext cx="235549" cy="235549"/>
          </a:xfrm>
          <a:prstGeom prst="rect">
            <a:avLst/>
          </a:prstGeom>
        </p:spPr>
      </p:pic>
      <p:sp>
        <p:nvSpPr>
          <p:cNvPr id="40" name="Text 30"/>
          <p:cNvSpPr txBox="1"/>
          <p:nvPr/>
        </p:nvSpPr>
        <p:spPr>
          <a:xfrm>
            <a:off x="6885432" y="5239512"/>
            <a:ext cx="4572000" cy="658368"/>
          </a:xfrm>
          <a:prstGeom prst="rect">
            <a:avLst/>
          </a:prstGeom>
          <a:noFill/>
          <a:ln/>
        </p:spPr>
        <p:txBody>
          <a:bodyPr wrap="square" lIns="0" tIns="0" rIns="0" bIns="0" rtlCol="0" anchor="ctr"/>
          <a:lstStyle/>
          <a:p>
            <a:pPr indent="0" marL="0">
              <a:buNone/>
            </a:pPr>
            <a:r>
              <a:rPr lang="en-US" sz="1300" dirty="0">
                <a:solidFill>
                  <a:schemeClr val="tx1"/>
                </a:solidFill>
              </a:rPr>
              <a:t>CGM alarms stay on; the twin never replaces them</a:t>
            </a:r>
            <a:endParaRPr lang="en-US" sz="1300" dirty="0"/>
          </a:p>
        </p:txBody>
      </p:sp>
      <p:sp>
        <p:nvSpPr>
          <p:cNvPr id="25" name="Slide Number Placeholder 0"/>
          <p:cNvSpPr>
            <a:spLocks noGrp="1"/>
          </p:cNvSpPr>
          <p:nvPr>
            <p:ph type="sldNum" sz="quarter" idx="4294967295"/>
          </p:nvPr>
        </p:nvSpPr>
        <p:spPr>
          <a:xfrm>
            <a:off x="11140135"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94360" y="292608"/>
            <a:ext cx="8229600" cy="256032"/>
          </a:xfrm>
          <a:prstGeom prst="rect">
            <a:avLst/>
          </a:prstGeom>
          <a:noFill/>
          <a:ln/>
        </p:spPr>
        <p:txBody>
          <a:bodyPr wrap="square" lIns="0" tIns="0" rIns="0" bIns="0" rtlCol="0" anchor="t"/>
          <a:lstStyle/>
          <a:p>
            <a:pPr indent="0" marL="0">
              <a:buNone/>
            </a:pPr>
            <a:r>
              <a:rPr lang="en-US" sz="1100" b="1" spc="300" kern="0" dirty="0">
                <a:solidFill>
                  <a:schemeClr val="accent1"/>
                </a:solidFill>
              </a:rPr>
              <a:t>16 · ENGINEERING</a:t>
            </a:r>
            <a:endParaRPr lang="en-US" sz="1100" dirty="0"/>
          </a:p>
        </p:txBody>
      </p:sp>
      <p:sp>
        <p:nvSpPr>
          <p:cNvPr id="3" name="Text 0"/>
          <p:cNvSpPr/>
          <p:nvPr>
            <p:ph idx="100" type="title" hasCustomPrompt="1"/>
          </p:nvPr>
        </p:nvSpPr>
        <p:spPr>
          <a:xfrm>
            <a:off x="594360" y="566928"/>
            <a:ext cx="11002975" cy="658368"/>
          </a:xfrm>
          <a:prstGeom prst="rect">
            <a:avLst/>
          </a:prstGeom>
          <a:noFill/>
          <a:ln/>
        </p:spPr>
        <p:txBody>
          <a:bodyPr wrap="square" lIns="0" tIns="0" rIns="0" bIns="0" rtlCol="0" anchor="ctr"/>
          <a:lstStyle/>
          <a:p>
            <a:pPr algn="l" indent="0" marL="0">
              <a:buNone/>
            </a:pPr>
            <a:r>
              <a:rPr lang="en-US" sz="3000" b="1" dirty="0">
                <a:solidFill>
                  <a:schemeClr val="tx2"/>
                </a:solidFill>
                <a:latin typeface="Georgia" pitchFamily="34" charset="0"/>
                <a:ea typeface="Georgia" pitchFamily="34" charset="-122"/>
                <a:cs typeface="Georgia" pitchFamily="34" charset="-120"/>
              </a:rPr>
              <a:t>Built to be checked, not just demoed</a:t>
            </a:r>
            <a:endParaRPr lang="en-US" sz="3000" dirty="0"/>
          </a:p>
        </p:txBody>
      </p:sp>
      <p:sp>
        <p:nvSpPr>
          <p:cNvPr id="4" name="card"/>
          <p:cNvSpPr/>
          <p:nvPr/>
        </p:nvSpPr>
        <p:spPr>
          <a:xfrm>
            <a:off x="594360" y="1463040"/>
            <a:ext cx="2624328" cy="2148840"/>
          </a:xfrm>
          <a:prstGeom prst="roundRect">
            <a:avLst>
              <a:gd name="adj" fmla="val 5957"/>
            </a:avLst>
          </a:prstGeom>
          <a:solidFill>
            <a:schemeClr val="bg1"/>
          </a:solidFill>
          <a:ln/>
          <a:effectLst>
            <a:outerShdw sx="100000" sy="100000" kx="0" ky="0" algn="bl" rotWithShape="0" blurRad="177800" dist="38100" dir="5400000">
              <a:srgbClr val="0B2F3F">
                <a:alpha val="10000"/>
              </a:srgbClr>
            </a:outerShdw>
          </a:effectLst>
        </p:spPr>
      </p:sp>
      <p:sp>
        <p:nvSpPr>
          <p:cNvPr id="5" name="icon-dot"/>
          <p:cNvSpPr/>
          <p:nvPr/>
        </p:nvSpPr>
        <p:spPr>
          <a:xfrm>
            <a:off x="868680" y="1719072"/>
            <a:ext cx="548640" cy="548640"/>
          </a:xfrm>
          <a:prstGeom prst="ellipse">
            <a:avLst/>
          </a:prstGeom>
          <a:solidFill>
            <a:schemeClr val="accent1"/>
          </a:solidFill>
          <a:ln/>
        </p:spPr>
      </p:sp>
      <p:pic>
        <p:nvPicPr>
          <p:cNvPr id="6" name="icon-flask" descr="C:\Users\Akhilesh\AppData\Local\Temp\claude\C--Users-Akhilesh-Desktop-Claude-code-Happiest-Health\47a587f0-c947-456b-8324-0bf75adb31d4\scratchpad\deck\img\icons\flask.png">    </p:cNvPr>
          <p:cNvPicPr>
            <a:picLocks noChangeAspect="1"/>
          </p:cNvPicPr>
          <p:nvPr/>
        </p:nvPicPr>
        <p:blipFill>
          <a:blip r:embed="rId1"/>
          <a:stretch>
            <a:fillRect/>
          </a:stretch>
        </p:blipFill>
        <p:spPr>
          <a:xfrm>
            <a:off x="989381" y="1839773"/>
            <a:ext cx="307238" cy="307238"/>
          </a:xfrm>
          <a:prstGeom prst="rect">
            <a:avLst/>
          </a:prstGeom>
        </p:spPr>
      </p:pic>
      <p:sp>
        <p:nvSpPr>
          <p:cNvPr id="7" name="Text 4"/>
          <p:cNvSpPr txBox="1"/>
          <p:nvPr/>
        </p:nvSpPr>
        <p:spPr>
          <a:xfrm>
            <a:off x="868680" y="2331720"/>
            <a:ext cx="2194560" cy="685800"/>
          </a:xfrm>
          <a:prstGeom prst="rect">
            <a:avLst/>
          </a:prstGeom>
          <a:noFill/>
          <a:ln/>
        </p:spPr>
        <p:txBody>
          <a:bodyPr wrap="square" lIns="0" tIns="0" rIns="0" bIns="0" rtlCol="0" anchor="b"/>
          <a:lstStyle/>
          <a:p>
            <a:pPr indent="0" marL="0">
              <a:buNone/>
            </a:pPr>
            <a:r>
              <a:rPr lang="en-US" sz="3800" b="1" dirty="0">
                <a:solidFill>
                  <a:schemeClr val="tx2"/>
                </a:solidFill>
                <a:latin typeface="Georgia" pitchFamily="34" charset="0"/>
                <a:ea typeface="Georgia" pitchFamily="34" charset="-122"/>
                <a:cs typeface="Georgia" pitchFamily="34" charset="-120"/>
              </a:rPr>
              <a:t>140</a:t>
            </a:r>
            <a:endParaRPr lang="en-US" sz="3800" dirty="0"/>
          </a:p>
        </p:txBody>
      </p:sp>
      <p:sp>
        <p:nvSpPr>
          <p:cNvPr id="8" name="Text 5"/>
          <p:cNvSpPr txBox="1"/>
          <p:nvPr/>
        </p:nvSpPr>
        <p:spPr>
          <a:xfrm>
            <a:off x="868680" y="3063240"/>
            <a:ext cx="2194560" cy="457200"/>
          </a:xfrm>
          <a:prstGeom prst="rect">
            <a:avLst/>
          </a:prstGeom>
          <a:noFill/>
          <a:ln/>
        </p:spPr>
        <p:txBody>
          <a:bodyPr wrap="square" lIns="0" tIns="0" rIns="0" bIns="0" rtlCol="0" anchor="t"/>
          <a:lstStyle/>
          <a:p>
            <a:pPr indent="0" marL="0">
              <a:buNone/>
            </a:pPr>
            <a:r>
              <a:rPr lang="en-US" sz="1200" dirty="0">
                <a:solidFill>
                  <a:schemeClr val="accent6"/>
                </a:solidFill>
              </a:rPr>
              <a:t>automated tests, run by CI on every push</a:t>
            </a:r>
            <a:endParaRPr lang="en-US" sz="1200" dirty="0"/>
          </a:p>
        </p:txBody>
      </p:sp>
      <p:sp>
        <p:nvSpPr>
          <p:cNvPr id="9" name="card"/>
          <p:cNvSpPr/>
          <p:nvPr/>
        </p:nvSpPr>
        <p:spPr>
          <a:xfrm>
            <a:off x="3401568" y="1463040"/>
            <a:ext cx="2624328" cy="2148840"/>
          </a:xfrm>
          <a:prstGeom prst="roundRect">
            <a:avLst>
              <a:gd name="adj" fmla="val 5957"/>
            </a:avLst>
          </a:prstGeom>
          <a:solidFill>
            <a:schemeClr val="bg1"/>
          </a:solidFill>
          <a:ln/>
          <a:effectLst>
            <a:outerShdw sx="100000" sy="100000" kx="0" ky="0" algn="bl" rotWithShape="0" blurRad="177800" dist="38100" dir="5400000">
              <a:srgbClr val="0B2F3F">
                <a:alpha val="10000"/>
              </a:srgbClr>
            </a:outerShdw>
          </a:effectLst>
        </p:spPr>
      </p:sp>
      <p:sp>
        <p:nvSpPr>
          <p:cNvPr id="10" name="icon-dot"/>
          <p:cNvSpPr/>
          <p:nvPr/>
        </p:nvSpPr>
        <p:spPr>
          <a:xfrm>
            <a:off x="3675888" y="1719072"/>
            <a:ext cx="548640" cy="548640"/>
          </a:xfrm>
          <a:prstGeom prst="ellipse">
            <a:avLst/>
          </a:prstGeom>
          <a:solidFill>
            <a:schemeClr val="accent3"/>
          </a:solidFill>
          <a:ln/>
        </p:spPr>
      </p:sp>
      <p:pic>
        <p:nvPicPr>
          <p:cNvPr id="11" name="icon-terminal" descr="C:\Users\Akhilesh\AppData\Local\Temp\claude\C--Users-Akhilesh-Desktop-Claude-code-Happiest-Health\47a587f0-c947-456b-8324-0bf75adb31d4\scratchpad\deck\img\icons\terminal.png">    </p:cNvPr>
          <p:cNvPicPr>
            <a:picLocks noChangeAspect="1"/>
          </p:cNvPicPr>
          <p:nvPr/>
        </p:nvPicPr>
        <p:blipFill>
          <a:blip r:embed="rId2"/>
          <a:stretch>
            <a:fillRect/>
          </a:stretch>
        </p:blipFill>
        <p:spPr>
          <a:xfrm>
            <a:off x="3796589" y="1839773"/>
            <a:ext cx="307238" cy="307238"/>
          </a:xfrm>
          <a:prstGeom prst="rect">
            <a:avLst/>
          </a:prstGeom>
        </p:spPr>
      </p:pic>
      <p:sp>
        <p:nvSpPr>
          <p:cNvPr id="12" name="Text 8"/>
          <p:cNvSpPr txBox="1"/>
          <p:nvPr/>
        </p:nvSpPr>
        <p:spPr>
          <a:xfrm>
            <a:off x="3675888" y="2331720"/>
            <a:ext cx="2194560" cy="685800"/>
          </a:xfrm>
          <a:prstGeom prst="rect">
            <a:avLst/>
          </a:prstGeom>
          <a:noFill/>
          <a:ln/>
        </p:spPr>
        <p:txBody>
          <a:bodyPr wrap="square" lIns="0" tIns="0" rIns="0" bIns="0" rtlCol="0" anchor="b"/>
          <a:lstStyle/>
          <a:p>
            <a:pPr indent="0" marL="0">
              <a:buNone/>
            </a:pPr>
            <a:r>
              <a:rPr lang="en-US" sz="3800" b="1" dirty="0">
                <a:solidFill>
                  <a:schemeClr val="tx2"/>
                </a:solidFill>
                <a:latin typeface="Georgia" pitchFamily="34" charset="0"/>
                <a:ea typeface="Georgia" pitchFamily="34" charset="-122"/>
                <a:cs typeface="Georgia" pitchFamily="34" charset="-120"/>
              </a:rPr>
              <a:t>1</a:t>
            </a:r>
            <a:endParaRPr lang="en-US" sz="3800" dirty="0"/>
          </a:p>
        </p:txBody>
      </p:sp>
      <p:sp>
        <p:nvSpPr>
          <p:cNvPr id="13" name="Text 9"/>
          <p:cNvSpPr txBox="1"/>
          <p:nvPr/>
        </p:nvSpPr>
        <p:spPr>
          <a:xfrm>
            <a:off x="3675888" y="3063240"/>
            <a:ext cx="2194560" cy="457200"/>
          </a:xfrm>
          <a:prstGeom prst="rect">
            <a:avLst/>
          </a:prstGeom>
          <a:noFill/>
          <a:ln/>
        </p:spPr>
        <p:txBody>
          <a:bodyPr wrap="square" lIns="0" tIns="0" rIns="0" bIns="0" rtlCol="0" anchor="t"/>
          <a:lstStyle/>
          <a:p>
            <a:pPr indent="0" marL="0">
              <a:buNone/>
            </a:pPr>
            <a:r>
              <a:rPr lang="en-US" sz="1200" dirty="0">
                <a:solidFill>
                  <a:schemeClr val="accent6"/>
                </a:solidFill>
              </a:rPr>
              <a:t>command rebuilds data, models and reports</a:t>
            </a:r>
            <a:endParaRPr lang="en-US" sz="1200" dirty="0"/>
          </a:p>
        </p:txBody>
      </p:sp>
      <p:sp>
        <p:nvSpPr>
          <p:cNvPr id="14" name="card"/>
          <p:cNvSpPr/>
          <p:nvPr/>
        </p:nvSpPr>
        <p:spPr>
          <a:xfrm>
            <a:off x="6208776" y="1463040"/>
            <a:ext cx="2624328" cy="2148840"/>
          </a:xfrm>
          <a:prstGeom prst="roundRect">
            <a:avLst>
              <a:gd name="adj" fmla="val 5957"/>
            </a:avLst>
          </a:prstGeom>
          <a:solidFill>
            <a:schemeClr val="bg1"/>
          </a:solidFill>
          <a:ln/>
          <a:effectLst>
            <a:outerShdw sx="100000" sy="100000" kx="0" ky="0" algn="bl" rotWithShape="0" blurRad="177800" dist="38100" dir="5400000">
              <a:srgbClr val="0B2F3F">
                <a:alpha val="10000"/>
              </a:srgbClr>
            </a:outerShdw>
          </a:effectLst>
        </p:spPr>
      </p:sp>
      <p:sp>
        <p:nvSpPr>
          <p:cNvPr id="15" name="icon-dot"/>
          <p:cNvSpPr/>
          <p:nvPr/>
        </p:nvSpPr>
        <p:spPr>
          <a:xfrm>
            <a:off x="6483096" y="1719072"/>
            <a:ext cx="548640" cy="548640"/>
          </a:xfrm>
          <a:prstGeom prst="ellipse">
            <a:avLst/>
          </a:prstGeom>
          <a:solidFill>
            <a:schemeClr val="accent1"/>
          </a:solidFill>
          <a:ln/>
        </p:spPr>
      </p:sp>
      <p:pic>
        <p:nvPicPr>
          <p:cNvPr id="16" name="icon-database" descr="C:\Users\Akhilesh\AppData\Local\Temp\claude\C--Users-Akhilesh-Desktop-Claude-code-Happiest-Health\47a587f0-c947-456b-8324-0bf75adb31d4\scratchpad\deck\img\icons\database.png">    </p:cNvPr>
          <p:cNvPicPr>
            <a:picLocks noChangeAspect="1"/>
          </p:cNvPicPr>
          <p:nvPr/>
        </p:nvPicPr>
        <p:blipFill>
          <a:blip r:embed="rId3"/>
          <a:stretch>
            <a:fillRect/>
          </a:stretch>
        </p:blipFill>
        <p:spPr>
          <a:xfrm>
            <a:off x="6603797" y="1839773"/>
            <a:ext cx="307238" cy="307238"/>
          </a:xfrm>
          <a:prstGeom prst="rect">
            <a:avLst/>
          </a:prstGeom>
        </p:spPr>
      </p:pic>
      <p:sp>
        <p:nvSpPr>
          <p:cNvPr id="17" name="Text 12"/>
          <p:cNvSpPr txBox="1"/>
          <p:nvPr/>
        </p:nvSpPr>
        <p:spPr>
          <a:xfrm>
            <a:off x="6483096" y="2331720"/>
            <a:ext cx="2194560" cy="685800"/>
          </a:xfrm>
          <a:prstGeom prst="rect">
            <a:avLst/>
          </a:prstGeom>
          <a:noFill/>
          <a:ln/>
        </p:spPr>
        <p:txBody>
          <a:bodyPr wrap="square" lIns="0" tIns="0" rIns="0" bIns="0" rtlCol="0" anchor="b"/>
          <a:lstStyle/>
          <a:p>
            <a:pPr indent="0" marL="0">
              <a:buNone/>
            </a:pPr>
            <a:r>
              <a:rPr lang="en-US" sz="3800" b="1" dirty="0">
                <a:solidFill>
                  <a:schemeClr val="tx2"/>
                </a:solidFill>
                <a:latin typeface="Georgia" pitchFamily="34" charset="0"/>
                <a:ea typeface="Georgia" pitchFamily="34" charset="-122"/>
                <a:cs typeface="Georgia" pitchFamily="34" charset="-120"/>
              </a:rPr>
              <a:t>2</a:t>
            </a:r>
            <a:endParaRPr lang="en-US" sz="3800" dirty="0"/>
          </a:p>
        </p:txBody>
      </p:sp>
      <p:sp>
        <p:nvSpPr>
          <p:cNvPr id="18" name="Text 13"/>
          <p:cNvSpPr txBox="1"/>
          <p:nvPr/>
        </p:nvSpPr>
        <p:spPr>
          <a:xfrm>
            <a:off x="6483096" y="3063240"/>
            <a:ext cx="2194560" cy="457200"/>
          </a:xfrm>
          <a:prstGeom prst="rect">
            <a:avLst/>
          </a:prstGeom>
          <a:noFill/>
          <a:ln/>
        </p:spPr>
        <p:txBody>
          <a:bodyPr wrap="square" lIns="0" tIns="0" rIns="0" bIns="0" rtlCol="0" anchor="t"/>
          <a:lstStyle/>
          <a:p>
            <a:pPr indent="0" marL="0">
              <a:buNone/>
            </a:pPr>
            <a:r>
              <a:rPr lang="en-US" sz="1200" dirty="0">
                <a:solidFill>
                  <a:schemeClr val="accent6"/>
                </a:solidFill>
              </a:rPr>
              <a:t>public real datasets checked</a:t>
            </a:r>
            <a:endParaRPr lang="en-US" sz="1200" dirty="0"/>
          </a:p>
        </p:txBody>
      </p:sp>
      <p:sp>
        <p:nvSpPr>
          <p:cNvPr id="19" name="card"/>
          <p:cNvSpPr/>
          <p:nvPr/>
        </p:nvSpPr>
        <p:spPr>
          <a:xfrm>
            <a:off x="9015984" y="1463040"/>
            <a:ext cx="2624328" cy="2148840"/>
          </a:xfrm>
          <a:prstGeom prst="roundRect">
            <a:avLst>
              <a:gd name="adj" fmla="val 5957"/>
            </a:avLst>
          </a:prstGeom>
          <a:solidFill>
            <a:schemeClr val="bg1"/>
          </a:solidFill>
          <a:ln/>
          <a:effectLst>
            <a:outerShdw sx="100000" sy="100000" kx="0" ky="0" algn="bl" rotWithShape="0" blurRad="177800" dist="38100" dir="5400000">
              <a:srgbClr val="0B2F3F">
                <a:alpha val="10000"/>
              </a:srgbClr>
            </a:outerShdw>
          </a:effectLst>
        </p:spPr>
      </p:sp>
      <p:sp>
        <p:nvSpPr>
          <p:cNvPr id="20" name="icon-dot"/>
          <p:cNvSpPr/>
          <p:nvPr/>
        </p:nvSpPr>
        <p:spPr>
          <a:xfrm>
            <a:off x="9290304" y="1719072"/>
            <a:ext cx="548640" cy="548640"/>
          </a:xfrm>
          <a:prstGeom prst="ellipse">
            <a:avLst/>
          </a:prstGeom>
          <a:solidFill>
            <a:schemeClr val="accent3"/>
          </a:solidFill>
          <a:ln/>
        </p:spPr>
      </p:sp>
      <p:pic>
        <p:nvPicPr>
          <p:cNvPr id="21" name="icon-globe" descr="C:\Users\Akhilesh\AppData\Local\Temp\claude\C--Users-Akhilesh-Desktop-Claude-code-Happiest-Health\47a587f0-c947-456b-8324-0bf75adb31d4\scratchpad\deck\img\icons\globe.png">    </p:cNvPr>
          <p:cNvPicPr>
            <a:picLocks noChangeAspect="1"/>
          </p:cNvPicPr>
          <p:nvPr/>
        </p:nvPicPr>
        <p:blipFill>
          <a:blip r:embed="rId4"/>
          <a:stretch>
            <a:fillRect/>
          </a:stretch>
        </p:blipFill>
        <p:spPr>
          <a:xfrm>
            <a:off x="9411005" y="1839773"/>
            <a:ext cx="307238" cy="307238"/>
          </a:xfrm>
          <a:prstGeom prst="rect">
            <a:avLst/>
          </a:prstGeom>
        </p:spPr>
      </p:pic>
      <p:sp>
        <p:nvSpPr>
          <p:cNvPr id="22" name="Text 16"/>
          <p:cNvSpPr txBox="1"/>
          <p:nvPr/>
        </p:nvSpPr>
        <p:spPr>
          <a:xfrm>
            <a:off x="9290304" y="2331720"/>
            <a:ext cx="2194560" cy="685800"/>
          </a:xfrm>
          <a:prstGeom prst="rect">
            <a:avLst/>
          </a:prstGeom>
          <a:noFill/>
          <a:ln/>
        </p:spPr>
        <p:txBody>
          <a:bodyPr wrap="square" lIns="0" tIns="0" rIns="0" bIns="0" rtlCol="0" anchor="b"/>
          <a:lstStyle/>
          <a:p>
            <a:pPr indent="0" marL="0">
              <a:buNone/>
            </a:pPr>
            <a:r>
              <a:rPr lang="en-US" sz="3800" b="1" dirty="0">
                <a:solidFill>
                  <a:schemeClr val="tx2"/>
                </a:solidFill>
                <a:latin typeface="Georgia" pitchFamily="34" charset="0"/>
                <a:ea typeface="Georgia" pitchFamily="34" charset="-122"/>
                <a:cs typeface="Georgia" pitchFamily="34" charset="-120"/>
              </a:rPr>
              <a:t>Live</a:t>
            </a:r>
            <a:endParaRPr lang="en-US" sz="3800" dirty="0"/>
          </a:p>
        </p:txBody>
      </p:sp>
      <p:sp>
        <p:nvSpPr>
          <p:cNvPr id="23" name="Text 17"/>
          <p:cNvSpPr txBox="1"/>
          <p:nvPr/>
        </p:nvSpPr>
        <p:spPr>
          <a:xfrm>
            <a:off x="9290304" y="3063240"/>
            <a:ext cx="2194560" cy="457200"/>
          </a:xfrm>
          <a:prstGeom prst="rect">
            <a:avLst/>
          </a:prstGeom>
          <a:noFill/>
          <a:ln/>
        </p:spPr>
        <p:txBody>
          <a:bodyPr wrap="square" lIns="0" tIns="0" rIns="0" bIns="0" rtlCol="0" anchor="t"/>
          <a:lstStyle/>
          <a:p>
            <a:pPr indent="0" marL="0">
              <a:buNone/>
            </a:pPr>
            <a:r>
              <a:rPr lang="en-US" sz="1200" dirty="0">
                <a:solidFill>
                  <a:schemeClr val="accent6"/>
                </a:solidFill>
              </a:rPr>
              <a:t>dashboard on Streamlit Cloud</a:t>
            </a:r>
            <a:endParaRPr lang="en-US" sz="1200" dirty="0"/>
          </a:p>
        </p:txBody>
      </p:sp>
      <p:sp>
        <p:nvSpPr>
          <p:cNvPr id="24" name="card"/>
          <p:cNvSpPr/>
          <p:nvPr/>
        </p:nvSpPr>
        <p:spPr>
          <a:xfrm>
            <a:off x="594360" y="3840480"/>
            <a:ext cx="11002975" cy="1280160"/>
          </a:xfrm>
          <a:prstGeom prst="roundRect">
            <a:avLst>
              <a:gd name="adj" fmla="val 10000"/>
            </a:avLst>
          </a:prstGeom>
          <a:solidFill>
            <a:schemeClr val="bg1"/>
          </a:solidFill>
          <a:ln/>
          <a:effectLst>
            <a:outerShdw sx="100000" sy="100000" kx="0" ky="0" algn="bl" rotWithShape="0" blurRad="177800" dist="38100" dir="5400000">
              <a:srgbClr val="0B2F3F">
                <a:alpha val="10000"/>
              </a:srgbClr>
            </a:outerShdw>
          </a:effectLst>
        </p:spPr>
      </p:sp>
      <p:sp>
        <p:nvSpPr>
          <p:cNvPr id="25" name="icon-dot"/>
          <p:cNvSpPr/>
          <p:nvPr/>
        </p:nvSpPr>
        <p:spPr>
          <a:xfrm>
            <a:off x="914400" y="4160520"/>
            <a:ext cx="640080" cy="640080"/>
          </a:xfrm>
          <a:prstGeom prst="ellipse">
            <a:avLst/>
          </a:prstGeom>
          <a:solidFill>
            <a:schemeClr val="accent2"/>
          </a:solidFill>
          <a:ln/>
        </p:spPr>
      </p:sp>
      <p:pic>
        <p:nvPicPr>
          <p:cNvPr id="26" name="icon-plug" descr="C:\Users\Akhilesh\AppData\Local\Temp\claude\C--Users-Akhilesh-Desktop-Claude-code-Happiest-Health\47a587f0-c947-456b-8324-0bf75adb31d4\scratchpad\deck\img\icons\plug.png">    </p:cNvPr>
          <p:cNvPicPr>
            <a:picLocks noChangeAspect="1"/>
          </p:cNvPicPr>
          <p:nvPr/>
        </p:nvPicPr>
        <p:blipFill>
          <a:blip r:embed="rId5"/>
          <a:stretch>
            <a:fillRect/>
          </a:stretch>
        </p:blipFill>
        <p:spPr>
          <a:xfrm>
            <a:off x="1055218" y="4301338"/>
            <a:ext cx="358445" cy="358445"/>
          </a:xfrm>
          <a:prstGeom prst="rect">
            <a:avLst/>
          </a:prstGeom>
        </p:spPr>
      </p:pic>
      <p:sp>
        <p:nvSpPr>
          <p:cNvPr id="27" name="Text 20"/>
          <p:cNvSpPr txBox="1"/>
          <p:nvPr/>
        </p:nvSpPr>
        <p:spPr>
          <a:xfrm>
            <a:off x="1783080" y="3931920"/>
            <a:ext cx="9539935" cy="1097280"/>
          </a:xfrm>
          <a:prstGeom prst="rect">
            <a:avLst/>
          </a:prstGeom>
          <a:noFill/>
          <a:ln/>
        </p:spPr>
        <p:txBody>
          <a:bodyPr wrap="square" lIns="0" tIns="0" rIns="0" bIns="0" rtlCol="0" anchor="ctr"/>
          <a:lstStyle/>
          <a:p>
            <a:pPr indent="0" marL="0">
              <a:buNone/>
            </a:pPr>
            <a:r>
              <a:rPr lang="en-US" sz="1300" b="1" dirty="0">
                <a:solidFill>
                  <a:schemeClr val="tx1"/>
                </a:solidFill>
              </a:rPr>
              <a:t>Interoperable: </a:t>
            </a:r>
            <a:pPr indent="0" marL="0">
              <a:buNone/>
            </a:pPr>
            <a:r>
              <a:rPr lang="en-US" sz="1300" dirty="0">
                <a:solidFill>
                  <a:schemeClr val="tx1"/>
                </a:solidFill>
              </a:rPr>
              <a:t>a FHIR R4 API takes a patient's record and CGM and returns standard RiskAssessment resources, checked to reproduce the dashboard exactly. Also: a measured comparison of the simulator with real CGM, MIT licence, model card, deployment path.</a:t>
            </a:r>
            <a:endParaRPr lang="en-US" sz="1300" dirty="0"/>
          </a:p>
        </p:txBody>
      </p:sp>
      <p:sp>
        <p:nvSpPr>
          <p:cNvPr id="28" name="pill"/>
          <p:cNvSpPr/>
          <p:nvPr/>
        </p:nvSpPr>
        <p:spPr>
          <a:xfrm>
            <a:off x="594360" y="5394960"/>
            <a:ext cx="1024128" cy="365760"/>
          </a:xfrm>
          <a:prstGeom prst="roundRect">
            <a:avLst>
              <a:gd name="adj" fmla="val 50000"/>
            </a:avLst>
          </a:prstGeom>
          <a:solidFill>
            <a:srgbClr val="E3ECF1"/>
          </a:solidFill>
          <a:ln/>
        </p:spPr>
      </p:sp>
      <p:sp>
        <p:nvSpPr>
          <p:cNvPr id="29" name="Text 22"/>
          <p:cNvSpPr txBox="1"/>
          <p:nvPr/>
        </p:nvSpPr>
        <p:spPr>
          <a:xfrm>
            <a:off x="594360" y="5394960"/>
            <a:ext cx="1024128" cy="365760"/>
          </a:xfrm>
          <a:prstGeom prst="rect">
            <a:avLst/>
          </a:prstGeom>
          <a:noFill/>
          <a:ln/>
        </p:spPr>
        <p:txBody>
          <a:bodyPr wrap="square" lIns="0" tIns="0" rIns="0" bIns="0" rtlCol="0" anchor="ctr"/>
          <a:lstStyle/>
          <a:p>
            <a:pPr algn="ctr" indent="0" marL="0">
              <a:buNone/>
            </a:pPr>
            <a:r>
              <a:rPr lang="en-US" sz="1200" b="1" dirty="0">
                <a:solidFill>
                  <a:schemeClr val="tx2"/>
                </a:solidFill>
              </a:rPr>
              <a:t>Python</a:t>
            </a:r>
            <a:endParaRPr lang="en-US" sz="1200" dirty="0"/>
          </a:p>
        </p:txBody>
      </p:sp>
      <p:sp>
        <p:nvSpPr>
          <p:cNvPr id="30" name="pill"/>
          <p:cNvSpPr/>
          <p:nvPr/>
        </p:nvSpPr>
        <p:spPr>
          <a:xfrm>
            <a:off x="1700784" y="5394960"/>
            <a:ext cx="1024128" cy="365760"/>
          </a:xfrm>
          <a:prstGeom prst="roundRect">
            <a:avLst>
              <a:gd name="adj" fmla="val 50000"/>
            </a:avLst>
          </a:prstGeom>
          <a:solidFill>
            <a:srgbClr val="E3ECF1"/>
          </a:solidFill>
          <a:ln/>
        </p:spPr>
      </p:sp>
      <p:sp>
        <p:nvSpPr>
          <p:cNvPr id="31" name="Text 24"/>
          <p:cNvSpPr txBox="1"/>
          <p:nvPr/>
        </p:nvSpPr>
        <p:spPr>
          <a:xfrm>
            <a:off x="1700784" y="5394960"/>
            <a:ext cx="1024128" cy="365760"/>
          </a:xfrm>
          <a:prstGeom prst="rect">
            <a:avLst/>
          </a:prstGeom>
          <a:noFill/>
          <a:ln/>
        </p:spPr>
        <p:txBody>
          <a:bodyPr wrap="square" lIns="0" tIns="0" rIns="0" bIns="0" rtlCol="0" anchor="ctr"/>
          <a:lstStyle/>
          <a:p>
            <a:pPr algn="ctr" indent="0" marL="0">
              <a:buNone/>
            </a:pPr>
            <a:r>
              <a:rPr lang="en-US" sz="1200" b="1" dirty="0">
                <a:solidFill>
                  <a:schemeClr val="tx2"/>
                </a:solidFill>
              </a:rPr>
              <a:t>LightGBM</a:t>
            </a:r>
            <a:endParaRPr lang="en-US" sz="1200" dirty="0"/>
          </a:p>
        </p:txBody>
      </p:sp>
      <p:sp>
        <p:nvSpPr>
          <p:cNvPr id="32" name="pill"/>
          <p:cNvSpPr/>
          <p:nvPr/>
        </p:nvSpPr>
        <p:spPr>
          <a:xfrm>
            <a:off x="2807208" y="5394960"/>
            <a:ext cx="1024128" cy="365760"/>
          </a:xfrm>
          <a:prstGeom prst="roundRect">
            <a:avLst>
              <a:gd name="adj" fmla="val 50000"/>
            </a:avLst>
          </a:prstGeom>
          <a:solidFill>
            <a:srgbClr val="E3ECF1"/>
          </a:solidFill>
          <a:ln/>
        </p:spPr>
      </p:sp>
      <p:sp>
        <p:nvSpPr>
          <p:cNvPr id="33" name="Text 26"/>
          <p:cNvSpPr txBox="1"/>
          <p:nvPr/>
        </p:nvSpPr>
        <p:spPr>
          <a:xfrm>
            <a:off x="2807208" y="5394960"/>
            <a:ext cx="1024128" cy="365760"/>
          </a:xfrm>
          <a:prstGeom prst="rect">
            <a:avLst/>
          </a:prstGeom>
          <a:noFill/>
          <a:ln/>
        </p:spPr>
        <p:txBody>
          <a:bodyPr wrap="square" lIns="0" tIns="0" rIns="0" bIns="0" rtlCol="0" anchor="ctr"/>
          <a:lstStyle/>
          <a:p>
            <a:pPr algn="ctr" indent="0" marL="0">
              <a:buNone/>
            </a:pPr>
            <a:r>
              <a:rPr lang="en-US" sz="1200" b="1" dirty="0">
                <a:solidFill>
                  <a:schemeClr val="tx2"/>
                </a:solidFill>
              </a:rPr>
              <a:t>PyTorch</a:t>
            </a:r>
            <a:endParaRPr lang="en-US" sz="1200" dirty="0"/>
          </a:p>
        </p:txBody>
      </p:sp>
      <p:sp>
        <p:nvSpPr>
          <p:cNvPr id="34" name="pill"/>
          <p:cNvSpPr/>
          <p:nvPr/>
        </p:nvSpPr>
        <p:spPr>
          <a:xfrm>
            <a:off x="3913632" y="5394960"/>
            <a:ext cx="1024128" cy="365760"/>
          </a:xfrm>
          <a:prstGeom prst="roundRect">
            <a:avLst>
              <a:gd name="adj" fmla="val 50000"/>
            </a:avLst>
          </a:prstGeom>
          <a:solidFill>
            <a:srgbClr val="E3ECF1"/>
          </a:solidFill>
          <a:ln/>
        </p:spPr>
      </p:sp>
      <p:sp>
        <p:nvSpPr>
          <p:cNvPr id="35" name="Text 28"/>
          <p:cNvSpPr txBox="1"/>
          <p:nvPr/>
        </p:nvSpPr>
        <p:spPr>
          <a:xfrm>
            <a:off x="3913632" y="5394960"/>
            <a:ext cx="1024128" cy="365760"/>
          </a:xfrm>
          <a:prstGeom prst="rect">
            <a:avLst/>
          </a:prstGeom>
          <a:noFill/>
          <a:ln/>
        </p:spPr>
        <p:txBody>
          <a:bodyPr wrap="square" lIns="0" tIns="0" rIns="0" bIns="0" rtlCol="0" anchor="ctr"/>
          <a:lstStyle/>
          <a:p>
            <a:pPr algn="ctr" indent="0" marL="0">
              <a:buNone/>
            </a:pPr>
            <a:r>
              <a:rPr lang="en-US" sz="1200" b="1" dirty="0">
                <a:solidFill>
                  <a:schemeClr val="tx2"/>
                </a:solidFill>
              </a:rPr>
              <a:t>SHAP</a:t>
            </a:r>
            <a:endParaRPr lang="en-US" sz="1200" dirty="0"/>
          </a:p>
        </p:txBody>
      </p:sp>
      <p:sp>
        <p:nvSpPr>
          <p:cNvPr id="36" name="pill"/>
          <p:cNvSpPr/>
          <p:nvPr/>
        </p:nvSpPr>
        <p:spPr>
          <a:xfrm>
            <a:off x="5020056" y="5394960"/>
            <a:ext cx="1024128" cy="365760"/>
          </a:xfrm>
          <a:prstGeom prst="roundRect">
            <a:avLst>
              <a:gd name="adj" fmla="val 50000"/>
            </a:avLst>
          </a:prstGeom>
          <a:solidFill>
            <a:srgbClr val="E3ECF1"/>
          </a:solidFill>
          <a:ln/>
        </p:spPr>
      </p:sp>
      <p:sp>
        <p:nvSpPr>
          <p:cNvPr id="37" name="Text 30"/>
          <p:cNvSpPr txBox="1"/>
          <p:nvPr/>
        </p:nvSpPr>
        <p:spPr>
          <a:xfrm>
            <a:off x="5020056" y="5394960"/>
            <a:ext cx="1024128" cy="365760"/>
          </a:xfrm>
          <a:prstGeom prst="rect">
            <a:avLst/>
          </a:prstGeom>
          <a:noFill/>
          <a:ln/>
        </p:spPr>
        <p:txBody>
          <a:bodyPr wrap="square" lIns="0" tIns="0" rIns="0" bIns="0" rtlCol="0" anchor="ctr"/>
          <a:lstStyle/>
          <a:p>
            <a:pPr algn="ctr" indent="0" marL="0">
              <a:buNone/>
            </a:pPr>
            <a:r>
              <a:rPr lang="en-US" sz="1200" b="1" dirty="0">
                <a:solidFill>
                  <a:schemeClr val="tx2"/>
                </a:solidFill>
              </a:rPr>
              <a:t>SciPy</a:t>
            </a:r>
            <a:endParaRPr lang="en-US" sz="1200" dirty="0"/>
          </a:p>
        </p:txBody>
      </p:sp>
      <p:sp>
        <p:nvSpPr>
          <p:cNvPr id="38" name="pill"/>
          <p:cNvSpPr/>
          <p:nvPr/>
        </p:nvSpPr>
        <p:spPr>
          <a:xfrm>
            <a:off x="6126480" y="5394960"/>
            <a:ext cx="1024128" cy="365760"/>
          </a:xfrm>
          <a:prstGeom prst="roundRect">
            <a:avLst>
              <a:gd name="adj" fmla="val 50000"/>
            </a:avLst>
          </a:prstGeom>
          <a:solidFill>
            <a:srgbClr val="E3ECF1"/>
          </a:solidFill>
          <a:ln/>
        </p:spPr>
      </p:sp>
      <p:sp>
        <p:nvSpPr>
          <p:cNvPr id="39" name="Text 32"/>
          <p:cNvSpPr txBox="1"/>
          <p:nvPr/>
        </p:nvSpPr>
        <p:spPr>
          <a:xfrm>
            <a:off x="6126480" y="5394960"/>
            <a:ext cx="1024128" cy="365760"/>
          </a:xfrm>
          <a:prstGeom prst="rect">
            <a:avLst/>
          </a:prstGeom>
          <a:noFill/>
          <a:ln/>
        </p:spPr>
        <p:txBody>
          <a:bodyPr wrap="square" lIns="0" tIns="0" rIns="0" bIns="0" rtlCol="0" anchor="ctr"/>
          <a:lstStyle/>
          <a:p>
            <a:pPr algn="ctr" indent="0" marL="0">
              <a:buNone/>
            </a:pPr>
            <a:r>
              <a:rPr lang="en-US" sz="1200" b="1" dirty="0">
                <a:solidFill>
                  <a:schemeClr val="tx2"/>
                </a:solidFill>
              </a:rPr>
              <a:t>scikit-learn</a:t>
            </a:r>
            <a:endParaRPr lang="en-US" sz="1200" dirty="0"/>
          </a:p>
        </p:txBody>
      </p:sp>
      <p:sp>
        <p:nvSpPr>
          <p:cNvPr id="40" name="pill"/>
          <p:cNvSpPr/>
          <p:nvPr/>
        </p:nvSpPr>
        <p:spPr>
          <a:xfrm>
            <a:off x="7232904" y="5394960"/>
            <a:ext cx="1024128" cy="365760"/>
          </a:xfrm>
          <a:prstGeom prst="roundRect">
            <a:avLst>
              <a:gd name="adj" fmla="val 50000"/>
            </a:avLst>
          </a:prstGeom>
          <a:solidFill>
            <a:srgbClr val="E3ECF1"/>
          </a:solidFill>
          <a:ln/>
        </p:spPr>
      </p:sp>
      <p:sp>
        <p:nvSpPr>
          <p:cNvPr id="41" name="Text 34"/>
          <p:cNvSpPr txBox="1"/>
          <p:nvPr/>
        </p:nvSpPr>
        <p:spPr>
          <a:xfrm>
            <a:off x="7232904" y="5394960"/>
            <a:ext cx="1024128" cy="365760"/>
          </a:xfrm>
          <a:prstGeom prst="rect">
            <a:avLst/>
          </a:prstGeom>
          <a:noFill/>
          <a:ln/>
        </p:spPr>
        <p:txBody>
          <a:bodyPr wrap="square" lIns="0" tIns="0" rIns="0" bIns="0" rtlCol="0" anchor="ctr"/>
          <a:lstStyle/>
          <a:p>
            <a:pPr algn="ctr" indent="0" marL="0">
              <a:buNone/>
            </a:pPr>
            <a:r>
              <a:rPr lang="en-US" sz="1200" b="1" dirty="0">
                <a:solidFill>
                  <a:schemeClr val="tx2"/>
                </a:solidFill>
              </a:rPr>
              <a:t>Plotly</a:t>
            </a:r>
            <a:endParaRPr lang="en-US" sz="1200" dirty="0"/>
          </a:p>
        </p:txBody>
      </p:sp>
      <p:sp>
        <p:nvSpPr>
          <p:cNvPr id="42" name="pill"/>
          <p:cNvSpPr/>
          <p:nvPr/>
        </p:nvSpPr>
        <p:spPr>
          <a:xfrm>
            <a:off x="8339328" y="5394960"/>
            <a:ext cx="1024128" cy="365760"/>
          </a:xfrm>
          <a:prstGeom prst="roundRect">
            <a:avLst>
              <a:gd name="adj" fmla="val 50000"/>
            </a:avLst>
          </a:prstGeom>
          <a:solidFill>
            <a:srgbClr val="E3ECF1"/>
          </a:solidFill>
          <a:ln/>
        </p:spPr>
      </p:sp>
      <p:sp>
        <p:nvSpPr>
          <p:cNvPr id="43" name="Text 36"/>
          <p:cNvSpPr txBox="1"/>
          <p:nvPr/>
        </p:nvSpPr>
        <p:spPr>
          <a:xfrm>
            <a:off x="8339328" y="5394960"/>
            <a:ext cx="1024128" cy="365760"/>
          </a:xfrm>
          <a:prstGeom prst="rect">
            <a:avLst/>
          </a:prstGeom>
          <a:noFill/>
          <a:ln/>
        </p:spPr>
        <p:txBody>
          <a:bodyPr wrap="square" lIns="0" tIns="0" rIns="0" bIns="0" rtlCol="0" anchor="ctr"/>
          <a:lstStyle/>
          <a:p>
            <a:pPr algn="ctr" indent="0" marL="0">
              <a:buNone/>
            </a:pPr>
            <a:r>
              <a:rPr lang="en-US" sz="1200" b="1" dirty="0">
                <a:solidFill>
                  <a:schemeClr val="tx2"/>
                </a:solidFill>
              </a:rPr>
              <a:t>Streamlit</a:t>
            </a:r>
            <a:endParaRPr lang="en-US" sz="1200" dirty="0"/>
          </a:p>
        </p:txBody>
      </p:sp>
      <p:sp>
        <p:nvSpPr>
          <p:cNvPr id="44" name="pill"/>
          <p:cNvSpPr/>
          <p:nvPr/>
        </p:nvSpPr>
        <p:spPr>
          <a:xfrm>
            <a:off x="9445752" y="5394960"/>
            <a:ext cx="1024128" cy="365760"/>
          </a:xfrm>
          <a:prstGeom prst="roundRect">
            <a:avLst>
              <a:gd name="adj" fmla="val 50000"/>
            </a:avLst>
          </a:prstGeom>
          <a:solidFill>
            <a:srgbClr val="E3ECF1"/>
          </a:solidFill>
          <a:ln/>
        </p:spPr>
      </p:sp>
      <p:sp>
        <p:nvSpPr>
          <p:cNvPr id="45" name="Text 38"/>
          <p:cNvSpPr txBox="1"/>
          <p:nvPr/>
        </p:nvSpPr>
        <p:spPr>
          <a:xfrm>
            <a:off x="9445752" y="5394960"/>
            <a:ext cx="1024128" cy="365760"/>
          </a:xfrm>
          <a:prstGeom prst="rect">
            <a:avLst/>
          </a:prstGeom>
          <a:noFill/>
          <a:ln/>
        </p:spPr>
        <p:txBody>
          <a:bodyPr wrap="square" lIns="0" tIns="0" rIns="0" bIns="0" rtlCol="0" anchor="ctr"/>
          <a:lstStyle/>
          <a:p>
            <a:pPr algn="ctr" indent="0" marL="0">
              <a:buNone/>
            </a:pPr>
            <a:r>
              <a:rPr lang="en-US" sz="1200" b="1" dirty="0">
                <a:solidFill>
                  <a:schemeClr val="tx2"/>
                </a:solidFill>
              </a:rPr>
              <a:t>FastAPI</a:t>
            </a:r>
            <a:endParaRPr lang="en-US" sz="1200" dirty="0"/>
          </a:p>
        </p:txBody>
      </p:sp>
      <p:sp>
        <p:nvSpPr>
          <p:cNvPr id="46" name="pill"/>
          <p:cNvSpPr/>
          <p:nvPr/>
        </p:nvSpPr>
        <p:spPr>
          <a:xfrm>
            <a:off x="10552176" y="5394960"/>
            <a:ext cx="1024128" cy="365760"/>
          </a:xfrm>
          <a:prstGeom prst="roundRect">
            <a:avLst>
              <a:gd name="adj" fmla="val 50000"/>
            </a:avLst>
          </a:prstGeom>
          <a:solidFill>
            <a:srgbClr val="E3ECF1"/>
          </a:solidFill>
          <a:ln/>
        </p:spPr>
      </p:sp>
      <p:sp>
        <p:nvSpPr>
          <p:cNvPr id="47" name="Text 40"/>
          <p:cNvSpPr txBox="1"/>
          <p:nvPr/>
        </p:nvSpPr>
        <p:spPr>
          <a:xfrm>
            <a:off x="10552176" y="5394960"/>
            <a:ext cx="1024128" cy="365760"/>
          </a:xfrm>
          <a:prstGeom prst="rect">
            <a:avLst/>
          </a:prstGeom>
          <a:noFill/>
          <a:ln/>
        </p:spPr>
        <p:txBody>
          <a:bodyPr wrap="square" lIns="0" tIns="0" rIns="0" bIns="0" rtlCol="0" anchor="ctr"/>
          <a:lstStyle/>
          <a:p>
            <a:pPr algn="ctr" indent="0" marL="0">
              <a:buNone/>
            </a:pPr>
            <a:r>
              <a:rPr lang="en-US" sz="1200" b="1" dirty="0">
                <a:solidFill>
                  <a:schemeClr val="tx2"/>
                </a:solidFill>
              </a:rPr>
              <a:t>FHIR R4</a:t>
            </a:r>
            <a:endParaRPr lang="en-US" sz="1200" dirty="0"/>
          </a:p>
        </p:txBody>
      </p:sp>
      <p:sp>
        <p:nvSpPr>
          <p:cNvPr id="25" name="Slide Number Placeholder 0"/>
          <p:cNvSpPr>
            <a:spLocks noGrp="1"/>
          </p:cNvSpPr>
          <p:nvPr>
            <p:ph type="sldNum" sz="quarter" idx="4294967295"/>
          </p:nvPr>
        </p:nvSpPr>
        <p:spPr>
          <a:xfrm>
            <a:off x="11140135"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94360" y="292608"/>
            <a:ext cx="8229600" cy="256032"/>
          </a:xfrm>
          <a:prstGeom prst="rect">
            <a:avLst/>
          </a:prstGeom>
          <a:noFill/>
          <a:ln/>
        </p:spPr>
        <p:txBody>
          <a:bodyPr wrap="square" lIns="0" tIns="0" rIns="0" bIns="0" rtlCol="0" anchor="t"/>
          <a:lstStyle/>
          <a:p>
            <a:pPr indent="0" marL="0">
              <a:buNone/>
            </a:pPr>
            <a:r>
              <a:rPr lang="en-US" sz="1100" b="1" spc="300" kern="0" dirty="0">
                <a:solidFill>
                  <a:schemeClr val="accent1"/>
                </a:solidFill>
              </a:rPr>
              <a:t>17 · LIMITATIONS</a:t>
            </a:r>
            <a:endParaRPr lang="en-US" sz="1100" dirty="0"/>
          </a:p>
        </p:txBody>
      </p:sp>
      <p:sp>
        <p:nvSpPr>
          <p:cNvPr id="3" name="Text 0"/>
          <p:cNvSpPr/>
          <p:nvPr>
            <p:ph idx="100" type="title" hasCustomPrompt="1"/>
          </p:nvPr>
        </p:nvSpPr>
        <p:spPr>
          <a:xfrm>
            <a:off x="594360" y="566928"/>
            <a:ext cx="11002975" cy="658368"/>
          </a:xfrm>
          <a:prstGeom prst="rect">
            <a:avLst/>
          </a:prstGeom>
          <a:noFill/>
          <a:ln/>
        </p:spPr>
        <p:txBody>
          <a:bodyPr wrap="square" lIns="0" tIns="0" rIns="0" bIns="0" rtlCol="0" anchor="ctr"/>
          <a:lstStyle/>
          <a:p>
            <a:pPr algn="l" indent="0" marL="0">
              <a:buNone/>
            </a:pPr>
            <a:r>
              <a:rPr lang="en-US" sz="3000" b="1" dirty="0">
                <a:solidFill>
                  <a:schemeClr val="tx2"/>
                </a:solidFill>
                <a:latin typeface="Georgia" pitchFamily="34" charset="0"/>
                <a:ea typeface="Georgia" pitchFamily="34" charset="-122"/>
                <a:cs typeface="Georgia" pitchFamily="34" charset="-120"/>
              </a:rPr>
              <a:t>Limitations we know about</a:t>
            </a:r>
            <a:endParaRPr lang="en-US" sz="3000" dirty="0"/>
          </a:p>
        </p:txBody>
      </p:sp>
      <p:sp>
        <p:nvSpPr>
          <p:cNvPr id="4" name="card"/>
          <p:cNvSpPr/>
          <p:nvPr/>
        </p:nvSpPr>
        <p:spPr>
          <a:xfrm>
            <a:off x="594360" y="1463040"/>
            <a:ext cx="5440680" cy="2103120"/>
          </a:xfrm>
          <a:prstGeom prst="roundRect">
            <a:avLst>
              <a:gd name="adj" fmla="val 6087"/>
            </a:avLst>
          </a:prstGeom>
          <a:solidFill>
            <a:schemeClr val="bg1"/>
          </a:solidFill>
          <a:ln/>
          <a:effectLst>
            <a:outerShdw sx="100000" sy="100000" kx="0" ky="0" algn="bl" rotWithShape="0" blurRad="177800" dist="38100" dir="5400000">
              <a:srgbClr val="0B2F3F">
                <a:alpha val="10000"/>
              </a:srgbClr>
            </a:outerShdw>
          </a:effectLst>
        </p:spPr>
      </p:sp>
      <p:sp>
        <p:nvSpPr>
          <p:cNvPr id="5" name="icon-dot"/>
          <p:cNvSpPr/>
          <p:nvPr/>
        </p:nvSpPr>
        <p:spPr>
          <a:xfrm>
            <a:off x="960120" y="1828800"/>
            <a:ext cx="685800" cy="685800"/>
          </a:xfrm>
          <a:prstGeom prst="ellipse">
            <a:avLst/>
          </a:prstGeom>
          <a:solidFill>
            <a:schemeClr val="accent2"/>
          </a:solidFill>
          <a:ln/>
        </p:spPr>
      </p:sp>
      <p:pic>
        <p:nvPicPr>
          <p:cNvPr id="6" name="icon-database" descr="C:\Users\Akhilesh\AppData\Local\Temp\claude\C--Users-Akhilesh-Desktop-Claude-code-Happiest-Health\47a587f0-c947-456b-8324-0bf75adb31d4\scratchpad\deck\img\icons\database.png">    </p:cNvPr>
          <p:cNvPicPr>
            <a:picLocks noChangeAspect="1"/>
          </p:cNvPicPr>
          <p:nvPr/>
        </p:nvPicPr>
        <p:blipFill>
          <a:blip r:embed="rId1"/>
          <a:stretch>
            <a:fillRect/>
          </a:stretch>
        </p:blipFill>
        <p:spPr>
          <a:xfrm>
            <a:off x="1110996" y="1979676"/>
            <a:ext cx="384048" cy="384048"/>
          </a:xfrm>
          <a:prstGeom prst="rect">
            <a:avLst/>
          </a:prstGeom>
        </p:spPr>
      </p:pic>
      <p:sp>
        <p:nvSpPr>
          <p:cNvPr id="7" name="Text 4"/>
          <p:cNvSpPr txBox="1"/>
          <p:nvPr/>
        </p:nvSpPr>
        <p:spPr>
          <a:xfrm>
            <a:off x="1920240" y="1847088"/>
            <a:ext cx="3840480" cy="384048"/>
          </a:xfrm>
          <a:prstGeom prst="rect">
            <a:avLst/>
          </a:prstGeom>
          <a:noFill/>
          <a:ln/>
        </p:spPr>
        <p:txBody>
          <a:bodyPr wrap="square" lIns="0" tIns="0" rIns="0" bIns="0" rtlCol="0" anchor="t"/>
          <a:lstStyle/>
          <a:p>
            <a:pPr indent="0" marL="0">
              <a:buNone/>
            </a:pPr>
            <a:r>
              <a:rPr lang="en-US" sz="1800" b="1" dirty="0">
                <a:solidFill>
                  <a:schemeClr val="tx2"/>
                </a:solidFill>
                <a:latin typeface="Georgia" pitchFamily="34" charset="0"/>
                <a:ea typeface="Georgia" pitchFamily="34" charset="-122"/>
                <a:cs typeface="Georgia" pitchFamily="34" charset="-120"/>
              </a:rPr>
              <a:t>Little real training data</a:t>
            </a:r>
            <a:endParaRPr lang="en-US" sz="1800" dirty="0"/>
          </a:p>
        </p:txBody>
      </p:sp>
      <p:sp>
        <p:nvSpPr>
          <p:cNvPr id="8" name="Text 5"/>
          <p:cNvSpPr txBox="1"/>
          <p:nvPr/>
        </p:nvSpPr>
        <p:spPr>
          <a:xfrm>
            <a:off x="1920240" y="2331720"/>
            <a:ext cx="3840480" cy="1005840"/>
          </a:xfrm>
          <a:prstGeom prst="rect">
            <a:avLst/>
          </a:prstGeom>
          <a:noFill/>
          <a:ln/>
        </p:spPr>
        <p:txBody>
          <a:bodyPr wrap="square" lIns="0" tIns="0" rIns="0" bIns="0" rtlCol="0" anchor="t"/>
          <a:lstStyle/>
          <a:p>
            <a:pPr indent="0" marL="0">
              <a:buNone/>
            </a:pPr>
            <a:r>
              <a:rPr lang="en-US" sz="1300" dirty="0">
                <a:solidFill>
                  <a:schemeClr val="accent6"/>
                </a:solidFill>
              </a:rPr>
              <a:t>The default model is synthetic-trained; the real-trained one has seen only 100 patients</a:t>
            </a:r>
            <a:endParaRPr lang="en-US" sz="1300" dirty="0"/>
          </a:p>
        </p:txBody>
      </p:sp>
      <p:sp>
        <p:nvSpPr>
          <p:cNvPr id="9" name="card"/>
          <p:cNvSpPr/>
          <p:nvPr/>
        </p:nvSpPr>
        <p:spPr>
          <a:xfrm>
            <a:off x="6153912" y="1463040"/>
            <a:ext cx="5440680" cy="2103120"/>
          </a:xfrm>
          <a:prstGeom prst="roundRect">
            <a:avLst>
              <a:gd name="adj" fmla="val 6087"/>
            </a:avLst>
          </a:prstGeom>
          <a:solidFill>
            <a:schemeClr val="bg1"/>
          </a:solidFill>
          <a:ln/>
          <a:effectLst>
            <a:outerShdw sx="100000" sy="100000" kx="0" ky="0" algn="bl" rotWithShape="0" blurRad="177800" dist="38100" dir="5400000">
              <a:srgbClr val="0B2F3F">
                <a:alpha val="10000"/>
              </a:srgbClr>
            </a:outerShdw>
          </a:effectLst>
        </p:spPr>
      </p:sp>
      <p:sp>
        <p:nvSpPr>
          <p:cNvPr id="10" name="icon-dot"/>
          <p:cNvSpPr/>
          <p:nvPr/>
        </p:nvSpPr>
        <p:spPr>
          <a:xfrm>
            <a:off x="6519672" y="1828800"/>
            <a:ext cx="685800" cy="685800"/>
          </a:xfrm>
          <a:prstGeom prst="ellipse">
            <a:avLst/>
          </a:prstGeom>
          <a:solidFill>
            <a:schemeClr val="accent2"/>
          </a:solidFill>
          <a:ln/>
        </p:spPr>
      </p:sp>
      <p:pic>
        <p:nvPicPr>
          <p:cNvPr id="11" name="icon-pin" descr="C:\Users\Akhilesh\AppData\Local\Temp\claude\C--Users-Akhilesh-Desktop-Claude-code-Happiest-Health\47a587f0-c947-456b-8324-0bf75adb31d4\scratchpad\deck\img\icons\pin.png">    </p:cNvPr>
          <p:cNvPicPr>
            <a:picLocks noChangeAspect="1"/>
          </p:cNvPicPr>
          <p:nvPr/>
        </p:nvPicPr>
        <p:blipFill>
          <a:blip r:embed="rId2"/>
          <a:stretch>
            <a:fillRect/>
          </a:stretch>
        </p:blipFill>
        <p:spPr>
          <a:xfrm>
            <a:off x="6670548" y="1979676"/>
            <a:ext cx="384048" cy="384048"/>
          </a:xfrm>
          <a:prstGeom prst="rect">
            <a:avLst/>
          </a:prstGeom>
        </p:spPr>
      </p:pic>
      <p:sp>
        <p:nvSpPr>
          <p:cNvPr id="12" name="Text 8"/>
          <p:cNvSpPr txBox="1"/>
          <p:nvPr/>
        </p:nvSpPr>
        <p:spPr>
          <a:xfrm>
            <a:off x="7479792" y="1847088"/>
            <a:ext cx="3840480" cy="384048"/>
          </a:xfrm>
          <a:prstGeom prst="rect">
            <a:avLst/>
          </a:prstGeom>
          <a:noFill/>
          <a:ln/>
        </p:spPr>
        <p:txBody>
          <a:bodyPr wrap="square" lIns="0" tIns="0" rIns="0" bIns="0" rtlCol="0" anchor="t"/>
          <a:lstStyle/>
          <a:p>
            <a:pPr indent="0" marL="0">
              <a:buNone/>
            </a:pPr>
            <a:r>
              <a:rPr lang="en-US" sz="1800" b="1" dirty="0">
                <a:solidFill>
                  <a:schemeClr val="tx2"/>
                </a:solidFill>
                <a:latin typeface="Georgia" pitchFamily="34" charset="0"/>
                <a:ea typeface="Georgia" pitchFamily="34" charset="-122"/>
                <a:cs typeface="Georgia" pitchFamily="34" charset="-120"/>
              </a:rPr>
              <a:t>Not the target population</a:t>
            </a:r>
            <a:endParaRPr lang="en-US" sz="1800" dirty="0"/>
          </a:p>
        </p:txBody>
      </p:sp>
      <p:sp>
        <p:nvSpPr>
          <p:cNvPr id="13" name="Text 9"/>
          <p:cNvSpPr txBox="1"/>
          <p:nvPr/>
        </p:nvSpPr>
        <p:spPr>
          <a:xfrm>
            <a:off x="7479792" y="2331720"/>
            <a:ext cx="3840480" cy="1005840"/>
          </a:xfrm>
          <a:prstGeom prst="rect">
            <a:avLst/>
          </a:prstGeom>
          <a:noFill/>
          <a:ln/>
        </p:spPr>
        <p:txBody>
          <a:bodyPr wrap="square" lIns="0" tIns="0" rIns="0" bIns="0" rtlCol="0" anchor="t"/>
          <a:lstStyle/>
          <a:p>
            <a:pPr indent="0" marL="0">
              <a:buNone/>
            </a:pPr>
            <a:r>
              <a:rPr lang="en-US" sz="1300" dirty="0">
                <a:solidFill>
                  <a:schemeClr val="accent6"/>
                </a:solidFill>
              </a:rPr>
              <a:t>14 US and 100 Chinese patients, not Indian outpatients</a:t>
            </a:r>
            <a:endParaRPr lang="en-US" sz="1300" dirty="0"/>
          </a:p>
        </p:txBody>
      </p:sp>
      <p:sp>
        <p:nvSpPr>
          <p:cNvPr id="14" name="card"/>
          <p:cNvSpPr/>
          <p:nvPr/>
        </p:nvSpPr>
        <p:spPr>
          <a:xfrm>
            <a:off x="594360" y="3749040"/>
            <a:ext cx="5440680" cy="2103120"/>
          </a:xfrm>
          <a:prstGeom prst="roundRect">
            <a:avLst>
              <a:gd name="adj" fmla="val 6087"/>
            </a:avLst>
          </a:prstGeom>
          <a:solidFill>
            <a:schemeClr val="bg1"/>
          </a:solidFill>
          <a:ln/>
          <a:effectLst>
            <a:outerShdw sx="100000" sy="100000" kx="0" ky="0" algn="bl" rotWithShape="0" blurRad="177800" dist="38100" dir="5400000">
              <a:srgbClr val="0B2F3F">
                <a:alpha val="10000"/>
              </a:srgbClr>
            </a:outerShdw>
          </a:effectLst>
        </p:spPr>
      </p:sp>
      <p:sp>
        <p:nvSpPr>
          <p:cNvPr id="15" name="icon-dot"/>
          <p:cNvSpPr/>
          <p:nvPr/>
        </p:nvSpPr>
        <p:spPr>
          <a:xfrm>
            <a:off x="960120" y="4114800"/>
            <a:ext cx="685800" cy="685800"/>
          </a:xfrm>
          <a:prstGeom prst="ellipse">
            <a:avLst/>
          </a:prstGeom>
          <a:solidFill>
            <a:schemeClr val="accent2"/>
          </a:solidFill>
          <a:ln/>
        </p:spPr>
      </p:sp>
      <p:pic>
        <p:nvPicPr>
          <p:cNvPr id="16" name="icon-syringe" descr="C:\Users\Akhilesh\AppData\Local\Temp\claude\C--Users-Akhilesh-Desktop-Claude-code-Happiest-Health\47a587f0-c947-456b-8324-0bf75adb31d4\scratchpad\deck\img\icons\syringe.png">    </p:cNvPr>
          <p:cNvPicPr>
            <a:picLocks noChangeAspect="1"/>
          </p:cNvPicPr>
          <p:nvPr/>
        </p:nvPicPr>
        <p:blipFill>
          <a:blip r:embed="rId3"/>
          <a:stretch>
            <a:fillRect/>
          </a:stretch>
        </p:blipFill>
        <p:spPr>
          <a:xfrm>
            <a:off x="1110996" y="4265676"/>
            <a:ext cx="384048" cy="384048"/>
          </a:xfrm>
          <a:prstGeom prst="rect">
            <a:avLst/>
          </a:prstGeom>
        </p:spPr>
      </p:pic>
      <p:sp>
        <p:nvSpPr>
          <p:cNvPr id="17" name="Text 12"/>
          <p:cNvSpPr txBox="1"/>
          <p:nvPr/>
        </p:nvSpPr>
        <p:spPr>
          <a:xfrm>
            <a:off x="1920240" y="4133088"/>
            <a:ext cx="3840480" cy="384048"/>
          </a:xfrm>
          <a:prstGeom prst="rect">
            <a:avLst/>
          </a:prstGeom>
          <a:noFill/>
          <a:ln/>
        </p:spPr>
        <p:txBody>
          <a:bodyPr wrap="square" lIns="0" tIns="0" rIns="0" bIns="0" rtlCol="0" anchor="t"/>
          <a:lstStyle/>
          <a:p>
            <a:pPr indent="0" marL="0">
              <a:buNone/>
            </a:pPr>
            <a:r>
              <a:rPr lang="en-US" sz="1800" b="1" dirty="0">
                <a:solidFill>
                  <a:schemeClr val="tx2"/>
                </a:solidFill>
                <a:latin typeface="Georgia" pitchFamily="34" charset="0"/>
                <a:ea typeface="Georgia" pitchFamily="34" charset="-122"/>
                <a:cs typeface="Georgia" pitchFamily="34" charset="-120"/>
              </a:rPr>
              <a:t>Insulin users</a:t>
            </a:r>
            <a:endParaRPr lang="en-US" sz="1800" dirty="0"/>
          </a:p>
        </p:txBody>
      </p:sp>
      <p:sp>
        <p:nvSpPr>
          <p:cNvPr id="18" name="Text 13"/>
          <p:cNvSpPr txBox="1"/>
          <p:nvPr/>
        </p:nvSpPr>
        <p:spPr>
          <a:xfrm>
            <a:off x="1920240" y="4617720"/>
            <a:ext cx="3840480" cy="1005840"/>
          </a:xfrm>
          <a:prstGeom prst="rect">
            <a:avLst/>
          </a:prstGeom>
          <a:noFill/>
          <a:ln/>
        </p:spPr>
        <p:txBody>
          <a:bodyPr wrap="square" lIns="0" tIns="0" rIns="0" bIns="0" rtlCol="0" anchor="t"/>
          <a:lstStyle/>
          <a:p>
            <a:pPr indent="0" marL="0">
              <a:buNone/>
            </a:pPr>
            <a:r>
              <a:rPr lang="en-US" sz="1300" dirty="0">
                <a:solidFill>
                  <a:schemeClr val="accent6"/>
                </a:solidFill>
              </a:rPr>
              <a:t>Their lows are the hardest to predict, on synthetic and real data alike</a:t>
            </a:r>
            <a:endParaRPr lang="en-US" sz="1300" dirty="0"/>
          </a:p>
        </p:txBody>
      </p:sp>
      <p:sp>
        <p:nvSpPr>
          <p:cNvPr id="19" name="card"/>
          <p:cNvSpPr/>
          <p:nvPr/>
        </p:nvSpPr>
        <p:spPr>
          <a:xfrm>
            <a:off x="6153912" y="3749040"/>
            <a:ext cx="5440680" cy="2103120"/>
          </a:xfrm>
          <a:prstGeom prst="roundRect">
            <a:avLst>
              <a:gd name="adj" fmla="val 6087"/>
            </a:avLst>
          </a:prstGeom>
          <a:solidFill>
            <a:schemeClr val="bg1"/>
          </a:solidFill>
          <a:ln/>
          <a:effectLst>
            <a:outerShdw sx="100000" sy="100000" kx="0" ky="0" algn="bl" rotWithShape="0" blurRad="177800" dist="38100" dir="5400000">
              <a:srgbClr val="0B2F3F">
                <a:alpha val="10000"/>
              </a:srgbClr>
            </a:outerShdw>
          </a:effectLst>
        </p:spPr>
      </p:sp>
      <p:sp>
        <p:nvSpPr>
          <p:cNvPr id="20" name="icon-dot"/>
          <p:cNvSpPr/>
          <p:nvPr/>
        </p:nvSpPr>
        <p:spPr>
          <a:xfrm>
            <a:off x="6519672" y="4114800"/>
            <a:ext cx="685800" cy="685800"/>
          </a:xfrm>
          <a:prstGeom prst="ellipse">
            <a:avLst/>
          </a:prstGeom>
          <a:solidFill>
            <a:schemeClr val="accent2"/>
          </a:solidFill>
          <a:ln/>
        </p:spPr>
      </p:sp>
      <p:pic>
        <p:nvPicPr>
          <p:cNvPr id="21" name="icon-meal" descr="C:\Users\Akhilesh\AppData\Local\Temp\claude\C--Users-Akhilesh-Desktop-Claude-code-Happiest-Health\47a587f0-c947-456b-8324-0bf75adb31d4\scratchpad\deck\img\icons\meal.png">    </p:cNvPr>
          <p:cNvPicPr>
            <a:picLocks noChangeAspect="1"/>
          </p:cNvPicPr>
          <p:nvPr/>
        </p:nvPicPr>
        <p:blipFill>
          <a:blip r:embed="rId4"/>
          <a:stretch>
            <a:fillRect/>
          </a:stretch>
        </p:blipFill>
        <p:spPr>
          <a:xfrm>
            <a:off x="6670548" y="4265676"/>
            <a:ext cx="384048" cy="384048"/>
          </a:xfrm>
          <a:prstGeom prst="rect">
            <a:avLst/>
          </a:prstGeom>
        </p:spPr>
      </p:pic>
      <p:sp>
        <p:nvSpPr>
          <p:cNvPr id="22" name="Text 16"/>
          <p:cNvSpPr txBox="1"/>
          <p:nvPr/>
        </p:nvSpPr>
        <p:spPr>
          <a:xfrm>
            <a:off x="7479792" y="4133088"/>
            <a:ext cx="3840480" cy="384048"/>
          </a:xfrm>
          <a:prstGeom prst="rect">
            <a:avLst/>
          </a:prstGeom>
          <a:noFill/>
          <a:ln/>
        </p:spPr>
        <p:txBody>
          <a:bodyPr wrap="square" lIns="0" tIns="0" rIns="0" bIns="0" rtlCol="0" anchor="t"/>
          <a:lstStyle/>
          <a:p>
            <a:pPr indent="0" marL="0">
              <a:buNone/>
            </a:pPr>
            <a:r>
              <a:rPr lang="en-US" sz="1800" b="1" dirty="0">
                <a:solidFill>
                  <a:schemeClr val="tx2"/>
                </a:solidFill>
                <a:latin typeface="Georgia" pitchFamily="34" charset="0"/>
                <a:ea typeface="Georgia" pitchFamily="34" charset="-122"/>
                <a:cs typeface="Georgia" pitchFamily="34" charset="-120"/>
              </a:rPr>
              <a:t>Inputs a real twin needs</a:t>
            </a:r>
            <a:endParaRPr lang="en-US" sz="1800" dirty="0"/>
          </a:p>
        </p:txBody>
      </p:sp>
      <p:sp>
        <p:nvSpPr>
          <p:cNvPr id="23" name="Text 17"/>
          <p:cNvSpPr txBox="1"/>
          <p:nvPr/>
        </p:nvSpPr>
        <p:spPr>
          <a:xfrm>
            <a:off x="7479792" y="4617720"/>
            <a:ext cx="3840480" cy="1005840"/>
          </a:xfrm>
          <a:prstGeom prst="rect">
            <a:avLst/>
          </a:prstGeom>
          <a:noFill/>
          <a:ln/>
        </p:spPr>
        <p:txBody>
          <a:bodyPr wrap="square" lIns="0" tIns="0" rIns="0" bIns="0" rtlCol="0" anchor="t"/>
          <a:lstStyle/>
          <a:p>
            <a:pPr indent="0" marL="0">
              <a:buNone/>
            </a:pPr>
            <a:r>
              <a:rPr lang="en-US" sz="1300" dirty="0">
                <a:solidFill>
                  <a:schemeClr val="accent6"/>
                </a:solidFill>
              </a:rPr>
              <a:t>Planned meals and fresh doses are invisible to the model until glucose moves</a:t>
            </a:r>
            <a:endParaRPr lang="en-US" sz="1300" dirty="0"/>
          </a:p>
        </p:txBody>
      </p:sp>
      <p:sp>
        <p:nvSpPr>
          <p:cNvPr id="25" name="Slide Number Placeholder 0"/>
          <p:cNvSpPr>
            <a:spLocks noGrp="1"/>
          </p:cNvSpPr>
          <p:nvPr>
            <p:ph type="sldNum" sz="quarter" idx="4294967295"/>
          </p:nvPr>
        </p:nvSpPr>
        <p:spPr>
          <a:xfrm>
            <a:off x="11140135"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85800" y="502920"/>
            <a:ext cx="8229600" cy="274320"/>
          </a:xfrm>
          <a:prstGeom prst="rect">
            <a:avLst/>
          </a:prstGeom>
          <a:noFill/>
          <a:ln/>
        </p:spPr>
        <p:txBody>
          <a:bodyPr wrap="square" lIns="0" tIns="0" rIns="0" bIns="0" rtlCol="0" anchor="t"/>
          <a:lstStyle/>
          <a:p>
            <a:pPr indent="0" marL="0">
              <a:buNone/>
            </a:pPr>
            <a:r>
              <a:rPr lang="en-US" sz="1100" b="1" spc="300" kern="0" dirty="0">
                <a:solidFill>
                  <a:schemeClr val="accent4"/>
                </a:solidFill>
              </a:rPr>
              <a:t>THANK YOU</a:t>
            </a:r>
            <a:endParaRPr lang="en-US" sz="1100" dirty="0"/>
          </a:p>
        </p:txBody>
      </p:sp>
      <p:sp>
        <p:nvSpPr>
          <p:cNvPr id="3" name="Text 0"/>
          <p:cNvSpPr/>
          <p:nvPr>
            <p:ph idx="101" type="title" hasCustomPrompt="1"/>
          </p:nvPr>
        </p:nvSpPr>
        <p:spPr>
          <a:xfrm>
            <a:off x="685800" y="868680"/>
            <a:ext cx="8595360" cy="1783080"/>
          </a:xfrm>
          <a:prstGeom prst="rect">
            <a:avLst/>
          </a:prstGeom>
          <a:noFill/>
          <a:ln/>
        </p:spPr>
        <p:txBody>
          <a:bodyPr wrap="square" lIns="0" tIns="0" rIns="0" bIns="0" rtlCol="0" anchor="b"/>
          <a:lstStyle/>
          <a:p>
            <a:pPr algn="l" indent="0" marL="0">
              <a:buNone/>
            </a:pPr>
            <a:r>
              <a:rPr lang="en-US" sz="4000" b="1" dirty="0">
                <a:solidFill>
                  <a:schemeClr val="bg1"/>
                </a:solidFill>
                <a:latin typeface="Georgia" pitchFamily="34" charset="0"/>
                <a:ea typeface="Georgia" pitchFamily="34" charset="-122"/>
                <a:cs typeface="Georgia" pitchFamily="34" charset="-120"/>
              </a:rPr>
              <a:t>A twin that warns early, explains itself, and is honest about what it knows</a:t>
            </a:r>
            <a:endParaRPr lang="en-US" sz="4000" dirty="0"/>
          </a:p>
        </p:txBody>
      </p:sp>
      <p:sp>
        <p:nvSpPr>
          <p:cNvPr id="4" name="Text 0"/>
          <p:cNvSpPr/>
          <p:nvPr>
            <p:ph idx="102" type="body" hasCustomPrompt="1"/>
          </p:nvPr>
        </p:nvSpPr>
        <p:spPr>
          <a:xfrm>
            <a:off x="685800" y="2743200"/>
            <a:ext cx="8229600" cy="548640"/>
          </a:xfrm>
          <a:prstGeom prst="rect">
            <a:avLst/>
          </a:prstGeom>
          <a:noFill/>
          <a:ln/>
        </p:spPr>
        <p:txBody>
          <a:bodyPr wrap="square" lIns="0" tIns="0" rIns="0" bIns="0" rtlCol="0" anchor="t"/>
          <a:lstStyle/>
          <a:p>
            <a:pPr algn="l" indent="0" marL="0">
              <a:buNone/>
            </a:pPr>
            <a:r>
              <a:rPr lang="en-US" sz="1800" dirty="0">
                <a:solidFill>
                  <a:schemeClr val="accent4"/>
                </a:solidFill>
              </a:rPr>
              <a:t>Next: validate on real linked records from Indian clinics, with clinicians in the loop</a:t>
            </a:r>
            <a:endParaRPr lang="en-US" sz="1800" dirty="0"/>
          </a:p>
        </p:txBody>
      </p:sp>
      <p:sp>
        <p:nvSpPr>
          <p:cNvPr id="5" name="icon-dot"/>
          <p:cNvSpPr/>
          <p:nvPr/>
        </p:nvSpPr>
        <p:spPr>
          <a:xfrm>
            <a:off x="685800" y="5897880"/>
            <a:ext cx="457200" cy="457200"/>
          </a:xfrm>
          <a:prstGeom prst="ellipse">
            <a:avLst/>
          </a:prstGeom>
          <a:solidFill>
            <a:schemeClr val="accent1"/>
          </a:solidFill>
          <a:ln/>
        </p:spPr>
      </p:sp>
      <p:pic>
        <p:nvPicPr>
          <p:cNvPr id="6" name="icon-branch" descr="C:\Users\Akhilesh\AppData\Local\Temp\claude\C--Users-Akhilesh-Desktop-Claude-code-Happiest-Health\47a587f0-c947-456b-8324-0bf75adb31d4\scratchpad\deck\img\icons\branch.png">    </p:cNvPr>
          <p:cNvPicPr>
            <a:picLocks noChangeAspect="1"/>
          </p:cNvPicPr>
          <p:nvPr/>
        </p:nvPicPr>
        <p:blipFill>
          <a:blip r:embed="rId1"/>
          <a:stretch>
            <a:fillRect/>
          </a:stretch>
        </p:blipFill>
        <p:spPr>
          <a:xfrm>
            <a:off x="786384" y="5998464"/>
            <a:ext cx="256032" cy="256032"/>
          </a:xfrm>
          <a:prstGeom prst="rect">
            <a:avLst/>
          </a:prstGeom>
        </p:spPr>
      </p:pic>
      <p:sp>
        <p:nvSpPr>
          <p:cNvPr id="7" name="Text 4"/>
          <p:cNvSpPr txBox="1"/>
          <p:nvPr/>
        </p:nvSpPr>
        <p:spPr>
          <a:xfrm>
            <a:off x="1280160" y="5833872"/>
            <a:ext cx="6400800" cy="640080"/>
          </a:xfrm>
          <a:prstGeom prst="rect">
            <a:avLst/>
          </a:prstGeom>
          <a:noFill/>
          <a:ln/>
        </p:spPr>
        <p:txBody>
          <a:bodyPr wrap="square" lIns="0" tIns="0" rIns="0" bIns="0" rtlCol="0" anchor="ctr"/>
          <a:lstStyle/>
          <a:p>
            <a:pPr indent="0" marL="0">
              <a:buNone/>
            </a:pPr>
            <a:r>
              <a:rPr lang="en-US" sz="1500" b="1" dirty="0">
                <a:solidFill>
                  <a:schemeClr val="bg1"/>
                </a:solidFill>
              </a:rPr>
              <a:t>github.com/AkhileshNalla11/glycaemic-digital-twin</a:t>
            </a:r>
            <a:endParaRPr lang="en-US" sz="1400" dirty="0"/>
          </a:p>
          <a:p>
            <a:pPr indent="0" marL="0">
              <a:buNone/>
            </a:pPr>
            <a:r>
              <a:rPr lang="en-US" sz="1100" dirty="0">
                <a:solidFill>
                  <a:schemeClr val="bg2"/>
                </a:solidFill>
              </a:rPr>
              <a:t>Live demo and video links in the README</a:t>
            </a:r>
            <a:endParaRPr lang="en-US" sz="1400" dirty="0"/>
          </a:p>
        </p:txBody>
      </p:sp>
      <p:sp>
        <p:nvSpPr>
          <p:cNvPr id="8" name="Text 5"/>
          <p:cNvSpPr txBox="1"/>
          <p:nvPr/>
        </p:nvSpPr>
        <p:spPr>
          <a:xfrm>
            <a:off x="7863840" y="502920"/>
            <a:ext cx="3657600" cy="274320"/>
          </a:xfrm>
          <a:prstGeom prst="rect">
            <a:avLst/>
          </a:prstGeom>
          <a:noFill/>
          <a:ln/>
        </p:spPr>
        <p:txBody>
          <a:bodyPr wrap="square" lIns="0" tIns="0" rIns="0" bIns="0" rtlCol="0" anchor="t"/>
          <a:lstStyle/>
          <a:p>
            <a:pPr algn="r" indent="0" marL="0">
              <a:buNone/>
            </a:pPr>
            <a:r>
              <a:rPr lang="en-US" sz="1100" dirty="0">
                <a:solidFill>
                  <a:schemeClr val="bg2"/>
                </a:solidFill>
              </a:rPr>
              <a:t>Research prototype · not for clinical use</a:t>
            </a:r>
            <a:endParaRPr lang="en-US" sz="1100" dirty="0"/>
          </a:p>
        </p:txBody>
      </p:sp>
    </p:spTree>
  </p:cSld>
  <p:clrMapOvr>
    <a:masterClrMapping/>
  </p:clrMapOvr>
</p:sld>
</file>

<file path=ppt/theme/theme1.xml><?xml version="1.0" encoding="utf-8"?>
<a:theme xmlns:a="http://schemas.openxmlformats.org/drawingml/2006/main" name="Glycaemic Twin">
  <a:themeElements>
    <a:clrScheme name="Glycaemic Twin">
      <a:dk1>
        <a:srgbClr val="14202E"/>
      </a:dk1>
      <a:lt1>
        <a:srgbClr val="FFFFFF"/>
      </a:lt1>
      <a:dk2>
        <a:srgbClr val="0B2F3F"/>
      </a:dk2>
      <a:lt2>
        <a:srgbClr val="EEF3F6"/>
      </a:lt2>
      <a:accent1>
        <a:srgbClr val="0F766E"/>
      </a:accent1>
      <a:accent2>
        <a:srgbClr val="E8643A"/>
      </a:accent2>
      <a:accent3>
        <a:srgbClr val="2A78D6"/>
      </a:accent3>
      <a:accent4>
        <a:srgbClr val="5EC2B7"/>
      </a:accent4>
      <a:accent5>
        <a:srgbClr val="B42318"/>
      </a:accent5>
      <a:accent6>
        <a:srgbClr val="7A8797"/>
      </a:accent6>
      <a:hlink>
        <a:srgbClr val="0F766E"/>
      </a:hlink>
      <a:folHlink>
        <a:srgbClr val="0B2F3F"/>
      </a:folHlink>
    </a:clrScheme>
    <a:fontScheme name="Glycaemic Twi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Glycaemic Digital Twin</dc:title>
  <dc:subject>Happiest Health Digital Twin Challenge 2026</dc:subject>
  <dc:creator>PptxGenJS</dc:creator>
  <cp:lastModifiedBy>PptxGenJS</cp:lastModifiedBy>
  <cp:revision>1</cp:revision>
  <dcterms:created xsi:type="dcterms:W3CDTF">2026-10-19T18:26:40Z</dcterms:created>
  <dcterms:modified xsi:type="dcterms:W3CDTF">2026-10-19T18:26:40Z</dcterms:modified>
</cp:coreProperties>
</file>
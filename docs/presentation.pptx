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charts/chart4.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charts/chart5.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57b1bb96-f43a-72dc-b5af-5664567b2588}">
          <p14:sldIdLst>
            <p14:sldId id="256"/>
          </p14:sldIdLst>
        </p14:section>
        <p14:section name="Problem" id="{5d36fc29-639a-d0db-507c-3758fcc0114e}">
          <p14:sldIdLst>
            <p14:sldId id="257"/>
            <p14:sldId id="258"/>
          </p14:sldIdLst>
        </p14:section>
        <p14:section name="How it works" id="{2f45d542-b858-9a41-396d-4c0e4cae0372}">
          <p14:sldIdLst>
            <p14:sldId id="259"/>
            <p14:sldId id="260"/>
            <p14:sldId id="261"/>
          </p14:sldIdLst>
        </p14:section>
        <p14:section name="Results" id="{6b0d1bba-593a-c99a-6222-50a6f98c7e2d}">
          <p14:sldIdLst>
            <p14:sldId id="262"/>
            <p14:sldId id="263"/>
            <p14:sldId id="264"/>
            <p14:sldId id="265"/>
            <p14:sldId id="266"/>
          </p14:sldIdLst>
        </p14:section>
        <p14:section name="Real data" id="{08b7ea3e-3e83-2440-d185-1ebece5a16d7}">
          <p14:sldIdLst>
            <p14:sldId id="267"/>
            <p14:sldId id="268"/>
            <p14:sldId id="269"/>
            <p14:sldId id="270"/>
            <p14:sldId id="271"/>
          </p14:sldIdLst>
        </p14:section>
        <p14:section name="Path forward" id="{700f3495-07a8-3eb8-fd08-417d47d9c7c0}">
          <p14:sldIdLst>
            <p14:sldId id="272"/>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0F1B2A"/>
                </a:solidFill>
                <a:latin typeface="+mn-lt"/>
              </a:defRPr>
            </a:pPr>
            <a:r>
              <a:rPr sz="1300" b="0" i="0" u="none" strike="noStrike">
                <a:solidFill>
                  <a:srgbClr val="0F1B2A"/>
                </a:solidFill>
                <a:latin typeface="+mn-lt"/>
              </a:rPr>
              <a:t>AUPRC on 60 test patients (onset windows)</a:t>
            </a:r>
          </a:p>
        </c:rich>
      </c:tx>
      <c:layout/>
      <c:overlay val="0"/>
    </c:title>
    <c:autoTitleDeleted val="0"/>
    <c:plotArea>
      <c:layout/>
      <c:barChart>
        <c:barDir val="col"/>
        <c:grouping val="clustered"/>
        <c:varyColors val="0"/>
        <c:ser>
          <c:idx val="0"/>
          <c:order val="0"/>
          <c:tx>
            <c:strRef>
              <c:f>Sheet1!$B$1</c:f>
              <c:strCache>
                <c:ptCount val="1"/>
                <c:pt idx="0">
                  <c:v>Persistence (trend)</c:v>
                </c:pt>
              </c:strCache>
            </c:strRef>
          </c:tx>
          <c:spPr>
            <a:solidFill>
              <a:srgbClr val="B9C5D3"/>
            </a:solidFill>
            <a:effectLst/>
          </c:spPr>
          <c:invertIfNegative val="0"/>
          <c:dLbls>
            <c:numFmt formatCode="0.00" sourceLinked="0"/>
            <c:txPr>
              <a:bodyPr/>
              <a:lstStyle/>
              <a:p>
                <a:pPr>
                  <a:defRPr b="0" i="0" strike="noStrike" sz="1100" u="none">
                    <a:solidFill>
                      <a:srgbClr val="0F1B2A"/>
                    </a:solidFill>
                    <a:latin typeface="+mn-lt"/>
                  </a:defRPr>
                </a:pPr>
              </a:p>
            </c:txPr>
            <c:showLegendKey val="0"/>
            <c:showVal val="1"/>
            <c:showCatName val="0"/>
            <c:showSerName val="0"/>
            <c:showPercent val="0"/>
            <c:showBubbleSize val="0"/>
            <c:showLeaderLines val="0"/>
          </c:dLbls>
          <c:cat>
            <c:multiLvlStrRef>
              <c:f>Sheet1!$A$2:$A$3</c:f>
              <c:multiLvlStrCache>
                <c:ptCount val="2"/>
                <c:lvl>
                  <c:pt idx="0">
                    <c:v>High glucose (&gt; 180)</c:v>
                  </c:pt>
                  <c:pt idx="1">
                    <c:v>Low glucose (&lt; 70)</c:v>
                  </c:pt>
                </c:lvl>
              </c:multiLvlStrCache>
            </c:multiLvlStrRef>
          </c:cat>
          <c:val>
            <c:numRef>
              <c:f>Sheet1!$B$2:$B$3</c:f>
              <c:numCache>
                <c:formatCode>General</c:formatCode>
                <c:ptCount val="2"/>
                <c:pt idx="0">
                  <c:v>0.38</c:v>
                </c:pt>
                <c:pt idx="1">
                  <c:v>0.19</c:v>
                </c:pt>
              </c:numCache>
            </c:numRef>
          </c:val>
        </c:ser>
        <c:ser>
          <c:idx val="1"/>
          <c:order val="1"/>
          <c:tx>
            <c:strRef>
              <c:f>Sheet1!$C$1</c:f>
              <c:strCache>
                <c:ptCount val="1"/>
                <c:pt idx="0">
                  <c:v>LightGBM, CGM only</c:v>
                </c:pt>
              </c:strCache>
            </c:strRef>
          </c:tx>
          <c:spPr>
            <a:solidFill>
              <a:srgbClr val="5FA8A1"/>
            </a:solidFill>
            <a:effectLst/>
          </c:spPr>
          <c:invertIfNegative val="0"/>
          <c:dLbls>
            <c:numFmt formatCode="0.00" sourceLinked="0"/>
            <c:txPr>
              <a:bodyPr/>
              <a:lstStyle/>
              <a:p>
                <a:pPr>
                  <a:defRPr b="0" i="0" strike="noStrike" sz="1100" u="none">
                    <a:solidFill>
                      <a:srgbClr val="0F1B2A"/>
                    </a:solidFill>
                    <a:latin typeface="+mn-lt"/>
                  </a:defRPr>
                </a:pPr>
              </a:p>
            </c:txPr>
            <c:showLegendKey val="0"/>
            <c:showVal val="1"/>
            <c:showCatName val="0"/>
            <c:showSerName val="0"/>
            <c:showPercent val="0"/>
            <c:showBubbleSize val="0"/>
            <c:showLeaderLines val="0"/>
          </c:dLbls>
          <c:cat>
            <c:multiLvlStrRef>
              <c:f>Sheet1!$A$2:$A$3</c:f>
              <c:multiLvlStrCache>
                <c:ptCount val="2"/>
                <c:lvl>
                  <c:pt idx="0">
                    <c:v>High glucose (&gt; 180)</c:v>
                  </c:pt>
                  <c:pt idx="1">
                    <c:v>Low glucose (&lt; 70)</c:v>
                  </c:pt>
                </c:lvl>
              </c:multiLvlStrCache>
            </c:multiLvlStrRef>
          </c:cat>
          <c:val>
            <c:numRef>
              <c:f>Sheet1!$C$2:$C$3</c:f>
              <c:numCache>
                <c:formatCode>General</c:formatCode>
                <c:ptCount val="2"/>
                <c:pt idx="0">
                  <c:v>0.72</c:v>
                </c:pt>
                <c:pt idx="1">
                  <c:v>0.65</c:v>
                </c:pt>
              </c:numCache>
            </c:numRef>
          </c:val>
        </c:ser>
        <c:ser>
          <c:idx val="2"/>
          <c:order val="2"/>
          <c:tx>
            <c:strRef>
              <c:f>Sheet1!$D$1</c:f>
              <c:strCache>
                <c:ptCount val="1"/>
                <c:pt idx="0">
                  <c:v>LightGBM, CGM + EHR (deployed)</c:v>
                </c:pt>
              </c:strCache>
            </c:strRef>
          </c:tx>
          <c:spPr>
            <a:solidFill>
              <a:srgbClr val="0F766E"/>
            </a:solidFill>
            <a:effectLst/>
          </c:spPr>
          <c:invertIfNegative val="0"/>
          <c:dLbls>
            <c:numFmt formatCode="0.00" sourceLinked="0"/>
            <c:txPr>
              <a:bodyPr/>
              <a:lstStyle/>
              <a:p>
                <a:pPr>
                  <a:defRPr b="0" i="0" strike="noStrike" sz="1100" u="none">
                    <a:solidFill>
                      <a:srgbClr val="0F1B2A"/>
                    </a:solidFill>
                    <a:latin typeface="+mn-lt"/>
                  </a:defRPr>
                </a:pPr>
              </a:p>
            </c:txPr>
            <c:showLegendKey val="0"/>
            <c:showVal val="1"/>
            <c:showCatName val="0"/>
            <c:showSerName val="0"/>
            <c:showPercent val="0"/>
            <c:showBubbleSize val="0"/>
            <c:showLeaderLines val="0"/>
          </c:dLbls>
          <c:cat>
            <c:multiLvlStrRef>
              <c:f>Sheet1!$A$2:$A$3</c:f>
              <c:multiLvlStrCache>
                <c:ptCount val="2"/>
                <c:lvl>
                  <c:pt idx="0">
                    <c:v>High glucose (&gt; 180)</c:v>
                  </c:pt>
                  <c:pt idx="1">
                    <c:v>Low glucose (&lt; 70)</c:v>
                  </c:pt>
                </c:lvl>
              </c:multiLvlStrCache>
            </c:multiLvlStrRef>
          </c:cat>
          <c:val>
            <c:numRef>
              <c:f>Sheet1!$D$2:$D$3</c:f>
              <c:numCache>
                <c:formatCode>General</c:formatCode>
                <c:ptCount val="2"/>
                <c:pt idx="0">
                  <c:v>0.74</c:v>
                </c:pt>
                <c:pt idx="1">
                  <c:v>0.71</c:v>
                </c:pt>
              </c:numCache>
            </c:numRef>
          </c:val>
        </c:ser>
        <c:dLbls>
          <c:numFmt formatCode="0.00" sourceLinked="0"/>
          <c:txPr>
            <a:bodyPr/>
            <a:lstStyle/>
            <a:p>
              <a:pPr>
                <a:defRPr b="0" i="0" strike="noStrike" sz="1100" u="none">
                  <a:solidFill>
                    <a:srgbClr val="0F1B2A"/>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F1B2A"/>
                </a:solidFill>
                <a:latin typeface="+mn-lt"/>
              </a:defRPr>
            </a:pPr>
            <a:endParaRPr lang="en-US"/>
          </a:p>
        </c:txPr>
        <c:crossAx val="2094734552"/>
        <c:crosses val="autoZero"/>
        <c:auto val="1"/>
        <c:lblAlgn val="ctr"/>
        <c:noMultiLvlLbl val="1"/>
      </c:catAx>
      <c:valAx>
        <c:axId val="2094734552"/>
        <c:scaling>
          <c:orientation val="minMax"/>
          <c:max val="0.9"/>
          <c:min val="0"/>
        </c:scaling>
        <c:delete val="0"/>
        <c:axPos val="l"/>
        <c:majorGridlines>
          <c:spPr>
            <a:ln w="9525" cap="flat">
              <a:solidFill>
                <a:srgbClr val="E2E7EE"/>
              </a:solidFill>
              <a:prstDash val="solid"/>
              <a:round/>
            </a:ln>
          </c:spPr>
        </c:majorGridlines>
        <c:numFmt formatCode="0.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46566A"/>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0F1B2A"/>
                </a:solidFill>
                <a:latin typeface="+mn-lt"/>
              </a:defRPr>
            </a:pPr>
            <a:r>
              <a:rPr sz="1300" b="0" i="0" u="none" strike="noStrike">
                <a:solidFill>
                  <a:srgbClr val="0F1B2A"/>
                </a:solidFill>
                <a:latin typeface="+mn-lt"/>
              </a:rPr>
              <a:t>Predicting highs: AUROC (CGMacros, 14 adults with T2D)</a:t>
            </a:r>
          </a:p>
        </c:rich>
      </c:tx>
      <c:layout/>
      <c:overlay val="0"/>
    </c:title>
    <c:autoTitleDeleted val="0"/>
    <c:plotArea>
      <c:layout/>
      <c:barChart>
        <c:barDir val="col"/>
        <c:grouping val="clustered"/>
        <c:varyColors val="0"/>
        <c:ser>
          <c:idx val="0"/>
          <c:order val="0"/>
          <c:tx>
            <c:strRef>
              <c:f>Sheet1!$B$1</c:f>
              <c:strCache>
                <c:ptCount val="1"/>
                <c:pt idx="0">
                  <c:v>AUROC, high glucose</c:v>
                </c:pt>
              </c:strCache>
            </c:strRef>
          </c:tx>
          <c:spPr>
            <a:solidFill>
              <a:srgbClr val="EB6834"/>
            </a:solidFill>
            <a:effectLst/>
          </c:spPr>
          <c:invertIfNegative val="0"/>
          <c:dLbls>
            <c:numFmt formatCode="0.00" sourceLinked="0"/>
            <c:txPr>
              <a:bodyPr/>
              <a:lstStyle/>
              <a:p>
                <a:pPr>
                  <a:defRPr b="0" i="0" strike="noStrike" sz="1100" u="none">
                    <a:solidFill>
                      <a:srgbClr val="0F1B2A"/>
                    </a:solidFill>
                    <a:latin typeface="+mn-lt"/>
                  </a:defRPr>
                </a:pPr>
              </a:p>
            </c:txPr>
            <c:showLegendKey val="0"/>
            <c:showVal val="1"/>
            <c:showCatName val="0"/>
            <c:showSerName val="0"/>
            <c:showPercent val="0"/>
            <c:showBubbleSize val="0"/>
            <c:showLeaderLines val="0"/>
          </c:dLbls>
          <c:cat>
            <c:multiLvlStrRef>
              <c:f>Sheet1!$A$2:$A$4</c:f>
              <c:multiLvlStrCache>
                <c:ptCount val="3"/>
                <c:lvl>
                  <c:pt idx="0">
                    <c:v>Synthetic test</c:v>
                  </c:pt>
                  <c:pt idx="1">
                    <c:v>Real CGM, zero-shot</c:v>
                  </c:pt>
                  <c:pt idx="2">
                    <c:v>Real CGM, retrained</c:v>
                  </c:pt>
                </c:lvl>
              </c:multiLvlStrCache>
            </c:multiLvlStrRef>
          </c:cat>
          <c:val>
            <c:numRef>
              <c:f>Sheet1!$B$2:$B$4</c:f>
              <c:numCache>
                <c:formatCode>General</c:formatCode>
                <c:ptCount val="3"/>
                <c:pt idx="0">
                  <c:v>0.93</c:v>
                </c:pt>
                <c:pt idx="1">
                  <c:v>0.7</c:v>
                </c:pt>
                <c:pt idx="2">
                  <c:v>0.77</c:v>
                </c:pt>
              </c:numCache>
            </c:numRef>
          </c:val>
        </c:ser>
        <c:dLbls>
          <c:numFmt formatCode="0.00" sourceLinked="0"/>
          <c:txPr>
            <a:bodyPr/>
            <a:lstStyle/>
            <a:p>
              <a:pPr>
                <a:defRPr b="0" i="0" strike="noStrike" sz="1100" u="none">
                  <a:solidFill>
                    <a:srgbClr val="0F1B2A"/>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F1B2A"/>
                </a:solidFill>
                <a:latin typeface="+mn-lt"/>
              </a:defRPr>
            </a:pPr>
            <a:endParaRPr lang="en-US"/>
          </a:p>
        </c:txPr>
        <c:crossAx val="2094734552"/>
        <c:crosses val="autoZero"/>
        <c:auto val="1"/>
        <c:lblAlgn val="ctr"/>
        <c:noMultiLvlLbl val="1"/>
      </c:catAx>
      <c:valAx>
        <c:axId val="2094734552"/>
        <c:scaling>
          <c:orientation val="minMax"/>
          <c:max val="1"/>
          <c:min val="0.5"/>
        </c:scaling>
        <c:delete val="0"/>
        <c:axPos val="l"/>
        <c:majorGridlines>
          <c:spPr>
            <a:ln w="9525" cap="flat">
              <a:solidFill>
                <a:srgbClr val="E2E7EE"/>
              </a:solidFill>
              <a:prstDash val="solid"/>
              <a:round/>
            </a:ln>
          </c:spPr>
        </c:majorGridlines>
        <c:numFmt formatCode="0.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46566A"/>
                </a:solidFill>
                <a:latin typeface="+mn-lt"/>
              </a:defRPr>
            </a:pPr>
            <a:endParaRPr lang="en-US"/>
          </a:p>
        </c:txPr>
        <c:crossAx val="2094734554"/>
        <c:crosses val="autoZero"/>
        <c:crossBetween val="between"/>
        <c:majorUnit val="0.1"/>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0F1B2A"/>
                </a:solidFill>
                <a:latin typeface="+mn-lt"/>
              </a:defRPr>
            </a:pPr>
            <a:r>
              <a:rPr sz="1300" b="0" i="0" u="none" strike="noStrike">
                <a:solidFill>
                  <a:srgbClr val="0F1B2A"/>
                </a:solidFill>
                <a:latin typeface="+mn-lt"/>
              </a:rPr>
              <a:t>Calibration error (ECE)</a:t>
            </a:r>
          </a:p>
        </c:rich>
      </c:tx>
      <c:layout/>
      <c:overlay val="0"/>
    </c:title>
    <c:autoTitleDeleted val="0"/>
    <c:plotArea>
      <c:layout/>
      <c:barChart>
        <c:barDir val="col"/>
        <c:grouping val="clustered"/>
        <c:varyColors val="0"/>
        <c:ser>
          <c:idx val="0"/>
          <c:order val="0"/>
          <c:tx>
            <c:strRef>
              <c:f>Sheet1!$B$1</c:f>
              <c:strCache>
                <c:ptCount val="1"/>
                <c:pt idx="0">
                  <c:v>Calibration error</c:v>
                </c:pt>
              </c:strCache>
            </c:strRef>
          </c:tx>
          <c:spPr>
            <a:solidFill>
              <a:srgbClr val="0F766E"/>
            </a:solidFill>
            <a:effectLst/>
          </c:spPr>
          <c:invertIfNegative val="0"/>
          <c:dLbls>
            <c:numFmt formatCode="0.000" sourceLinked="0"/>
            <c:txPr>
              <a:bodyPr/>
              <a:lstStyle/>
              <a:p>
                <a:pPr>
                  <a:defRPr b="0" i="0" strike="noStrike" sz="1100" u="none">
                    <a:solidFill>
                      <a:srgbClr val="0F1B2A"/>
                    </a:solidFill>
                    <a:latin typeface="+mn-lt"/>
                  </a:defRPr>
                </a:pPr>
              </a:p>
            </c:txPr>
            <c:showLegendKey val="0"/>
            <c:showVal val="1"/>
            <c:showCatName val="0"/>
            <c:showSerName val="0"/>
            <c:showPercent val="0"/>
            <c:showBubbleSize val="0"/>
            <c:showLeaderLines val="0"/>
          </c:dLbls>
          <c:cat>
            <c:multiLvlStrRef>
              <c:f>Sheet1!$A$2:$A$3</c:f>
              <c:multiLvlStrCache>
                <c:ptCount val="2"/>
                <c:lvl>
                  <c:pt idx="0">
                    <c:v>Zero-shot</c:v>
                  </c:pt>
                  <c:pt idx="1">
                    <c:v>Recalibrated</c:v>
                  </c:pt>
                </c:lvl>
              </c:multiLvlStrCache>
            </c:multiLvlStrRef>
          </c:cat>
          <c:val>
            <c:numRef>
              <c:f>Sheet1!$B$2:$B$3</c:f>
              <c:numCache>
                <c:formatCode>General</c:formatCode>
                <c:ptCount val="2"/>
                <c:pt idx="0">
                  <c:v>0.136</c:v>
                </c:pt>
                <c:pt idx="1">
                  <c:v>0.024</c:v>
                </c:pt>
              </c:numCache>
            </c:numRef>
          </c:val>
        </c:ser>
        <c:dLbls>
          <c:numFmt formatCode="0.000" sourceLinked="0"/>
          <c:txPr>
            <a:bodyPr/>
            <a:lstStyle/>
            <a:p>
              <a:pPr>
                <a:defRPr b="0" i="0" strike="noStrike" sz="1100" u="none">
                  <a:solidFill>
                    <a:srgbClr val="0F1B2A"/>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F1B2A"/>
                </a:solidFill>
                <a:latin typeface="+mn-lt"/>
              </a:defRPr>
            </a:pPr>
            <a:endParaRPr lang="en-US"/>
          </a:p>
        </c:txPr>
        <c:crossAx val="2094734552"/>
        <c:crosses val="autoZero"/>
        <c:auto val="1"/>
        <c:lblAlgn val="ctr"/>
        <c:noMultiLvlLbl val="1"/>
      </c:catAx>
      <c:valAx>
        <c:axId val="2094734552"/>
        <c:scaling>
          <c:orientation val="minMax"/>
          <c:max val="0.16"/>
          <c:min val="0"/>
        </c:scaling>
        <c:delete val="0"/>
        <c:axPos val="l"/>
        <c:majorGridlines>
          <c:spPr>
            <a:ln w="9525" cap="flat">
              <a:solidFill>
                <a:srgbClr val="E2E7EE"/>
              </a:solidFill>
              <a:prstDash val="solid"/>
              <a:round/>
            </a:ln>
          </c:spPr>
        </c:majorGridlines>
        <c:numFmt formatCode="0.0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46566A"/>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0F1B2A"/>
                </a:solidFill>
                <a:latin typeface="+mn-lt"/>
              </a:defRPr>
            </a:pPr>
            <a:r>
              <a:rPr sz="1300" b="0" i="0" u="none" strike="noStrike">
                <a:solidFill>
                  <a:srgbClr val="0F1B2A"/>
                </a:solidFill>
                <a:latin typeface="+mn-lt"/>
              </a:rPr>
              <a:t>Predicting lows: AUPRC, 100 real T2D patients (chance 0.027)</a:t>
            </a:r>
          </a:p>
        </c:rich>
      </c:tx>
      <c:layout/>
      <c:overlay val="0"/>
    </c:title>
    <c:autoTitleDeleted val="0"/>
    <c:plotArea>
      <c:layout/>
      <c:barChart>
        <c:barDir val="bar"/>
        <c:grouping val="clustered"/>
        <c:varyColors val="0"/>
        <c:ser>
          <c:idx val="0"/>
          <c:order val="0"/>
          <c:tx>
            <c:strRef>
              <c:f>Sheet1!$B$1</c:f>
              <c:strCache>
                <c:ptCount val="1"/>
                <c:pt idx="0">
                  <c:v>AUPRC</c:v>
                </c:pt>
              </c:strCache>
            </c:strRef>
          </c:tx>
          <c:spPr>
            <a:solidFill>
              <a:srgbClr val="B9C5D3"/>
            </a:solidFill>
            <a:effectLst/>
          </c:spPr>
          <c:invertIfNegative val="0"/>
          <c:dLbls>
            <c:numFmt formatCode="0.00" sourceLinked="0"/>
            <c:txPr>
              <a:bodyPr/>
              <a:lstStyle/>
              <a:p>
                <a:pPr>
                  <a:defRPr b="0" i="0" strike="noStrike" sz="1100" u="none">
                    <a:solidFill>
                      <a:srgbClr val="0F1B2A"/>
                    </a:solidFill>
                    <a:latin typeface="+mn-lt"/>
                  </a:defRPr>
                </a:pPr>
              </a:p>
            </c:txPr>
            <c:showLegendKey val="0"/>
            <c:showVal val="1"/>
            <c:showCatName val="0"/>
            <c:showSerName val="0"/>
            <c:showPercent val="0"/>
            <c:showBubbleSize val="0"/>
            <c:showLeaderLines val="0"/>
          </c:dLbls>
          <c:dPt>
            <c:idx val="0"/>
            <c:invertIfNegative val="0"/>
            <c:bubble3D val="0"/>
            <c:spPr>
              <a:solidFill>
                <a:srgbClr val="B9C5D3"/>
              </a:solidFill>
              <a:effectLst/>
            </c:spPr>
          </c:dPt>
          <c:dPt>
            <c:idx val="1"/>
            <c:invertIfNegative val="0"/>
            <c:bubble3D val="0"/>
            <c:spPr>
              <a:solidFill>
                <a:srgbClr val="5FA8A1"/>
              </a:solidFill>
              <a:effectLst/>
            </c:spPr>
          </c:dPt>
          <c:dPt>
            <c:idx val="2"/>
            <c:invertIfNegative val="0"/>
            <c:bubble3D val="0"/>
            <c:spPr>
              <a:solidFill>
                <a:srgbClr val="0F766E"/>
              </a:solidFill>
              <a:effectLst/>
            </c:spPr>
          </c:dPt>
          <c:dPt>
            <c:idx val="3"/>
            <c:invertIfNegative val="0"/>
            <c:bubble3D val="0"/>
            <c:spPr>
              <a:solidFill>
                <a:srgbClr val="F2B49A"/>
              </a:solidFill>
              <a:effectLst/>
            </c:spPr>
          </c:dPt>
          <c:dPt>
            <c:idx val="4"/>
            <c:invertIfNegative val="0"/>
            <c:bubble3D val="0"/>
            <c:spPr>
              <a:solidFill>
                <a:srgbClr val="F2B49A"/>
              </a:solidFill>
              <a:effectLst/>
            </c:spPr>
          </c:dPt>
          <c:dPt>
            <c:idx val="5"/>
            <c:invertIfNegative val="0"/>
            <c:bubble3D val="0"/>
            <c:spPr>
              <a:solidFill>
                <a:srgbClr val="F2B49A"/>
              </a:solidFill>
              <a:effectLst/>
            </c:spPr>
          </c:dPt>
          <c:cat>
            <c:multiLvlStrRef>
              <c:f>Sheet1!$A$2:$A$7</c:f>
              <c:multiLvlStrCache>
                <c:ptCount val="6"/>
                <c:lvl>
                  <c:pt idx="0">
                    <c:v>Persistence</c:v>
                  </c:pt>
                  <c:pt idx="1">
                    <c:v>Synthetic-trained, zero-shot</c:v>
                  </c:pt>
                  <c:pt idx="2">
                    <c:v>Real-trained, CGM only</c:v>
                  </c:pt>
                  <c:pt idx="3">
                    <c:v>+ EHR (24 fields)</c:v>
                  </c:pt>
                  <c:pt idx="4">
                    <c:v>+ EHR + logged doses</c:v>
                  </c:pt>
                  <c:pt idx="5">
                    <c:v>+ full clinical record</c:v>
                  </c:pt>
                </c:lvl>
              </c:multiLvlStrCache>
            </c:multiLvlStrRef>
          </c:cat>
          <c:val>
            <c:numRef>
              <c:f>Sheet1!$B$2:$B$7</c:f>
              <c:numCache>
                <c:formatCode>General</c:formatCode>
                <c:ptCount val="6"/>
                <c:pt idx="0">
                  <c:v>0.146</c:v>
                </c:pt>
                <c:pt idx="1">
                  <c:v>0.214</c:v>
                </c:pt>
                <c:pt idx="2">
                  <c:v>0.341</c:v>
                </c:pt>
                <c:pt idx="3">
                  <c:v>0.327</c:v>
                </c:pt>
                <c:pt idx="4">
                  <c:v>0.321</c:v>
                </c:pt>
                <c:pt idx="5">
                  <c:v>0.3</c:v>
                </c:pt>
              </c:numCache>
            </c:numRef>
          </c:val>
        </c:ser>
        <c:dLbls>
          <c:numFmt formatCode="0.00" sourceLinked="0"/>
          <c:txPr>
            <a:bodyPr/>
            <a:lstStyle/>
            <a:p>
              <a:pPr>
                <a:defRPr b="0" i="0" strike="noStrike" sz="1100" u="none">
                  <a:solidFill>
                    <a:srgbClr val="0F1B2A"/>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0F1B2A"/>
                </a:solidFill>
                <a:latin typeface="+mn-lt"/>
              </a:defRPr>
            </a:pPr>
            <a:endParaRPr lang="en-US"/>
          </a:p>
        </c:txPr>
        <c:crossAx val="2094734552"/>
        <c:crosses val="autoZero"/>
        <c:auto val="1"/>
        <c:lblAlgn val="ctr"/>
        <c:noMultiLvlLbl val="1"/>
      </c:catAx>
      <c:valAx>
        <c:axId val="2094734552"/>
        <c:scaling>
          <c:orientation val="minMax"/>
          <c:max val="0.4"/>
          <c:min val="0"/>
        </c:scaling>
        <c:delete val="0"/>
        <c:axPos val="b"/>
        <c:majorGridlines>
          <c:spPr>
            <a:ln w="9525" cap="flat">
              <a:solidFill>
                <a:srgbClr val="E2E7EE"/>
              </a:solidFill>
              <a:prstDash val="solid"/>
              <a:round/>
            </a:ln>
          </c:spPr>
        </c:majorGridlines>
        <c:numFmt formatCode="0.0" sourceLinked="0"/>
        <c:majorTickMark val="out"/>
        <c:minorTickMark val="none"/>
        <c:tickLblPos val="low"/>
        <c:spPr>
          <a:ln w="12700" cap="flat">
            <a:solidFill>
              <a:srgbClr val="888888"/>
            </a:solidFill>
            <a:prstDash val="solid"/>
            <a:round/>
          </a:ln>
        </c:spPr>
        <c:txPr>
          <a:bodyPr/>
          <a:lstStyle/>
          <a:p>
            <a:pPr>
              <a:defRPr sz="1100" b="0" i="0" u="none" strike="noStrike">
                <a:solidFill>
                  <a:srgbClr val="46566A"/>
                </a:solidFill>
                <a:latin typeface="+mn-lt"/>
              </a:defRPr>
            </a:pPr>
            <a:endParaRPr lang="en-US"/>
          </a:p>
        </c:txPr>
        <c:crossAx val="2094734554"/>
        <c:crosses val="autoZero"/>
        <c:crossBetween val="between"/>
        <c:majorUnit val="0.1"/>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0F1B2A"/>
                </a:solidFill>
                <a:latin typeface="+mn-lt"/>
              </a:defRPr>
            </a:pPr>
            <a:r>
              <a:rPr sz="1300" b="0" i="0" u="none" strike="noStrike">
                <a:solidFill>
                  <a:srgbClr val="0F1B2A"/>
                </a:solidFill>
                <a:latin typeface="+mn-lt"/>
              </a:rPr>
              <a:t>Predicting real lows: AUROC by hours of CGM available (ShanghaiT2DM)</a:t>
            </a:r>
          </a:p>
        </c:rich>
      </c:tx>
      <c:layout/>
      <c:overlay val="0"/>
    </c:title>
    <c:autoTitleDeleted val="0"/>
    <c:plotArea>
      <c:layout/>
      <c:lineChart>
        <c:varyColors val="0"/>
        <c:ser>
          <c:idx val="0"/>
          <c:order val="0"/>
          <c:tx>
            <c:strRef>
              <c:f>Sheet1!$B$1</c:f>
              <c:strCache>
                <c:ptCount val="1"/>
                <c:pt idx="0">
                  <c:v>CGM only</c:v>
                </c:pt>
              </c:strCache>
            </c:strRef>
          </c:tx>
          <c:spPr>
            <a:solidFill>
              <a:srgbClr val="0F766E"/>
            </a:solidFill>
            <a:ln w="38100" cap="flat">
              <a:solidFill>
                <a:srgbClr val="0F766E"/>
              </a:solidFill>
              <a:prstDash val="solid"/>
              <a:round/>
            </a:ln>
            <a:effectLst/>
          </c:spPr>
          <c:invertIfNegative val="0"/>
          <c:dLbls>
            <c:numFmt formatCode="#,##0" sourceLinked="0"/>
            <c:txPr>
              <a:bodyPr/>
              <a:lstStyle/>
              <a:p>
                <a:pPr>
                  <a:defRPr b="0" i="0" strike="noStrike" sz="1100" u="none">
                    <a:solidFill>
                      <a:srgbClr val="0F1B2A"/>
                    </a:solidFill>
                    <a:latin typeface="+mn-lt"/>
                  </a:defRPr>
                </a:pPr>
              </a:p>
            </c:txPr>
            <c:showLegendKey val="0"/>
            <c:showVal val="0"/>
            <c:showCatName val="0"/>
            <c:showSerName val="0"/>
            <c:showPercent val="0"/>
            <c:showBubbleSize val="0"/>
            <c:showLeaderLines val="0"/>
          </c:dLbls>
          <c:marker>
            <c:symbol val="circle"/>
            <c:size val="9"/>
            <c:spPr>
              <a:solidFill>
                <a:srgbClr val="0F766E"/>
              </a:solidFill>
              <a:ln w="9525" cap="flat">
                <a:solidFill>
                  <a:srgbClr val="0F766E"/>
                </a:solidFill>
                <a:prstDash val="solid"/>
                <a:round/>
              </a:ln>
              <a:effectLst/>
            </c:spPr>
          </c:marker>
          <c:cat>
            <c:multiLvlStrRef>
              <c:f>Sheet1!$A$2:$A$6</c:f>
              <c:multiLvlStrCache>
                <c:ptCount val="5"/>
                <c:lvl>
                  <c:pt idx="0">
                    <c:v>0 h</c:v>
                  </c:pt>
                  <c:pt idx="1">
                    <c:v>30 min</c:v>
                  </c:pt>
                  <c:pt idx="2">
                    <c:v>1 h</c:v>
                  </c:pt>
                  <c:pt idx="3">
                    <c:v>2 h</c:v>
                  </c:pt>
                  <c:pt idx="4">
                    <c:v>6 h</c:v>
                  </c:pt>
                </c:lvl>
              </c:multiLvlStrCache>
            </c:multiLvlStrRef>
          </c:cat>
          <c:val>
            <c:numRef>
              <c:f>Sheet1!$B$2:$B$6</c:f>
              <c:numCache>
                <c:formatCode>General</c:formatCode>
                <c:ptCount val="5"/>
                <c:pt idx="0">
                  <c:v>0.41</c:v>
                </c:pt>
                <c:pt idx="1">
                  <c:v>0.88</c:v>
                </c:pt>
                <c:pt idx="2">
                  <c:v>0.88</c:v>
                </c:pt>
                <c:pt idx="3">
                  <c:v>0.9</c:v>
                </c:pt>
                <c:pt idx="4">
                  <c:v>0.89</c:v>
                </c:pt>
              </c:numCache>
            </c:numRef>
          </c:val>
          <c:smooth val="0"/>
        </c:ser>
        <c:ser>
          <c:idx val="1"/>
          <c:order val="1"/>
          <c:tx>
            <c:strRef>
              <c:f>Sheet1!$C$1</c:f>
              <c:strCache>
                <c:ptCount val="1"/>
                <c:pt idx="0">
                  <c:v>CGM + EHR</c:v>
                </c:pt>
              </c:strCache>
            </c:strRef>
          </c:tx>
          <c:spPr>
            <a:solidFill>
              <a:srgbClr val="EB6834"/>
            </a:solidFill>
            <a:ln w="38100" cap="flat">
              <a:solidFill>
                <a:srgbClr val="EB6834"/>
              </a:solidFill>
              <a:prstDash val="solid"/>
              <a:round/>
            </a:ln>
            <a:effectLst/>
          </c:spPr>
          <c:invertIfNegative val="0"/>
          <c:dLbls>
            <c:numFmt formatCode="#,##0" sourceLinked="0"/>
            <c:txPr>
              <a:bodyPr/>
              <a:lstStyle/>
              <a:p>
                <a:pPr>
                  <a:defRPr b="0" i="0" strike="noStrike" sz="1100" u="none">
                    <a:solidFill>
                      <a:srgbClr val="0F1B2A"/>
                    </a:solidFill>
                    <a:latin typeface="+mn-lt"/>
                  </a:defRPr>
                </a:pPr>
              </a:p>
            </c:txPr>
            <c:showLegendKey val="0"/>
            <c:showVal val="0"/>
            <c:showCatName val="0"/>
            <c:showSerName val="0"/>
            <c:showPercent val="0"/>
            <c:showBubbleSize val="0"/>
            <c:showLeaderLines val="0"/>
          </c:dLbls>
          <c:marker>
            <c:symbol val="circle"/>
            <c:size val="9"/>
            <c:spPr>
              <a:solidFill>
                <a:srgbClr val="EB6834"/>
              </a:solidFill>
              <a:ln w="9525" cap="flat">
                <a:solidFill>
                  <a:srgbClr val="EB6834"/>
                </a:solidFill>
                <a:prstDash val="solid"/>
                <a:round/>
              </a:ln>
              <a:effectLst/>
            </c:spPr>
          </c:marker>
          <c:cat>
            <c:multiLvlStrRef>
              <c:f>Sheet1!$A$2:$A$6</c:f>
              <c:multiLvlStrCache>
                <c:ptCount val="5"/>
                <c:lvl>
                  <c:pt idx="0">
                    <c:v>0 h</c:v>
                  </c:pt>
                  <c:pt idx="1">
                    <c:v>30 min</c:v>
                  </c:pt>
                  <c:pt idx="2">
                    <c:v>1 h</c:v>
                  </c:pt>
                  <c:pt idx="3">
                    <c:v>2 h</c:v>
                  </c:pt>
                  <c:pt idx="4">
                    <c:v>6 h</c:v>
                  </c:pt>
                </c:lvl>
              </c:multiLvlStrCache>
            </c:multiLvlStrRef>
          </c:cat>
          <c:val>
            <c:numRef>
              <c:f>Sheet1!$C$2:$C$6</c:f>
              <c:numCache>
                <c:formatCode>General</c:formatCode>
                <c:ptCount val="5"/>
                <c:pt idx="0">
                  <c:v>0.54</c:v>
                </c:pt>
                <c:pt idx="1">
                  <c:v>0.87</c:v>
                </c:pt>
                <c:pt idx="2">
                  <c:v>0.88</c:v>
                </c:pt>
                <c:pt idx="3">
                  <c:v>0.89</c:v>
                </c:pt>
                <c:pt idx="4">
                  <c:v>0.89</c:v>
                </c:pt>
              </c:numCache>
            </c:numRef>
          </c:val>
          <c:smooth val="0"/>
        </c:ser>
        <c:dLbls>
          <c:numFmt formatCode="#,##0" sourceLinked="0"/>
          <c:txPr>
            <a:bodyPr/>
            <a:lstStyle/>
            <a:p>
              <a:pPr>
                <a:defRPr b="0" i="0" strike="noStrike" sz="1100" u="none">
                  <a:solidFill>
                    <a:srgbClr val="0F1B2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F1B2A"/>
                </a:solidFill>
                <a:latin typeface="+mn-lt"/>
              </a:defRPr>
            </a:pPr>
            <a:endParaRPr lang="en-US"/>
          </a:p>
        </c:txPr>
        <c:crossAx val="2094734552"/>
        <c:crosses val="autoZero"/>
        <c:auto val="1"/>
        <c:lblAlgn val="ctr"/>
        <c:noMultiLvlLbl val="1"/>
      </c:catAx>
      <c:valAx>
        <c:axId val="2094734552"/>
        <c:scaling>
          <c:orientation val="minMax"/>
          <c:max val="1"/>
          <c:min val="0.3"/>
        </c:scaling>
        <c:delete val="0"/>
        <c:axPos val="l"/>
        <c:majorGridlines>
          <c:spPr>
            <a:ln w="9525" cap="flat">
              <a:solidFill>
                <a:srgbClr val="E2E7EE"/>
              </a:solidFill>
              <a:prstDash val="solid"/>
              <a:round/>
            </a:ln>
          </c:spPr>
        </c:majorGridlines>
        <c:numFmt formatCode="0.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46566A"/>
                </a:solidFill>
                <a:latin typeface="+mn-lt"/>
              </a:defRPr>
            </a:pPr>
            <a:endParaRPr lang="en-US"/>
          </a:p>
        </c:txPr>
        <c:crossAx val="2094734554"/>
        <c:crosses val="autoZero"/>
        <c:crossBetween val="between"/>
        <c:majorUnit val="0.1"/>
      </c:valAx>
      <c:spPr>
        <a:noFill/>
        <a:ln>
          <a:noFill/>
        </a:ln>
        <a:effectLst/>
      </c:spPr>
    </c:plotArea>
    <c:legend>
      <c:legendPos val="b"/>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the team. One sentence: we built a digital twin of a person with Type 2 diabetes that combines their health record with wearable data, predicts dangerous high and low glucose two hours ahead, explains why, and lets a clinician test 'what if' safely on the twin. Then we checked every claim on real patient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Frame the problem in India: about 101 million people with diabetes. Post-meal spikes from carbohydrate-heavy meals, and lows from cheap, widely used sulfonylureas and insulin, especially at night. The clinician sees an HbA1c every few months; the events happen within hours. The data to see them coming exists, but in two separate places.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capabilities. Predict both events two hours ahead. Alert in a way a clinic can live with. Explain every alert. Simulate changes on a personalised twin before trying them on the patient.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left to right. Synthetic EHR cohort and a physiology simulator generate the data; a linker joins records to devices; rolling 6-hour windows and a static EHR vector feed the models; we evaluate with patient-level rigour and on real data; the deployed LightGBM powers the twin and the Streamlit dashboard. The teal box marks real external data, used only to check us, never to train.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upfront: real linked EHR plus wearable data for Indian patients is not publicly available, so we built a physiology simulator. It is labelled synthetic in the code, the docs and on the dashboard banner. Because the simulator wires EHR traits into glucose, we treated any EHR benefit here as unproven until tested on real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five habits are why we trust our own numbers. In particular, splitting by patient and scoring only onset windows removes the two most common ways glucose models look better than they 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Headline metric for rare lows is AUPRC, where chance is about 0.02. Persistence 0.19, LightGBM on CGM 0.65, with the EHR 0.71. Highs 0.38, 0.72, 0.74. The deep GRU model did not beat LightGBM and wearables added nothing, so we chose the simpler, explainable, calibrated model. Say clearly: synthetic numbers are optimistic.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Accuracy is not enough; alarm fatigue kills alerting systems. One alert per episode, a 90-minute refractory period, thresholds chosen on validation patients. Result on test patients: 76% of lows warned 30 minutes ahead, median 65 minutes, about one alert every two days, two out of three alerts real. Synthetic data, so real numbers will be lower.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the live replay tab in the video. The record plays forward; the model only ever sees data up to the moving line. At 08:25 the hypo risk crosses the threshold and the alert pops up with its two main reasons. The low arrives at 09:40: 75 minutes of warning. The summary below the chart also lists false alerts and missed episodes.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Clinicians will not act on a black box. Each risk is decomposed with TreeSHAP into contributions from each input, grouped by data stream. Here: current glucose 70, a sulfonylurea dose, and the time of day drive a 95% hypo risk.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twin is not just the classifier. It is a physiology model fitted to each patient's own first week, which halves the error on the following week (5.9 versus 12.1 mg/dL). The clinician can try a late dinner, a skipped meal, poor sleep or an extra dose. The shaded band is a conformal 80% interval: on unseen test patients the real CGM fell inside it 79% of the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part most teams will skip. Synthetic results are only as good as the simulator, so we checked on two public real datasets: CGMacros from PhysioNet and ShanghaiT2DM, the first with real linked EHR and CGM for the same people.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14 real adults with T2D, our synthetic-trained model still ranks risk better than chance (AUROC 0.70) and beats simple trend extrapolation, but far below the 0.93 on synthetic data. We report that openly. Its probabilities were off; Platt recalibration fitted on the other participants cuts the calibration error from 0.136 to 0.024.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ShanghaiT2DM: 100 real patients, CGM plus their own records and logged insulin and tablets. Trained with patient-grouped cross-validation, the CGM model predicts real lows with AUROC 0.89, nocturnal 0.91. Our synthetic-trained model, applied unchanged, still beats trend extrapolation on lows. But adding the EHR did not help: not the 24 fields, not logged doses, not the full clinical record.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asked where the record should matter most: a new patient with little or no CGM. With no CGM at all, the EHR carries a small real signal, AUROC 0.54 instead of chance. With just 30 minutes of CGM the CGM model reaches 0.88 and the EHR adds nothing. The EHR is useful for stratifying who to watch and personalising the twin, not for the 2-hour forecast.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integrity slide. We changed our own headline claim when real data disagreed with the simulator. That is exactly what a clinical team needs to see before trusting a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Nothing here is ready for patients. The deployment path is four evidence steps and a compliance frame: DPDP Act and Rules for consent and security, ABDM consent flows to link a patient's record to their device, CDSCO software-as-a-medical-device classification, ICMR AI ethics. Our real-data result means step 1a must test the EHR's value, not assume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Judges can rerun everything: one command regenerates the data, trains every model and rewrites every report. 128 tests cover leakage, metrics, the simulator, the twin and the dashboard. The dashboard is deployed.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Name the limits before a judge does. Training is synthetic; real checks are small and not Indian; insulin users' lows remain hard; and a real twin would need meal and dose logging at the moment they happen.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three ideas: early warning, explanations, honesty. Ask: access to real linked records from Indian clinics and a diabetologist partner for the silent pilot.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828800"/>
            <a:ext cx="10424160" cy="1737360"/>
          </a:xfrm>
          <a:prstGeom prst="rect">
            <a:avLst/>
          </a:prstGeom>
          <a:noFill/>
          <a:ln/>
        </p:spPr>
        <p:txBody>
          <a:bodyPr wrap="square" rtlCol="0"/>
          <a:lstStyle>
            <a:lvl1pPr algn="l" indent="0" marL="0">
              <a:buNone/>
              <a:defRPr lang="en-US" sz="42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4200" dirty="0"/>
          </a:p>
        </p:txBody>
      </p:sp>
      <p:sp>
        <p:nvSpPr>
          <p:cNvPr id="3" name="Text 0"/>
          <p:cNvSpPr/>
          <p:nvPr>
            <p:ph idx="101" type="body" hasCustomPrompt="1"/>
          </p:nvPr>
        </p:nvSpPr>
        <p:spPr>
          <a:xfrm>
            <a:off x="548640" y="3703320"/>
            <a:ext cx="10058400" cy="914400"/>
          </a:xfrm>
          <a:prstGeom prst="rect">
            <a:avLst/>
          </a:prstGeom>
          <a:noFill/>
          <a:ln/>
        </p:spPr>
        <p:txBody>
          <a:bodyPr wrap="square" rtlCol="0"/>
          <a:lstStyle>
            <a:lvl1pPr indent="0" marL="0">
              <a:buNone/>
              <a:defRPr lang="en-US" sz="2000" dirty="0">
                <a:solidFill>
                  <a:schemeClr val="bg2"/>
                </a:solidFill>
              </a:defRPr>
            </a:lvl1pPr>
          </a:lstStyle>
          <a:p>
            <a:pPr indent="0" marL="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_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377440"/>
            <a:ext cx="10424160" cy="1188720"/>
          </a:xfrm>
          <a:prstGeom prst="rect">
            <a:avLst/>
          </a:prstGeom>
          <a:noFill/>
          <a:ln/>
        </p:spPr>
        <p:txBody>
          <a:bodyPr wrap="square" rtlCol="0"/>
          <a:lstStyle>
            <a:lvl1pPr algn="l" indent="0" marL="0">
              <a:buNone/>
              <a:defRPr lang="en-US" sz="40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4000" dirty="0"/>
          </a:p>
        </p:txBody>
      </p:sp>
      <p:sp>
        <p:nvSpPr>
          <p:cNvPr id="3" name="Text 0"/>
          <p:cNvSpPr/>
          <p:nvPr>
            <p:ph idx="101" type="body" hasCustomPrompt="1"/>
          </p:nvPr>
        </p:nvSpPr>
        <p:spPr>
          <a:xfrm>
            <a:off x="548640" y="3703320"/>
            <a:ext cx="9601200" cy="1097280"/>
          </a:xfrm>
          <a:prstGeom prst="rect">
            <a:avLst/>
          </a:prstGeom>
          <a:noFill/>
          <a:ln/>
        </p:spPr>
        <p:txBody>
          <a:bodyPr wrap="square" rtlCol="0"/>
          <a:lstStyle>
            <a:lvl1pPr indent="0" marL="0">
              <a:buNone/>
              <a:defRPr lang="en-US" sz="2000" dirty="0">
                <a:solidFill>
                  <a:schemeClr val="bg2"/>
                </a:solidFill>
              </a:defRPr>
            </a:lvl1pPr>
          </a:lstStyle>
          <a:p>
            <a:pPr indent="0" marL="0">
              <a:buNone/>
            </a:pPr>
            <a:endParaRPr lang="en-US" sz="2000" dirty="0"/>
          </a:p>
        </p:txBody>
      </p:sp>
      <p:sp>
        <p:nvSpPr>
          <p:cNvPr id="25" name="Slide Number Placeholder 0"/>
          <p:cNvSpPr>
            <a:spLocks noGrp="1"/>
          </p:cNvSpPr>
          <p:nvPr>
            <p:ph type="sldNum" sz="quarter" idx="4294967295"/>
          </p:nvPr>
        </p:nvSpPr>
        <p:spPr>
          <a:xfrm>
            <a:off x="11185855"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bg2"/>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94415" cy="777240"/>
          </a:xfrm>
          <a:prstGeom prst="rect">
            <a:avLst/>
          </a:prstGeom>
          <a:noFill/>
          <a:ln/>
        </p:spPr>
        <p:txBody>
          <a:bodyPr wrap="square" rtlCol="0"/>
          <a:lstStyle>
            <a:lvl1pPr algn="l" indent="0" marL="0">
              <a:buNone/>
              <a:defRPr lang="en-US" sz="3200" b="1" dirty="0">
                <a:solidFill>
                  <a:schemeClr val="tx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3" name="Text 0"/>
          <p:cNvSpPr/>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chemeClr val="accent6"/>
                </a:solidFill>
              </a:rPr>
              <a:t>Glycaemic Digital Twin  ·  Synthetic-data research prototype, not for clinical use</a:t>
            </a:r>
            <a:endParaRPr lang="en-US" sz="1000" dirty="0"/>
          </a:p>
        </p:txBody>
      </p:sp>
      <p:sp>
        <p:nvSpPr>
          <p:cNvPr id="25" name="Slide Number Placeholder 0"/>
          <p:cNvSpPr>
            <a:spLocks noGrp="1"/>
          </p:cNvSpPr>
          <p:nvPr>
            <p:ph type="sldNum" sz="quarter" idx="4294967295"/>
          </p:nvPr>
        </p:nvSpPr>
        <p:spPr>
          <a:xfrm>
            <a:off x="1118585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85855"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bg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4.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4.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4.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4.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4.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4.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4.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4.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828800"/>
            <a:ext cx="10424160" cy="1737360"/>
          </a:xfrm>
          <a:prstGeom prst="rect">
            <a:avLst/>
          </a:prstGeom>
          <a:noFill/>
          <a:ln/>
        </p:spPr>
        <p:txBody>
          <a:bodyPr wrap="square" lIns="0" tIns="0" rIns="0" bIns="0" rtlCol="0" anchor="b"/>
          <a:lstStyle/>
          <a:p>
            <a:pPr algn="l" indent="0" marL="0">
              <a:buNone/>
            </a:pPr>
            <a:r>
              <a:rPr lang="en-US" sz="4200" b="1" dirty="0">
                <a:solidFill>
                  <a:schemeClr val="bg1"/>
                </a:solidFill>
                <a:latin typeface="Cambria" pitchFamily="34" charset="0"/>
                <a:ea typeface="Cambria" pitchFamily="34" charset="-122"/>
                <a:cs typeface="Cambria" pitchFamily="34" charset="-120"/>
              </a:rPr>
              <a:t>A glycaemic digital twin that warns of highs and lows two hours ahead</a:t>
            </a:r>
            <a:endParaRPr lang="en-US" sz="4200" dirty="0"/>
          </a:p>
        </p:txBody>
      </p:sp>
      <p:sp>
        <p:nvSpPr>
          <p:cNvPr id="3" name="Text 0"/>
          <p:cNvSpPr/>
          <p:nvPr>
            <p:ph idx="101" type="body" hasCustomPrompt="1"/>
          </p:nvPr>
        </p:nvSpPr>
        <p:spPr>
          <a:xfrm>
            <a:off x="548640" y="3703320"/>
            <a:ext cx="10058400" cy="914400"/>
          </a:xfrm>
          <a:prstGeom prst="rect">
            <a:avLst/>
          </a:prstGeom>
          <a:noFill/>
          <a:ln/>
        </p:spPr>
        <p:txBody>
          <a:bodyPr wrap="square" lIns="0" tIns="0" rIns="0" bIns="0" rtlCol="0" anchor="t"/>
          <a:lstStyle/>
          <a:p>
            <a:pPr indent="0" marL="0">
              <a:buNone/>
            </a:pPr>
            <a:r>
              <a:rPr lang="en-US" sz="2000" dirty="0">
                <a:solidFill>
                  <a:schemeClr val="bg2"/>
                </a:solidFill>
              </a:rPr>
              <a:t>Type 2 diabetes · EHR + wearables · Happiest Health Digital Twin Challenge 2026</a:t>
            </a:r>
            <a:endParaRPr lang="en-US" sz="2000" dirty="0"/>
          </a:p>
        </p:txBody>
      </p:sp>
      <p:sp>
        <p:nvSpPr>
          <p:cNvPr id="4" name="Text 2"/>
          <p:cNvSpPr txBox="1"/>
          <p:nvPr/>
        </p:nvSpPr>
        <p:spPr>
          <a:xfrm>
            <a:off x="548640" y="4892040"/>
            <a:ext cx="7315200" cy="365760"/>
          </a:xfrm>
          <a:prstGeom prst="rect">
            <a:avLst/>
          </a:prstGeom>
          <a:noFill/>
          <a:ln/>
        </p:spPr>
        <p:txBody>
          <a:bodyPr wrap="square" lIns="0" tIns="0" rIns="0" bIns="0" rtlCol="0" anchor="t"/>
          <a:lstStyle/>
          <a:p>
            <a:pPr indent="0" marL="0">
              <a:buNone/>
            </a:pPr>
            <a:r>
              <a:rPr lang="en-US" sz="1600" b="1" dirty="0">
                <a:solidFill>
                  <a:schemeClr val="bg1"/>
                </a:solidFill>
              </a:rPr>
              <a:t>Team name  ·  College / incubator name</a:t>
            </a:r>
            <a:endParaRPr lang="en-US" sz="1600" dirty="0"/>
          </a:p>
        </p:txBody>
      </p:sp>
      <p:sp>
        <p:nvSpPr>
          <p:cNvPr id="5" name="Text 3"/>
          <p:cNvSpPr txBox="1"/>
          <p:nvPr/>
        </p:nvSpPr>
        <p:spPr>
          <a:xfrm>
            <a:off x="548640" y="6035040"/>
            <a:ext cx="7315200" cy="320040"/>
          </a:xfrm>
          <a:prstGeom prst="rect">
            <a:avLst/>
          </a:prstGeom>
          <a:noFill/>
          <a:ln/>
        </p:spPr>
        <p:txBody>
          <a:bodyPr wrap="square" lIns="0" tIns="0" rIns="0" bIns="0" rtlCol="0" anchor="t"/>
          <a:lstStyle/>
          <a:p>
            <a:pPr indent="0" marL="0">
              <a:buNone/>
            </a:pPr>
            <a:r>
              <a:rPr lang="en-US" sz="1200" dirty="0">
                <a:solidFill>
                  <a:schemeClr val="bg2"/>
                </a:solidFill>
              </a:rPr>
              <a:t>Synthetic-data research prototype. Not for clinical use.</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94415" cy="77724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Highs and lows happen between clinic visits</a:t>
            </a:r>
            <a:endParaRPr lang="en-US" sz="3200" dirty="0"/>
          </a:p>
        </p:txBody>
      </p:sp>
      <p:sp>
        <p:nvSpPr>
          <p:cNvPr id="3" name="card"/>
          <p:cNvSpPr/>
          <p:nvPr/>
        </p:nvSpPr>
        <p:spPr>
          <a:xfrm>
            <a:off x="548640" y="1463040"/>
            <a:ext cx="3474720" cy="2651760"/>
          </a:xfrm>
          <a:prstGeom prst="roundRect">
            <a:avLst>
              <a:gd name="adj" fmla="val 4138"/>
            </a:avLst>
          </a:prstGeom>
          <a:solidFill>
            <a:schemeClr val="bg2"/>
          </a:solidFill>
          <a:ln/>
        </p:spPr>
      </p:sp>
      <p:sp>
        <p:nvSpPr>
          <p:cNvPr id="4" name="Text 2"/>
          <p:cNvSpPr txBox="1"/>
          <p:nvPr/>
        </p:nvSpPr>
        <p:spPr>
          <a:xfrm>
            <a:off x="868680" y="1600200"/>
            <a:ext cx="2926080" cy="868680"/>
          </a:xfrm>
          <a:prstGeom prst="rect">
            <a:avLst/>
          </a:prstGeom>
          <a:noFill/>
          <a:ln/>
        </p:spPr>
        <p:txBody>
          <a:bodyPr wrap="square" lIns="0" tIns="0" rIns="0" bIns="0" rtlCol="0" anchor="b"/>
          <a:lstStyle/>
          <a:p>
            <a:pPr indent="0" marL="0">
              <a:buNone/>
            </a:pPr>
            <a:r>
              <a:rPr lang="en-US" sz="4600" b="1" dirty="0">
                <a:solidFill>
                  <a:schemeClr val="accent1"/>
                </a:solidFill>
                <a:latin typeface="Cambria" pitchFamily="34" charset="0"/>
                <a:ea typeface="Cambria" pitchFamily="34" charset="-122"/>
                <a:cs typeface="Cambria" pitchFamily="34" charset="-120"/>
              </a:rPr>
              <a:t>101 M</a:t>
            </a:r>
            <a:endParaRPr lang="en-US" sz="4600" dirty="0"/>
          </a:p>
        </p:txBody>
      </p:sp>
      <p:sp>
        <p:nvSpPr>
          <p:cNvPr id="5" name="Text 3"/>
          <p:cNvSpPr txBox="1"/>
          <p:nvPr/>
        </p:nvSpPr>
        <p:spPr>
          <a:xfrm>
            <a:off x="868680" y="2514600"/>
            <a:ext cx="2926080" cy="822960"/>
          </a:xfrm>
          <a:prstGeom prst="rect">
            <a:avLst/>
          </a:prstGeom>
          <a:noFill/>
          <a:ln/>
        </p:spPr>
        <p:txBody>
          <a:bodyPr wrap="square" lIns="0" tIns="0" rIns="0" bIns="0" rtlCol="0" anchor="t"/>
          <a:lstStyle/>
          <a:p>
            <a:pPr indent="0" marL="0">
              <a:buNone/>
            </a:pPr>
            <a:r>
              <a:rPr lang="en-US" sz="1400" dirty="0">
                <a:solidFill>
                  <a:schemeClr val="tx1"/>
                </a:solidFill>
              </a:rPr>
              <a:t>people with diabetes in India, mostly Type 2 (ICMR-INDIAB, Lancet Diabetes &amp; Endocrinology 2023)</a:t>
            </a:r>
            <a:endParaRPr lang="en-US" sz="1400" dirty="0"/>
          </a:p>
        </p:txBody>
      </p:sp>
      <p:sp>
        <p:nvSpPr>
          <p:cNvPr id="6" name="card"/>
          <p:cNvSpPr/>
          <p:nvPr/>
        </p:nvSpPr>
        <p:spPr>
          <a:xfrm>
            <a:off x="4297680" y="1463040"/>
            <a:ext cx="3474720" cy="2651760"/>
          </a:xfrm>
          <a:prstGeom prst="roundRect">
            <a:avLst>
              <a:gd name="adj" fmla="val 4138"/>
            </a:avLst>
          </a:prstGeom>
          <a:solidFill>
            <a:schemeClr val="bg2"/>
          </a:solidFill>
          <a:ln/>
        </p:spPr>
      </p:sp>
      <p:sp>
        <p:nvSpPr>
          <p:cNvPr id="7" name="Text 5"/>
          <p:cNvSpPr txBox="1"/>
          <p:nvPr/>
        </p:nvSpPr>
        <p:spPr>
          <a:xfrm>
            <a:off x="4617720" y="1600200"/>
            <a:ext cx="2926080" cy="868680"/>
          </a:xfrm>
          <a:prstGeom prst="rect">
            <a:avLst/>
          </a:prstGeom>
          <a:noFill/>
          <a:ln/>
        </p:spPr>
        <p:txBody>
          <a:bodyPr wrap="square" lIns="0" tIns="0" rIns="0" bIns="0" rtlCol="0" anchor="b"/>
          <a:lstStyle/>
          <a:p>
            <a:pPr indent="0" marL="0">
              <a:buNone/>
            </a:pPr>
            <a:r>
              <a:rPr lang="en-US" sz="4600" b="1" dirty="0">
                <a:solidFill>
                  <a:schemeClr val="accent2"/>
                </a:solidFill>
                <a:latin typeface="Cambria" pitchFamily="34" charset="0"/>
                <a:ea typeface="Cambria" pitchFamily="34" charset="-122"/>
                <a:cs typeface="Cambria" pitchFamily="34" charset="-120"/>
              </a:rPr>
              <a:t>3 months</a:t>
            </a:r>
            <a:endParaRPr lang="en-US" sz="4600" dirty="0"/>
          </a:p>
        </p:txBody>
      </p:sp>
      <p:sp>
        <p:nvSpPr>
          <p:cNvPr id="8" name="Text 6"/>
          <p:cNvSpPr txBox="1"/>
          <p:nvPr/>
        </p:nvSpPr>
        <p:spPr>
          <a:xfrm>
            <a:off x="4617720" y="2514600"/>
            <a:ext cx="2926080" cy="822960"/>
          </a:xfrm>
          <a:prstGeom prst="rect">
            <a:avLst/>
          </a:prstGeom>
          <a:noFill/>
          <a:ln/>
        </p:spPr>
        <p:txBody>
          <a:bodyPr wrap="square" lIns="0" tIns="0" rIns="0" bIns="0" rtlCol="0" anchor="t"/>
          <a:lstStyle/>
          <a:p>
            <a:pPr indent="0" marL="0">
              <a:buNone/>
            </a:pPr>
            <a:r>
              <a:rPr lang="en-US" sz="1400" dirty="0">
                <a:solidFill>
                  <a:schemeClr val="tx1"/>
                </a:solidFill>
              </a:rPr>
              <a:t>between HbA1c tests, while dangerous highs and lows happen within hours</a:t>
            </a:r>
            <a:endParaRPr lang="en-US" sz="1400" dirty="0"/>
          </a:p>
        </p:txBody>
      </p:sp>
      <p:sp>
        <p:nvSpPr>
          <p:cNvPr id="9" name="card"/>
          <p:cNvSpPr/>
          <p:nvPr/>
        </p:nvSpPr>
        <p:spPr>
          <a:xfrm>
            <a:off x="8046720" y="1463040"/>
            <a:ext cx="3474720" cy="2651760"/>
          </a:xfrm>
          <a:prstGeom prst="roundRect">
            <a:avLst>
              <a:gd name="adj" fmla="val 4138"/>
            </a:avLst>
          </a:prstGeom>
          <a:solidFill>
            <a:schemeClr val="bg2"/>
          </a:solidFill>
          <a:ln/>
        </p:spPr>
      </p:sp>
      <p:sp>
        <p:nvSpPr>
          <p:cNvPr id="10" name="Text 8"/>
          <p:cNvSpPr txBox="1"/>
          <p:nvPr/>
        </p:nvSpPr>
        <p:spPr>
          <a:xfrm>
            <a:off x="8366760" y="1600200"/>
            <a:ext cx="2926080" cy="868680"/>
          </a:xfrm>
          <a:prstGeom prst="rect">
            <a:avLst/>
          </a:prstGeom>
          <a:noFill/>
          <a:ln/>
        </p:spPr>
        <p:txBody>
          <a:bodyPr wrap="square" lIns="0" tIns="0" rIns="0" bIns="0" rtlCol="0" anchor="b"/>
          <a:lstStyle/>
          <a:p>
            <a:pPr indent="0" marL="0">
              <a:buNone/>
            </a:pPr>
            <a:r>
              <a:rPr lang="en-US" sz="4600" b="1" dirty="0">
                <a:solidFill>
                  <a:schemeClr val="accent3"/>
                </a:solidFill>
                <a:latin typeface="Cambria" pitchFamily="34" charset="0"/>
                <a:ea typeface="Cambria" pitchFamily="34" charset="-122"/>
                <a:cs typeface="Cambria" pitchFamily="34" charset="-120"/>
              </a:rPr>
              <a:t>At night</a:t>
            </a:r>
            <a:endParaRPr lang="en-US" sz="4600" dirty="0"/>
          </a:p>
        </p:txBody>
      </p:sp>
      <p:sp>
        <p:nvSpPr>
          <p:cNvPr id="11" name="Text 9"/>
          <p:cNvSpPr txBox="1"/>
          <p:nvPr/>
        </p:nvSpPr>
        <p:spPr>
          <a:xfrm>
            <a:off x="8366760" y="2514600"/>
            <a:ext cx="2926080" cy="822960"/>
          </a:xfrm>
          <a:prstGeom prst="rect">
            <a:avLst/>
          </a:prstGeom>
          <a:noFill/>
          <a:ln/>
        </p:spPr>
        <p:txBody>
          <a:bodyPr wrap="square" lIns="0" tIns="0" rIns="0" bIns="0" rtlCol="0" anchor="t"/>
          <a:lstStyle/>
          <a:p>
            <a:pPr indent="0" marL="0">
              <a:buNone/>
            </a:pPr>
            <a:r>
              <a:rPr lang="en-US" sz="1400" dirty="0">
                <a:solidFill>
                  <a:schemeClr val="tx1"/>
                </a:solidFill>
              </a:rPr>
              <a:t>lows from sulfonylureas or insulin strike while the patient is asleep and cannot react</a:t>
            </a:r>
            <a:endParaRPr lang="en-US" sz="1400" dirty="0"/>
          </a:p>
        </p:txBody>
      </p:sp>
      <p:sp>
        <p:nvSpPr>
          <p:cNvPr id="12" name="Text 10"/>
          <p:cNvSpPr txBox="1"/>
          <p:nvPr/>
        </p:nvSpPr>
        <p:spPr>
          <a:xfrm>
            <a:off x="548640" y="4526280"/>
            <a:ext cx="11064240" cy="914400"/>
          </a:xfrm>
          <a:prstGeom prst="rect">
            <a:avLst/>
          </a:prstGeom>
          <a:noFill/>
          <a:ln/>
        </p:spPr>
        <p:txBody>
          <a:bodyPr wrap="square" lIns="0" tIns="0" rIns="0" bIns="0" rtlCol="0" anchor="t"/>
          <a:lstStyle/>
          <a:p>
            <a:pPr indent="0" marL="0">
              <a:buNone/>
            </a:pPr>
            <a:r>
              <a:rPr lang="en-US" sz="1800" b="1" dirty="0">
                <a:solidFill>
                  <a:schemeClr val="tx1"/>
                </a:solidFill>
              </a:rPr>
              <a:t>The gap: </a:t>
            </a:r>
            <a:pPr indent="0" marL="0">
              <a:buNone/>
            </a:pPr>
            <a:r>
              <a:rPr lang="en-US" sz="1800" dirty="0">
                <a:solidFill>
                  <a:schemeClr val="tx1"/>
                </a:solidFill>
              </a:rPr>
              <a:t>the record (diagnoses, labs, drugs) and the sensor (glucose every 5 minutes) live in separate systems. Nobody combines them into an early warning a doctor can act on.</a:t>
            </a:r>
            <a:endParaRPr lang="en-US" sz="1800" dirty="0"/>
          </a:p>
        </p:txBody>
      </p:sp>
      <p:sp>
        <p:nvSpPr>
          <p:cNvPr id="25" name="Slide Number Placeholder 0"/>
          <p:cNvSpPr>
            <a:spLocks noGrp="1"/>
          </p:cNvSpPr>
          <p:nvPr>
            <p:ph type="sldNum" sz="quarter" idx="4294967295"/>
          </p:nvPr>
        </p:nvSpPr>
        <p:spPr>
          <a:xfrm>
            <a:off x="1118585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94415" cy="77724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Our answer: a digital twin of each patient</a:t>
            </a:r>
            <a:endParaRPr lang="en-US" sz="3200" dirty="0"/>
          </a:p>
        </p:txBody>
      </p:sp>
      <p:sp>
        <p:nvSpPr>
          <p:cNvPr id="3" name="card"/>
          <p:cNvSpPr/>
          <p:nvPr/>
        </p:nvSpPr>
        <p:spPr>
          <a:xfrm>
            <a:off x="548640" y="1417320"/>
            <a:ext cx="5440680" cy="1920240"/>
          </a:xfrm>
          <a:prstGeom prst="roundRect">
            <a:avLst>
              <a:gd name="adj" fmla="val 5714"/>
            </a:avLst>
          </a:prstGeom>
          <a:solidFill>
            <a:schemeClr val="bg2"/>
          </a:solidFill>
          <a:ln/>
        </p:spPr>
      </p:sp>
      <p:sp>
        <p:nvSpPr>
          <p:cNvPr id="4" name="dot"/>
          <p:cNvSpPr/>
          <p:nvPr/>
        </p:nvSpPr>
        <p:spPr>
          <a:xfrm>
            <a:off x="868680" y="1737360"/>
            <a:ext cx="475488" cy="475488"/>
          </a:xfrm>
          <a:prstGeom prst="ellipse">
            <a:avLst/>
          </a:prstGeom>
          <a:solidFill>
            <a:schemeClr val="accent1"/>
          </a:solidFill>
          <a:ln/>
        </p:spPr>
      </p:sp>
      <p:sp>
        <p:nvSpPr>
          <p:cNvPr id="5" name="Text 3"/>
          <p:cNvSpPr txBox="1"/>
          <p:nvPr/>
        </p:nvSpPr>
        <p:spPr>
          <a:xfrm>
            <a:off x="868680" y="1737360"/>
            <a:ext cx="475488" cy="475488"/>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6" name="Text 4"/>
          <p:cNvSpPr txBox="1"/>
          <p:nvPr/>
        </p:nvSpPr>
        <p:spPr>
          <a:xfrm>
            <a:off x="1554480" y="1746504"/>
            <a:ext cx="4206240" cy="457200"/>
          </a:xfrm>
          <a:prstGeom prst="rect">
            <a:avLst/>
          </a:prstGeom>
          <a:noFill/>
          <a:ln/>
        </p:spPr>
        <p:txBody>
          <a:bodyPr wrap="square" lIns="0" tIns="0" rIns="0" bIns="0" rtlCol="0" anchor="t"/>
          <a:lstStyle/>
          <a:p>
            <a:pPr indent="0" marL="0">
              <a:buNone/>
            </a:pPr>
            <a:r>
              <a:rPr lang="en-US" sz="2000" b="1" dirty="0">
                <a:solidFill>
                  <a:schemeClr val="tx2"/>
                </a:solidFill>
                <a:latin typeface="Cambria" pitchFamily="34" charset="0"/>
                <a:ea typeface="Cambria" pitchFamily="34" charset="-122"/>
                <a:cs typeface="Cambria" pitchFamily="34" charset="-120"/>
              </a:rPr>
              <a:t>Predict</a:t>
            </a:r>
            <a:endParaRPr lang="en-US" sz="2000" dirty="0"/>
          </a:p>
        </p:txBody>
      </p:sp>
      <p:sp>
        <p:nvSpPr>
          <p:cNvPr id="7" name="Text 5"/>
          <p:cNvSpPr txBox="1"/>
          <p:nvPr/>
        </p:nvSpPr>
        <p:spPr>
          <a:xfrm>
            <a:off x="1554480" y="2240280"/>
            <a:ext cx="4206240" cy="1005840"/>
          </a:xfrm>
          <a:prstGeom prst="rect">
            <a:avLst/>
          </a:prstGeom>
          <a:noFill/>
          <a:ln/>
        </p:spPr>
        <p:txBody>
          <a:bodyPr wrap="square" lIns="0" tIns="0" rIns="0" bIns="0" rtlCol="0" anchor="t"/>
          <a:lstStyle/>
          <a:p>
            <a:pPr indent="0" marL="0">
              <a:buNone/>
            </a:pPr>
            <a:r>
              <a:rPr lang="en-US" sz="1500" dirty="0">
                <a:solidFill>
                  <a:schemeClr val="tx1"/>
                </a:solidFill>
              </a:rPr>
              <a:t>Risk of glucose &gt; 180 or &lt; 70 mg/dL in the next 2 hours, every 30 minutes, from 6 h of wearable data plus the EHR</a:t>
            </a:r>
            <a:endParaRPr lang="en-US" sz="1500" dirty="0"/>
          </a:p>
        </p:txBody>
      </p:sp>
      <p:sp>
        <p:nvSpPr>
          <p:cNvPr id="8" name="card"/>
          <p:cNvSpPr/>
          <p:nvPr/>
        </p:nvSpPr>
        <p:spPr>
          <a:xfrm>
            <a:off x="6172200" y="1417320"/>
            <a:ext cx="5440680" cy="1920240"/>
          </a:xfrm>
          <a:prstGeom prst="roundRect">
            <a:avLst>
              <a:gd name="adj" fmla="val 5714"/>
            </a:avLst>
          </a:prstGeom>
          <a:solidFill>
            <a:schemeClr val="bg2"/>
          </a:solidFill>
          <a:ln/>
        </p:spPr>
      </p:sp>
      <p:sp>
        <p:nvSpPr>
          <p:cNvPr id="9" name="dot"/>
          <p:cNvSpPr/>
          <p:nvPr/>
        </p:nvSpPr>
        <p:spPr>
          <a:xfrm>
            <a:off x="6492240" y="1737360"/>
            <a:ext cx="475488" cy="475488"/>
          </a:xfrm>
          <a:prstGeom prst="ellipse">
            <a:avLst/>
          </a:prstGeom>
          <a:solidFill>
            <a:schemeClr val="accent1"/>
          </a:solidFill>
          <a:ln/>
        </p:spPr>
      </p:sp>
      <p:sp>
        <p:nvSpPr>
          <p:cNvPr id="10" name="Text 8"/>
          <p:cNvSpPr txBox="1"/>
          <p:nvPr/>
        </p:nvSpPr>
        <p:spPr>
          <a:xfrm>
            <a:off x="6492240" y="1737360"/>
            <a:ext cx="475488" cy="475488"/>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1" name="Text 9"/>
          <p:cNvSpPr txBox="1"/>
          <p:nvPr/>
        </p:nvSpPr>
        <p:spPr>
          <a:xfrm>
            <a:off x="7178040" y="1746504"/>
            <a:ext cx="4206240" cy="457200"/>
          </a:xfrm>
          <a:prstGeom prst="rect">
            <a:avLst/>
          </a:prstGeom>
          <a:noFill/>
          <a:ln/>
        </p:spPr>
        <p:txBody>
          <a:bodyPr wrap="square" lIns="0" tIns="0" rIns="0" bIns="0" rtlCol="0" anchor="t"/>
          <a:lstStyle/>
          <a:p>
            <a:pPr indent="0" marL="0">
              <a:buNone/>
            </a:pPr>
            <a:r>
              <a:rPr lang="en-US" sz="2000" b="1" dirty="0">
                <a:solidFill>
                  <a:schemeClr val="tx2"/>
                </a:solidFill>
                <a:latin typeface="Cambria" pitchFamily="34" charset="0"/>
                <a:ea typeface="Cambria" pitchFamily="34" charset="-122"/>
                <a:cs typeface="Cambria" pitchFamily="34" charset="-120"/>
              </a:rPr>
              <a:t>Alert</a:t>
            </a:r>
            <a:endParaRPr lang="en-US" sz="2000" dirty="0"/>
          </a:p>
        </p:txBody>
      </p:sp>
      <p:sp>
        <p:nvSpPr>
          <p:cNvPr id="12" name="Text 10"/>
          <p:cNvSpPr txBox="1"/>
          <p:nvPr/>
        </p:nvSpPr>
        <p:spPr>
          <a:xfrm>
            <a:off x="7178040" y="2240280"/>
            <a:ext cx="4206240" cy="1005840"/>
          </a:xfrm>
          <a:prstGeom prst="rect">
            <a:avLst/>
          </a:prstGeom>
          <a:noFill/>
          <a:ln/>
        </p:spPr>
        <p:txBody>
          <a:bodyPr wrap="square" lIns="0" tIns="0" rIns="0" bIns="0" rtlCol="0" anchor="t"/>
          <a:lstStyle/>
          <a:p>
            <a:pPr indent="0" marL="0">
              <a:buNone/>
            </a:pPr>
            <a:r>
              <a:rPr lang="en-US" sz="1500" dirty="0">
                <a:solidFill>
                  <a:schemeClr val="tx1"/>
                </a:solidFill>
              </a:rPr>
              <a:t>One alert per risk episode, tuned so clinicians are not flooded: about one low-glucose alert every two days</a:t>
            </a:r>
            <a:endParaRPr lang="en-US" sz="1500" dirty="0"/>
          </a:p>
        </p:txBody>
      </p:sp>
      <p:sp>
        <p:nvSpPr>
          <p:cNvPr id="13" name="card"/>
          <p:cNvSpPr/>
          <p:nvPr/>
        </p:nvSpPr>
        <p:spPr>
          <a:xfrm>
            <a:off x="548640" y="3566160"/>
            <a:ext cx="5440680" cy="1920240"/>
          </a:xfrm>
          <a:prstGeom prst="roundRect">
            <a:avLst>
              <a:gd name="adj" fmla="val 5714"/>
            </a:avLst>
          </a:prstGeom>
          <a:solidFill>
            <a:schemeClr val="bg2"/>
          </a:solidFill>
          <a:ln/>
        </p:spPr>
      </p:sp>
      <p:sp>
        <p:nvSpPr>
          <p:cNvPr id="14" name="dot"/>
          <p:cNvSpPr/>
          <p:nvPr/>
        </p:nvSpPr>
        <p:spPr>
          <a:xfrm>
            <a:off x="868680" y="3886200"/>
            <a:ext cx="475488" cy="475488"/>
          </a:xfrm>
          <a:prstGeom prst="ellipse">
            <a:avLst/>
          </a:prstGeom>
          <a:solidFill>
            <a:schemeClr val="accent1"/>
          </a:solidFill>
          <a:ln/>
        </p:spPr>
      </p:sp>
      <p:sp>
        <p:nvSpPr>
          <p:cNvPr id="15" name="Text 13"/>
          <p:cNvSpPr txBox="1"/>
          <p:nvPr/>
        </p:nvSpPr>
        <p:spPr>
          <a:xfrm>
            <a:off x="868680" y="3886200"/>
            <a:ext cx="475488" cy="475488"/>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6" name="Text 14"/>
          <p:cNvSpPr txBox="1"/>
          <p:nvPr/>
        </p:nvSpPr>
        <p:spPr>
          <a:xfrm>
            <a:off x="1554480" y="3895344"/>
            <a:ext cx="4206240" cy="457200"/>
          </a:xfrm>
          <a:prstGeom prst="rect">
            <a:avLst/>
          </a:prstGeom>
          <a:noFill/>
          <a:ln/>
        </p:spPr>
        <p:txBody>
          <a:bodyPr wrap="square" lIns="0" tIns="0" rIns="0" bIns="0" rtlCol="0" anchor="t"/>
          <a:lstStyle/>
          <a:p>
            <a:pPr indent="0" marL="0">
              <a:buNone/>
            </a:pPr>
            <a:r>
              <a:rPr lang="en-US" sz="2000" b="1" dirty="0">
                <a:solidFill>
                  <a:schemeClr val="tx2"/>
                </a:solidFill>
                <a:latin typeface="Cambria" pitchFamily="34" charset="0"/>
                <a:ea typeface="Cambria" pitchFamily="34" charset="-122"/>
                <a:cs typeface="Cambria" pitchFamily="34" charset="-120"/>
              </a:rPr>
              <a:t>Explain</a:t>
            </a:r>
            <a:endParaRPr lang="en-US" sz="2000" dirty="0"/>
          </a:p>
        </p:txBody>
      </p:sp>
      <p:sp>
        <p:nvSpPr>
          <p:cNvPr id="17" name="Text 15"/>
          <p:cNvSpPr txBox="1"/>
          <p:nvPr/>
        </p:nvSpPr>
        <p:spPr>
          <a:xfrm>
            <a:off x="1554480" y="4389120"/>
            <a:ext cx="4206240" cy="1005840"/>
          </a:xfrm>
          <a:prstGeom prst="rect">
            <a:avLst/>
          </a:prstGeom>
          <a:noFill/>
          <a:ln/>
        </p:spPr>
        <p:txBody>
          <a:bodyPr wrap="square" lIns="0" tIns="0" rIns="0" bIns="0" rtlCol="0" anchor="t"/>
          <a:lstStyle/>
          <a:p>
            <a:pPr indent="0" marL="0">
              <a:buNone/>
            </a:pPr>
            <a:r>
              <a:rPr lang="en-US" sz="1500" dirty="0">
                <a:solidFill>
                  <a:schemeClr val="tx1"/>
                </a:solidFill>
              </a:rPr>
              <a:t>The top reasons behind every risk (TreeSHAP), e.g. falling glucose, sulfonylurea dose, time of day</a:t>
            </a:r>
            <a:endParaRPr lang="en-US" sz="1500" dirty="0"/>
          </a:p>
        </p:txBody>
      </p:sp>
      <p:sp>
        <p:nvSpPr>
          <p:cNvPr id="18" name="card"/>
          <p:cNvSpPr/>
          <p:nvPr/>
        </p:nvSpPr>
        <p:spPr>
          <a:xfrm>
            <a:off x="6172200" y="3566160"/>
            <a:ext cx="5440680" cy="1920240"/>
          </a:xfrm>
          <a:prstGeom prst="roundRect">
            <a:avLst>
              <a:gd name="adj" fmla="val 5714"/>
            </a:avLst>
          </a:prstGeom>
          <a:solidFill>
            <a:schemeClr val="bg2"/>
          </a:solidFill>
          <a:ln/>
        </p:spPr>
      </p:sp>
      <p:sp>
        <p:nvSpPr>
          <p:cNvPr id="19" name="dot"/>
          <p:cNvSpPr/>
          <p:nvPr/>
        </p:nvSpPr>
        <p:spPr>
          <a:xfrm>
            <a:off x="6492240" y="3886200"/>
            <a:ext cx="475488" cy="475488"/>
          </a:xfrm>
          <a:prstGeom prst="ellipse">
            <a:avLst/>
          </a:prstGeom>
          <a:solidFill>
            <a:schemeClr val="accent1"/>
          </a:solidFill>
          <a:ln/>
        </p:spPr>
      </p:sp>
      <p:sp>
        <p:nvSpPr>
          <p:cNvPr id="20" name="Text 18"/>
          <p:cNvSpPr txBox="1"/>
          <p:nvPr/>
        </p:nvSpPr>
        <p:spPr>
          <a:xfrm>
            <a:off x="6492240" y="3886200"/>
            <a:ext cx="475488" cy="475488"/>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21" name="Text 19"/>
          <p:cNvSpPr txBox="1"/>
          <p:nvPr/>
        </p:nvSpPr>
        <p:spPr>
          <a:xfrm>
            <a:off x="7178040" y="3895344"/>
            <a:ext cx="4206240" cy="457200"/>
          </a:xfrm>
          <a:prstGeom prst="rect">
            <a:avLst/>
          </a:prstGeom>
          <a:noFill/>
          <a:ln/>
        </p:spPr>
        <p:txBody>
          <a:bodyPr wrap="square" lIns="0" tIns="0" rIns="0" bIns="0" rtlCol="0" anchor="t"/>
          <a:lstStyle/>
          <a:p>
            <a:pPr indent="0" marL="0">
              <a:buNone/>
            </a:pPr>
            <a:r>
              <a:rPr lang="en-US" sz="2000" b="1" dirty="0">
                <a:solidFill>
                  <a:schemeClr val="tx2"/>
                </a:solidFill>
                <a:latin typeface="Cambria" pitchFamily="34" charset="0"/>
                <a:ea typeface="Cambria" pitchFamily="34" charset="-122"/>
                <a:cs typeface="Cambria" pitchFamily="34" charset="-120"/>
              </a:rPr>
              <a:t>Simulate</a:t>
            </a:r>
            <a:endParaRPr lang="en-US" sz="2000" dirty="0"/>
          </a:p>
        </p:txBody>
      </p:sp>
      <p:sp>
        <p:nvSpPr>
          <p:cNvPr id="22" name="Text 20"/>
          <p:cNvSpPr txBox="1"/>
          <p:nvPr/>
        </p:nvSpPr>
        <p:spPr>
          <a:xfrm>
            <a:off x="7178040" y="4389120"/>
            <a:ext cx="4206240" cy="1005840"/>
          </a:xfrm>
          <a:prstGeom prst="rect">
            <a:avLst/>
          </a:prstGeom>
          <a:noFill/>
          <a:ln/>
        </p:spPr>
        <p:txBody>
          <a:bodyPr wrap="square" lIns="0" tIns="0" rIns="0" bIns="0" rtlCol="0" anchor="t"/>
          <a:lstStyle/>
          <a:p>
            <a:pPr indent="0" marL="0">
              <a:buNone/>
            </a:pPr>
            <a:r>
              <a:rPr lang="en-US" sz="1500" dirty="0">
                <a:solidFill>
                  <a:schemeClr val="tx1"/>
                </a:solidFill>
              </a:rPr>
              <a:t>A twin fitted to the patient's own data answers 'what if?' (late dinner, skipped meal, extra dose) with an uncertainty band</a:t>
            </a:r>
            <a:endParaRPr lang="en-US" sz="1500" dirty="0"/>
          </a:p>
        </p:txBody>
      </p:sp>
      <p:sp>
        <p:nvSpPr>
          <p:cNvPr id="25" name="Slide Number Placeholder 0"/>
          <p:cNvSpPr>
            <a:spLocks noGrp="1"/>
          </p:cNvSpPr>
          <p:nvPr>
            <p:ph type="sldNum" sz="quarter" idx="4294967295"/>
          </p:nvPr>
        </p:nvSpPr>
        <p:spPr>
          <a:xfrm>
            <a:off x="1118585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94415" cy="77724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Architecture: five layers from data to dashboard</a:t>
            </a:r>
            <a:endParaRPr lang="en-US" sz="3200" dirty="0"/>
          </a:p>
        </p:txBody>
      </p:sp>
      <p:pic>
        <p:nvPicPr>
          <p:cNvPr id="3" name="architecture" descr="C:\Users\Akhilesh\Desktop\Claude code\Happiest Health\docs\architecture.png">    </p:cNvPr>
          <p:cNvPicPr>
            <a:picLocks noChangeAspect="1"/>
          </p:cNvPicPr>
          <p:nvPr/>
        </p:nvPicPr>
        <p:blipFill>
          <a:blip r:embed="rId1"/>
          <a:stretch>
            <a:fillRect/>
          </a:stretch>
        </p:blipFill>
        <p:spPr>
          <a:xfrm>
            <a:off x="1417320" y="1188720"/>
            <a:ext cx="9326880" cy="5248656"/>
          </a:xfrm>
          <a:prstGeom prst="rect">
            <a:avLst/>
          </a:prstGeom>
        </p:spPr>
      </p:pic>
      <p:sp>
        <p:nvSpPr>
          <p:cNvPr id="25" name="Slide Number Placeholder 0"/>
          <p:cNvSpPr>
            <a:spLocks noGrp="1"/>
          </p:cNvSpPr>
          <p:nvPr>
            <p:ph type="sldNum" sz="quarter" idx="4294967295"/>
          </p:nvPr>
        </p:nvSpPr>
        <p:spPr>
          <a:xfrm>
            <a:off x="1118585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94415" cy="77724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Data: a physiology simulator, honestly labelled</a:t>
            </a:r>
            <a:endParaRPr lang="en-US" sz="3200" dirty="0"/>
          </a:p>
        </p:txBody>
      </p:sp>
      <p:sp>
        <p:nvSpPr>
          <p:cNvPr id="3" name="card"/>
          <p:cNvSpPr/>
          <p:nvPr/>
        </p:nvSpPr>
        <p:spPr>
          <a:xfrm>
            <a:off x="548640" y="1371600"/>
            <a:ext cx="5669280" cy="3749040"/>
          </a:xfrm>
          <a:prstGeom prst="roundRect">
            <a:avLst>
              <a:gd name="adj" fmla="val 2927"/>
            </a:avLst>
          </a:prstGeom>
          <a:solidFill>
            <a:schemeClr val="bg2"/>
          </a:solidFill>
          <a:ln/>
        </p:spPr>
      </p:sp>
      <p:sp>
        <p:nvSpPr>
          <p:cNvPr id="4" name="Text 2"/>
          <p:cNvSpPr txBox="1"/>
          <p:nvPr/>
        </p:nvSpPr>
        <p:spPr>
          <a:xfrm>
            <a:off x="868680" y="1554480"/>
            <a:ext cx="5029200" cy="411480"/>
          </a:xfrm>
          <a:prstGeom prst="rect">
            <a:avLst/>
          </a:prstGeom>
          <a:noFill/>
          <a:ln/>
        </p:spPr>
        <p:txBody>
          <a:bodyPr wrap="square" lIns="0" tIns="0" rIns="0" bIns="0" rtlCol="0" anchor="t"/>
          <a:lstStyle/>
          <a:p>
            <a:pPr indent="0" marL="0">
              <a:buNone/>
            </a:pPr>
            <a:r>
              <a:rPr lang="en-US" sz="2000" b="1" dirty="0">
                <a:solidFill>
                  <a:schemeClr val="tx2"/>
                </a:solidFill>
                <a:latin typeface="Cambria" pitchFamily="34" charset="0"/>
                <a:ea typeface="Cambria" pitchFamily="34" charset="-122"/>
                <a:cs typeface="Cambria" pitchFamily="34" charset="-120"/>
              </a:rPr>
              <a:t>What we generate</a:t>
            </a:r>
            <a:endParaRPr lang="en-US" sz="2000" dirty="0"/>
          </a:p>
        </p:txBody>
      </p:sp>
      <p:sp>
        <p:nvSpPr>
          <p:cNvPr id="5" name="Text 3"/>
          <p:cNvSpPr txBox="1"/>
          <p:nvPr/>
        </p:nvSpPr>
        <p:spPr>
          <a:xfrm>
            <a:off x="868680" y="2103120"/>
            <a:ext cx="5029200" cy="292608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chemeClr val="tx1"/>
                </a:solidFill>
              </a:rPr>
              <a:t>300 patients × 14 days, 5-minute CGM with sensor lag, noise and dropouts</a:t>
            </a:r>
            <a:endParaRPr lang="en-US" sz="1600" dirty="0"/>
          </a:p>
          <a:p>
            <a:pPr marL="342900" indent="-342900">
              <a:spcAft>
                <a:spcPts val="800"/>
              </a:spcAft>
              <a:buSzPct val="100000"/>
              <a:buChar char="•"/>
            </a:pPr>
            <a:r>
              <a:rPr lang="en-US" sz="1600" dirty="0">
                <a:solidFill>
                  <a:schemeClr val="tx1"/>
                </a:solidFill>
              </a:rPr>
              <a:t>EHR: age, BMI, HbA1c, eGFR, lipids, comorbidities, metformin / sulfonylurea / insulin doses</a:t>
            </a:r>
            <a:endParaRPr lang="en-US" sz="1600" dirty="0"/>
          </a:p>
          <a:p>
            <a:pPr marL="342900" indent="-342900">
              <a:spcAft>
                <a:spcPts val="800"/>
              </a:spcAft>
              <a:buSzPct val="100000"/>
              <a:buChar char="•"/>
            </a:pPr>
            <a:r>
              <a:rPr lang="en-US" sz="1600" dirty="0">
                <a:solidFill>
                  <a:schemeClr val="tx1"/>
                </a:solidFill>
              </a:rPr>
              <a:t>Physiology: Bergman-style glucose model, Indian meals (rice, roti, idli, poha), drug pharmacokinetics, sleep, activity, dawn effect</a:t>
            </a:r>
            <a:endParaRPr lang="en-US" sz="1600" dirty="0"/>
          </a:p>
          <a:p>
            <a:pPr marL="342900" indent="-342900">
              <a:spcAft>
                <a:spcPts val="800"/>
              </a:spcAft>
              <a:buSzPct val="100000"/>
              <a:buChar char="•"/>
            </a:pPr>
            <a:r>
              <a:rPr lang="en-US" sz="1600" dirty="0">
                <a:solidFill>
                  <a:schemeClr val="tx1"/>
                </a:solidFill>
              </a:rPr>
              <a:t>Patient-level split 194 / 46 / 60, stratified by drug class</a:t>
            </a:r>
            <a:endParaRPr lang="en-US" sz="1600" dirty="0"/>
          </a:p>
        </p:txBody>
      </p:sp>
      <p:sp>
        <p:nvSpPr>
          <p:cNvPr id="6" name="card"/>
          <p:cNvSpPr/>
          <p:nvPr/>
        </p:nvSpPr>
        <p:spPr>
          <a:xfrm>
            <a:off x="6492240" y="1371600"/>
            <a:ext cx="5148072" cy="3749040"/>
          </a:xfrm>
          <a:prstGeom prst="roundRect">
            <a:avLst>
              <a:gd name="adj" fmla="val 2927"/>
            </a:avLst>
          </a:prstGeom>
          <a:solidFill>
            <a:schemeClr val="tx2"/>
          </a:solidFill>
          <a:ln/>
        </p:spPr>
      </p:sp>
      <p:sp>
        <p:nvSpPr>
          <p:cNvPr id="7" name="Text 5"/>
          <p:cNvSpPr txBox="1"/>
          <p:nvPr/>
        </p:nvSpPr>
        <p:spPr>
          <a:xfrm>
            <a:off x="6812280" y="1554480"/>
            <a:ext cx="4572000" cy="411480"/>
          </a:xfrm>
          <a:prstGeom prst="rect">
            <a:avLst/>
          </a:prstGeom>
          <a:noFill/>
          <a:ln/>
        </p:spPr>
        <p:txBody>
          <a:bodyPr wrap="square" lIns="0" tIns="0" rIns="0" bIns="0" rtlCol="0" anchor="t"/>
          <a:lstStyle/>
          <a:p>
            <a:pPr indent="0" marL="0">
              <a:buNone/>
            </a:pPr>
            <a:r>
              <a:rPr lang="en-US" sz="2000" b="1" dirty="0">
                <a:solidFill>
                  <a:schemeClr val="bg1"/>
                </a:solidFill>
                <a:latin typeface="Cambria" pitchFamily="34" charset="0"/>
                <a:ea typeface="Cambria" pitchFamily="34" charset="-122"/>
                <a:cs typeface="Cambria" pitchFamily="34" charset="-120"/>
              </a:rPr>
              <a:t>Why synthetic, and what that means</a:t>
            </a:r>
            <a:endParaRPr lang="en-US" sz="2000" dirty="0"/>
          </a:p>
        </p:txBody>
      </p:sp>
      <p:sp>
        <p:nvSpPr>
          <p:cNvPr id="8" name="Text 6"/>
          <p:cNvSpPr txBox="1"/>
          <p:nvPr/>
        </p:nvSpPr>
        <p:spPr>
          <a:xfrm>
            <a:off x="6812280" y="2103120"/>
            <a:ext cx="4526280" cy="2926080"/>
          </a:xfrm>
          <a:prstGeom prst="rect">
            <a:avLst/>
          </a:prstGeom>
          <a:noFill/>
          <a:ln/>
        </p:spPr>
        <p:txBody>
          <a:bodyPr wrap="square" lIns="0" tIns="0" rIns="0" bIns="0" rtlCol="0" anchor="t"/>
          <a:lstStyle/>
          <a:p>
            <a:pPr indent="0" marL="0">
              <a:buNone/>
            </a:pPr>
            <a:r>
              <a:rPr lang="en-US" sz="1600" dirty="0">
                <a:solidFill>
                  <a:schemeClr val="bg1"/>
                </a:solidFill>
              </a:rPr>
              <a:t>No public dataset links hospital records and wearables for the same Indian patients, so we simulate both.</a:t>
            </a:r>
            <a:endParaRPr lang="en-US" sz="1600" dirty="0"/>
          </a:p>
          <a:p>
            <a:pPr indent="0" marL="0">
              <a:buNone/>
            </a:pPr>
            <a:r>
              <a:rPr lang="en-US" sz="1600" dirty="0">
                <a:solidFill>
                  <a:schemeClr val="bg1"/>
                </a:solidFill>
              </a:rPr>
              <a:t> </a:t>
            </a:r>
            <a:endParaRPr lang="en-US" sz="1600" dirty="0"/>
          </a:p>
          <a:p>
            <a:pPr indent="0" marL="0">
              <a:buNone/>
            </a:pPr>
            <a:r>
              <a:rPr lang="en-US" sz="1600" b="1" dirty="0">
                <a:solidFill>
                  <a:schemeClr val="bg1"/>
                </a:solidFill>
              </a:rPr>
              <a:t>The link is synthetic by design, and we say so everywhere. </a:t>
            </a:r>
            <a:pPr indent="0" marL="0">
              <a:buNone/>
            </a:pPr>
            <a:r>
              <a:rPr lang="en-US" sz="1600" dirty="0">
                <a:solidFill>
                  <a:schemeClr val="bg1"/>
                </a:solidFill>
              </a:rPr>
              <a:t>The simulator makes EHR traits drive glucose, so any EHR gain on this data is partly built in. That is why we went on to test the EHR on real linked records.</a:t>
            </a:r>
            <a:endParaRPr lang="en-US" sz="1600" dirty="0"/>
          </a:p>
        </p:txBody>
      </p:sp>
      <p:sp>
        <p:nvSpPr>
          <p:cNvPr id="25" name="Slide Number Placeholder 0"/>
          <p:cNvSpPr>
            <a:spLocks noGrp="1"/>
          </p:cNvSpPr>
          <p:nvPr>
            <p:ph type="sldNum" sz="quarter" idx="4294967295"/>
          </p:nvPr>
        </p:nvSpPr>
        <p:spPr>
          <a:xfrm>
            <a:off x="1118585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94415" cy="77724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Built so the numbers can be trusted</a:t>
            </a:r>
            <a:endParaRPr lang="en-US" sz="3200" dirty="0"/>
          </a:p>
        </p:txBody>
      </p:sp>
      <p:sp>
        <p:nvSpPr>
          <p:cNvPr id="3" name="dot"/>
          <p:cNvSpPr/>
          <p:nvPr/>
        </p:nvSpPr>
        <p:spPr>
          <a:xfrm>
            <a:off x="548640" y="1417320"/>
            <a:ext cx="475488" cy="475488"/>
          </a:xfrm>
          <a:prstGeom prst="ellipse">
            <a:avLst/>
          </a:prstGeom>
          <a:solidFill>
            <a:schemeClr val="accent1"/>
          </a:solidFill>
          <a:ln/>
        </p:spPr>
      </p:sp>
      <p:sp>
        <p:nvSpPr>
          <p:cNvPr id="4" name="Text 2"/>
          <p:cNvSpPr txBox="1"/>
          <p:nvPr/>
        </p:nvSpPr>
        <p:spPr>
          <a:xfrm>
            <a:off x="548640" y="1417320"/>
            <a:ext cx="475488" cy="475488"/>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5" name="Text 3"/>
          <p:cNvSpPr txBox="1"/>
          <p:nvPr/>
        </p:nvSpPr>
        <p:spPr>
          <a:xfrm>
            <a:off x="1280160" y="1371600"/>
            <a:ext cx="3291840" cy="548640"/>
          </a:xfrm>
          <a:prstGeom prst="rect">
            <a:avLst/>
          </a:prstGeom>
          <a:noFill/>
          <a:ln/>
        </p:spPr>
        <p:txBody>
          <a:bodyPr wrap="square" lIns="0" tIns="0" rIns="0" bIns="0" rtlCol="0" anchor="ctr"/>
          <a:lstStyle/>
          <a:p>
            <a:pPr indent="0" marL="0">
              <a:buNone/>
            </a:pPr>
            <a:r>
              <a:rPr lang="en-US" sz="1800" b="1" dirty="0">
                <a:solidFill>
                  <a:schemeClr val="tx2"/>
                </a:solidFill>
              </a:rPr>
              <a:t>Patient-level split</a:t>
            </a:r>
            <a:endParaRPr lang="en-US" sz="1800" dirty="0"/>
          </a:p>
        </p:txBody>
      </p:sp>
      <p:sp>
        <p:nvSpPr>
          <p:cNvPr id="6" name="Text 4"/>
          <p:cNvSpPr txBox="1"/>
          <p:nvPr/>
        </p:nvSpPr>
        <p:spPr>
          <a:xfrm>
            <a:off x="4663440" y="1371600"/>
            <a:ext cx="6949440" cy="548640"/>
          </a:xfrm>
          <a:prstGeom prst="rect">
            <a:avLst/>
          </a:prstGeom>
          <a:noFill/>
          <a:ln/>
        </p:spPr>
        <p:txBody>
          <a:bodyPr wrap="square" lIns="0" tIns="0" rIns="0" bIns="0" rtlCol="0" anchor="ctr"/>
          <a:lstStyle/>
          <a:p>
            <a:pPr indent="0" marL="0">
              <a:buNone/>
            </a:pPr>
            <a:r>
              <a:rPr lang="en-US" sz="1500" dirty="0">
                <a:solidFill>
                  <a:schemeClr val="tx1"/>
                </a:solidFill>
              </a:rPr>
              <a:t>No patient appears in both training and test; the code raises an error if one does</a:t>
            </a:r>
            <a:endParaRPr lang="en-US" sz="1500" dirty="0"/>
          </a:p>
        </p:txBody>
      </p:sp>
      <p:sp>
        <p:nvSpPr>
          <p:cNvPr id="7" name="dot"/>
          <p:cNvSpPr/>
          <p:nvPr/>
        </p:nvSpPr>
        <p:spPr>
          <a:xfrm>
            <a:off x="548640" y="2313432"/>
            <a:ext cx="475488" cy="475488"/>
          </a:xfrm>
          <a:prstGeom prst="ellipse">
            <a:avLst/>
          </a:prstGeom>
          <a:solidFill>
            <a:schemeClr val="accent1"/>
          </a:solidFill>
          <a:ln/>
        </p:spPr>
      </p:sp>
      <p:sp>
        <p:nvSpPr>
          <p:cNvPr id="8" name="Text 6"/>
          <p:cNvSpPr txBox="1"/>
          <p:nvPr/>
        </p:nvSpPr>
        <p:spPr>
          <a:xfrm>
            <a:off x="548640" y="2313432"/>
            <a:ext cx="475488" cy="475488"/>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9" name="Text 7"/>
          <p:cNvSpPr txBox="1"/>
          <p:nvPr/>
        </p:nvSpPr>
        <p:spPr>
          <a:xfrm>
            <a:off x="1280160" y="2267712"/>
            <a:ext cx="3291840" cy="548640"/>
          </a:xfrm>
          <a:prstGeom prst="rect">
            <a:avLst/>
          </a:prstGeom>
          <a:noFill/>
          <a:ln/>
        </p:spPr>
        <p:txBody>
          <a:bodyPr wrap="square" lIns="0" tIns="0" rIns="0" bIns="0" rtlCol="0" anchor="ctr"/>
          <a:lstStyle/>
          <a:p>
            <a:pPr indent="0" marL="0">
              <a:buNone/>
            </a:pPr>
            <a:r>
              <a:rPr lang="en-US" sz="1800" b="1" dirty="0">
                <a:solidFill>
                  <a:schemeClr val="tx2"/>
                </a:solidFill>
              </a:rPr>
              <a:t>Onset windows</a:t>
            </a:r>
            <a:endParaRPr lang="en-US" sz="1800" dirty="0"/>
          </a:p>
        </p:txBody>
      </p:sp>
      <p:sp>
        <p:nvSpPr>
          <p:cNvPr id="10" name="Text 8"/>
          <p:cNvSpPr txBox="1"/>
          <p:nvPr/>
        </p:nvSpPr>
        <p:spPr>
          <a:xfrm>
            <a:off x="4663440" y="2267712"/>
            <a:ext cx="6949440" cy="548640"/>
          </a:xfrm>
          <a:prstGeom prst="rect">
            <a:avLst/>
          </a:prstGeom>
          <a:noFill/>
          <a:ln/>
        </p:spPr>
        <p:txBody>
          <a:bodyPr wrap="square" lIns="0" tIns="0" rIns="0" bIns="0" rtlCol="0" anchor="ctr"/>
          <a:lstStyle/>
          <a:p>
            <a:pPr indent="0" marL="0">
              <a:buNone/>
            </a:pPr>
            <a:r>
              <a:rPr lang="en-US" sz="1500" dirty="0">
                <a:solidFill>
                  <a:schemeClr val="tx1"/>
                </a:solidFill>
              </a:rPr>
              <a:t>We score predictions made before the event starts, not once glucose is already low</a:t>
            </a:r>
            <a:endParaRPr lang="en-US" sz="1500" dirty="0"/>
          </a:p>
        </p:txBody>
      </p:sp>
      <p:sp>
        <p:nvSpPr>
          <p:cNvPr id="11" name="dot"/>
          <p:cNvSpPr/>
          <p:nvPr/>
        </p:nvSpPr>
        <p:spPr>
          <a:xfrm>
            <a:off x="548640" y="3209544"/>
            <a:ext cx="475488" cy="475488"/>
          </a:xfrm>
          <a:prstGeom prst="ellipse">
            <a:avLst/>
          </a:prstGeom>
          <a:solidFill>
            <a:schemeClr val="accent1"/>
          </a:solidFill>
          <a:ln/>
        </p:spPr>
      </p:sp>
      <p:sp>
        <p:nvSpPr>
          <p:cNvPr id="12" name="Text 10"/>
          <p:cNvSpPr txBox="1"/>
          <p:nvPr/>
        </p:nvSpPr>
        <p:spPr>
          <a:xfrm>
            <a:off x="548640" y="3209544"/>
            <a:ext cx="475488" cy="475488"/>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3" name="Text 11"/>
          <p:cNvSpPr txBox="1"/>
          <p:nvPr/>
        </p:nvSpPr>
        <p:spPr>
          <a:xfrm>
            <a:off x="1280160" y="3163824"/>
            <a:ext cx="3291840" cy="548640"/>
          </a:xfrm>
          <a:prstGeom prst="rect">
            <a:avLst/>
          </a:prstGeom>
          <a:noFill/>
          <a:ln/>
        </p:spPr>
        <p:txBody>
          <a:bodyPr wrap="square" lIns="0" tIns="0" rIns="0" bIns="0" rtlCol="0" anchor="ctr"/>
          <a:lstStyle/>
          <a:p>
            <a:pPr indent="0" marL="0">
              <a:buNone/>
            </a:pPr>
            <a:r>
              <a:rPr lang="en-US" sz="1800" b="1" dirty="0">
                <a:solidFill>
                  <a:schemeClr val="tx2"/>
                </a:solidFill>
              </a:rPr>
              <a:t>Paired patient bootstrap</a:t>
            </a:r>
            <a:endParaRPr lang="en-US" sz="1800" dirty="0"/>
          </a:p>
        </p:txBody>
      </p:sp>
      <p:sp>
        <p:nvSpPr>
          <p:cNvPr id="14" name="Text 12"/>
          <p:cNvSpPr txBox="1"/>
          <p:nvPr/>
        </p:nvSpPr>
        <p:spPr>
          <a:xfrm>
            <a:off x="4663440" y="3163824"/>
            <a:ext cx="6949440" cy="548640"/>
          </a:xfrm>
          <a:prstGeom prst="rect">
            <a:avLst/>
          </a:prstGeom>
          <a:noFill/>
          <a:ln/>
        </p:spPr>
        <p:txBody>
          <a:bodyPr wrap="square" lIns="0" tIns="0" rIns="0" bIns="0" rtlCol="0" anchor="ctr"/>
          <a:lstStyle/>
          <a:p>
            <a:pPr indent="0" marL="0">
              <a:buNone/>
            </a:pPr>
            <a:r>
              <a:rPr lang="en-US" sz="1500" dirty="0">
                <a:solidFill>
                  <a:schemeClr val="tx1"/>
                </a:solidFill>
              </a:rPr>
              <a:t>Every comparison comes with a 95% confidence interval over patients</a:t>
            </a:r>
            <a:endParaRPr lang="en-US" sz="1500" dirty="0"/>
          </a:p>
        </p:txBody>
      </p:sp>
      <p:sp>
        <p:nvSpPr>
          <p:cNvPr id="15" name="dot"/>
          <p:cNvSpPr/>
          <p:nvPr/>
        </p:nvSpPr>
        <p:spPr>
          <a:xfrm>
            <a:off x="548640" y="4105656"/>
            <a:ext cx="475488" cy="475488"/>
          </a:xfrm>
          <a:prstGeom prst="ellipse">
            <a:avLst/>
          </a:prstGeom>
          <a:solidFill>
            <a:schemeClr val="accent1"/>
          </a:solidFill>
          <a:ln/>
        </p:spPr>
      </p:sp>
      <p:sp>
        <p:nvSpPr>
          <p:cNvPr id="16" name="Text 14"/>
          <p:cNvSpPr txBox="1"/>
          <p:nvPr/>
        </p:nvSpPr>
        <p:spPr>
          <a:xfrm>
            <a:off x="548640" y="4105656"/>
            <a:ext cx="475488" cy="475488"/>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17" name="Text 15"/>
          <p:cNvSpPr txBox="1"/>
          <p:nvPr/>
        </p:nvSpPr>
        <p:spPr>
          <a:xfrm>
            <a:off x="1280160" y="4059936"/>
            <a:ext cx="3291840" cy="548640"/>
          </a:xfrm>
          <a:prstGeom prst="rect">
            <a:avLst/>
          </a:prstGeom>
          <a:noFill/>
          <a:ln/>
        </p:spPr>
        <p:txBody>
          <a:bodyPr wrap="square" lIns="0" tIns="0" rIns="0" bIns="0" rtlCol="0" anchor="ctr"/>
          <a:lstStyle/>
          <a:p>
            <a:pPr indent="0" marL="0">
              <a:buNone/>
            </a:pPr>
            <a:r>
              <a:rPr lang="en-US" sz="1800" b="1" dirty="0">
                <a:solidFill>
                  <a:schemeClr val="tx2"/>
                </a:solidFill>
              </a:rPr>
              <a:t>Choices made on validation</a:t>
            </a:r>
            <a:endParaRPr lang="en-US" sz="1800" dirty="0"/>
          </a:p>
        </p:txBody>
      </p:sp>
      <p:sp>
        <p:nvSpPr>
          <p:cNvPr id="18" name="Text 16"/>
          <p:cNvSpPr txBox="1"/>
          <p:nvPr/>
        </p:nvSpPr>
        <p:spPr>
          <a:xfrm>
            <a:off x="4663440" y="4059936"/>
            <a:ext cx="6949440" cy="548640"/>
          </a:xfrm>
          <a:prstGeom prst="rect">
            <a:avLst/>
          </a:prstGeom>
          <a:noFill/>
          <a:ln/>
        </p:spPr>
        <p:txBody>
          <a:bodyPr wrap="square" lIns="0" tIns="0" rIns="0" bIns="0" rtlCol="0" anchor="ctr"/>
          <a:lstStyle/>
          <a:p>
            <a:pPr indent="0" marL="0">
              <a:buNone/>
            </a:pPr>
            <a:r>
              <a:rPr lang="en-US" sz="1500" dirty="0">
                <a:solidFill>
                  <a:schemeClr val="tx1"/>
                </a:solidFill>
              </a:rPr>
              <a:t>Alert thresholds and the alert policy never see the test patients</a:t>
            </a:r>
            <a:endParaRPr lang="en-US" sz="1500" dirty="0"/>
          </a:p>
        </p:txBody>
      </p:sp>
      <p:sp>
        <p:nvSpPr>
          <p:cNvPr id="19" name="dot"/>
          <p:cNvSpPr/>
          <p:nvPr/>
        </p:nvSpPr>
        <p:spPr>
          <a:xfrm>
            <a:off x="548640" y="5001768"/>
            <a:ext cx="475488" cy="475488"/>
          </a:xfrm>
          <a:prstGeom prst="ellipse">
            <a:avLst/>
          </a:prstGeom>
          <a:solidFill>
            <a:schemeClr val="accent1"/>
          </a:solidFill>
          <a:ln/>
        </p:spPr>
      </p:sp>
      <p:sp>
        <p:nvSpPr>
          <p:cNvPr id="20" name="Text 18"/>
          <p:cNvSpPr txBox="1"/>
          <p:nvPr/>
        </p:nvSpPr>
        <p:spPr>
          <a:xfrm>
            <a:off x="548640" y="5001768"/>
            <a:ext cx="475488" cy="475488"/>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sp>
        <p:nvSpPr>
          <p:cNvPr id="21" name="Text 19"/>
          <p:cNvSpPr txBox="1"/>
          <p:nvPr/>
        </p:nvSpPr>
        <p:spPr>
          <a:xfrm>
            <a:off x="1280160" y="4956048"/>
            <a:ext cx="3291840" cy="548640"/>
          </a:xfrm>
          <a:prstGeom prst="rect">
            <a:avLst/>
          </a:prstGeom>
          <a:noFill/>
          <a:ln/>
        </p:spPr>
        <p:txBody>
          <a:bodyPr wrap="square" lIns="0" tIns="0" rIns="0" bIns="0" rtlCol="0" anchor="ctr"/>
          <a:lstStyle/>
          <a:p>
            <a:pPr indent="0" marL="0">
              <a:buNone/>
            </a:pPr>
            <a:r>
              <a:rPr lang="en-US" sz="1800" b="1" dirty="0">
                <a:solidFill>
                  <a:schemeClr val="tx2"/>
                </a:solidFill>
              </a:rPr>
              <a:t>Reproducible</a:t>
            </a:r>
            <a:endParaRPr lang="en-US" sz="1800" dirty="0"/>
          </a:p>
        </p:txBody>
      </p:sp>
      <p:sp>
        <p:nvSpPr>
          <p:cNvPr id="22" name="Text 20"/>
          <p:cNvSpPr txBox="1"/>
          <p:nvPr/>
        </p:nvSpPr>
        <p:spPr>
          <a:xfrm>
            <a:off x="4663440" y="4956048"/>
            <a:ext cx="6949440" cy="548640"/>
          </a:xfrm>
          <a:prstGeom prst="rect">
            <a:avLst/>
          </a:prstGeom>
          <a:noFill/>
          <a:ln/>
        </p:spPr>
        <p:txBody>
          <a:bodyPr wrap="square" lIns="0" tIns="0" rIns="0" bIns="0" rtlCol="0" anchor="ctr"/>
          <a:lstStyle/>
          <a:p>
            <a:pPr indent="0" marL="0">
              <a:buNone/>
            </a:pPr>
            <a:r>
              <a:rPr lang="en-US" sz="1500" dirty="0">
                <a:solidFill>
                  <a:schemeClr val="tx1"/>
                </a:solidFill>
              </a:rPr>
              <a:t>Fixed seeds, one command rebuilds everything, 128 automated tests</a:t>
            </a:r>
            <a:endParaRPr lang="en-US" sz="1500" dirty="0"/>
          </a:p>
        </p:txBody>
      </p:sp>
      <p:sp>
        <p:nvSpPr>
          <p:cNvPr id="25" name="Slide Number Placeholder 0"/>
          <p:cNvSpPr>
            <a:spLocks noGrp="1"/>
          </p:cNvSpPr>
          <p:nvPr>
            <p:ph type="sldNum" sz="quarter" idx="4294967295"/>
          </p:nvPr>
        </p:nvSpPr>
        <p:spPr>
          <a:xfrm>
            <a:off x="1118585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94415" cy="77724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On synthetic patients the model predicts both events well</a:t>
            </a:r>
            <a:endParaRPr lang="en-US" sz="3200" dirty="0"/>
          </a:p>
        </p:txBody>
      </p:sp>
      <p:graphicFrame>
        <p:nvGraphicFramePr>
          <p:cNvPr id="3" name="chart-synthetic" descr=""/>
          <p:cNvGraphicFramePr/>
          <p:nvPr/>
        </p:nvGraphicFramePr>
        <p:xfrm>
          <a:off x="548640" y="1280160"/>
          <a:ext cx="6766560" cy="4572000"/>
        </p:xfrm>
        <a:graphic xmlns:a="http://schemas.openxmlformats.org/drawingml/2006/main">
          <a:graphicData uri="http://schemas.openxmlformats.org/drawingml/2006/chart">
            <c:chart xmlns:c="http://schemas.openxmlformats.org/drawingml/2006/chart" r:id="rId1"/>
          </a:graphicData>
        </a:graphic>
      </p:graphicFrame>
      <p:sp>
        <p:nvSpPr>
          <p:cNvPr id="4" name="card"/>
          <p:cNvSpPr/>
          <p:nvPr/>
        </p:nvSpPr>
        <p:spPr>
          <a:xfrm>
            <a:off x="7680960" y="1371600"/>
            <a:ext cx="3959352" cy="4480560"/>
          </a:xfrm>
          <a:prstGeom prst="roundRect">
            <a:avLst>
              <a:gd name="adj" fmla="val 2771"/>
            </a:avLst>
          </a:prstGeom>
          <a:solidFill>
            <a:schemeClr val="bg2"/>
          </a:solidFill>
          <a:ln/>
        </p:spPr>
      </p:sp>
      <p:sp>
        <p:nvSpPr>
          <p:cNvPr id="5" name="Text 2"/>
          <p:cNvSpPr txBox="1"/>
          <p:nvPr/>
        </p:nvSpPr>
        <p:spPr>
          <a:xfrm>
            <a:off x="8001000" y="1600200"/>
            <a:ext cx="3383280" cy="4114800"/>
          </a:xfrm>
          <a:prstGeom prst="rect">
            <a:avLst/>
          </a:prstGeom>
          <a:noFill/>
          <a:ln/>
        </p:spPr>
        <p:txBody>
          <a:bodyPr wrap="square" lIns="0" tIns="0" rIns="0" bIns="0" rtlCol="0" anchor="t"/>
          <a:lstStyle/>
          <a:p>
            <a:pPr indent="0" marL="0">
              <a:spcAft>
                <a:spcPts val="600"/>
              </a:spcAft>
              <a:buNone/>
            </a:pPr>
            <a:r>
              <a:rPr lang="en-US" sz="1500" b="1" dirty="0">
                <a:solidFill>
                  <a:schemeClr val="tx1"/>
                </a:solidFill>
              </a:rPr>
              <a:t>AUROC 0.93 for highs, 0.99 for lows</a:t>
            </a:r>
            <a:endParaRPr lang="en-US" sz="1500" dirty="0"/>
          </a:p>
          <a:p>
            <a:pPr indent="0" marL="0">
              <a:spcAft>
                <a:spcPts val="600"/>
              </a:spcAft>
              <a:buNone/>
            </a:pPr>
            <a:r>
              <a:rPr lang="en-US" sz="1500" dirty="0">
                <a:solidFill>
                  <a:schemeClr val="tx1"/>
                </a:solidFill>
              </a:rPr>
              <a:t>AUPRC is the honest metric for rare lows: chance is 0.02</a:t>
            </a:r>
            <a:endParaRPr lang="en-US" sz="1500" dirty="0"/>
          </a:p>
          <a:p>
            <a:pPr indent="0" marL="0">
              <a:spcAft>
                <a:spcPts val="600"/>
              </a:spcAft>
              <a:buNone/>
            </a:pPr>
            <a:r>
              <a:rPr lang="en-US" sz="1500" dirty="0">
                <a:solidFill>
                  <a:schemeClr val="tx1"/>
                </a:solidFill>
              </a:rPr>
              <a:t> </a:t>
            </a:r>
            <a:endParaRPr lang="en-US" sz="1500" dirty="0"/>
          </a:p>
          <a:p>
            <a:pPr marL="342900" indent="-342900">
              <a:spcAft>
                <a:spcPts val="600"/>
              </a:spcAft>
              <a:buSzPct val="100000"/>
              <a:buChar char="•"/>
            </a:pPr>
            <a:r>
              <a:rPr lang="en-US" sz="1500" dirty="0">
                <a:solidFill>
                  <a:schemeClr val="tx1"/>
                </a:solidFill>
              </a:rPr>
              <a:t>A GRU fusion network did not beat LightGBM</a:t>
            </a:r>
            <a:endParaRPr lang="en-US" sz="1500" dirty="0"/>
          </a:p>
          <a:p>
            <a:pPr marL="342900" indent="-342900">
              <a:spcAft>
                <a:spcPts val="600"/>
              </a:spcAft>
              <a:buSzPct val="100000"/>
              <a:buChar char="•"/>
            </a:pPr>
            <a:r>
              <a:rPr lang="en-US" sz="1500" dirty="0">
                <a:solidFill>
                  <a:schemeClr val="tx1"/>
                </a:solidFill>
              </a:rPr>
              <a:t>Steps, heart rate and sleep added nothing measurable</a:t>
            </a:r>
            <a:endParaRPr lang="en-US" sz="1500" dirty="0"/>
          </a:p>
          <a:p>
            <a:pPr marL="342900" indent="-342900">
              <a:spcAft>
                <a:spcPts val="600"/>
              </a:spcAft>
              <a:buSzPct val="100000"/>
              <a:buChar char="•"/>
            </a:pPr>
            <a:r>
              <a:rPr lang="en-US" sz="1500" dirty="0">
                <a:solidFill>
                  <a:schemeClr val="tx1"/>
                </a:solidFill>
              </a:rPr>
              <a:t>Well calibrated (hypo ECE 0.004), so we deploy LightGBM</a:t>
            </a:r>
            <a:endParaRPr lang="en-US" sz="1500" dirty="0"/>
          </a:p>
          <a:p>
            <a:pPr marL="342900" indent="-342900">
              <a:spcAft>
                <a:spcPts val="600"/>
              </a:spcAft>
              <a:buSzPct val="100000"/>
              <a:buChar char="•"/>
            </a:pPr>
            <a:r>
              <a:rPr lang="en-US" sz="1500" dirty="0">
                <a:solidFill>
                  <a:schemeClr val="tx1"/>
                </a:solidFill>
              </a:rPr>
              <a:t>These numbers are optimistic: simulated lows drift in slowly</a:t>
            </a:r>
            <a:endParaRPr lang="en-US" sz="1500" dirty="0"/>
          </a:p>
        </p:txBody>
      </p:sp>
      <p:sp>
        <p:nvSpPr>
          <p:cNvPr id="25" name="Slide Number Placeholder 0"/>
          <p:cNvSpPr>
            <a:spLocks noGrp="1"/>
          </p:cNvSpPr>
          <p:nvPr>
            <p:ph type="sldNum" sz="quarter" idx="4294967295"/>
          </p:nvPr>
        </p:nvSpPr>
        <p:spPr>
          <a:xfrm>
            <a:off x="1118585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94415" cy="77724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Alerts a clinic can live with</a:t>
            </a:r>
            <a:endParaRPr lang="en-US" sz="3200" dirty="0"/>
          </a:p>
        </p:txBody>
      </p:sp>
      <p:sp>
        <p:nvSpPr>
          <p:cNvPr id="3" name="card"/>
          <p:cNvSpPr/>
          <p:nvPr/>
        </p:nvSpPr>
        <p:spPr>
          <a:xfrm>
            <a:off x="548640" y="1371600"/>
            <a:ext cx="2606040" cy="2514600"/>
          </a:xfrm>
          <a:prstGeom prst="roundRect">
            <a:avLst>
              <a:gd name="adj" fmla="val 4364"/>
            </a:avLst>
          </a:prstGeom>
          <a:solidFill>
            <a:schemeClr val="bg2"/>
          </a:solidFill>
          <a:ln/>
        </p:spPr>
      </p:sp>
      <p:sp>
        <p:nvSpPr>
          <p:cNvPr id="4" name="Text 2"/>
          <p:cNvSpPr txBox="1"/>
          <p:nvPr/>
        </p:nvSpPr>
        <p:spPr>
          <a:xfrm>
            <a:off x="822960" y="1463040"/>
            <a:ext cx="2148840" cy="868680"/>
          </a:xfrm>
          <a:prstGeom prst="rect">
            <a:avLst/>
          </a:prstGeom>
          <a:noFill/>
          <a:ln/>
        </p:spPr>
        <p:txBody>
          <a:bodyPr wrap="square" lIns="0" tIns="0" rIns="0" bIns="0" rtlCol="0" anchor="b"/>
          <a:lstStyle/>
          <a:p>
            <a:pPr indent="0" marL="0">
              <a:buNone/>
            </a:pPr>
            <a:r>
              <a:rPr lang="en-US" sz="4600" b="1" dirty="0">
                <a:solidFill>
                  <a:schemeClr val="accent3"/>
                </a:solidFill>
                <a:latin typeface="Cambria" pitchFamily="34" charset="0"/>
                <a:ea typeface="Cambria" pitchFamily="34" charset="-122"/>
                <a:cs typeface="Cambria" pitchFamily="34" charset="-120"/>
              </a:rPr>
              <a:t>76%</a:t>
            </a:r>
            <a:endParaRPr lang="en-US" sz="4600" dirty="0"/>
          </a:p>
        </p:txBody>
      </p:sp>
      <p:sp>
        <p:nvSpPr>
          <p:cNvPr id="5" name="Text 3"/>
          <p:cNvSpPr txBox="1"/>
          <p:nvPr/>
        </p:nvSpPr>
        <p:spPr>
          <a:xfrm>
            <a:off x="822960" y="2377440"/>
            <a:ext cx="2148840" cy="822960"/>
          </a:xfrm>
          <a:prstGeom prst="rect">
            <a:avLst/>
          </a:prstGeom>
          <a:noFill/>
          <a:ln/>
        </p:spPr>
        <p:txBody>
          <a:bodyPr wrap="square" lIns="0" tIns="0" rIns="0" bIns="0" rtlCol="0" anchor="t"/>
          <a:lstStyle/>
          <a:p>
            <a:pPr indent="0" marL="0">
              <a:buNone/>
            </a:pPr>
            <a:r>
              <a:rPr lang="en-US" sz="1400" dirty="0">
                <a:solidFill>
                  <a:schemeClr val="tx1"/>
                </a:solidFill>
              </a:rPr>
              <a:t>of low-glucose episodes warned at least 30 minutes ahead</a:t>
            </a:r>
            <a:endParaRPr lang="en-US" sz="1400" dirty="0"/>
          </a:p>
        </p:txBody>
      </p:sp>
      <p:sp>
        <p:nvSpPr>
          <p:cNvPr id="6" name="card"/>
          <p:cNvSpPr/>
          <p:nvPr/>
        </p:nvSpPr>
        <p:spPr>
          <a:xfrm>
            <a:off x="3364992" y="1371600"/>
            <a:ext cx="2606040" cy="2514600"/>
          </a:xfrm>
          <a:prstGeom prst="roundRect">
            <a:avLst>
              <a:gd name="adj" fmla="val 4364"/>
            </a:avLst>
          </a:prstGeom>
          <a:solidFill>
            <a:schemeClr val="bg2"/>
          </a:solidFill>
          <a:ln/>
        </p:spPr>
      </p:sp>
      <p:sp>
        <p:nvSpPr>
          <p:cNvPr id="7" name="Text 5"/>
          <p:cNvSpPr txBox="1"/>
          <p:nvPr/>
        </p:nvSpPr>
        <p:spPr>
          <a:xfrm>
            <a:off x="3639312" y="1463040"/>
            <a:ext cx="2148840" cy="868680"/>
          </a:xfrm>
          <a:prstGeom prst="rect">
            <a:avLst/>
          </a:prstGeom>
          <a:noFill/>
          <a:ln/>
        </p:spPr>
        <p:txBody>
          <a:bodyPr wrap="square" lIns="0" tIns="0" rIns="0" bIns="0" rtlCol="0" anchor="b"/>
          <a:lstStyle/>
          <a:p>
            <a:pPr indent="0" marL="0">
              <a:buNone/>
            </a:pPr>
            <a:r>
              <a:rPr lang="en-US" sz="4600" b="1" dirty="0">
                <a:solidFill>
                  <a:schemeClr val="accent3"/>
                </a:solidFill>
                <a:latin typeface="Cambria" pitchFamily="34" charset="0"/>
                <a:ea typeface="Cambria" pitchFamily="34" charset="-122"/>
                <a:cs typeface="Cambria" pitchFamily="34" charset="-120"/>
              </a:rPr>
              <a:t>65 min</a:t>
            </a:r>
            <a:endParaRPr lang="en-US" sz="4600" dirty="0"/>
          </a:p>
        </p:txBody>
      </p:sp>
      <p:sp>
        <p:nvSpPr>
          <p:cNvPr id="8" name="Text 6"/>
          <p:cNvSpPr txBox="1"/>
          <p:nvPr/>
        </p:nvSpPr>
        <p:spPr>
          <a:xfrm>
            <a:off x="3639312" y="2377440"/>
            <a:ext cx="2148840" cy="822960"/>
          </a:xfrm>
          <a:prstGeom prst="rect">
            <a:avLst/>
          </a:prstGeom>
          <a:noFill/>
          <a:ln/>
        </p:spPr>
        <p:txBody>
          <a:bodyPr wrap="square" lIns="0" tIns="0" rIns="0" bIns="0" rtlCol="0" anchor="t"/>
          <a:lstStyle/>
          <a:p>
            <a:pPr indent="0" marL="0">
              <a:buNone/>
            </a:pPr>
            <a:r>
              <a:rPr lang="en-US" sz="1400" dirty="0">
                <a:solidFill>
                  <a:schemeClr val="tx1"/>
                </a:solidFill>
              </a:rPr>
              <a:t>median warning time before a low begins</a:t>
            </a:r>
            <a:endParaRPr lang="en-US" sz="1400" dirty="0"/>
          </a:p>
        </p:txBody>
      </p:sp>
      <p:sp>
        <p:nvSpPr>
          <p:cNvPr id="9" name="card"/>
          <p:cNvSpPr/>
          <p:nvPr/>
        </p:nvSpPr>
        <p:spPr>
          <a:xfrm>
            <a:off x="6181344" y="1371600"/>
            <a:ext cx="2606040" cy="2514600"/>
          </a:xfrm>
          <a:prstGeom prst="roundRect">
            <a:avLst>
              <a:gd name="adj" fmla="val 4364"/>
            </a:avLst>
          </a:prstGeom>
          <a:solidFill>
            <a:schemeClr val="bg2"/>
          </a:solidFill>
          <a:ln/>
        </p:spPr>
      </p:sp>
      <p:sp>
        <p:nvSpPr>
          <p:cNvPr id="10" name="Text 8"/>
          <p:cNvSpPr txBox="1"/>
          <p:nvPr/>
        </p:nvSpPr>
        <p:spPr>
          <a:xfrm>
            <a:off x="6455664" y="1463040"/>
            <a:ext cx="2148840" cy="868680"/>
          </a:xfrm>
          <a:prstGeom prst="rect">
            <a:avLst/>
          </a:prstGeom>
          <a:noFill/>
          <a:ln/>
        </p:spPr>
        <p:txBody>
          <a:bodyPr wrap="square" lIns="0" tIns="0" rIns="0" bIns="0" rtlCol="0" anchor="b"/>
          <a:lstStyle/>
          <a:p>
            <a:pPr indent="0" marL="0">
              <a:buNone/>
            </a:pPr>
            <a:r>
              <a:rPr lang="en-US" sz="4600" b="1" dirty="0">
                <a:solidFill>
                  <a:schemeClr val="accent1"/>
                </a:solidFill>
                <a:latin typeface="Cambria" pitchFamily="34" charset="0"/>
                <a:ea typeface="Cambria" pitchFamily="34" charset="-122"/>
                <a:cs typeface="Cambria" pitchFamily="34" charset="-120"/>
              </a:rPr>
              <a:t>0.49</a:t>
            </a:r>
            <a:endParaRPr lang="en-US" sz="4600" dirty="0"/>
          </a:p>
        </p:txBody>
      </p:sp>
      <p:sp>
        <p:nvSpPr>
          <p:cNvPr id="11" name="Text 9"/>
          <p:cNvSpPr txBox="1"/>
          <p:nvPr/>
        </p:nvSpPr>
        <p:spPr>
          <a:xfrm>
            <a:off x="6455664" y="2377440"/>
            <a:ext cx="2148840" cy="822960"/>
          </a:xfrm>
          <a:prstGeom prst="rect">
            <a:avLst/>
          </a:prstGeom>
          <a:noFill/>
          <a:ln/>
        </p:spPr>
        <p:txBody>
          <a:bodyPr wrap="square" lIns="0" tIns="0" rIns="0" bIns="0" rtlCol="0" anchor="t"/>
          <a:lstStyle/>
          <a:p>
            <a:pPr indent="0" marL="0">
              <a:buNone/>
            </a:pPr>
            <a:r>
              <a:rPr lang="en-US" sz="1400" dirty="0">
                <a:solidFill>
                  <a:schemeClr val="tx1"/>
                </a:solidFill>
              </a:rPr>
              <a:t>low-glucose alerts per patient per day (about one every two days)</a:t>
            </a:r>
            <a:endParaRPr lang="en-US" sz="1400" dirty="0"/>
          </a:p>
        </p:txBody>
      </p:sp>
      <p:sp>
        <p:nvSpPr>
          <p:cNvPr id="12" name="card"/>
          <p:cNvSpPr/>
          <p:nvPr/>
        </p:nvSpPr>
        <p:spPr>
          <a:xfrm>
            <a:off x="8997696" y="1371600"/>
            <a:ext cx="2606040" cy="2514600"/>
          </a:xfrm>
          <a:prstGeom prst="roundRect">
            <a:avLst>
              <a:gd name="adj" fmla="val 4364"/>
            </a:avLst>
          </a:prstGeom>
          <a:solidFill>
            <a:schemeClr val="bg2"/>
          </a:solidFill>
          <a:ln/>
        </p:spPr>
      </p:sp>
      <p:sp>
        <p:nvSpPr>
          <p:cNvPr id="13" name="Text 11"/>
          <p:cNvSpPr txBox="1"/>
          <p:nvPr/>
        </p:nvSpPr>
        <p:spPr>
          <a:xfrm>
            <a:off x="9272016" y="1463040"/>
            <a:ext cx="2148840" cy="868680"/>
          </a:xfrm>
          <a:prstGeom prst="rect">
            <a:avLst/>
          </a:prstGeom>
          <a:noFill/>
          <a:ln/>
        </p:spPr>
        <p:txBody>
          <a:bodyPr wrap="square" lIns="0" tIns="0" rIns="0" bIns="0" rtlCol="0" anchor="b"/>
          <a:lstStyle/>
          <a:p>
            <a:pPr indent="0" marL="0">
              <a:buNone/>
            </a:pPr>
            <a:r>
              <a:rPr lang="en-US" sz="4600" b="1" dirty="0">
                <a:solidFill>
                  <a:schemeClr val="accent1"/>
                </a:solidFill>
                <a:latin typeface="Cambria" pitchFamily="34" charset="0"/>
                <a:ea typeface="Cambria" pitchFamily="34" charset="-122"/>
                <a:cs typeface="Cambria" pitchFamily="34" charset="-120"/>
              </a:rPr>
              <a:t>66%</a:t>
            </a:r>
            <a:endParaRPr lang="en-US" sz="4600" dirty="0"/>
          </a:p>
        </p:txBody>
      </p:sp>
      <p:sp>
        <p:nvSpPr>
          <p:cNvPr id="14" name="Text 12"/>
          <p:cNvSpPr txBox="1"/>
          <p:nvPr/>
        </p:nvSpPr>
        <p:spPr>
          <a:xfrm>
            <a:off x="9272016" y="2377440"/>
            <a:ext cx="2148840" cy="822960"/>
          </a:xfrm>
          <a:prstGeom prst="rect">
            <a:avLst/>
          </a:prstGeom>
          <a:noFill/>
          <a:ln/>
        </p:spPr>
        <p:txBody>
          <a:bodyPr wrap="square" lIns="0" tIns="0" rIns="0" bIns="0" rtlCol="0" anchor="t"/>
          <a:lstStyle/>
          <a:p>
            <a:pPr indent="0" marL="0">
              <a:buNone/>
            </a:pPr>
            <a:r>
              <a:rPr lang="en-US" sz="1400" dirty="0">
                <a:solidFill>
                  <a:schemeClr val="tx1"/>
                </a:solidFill>
              </a:rPr>
              <a:t>of low-glucose alerts are followed by a real low</a:t>
            </a:r>
            <a:endParaRPr lang="en-US" sz="1400" dirty="0"/>
          </a:p>
        </p:txBody>
      </p:sp>
      <p:sp>
        <p:nvSpPr>
          <p:cNvPr id="15" name="card"/>
          <p:cNvSpPr/>
          <p:nvPr/>
        </p:nvSpPr>
        <p:spPr>
          <a:xfrm>
            <a:off x="548640" y="4206240"/>
            <a:ext cx="11091672" cy="1508760"/>
          </a:xfrm>
          <a:prstGeom prst="roundRect">
            <a:avLst>
              <a:gd name="adj" fmla="val 7273"/>
            </a:avLst>
          </a:prstGeom>
          <a:solidFill>
            <a:schemeClr val="bg2"/>
          </a:solidFill>
          <a:ln/>
        </p:spPr>
      </p:sp>
      <p:sp>
        <p:nvSpPr>
          <p:cNvPr id="16" name="Text 14"/>
          <p:cNvSpPr txBox="1"/>
          <p:nvPr/>
        </p:nvSpPr>
        <p:spPr>
          <a:xfrm>
            <a:off x="868680" y="4389120"/>
            <a:ext cx="10424160" cy="1188720"/>
          </a:xfrm>
          <a:prstGeom prst="rect">
            <a:avLst/>
          </a:prstGeom>
          <a:noFill/>
          <a:ln/>
        </p:spPr>
        <p:txBody>
          <a:bodyPr wrap="square" lIns="0" tIns="0" rIns="0" bIns="0" rtlCol="0" anchor="t"/>
          <a:lstStyle/>
          <a:p>
            <a:pPr indent="0" marL="0">
              <a:buNone/>
            </a:pPr>
            <a:r>
              <a:rPr lang="en-US" sz="1500" b="1" dirty="0">
                <a:solidFill>
                  <a:schemeClr val="tx1"/>
                </a:solidFill>
              </a:rPr>
              <a:t>Why a policy matters: </a:t>
            </a:r>
            <a:pPr indent="0" marL="0">
              <a:buNone/>
            </a:pPr>
            <a:r>
              <a:rPr lang="en-US" sz="1500" dirty="0">
                <a:solidFill>
                  <a:schemeClr val="tx1"/>
                </a:solidFill>
              </a:rPr>
              <a:t>raising an alert every time the risk is high would mean about 3 alerting windows per patient-day with only 18% true. Our policy alerts once per risk episode, never while the CGM already reads low, and was tuned on validation patients only. It trades a little sensitivity (98% to 76% caught 30 min ahead) for 6x fewer alerts.</a:t>
            </a:r>
            <a:endParaRPr lang="en-US" sz="1500" dirty="0"/>
          </a:p>
        </p:txBody>
      </p:sp>
      <p:sp>
        <p:nvSpPr>
          <p:cNvPr id="25" name="Slide Number Placeholder 0"/>
          <p:cNvSpPr>
            <a:spLocks noGrp="1"/>
          </p:cNvSpPr>
          <p:nvPr>
            <p:ph type="sldNum" sz="quarter" idx="4294967295"/>
          </p:nvPr>
        </p:nvSpPr>
        <p:spPr>
          <a:xfrm>
            <a:off x="1118585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94415" cy="77724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Live replay: the alert arrives 75 minutes before the low</a:t>
            </a:r>
            <a:endParaRPr lang="en-US" sz="3200" dirty="0"/>
          </a:p>
        </p:txBody>
      </p:sp>
      <p:pic>
        <p:nvPicPr>
          <p:cNvPr id="3" name="replay" descr="C:\Users\Akhilesh\AppData\Local\Temp\claude\C--Users-Akhilesh-Desktop-Claude-code-Happiest-Health\47a587f0-c947-456b-8324-0bf75adb31d4\scratchpad\deck\img\replay.png">    </p:cNvPr>
          <p:cNvPicPr>
            <a:picLocks noChangeAspect="1"/>
          </p:cNvPicPr>
          <p:nvPr/>
        </p:nvPicPr>
        <p:blipFill>
          <a:blip r:embed="rId1"/>
          <a:stretch>
            <a:fillRect/>
          </a:stretch>
        </p:blipFill>
        <p:spPr>
          <a:xfrm>
            <a:off x="548640" y="1234440"/>
            <a:ext cx="8595360" cy="4498848"/>
          </a:xfrm>
          <a:prstGeom prst="rect">
            <a:avLst/>
          </a:prstGeom>
        </p:spPr>
      </p:pic>
      <p:sp>
        <p:nvSpPr>
          <p:cNvPr id="4" name="card"/>
          <p:cNvSpPr/>
          <p:nvPr/>
        </p:nvSpPr>
        <p:spPr>
          <a:xfrm>
            <a:off x="9372600" y="1234440"/>
            <a:ext cx="2267712" cy="4498848"/>
          </a:xfrm>
          <a:prstGeom prst="roundRect">
            <a:avLst>
              <a:gd name="adj" fmla="val 4839"/>
            </a:avLst>
          </a:prstGeom>
          <a:solidFill>
            <a:schemeClr val="bg2"/>
          </a:solidFill>
          <a:ln/>
        </p:spPr>
      </p:sp>
      <p:sp>
        <p:nvSpPr>
          <p:cNvPr id="5" name="Text 2"/>
          <p:cNvSpPr txBox="1"/>
          <p:nvPr/>
        </p:nvSpPr>
        <p:spPr>
          <a:xfrm>
            <a:off x="9601200" y="1463040"/>
            <a:ext cx="1874520" cy="4114800"/>
          </a:xfrm>
          <a:prstGeom prst="rect">
            <a:avLst/>
          </a:prstGeom>
          <a:noFill/>
          <a:ln/>
        </p:spPr>
        <p:txBody>
          <a:bodyPr wrap="square" lIns="0" tIns="0" rIns="0" bIns="0" rtlCol="0" anchor="t"/>
          <a:lstStyle/>
          <a:p>
            <a:pPr indent="0" marL="0">
              <a:buNone/>
            </a:pPr>
            <a:r>
              <a:rPr lang="en-US" sz="2200" b="1" dirty="0">
                <a:solidFill>
                  <a:schemeClr val="accent3"/>
                </a:solidFill>
              </a:rPr>
              <a:t>08:25</a:t>
            </a:r>
            <a:endParaRPr lang="en-US" sz="1400" dirty="0"/>
          </a:p>
          <a:p>
            <a:pPr indent="0" marL="0">
              <a:buNone/>
            </a:pPr>
            <a:r>
              <a:rPr lang="en-US" sz="1400" dirty="0">
                <a:solidFill>
                  <a:schemeClr val="tx1"/>
                </a:solidFill>
              </a:rPr>
              <a:t>Hypo alert raised at 70% risk</a:t>
            </a:r>
            <a:endParaRPr lang="en-US" sz="1400" dirty="0"/>
          </a:p>
          <a:p>
            <a:pPr indent="0" marL="0">
              <a:buNone/>
            </a:pPr>
            <a:r>
              <a:rPr lang="en-US" sz="1400" dirty="0">
                <a:solidFill>
                  <a:schemeClr val="tx1"/>
                </a:solidFill>
              </a:rPr>
              <a:t> </a:t>
            </a:r>
            <a:endParaRPr lang="en-US" sz="1400" dirty="0"/>
          </a:p>
          <a:p>
            <a:pPr indent="0" marL="0">
              <a:buNone/>
            </a:pPr>
            <a:r>
              <a:rPr lang="en-US" sz="1400" b="1" dirty="0">
                <a:solidFill>
                  <a:schemeClr val="tx1"/>
                </a:solidFill>
              </a:rPr>
              <a:t>Why</a:t>
            </a:r>
            <a:endParaRPr lang="en-US" sz="1400" dirty="0"/>
          </a:p>
          <a:p>
            <a:pPr indent="0" marL="0">
              <a:buNone/>
            </a:pPr>
            <a:r>
              <a:rPr lang="en-US" sz="1400" dirty="0">
                <a:solidFill>
                  <a:schemeClr val="tx1"/>
                </a:solidFill>
              </a:rPr>
              <a:t>sulfonylurea dose, glucose falling 0.9 mg/dL per min</a:t>
            </a:r>
            <a:endParaRPr lang="en-US" sz="1400" dirty="0"/>
          </a:p>
          <a:p>
            <a:pPr indent="0" marL="0">
              <a:buNone/>
            </a:pPr>
            <a:r>
              <a:rPr lang="en-US" sz="1400" dirty="0">
                <a:solidFill>
                  <a:schemeClr val="tx1"/>
                </a:solidFill>
              </a:rPr>
              <a:t> </a:t>
            </a:r>
            <a:endParaRPr lang="en-US" sz="1400" dirty="0"/>
          </a:p>
          <a:p>
            <a:pPr indent="0" marL="0">
              <a:buNone/>
            </a:pPr>
            <a:r>
              <a:rPr lang="en-US" sz="2200" b="1" dirty="0">
                <a:solidFill>
                  <a:schemeClr val="accent3"/>
                </a:solidFill>
              </a:rPr>
              <a:t>09:40</a:t>
            </a:r>
            <a:endParaRPr lang="en-US" sz="1400" dirty="0"/>
          </a:p>
          <a:p>
            <a:pPr indent="0" marL="0">
              <a:buNone/>
            </a:pPr>
            <a:r>
              <a:rPr lang="en-US" sz="1400" dirty="0">
                <a:solidFill>
                  <a:schemeClr val="tx1"/>
                </a:solidFill>
              </a:rPr>
              <a:t>Glucose falls below 70</a:t>
            </a:r>
            <a:endParaRPr lang="en-US" sz="1400" dirty="0"/>
          </a:p>
        </p:txBody>
      </p:sp>
      <p:sp>
        <p:nvSpPr>
          <p:cNvPr id="25" name="Slide Number Placeholder 0"/>
          <p:cNvSpPr>
            <a:spLocks noGrp="1"/>
          </p:cNvSpPr>
          <p:nvPr>
            <p:ph type="sldNum" sz="quarter" idx="4294967295"/>
          </p:nvPr>
        </p:nvSpPr>
        <p:spPr>
          <a:xfrm>
            <a:off x="1118585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94415" cy="77724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Every alert explains itself</a:t>
            </a:r>
            <a:endParaRPr lang="en-US" sz="3200" dirty="0"/>
          </a:p>
        </p:txBody>
      </p:sp>
      <p:pic>
        <p:nvPicPr>
          <p:cNvPr id="3" name="drivers" descr="C:\Users\Akhilesh\AppData\Local\Temp\claude\C--Users-Akhilesh-Desktop-Claude-code-Happiest-Health\47a587f0-c947-456b-8324-0bf75adb31d4\scratchpad\deck\img\drivers.png">    </p:cNvPr>
          <p:cNvPicPr>
            <a:picLocks noChangeAspect="1"/>
          </p:cNvPicPr>
          <p:nvPr/>
        </p:nvPicPr>
        <p:blipFill>
          <a:blip r:embed="rId1"/>
          <a:stretch>
            <a:fillRect/>
          </a:stretch>
        </p:blipFill>
        <p:spPr>
          <a:xfrm>
            <a:off x="548640" y="1325880"/>
            <a:ext cx="7406640" cy="3456432"/>
          </a:xfrm>
          <a:prstGeom prst="rect">
            <a:avLst/>
          </a:prstGeom>
        </p:spPr>
      </p:pic>
      <p:sp>
        <p:nvSpPr>
          <p:cNvPr id="4" name="card"/>
          <p:cNvSpPr/>
          <p:nvPr/>
        </p:nvSpPr>
        <p:spPr>
          <a:xfrm>
            <a:off x="8321040" y="1325880"/>
            <a:ext cx="3319272" cy="4389120"/>
          </a:xfrm>
          <a:prstGeom prst="roundRect">
            <a:avLst>
              <a:gd name="adj" fmla="val 3306"/>
            </a:avLst>
          </a:prstGeom>
          <a:solidFill>
            <a:schemeClr val="bg2"/>
          </a:solidFill>
          <a:ln/>
        </p:spPr>
      </p:sp>
      <p:sp>
        <p:nvSpPr>
          <p:cNvPr id="5" name="Text 2"/>
          <p:cNvSpPr txBox="1"/>
          <p:nvPr/>
        </p:nvSpPr>
        <p:spPr>
          <a:xfrm>
            <a:off x="8595360" y="1554480"/>
            <a:ext cx="2834640" cy="4023360"/>
          </a:xfrm>
          <a:prstGeom prst="rect">
            <a:avLst/>
          </a:prstGeom>
          <a:noFill/>
          <a:ln/>
        </p:spPr>
        <p:txBody>
          <a:bodyPr wrap="square" lIns="0" tIns="0" rIns="0" bIns="0" rtlCol="0" anchor="t"/>
          <a:lstStyle/>
          <a:p>
            <a:pPr indent="0" marL="0">
              <a:spcAft>
                <a:spcPts val="600"/>
              </a:spcAft>
              <a:buNone/>
            </a:pPr>
            <a:r>
              <a:rPr lang="en-US" sz="1800" b="1" dirty="0">
                <a:solidFill>
                  <a:schemeClr val="tx2"/>
                </a:solidFill>
              </a:rPr>
              <a:t>TreeSHAP drivers</a:t>
            </a:r>
            <a:endParaRPr lang="en-US" sz="1500" dirty="0"/>
          </a:p>
          <a:p>
            <a:pPr indent="0" marL="0">
              <a:spcAft>
                <a:spcPts val="600"/>
              </a:spcAft>
              <a:buNone/>
            </a:pPr>
            <a:r>
              <a:rPr lang="en-US" sz="1500" dirty="0">
                <a:solidFill>
                  <a:schemeClr val="tx1"/>
                </a:solidFill>
              </a:rPr>
              <a:t>Exact contribution of each input to this patient's risk at this moment</a:t>
            </a:r>
            <a:endParaRPr lang="en-US" sz="1500" dirty="0"/>
          </a:p>
          <a:p>
            <a:pPr indent="0" marL="0">
              <a:spcAft>
                <a:spcPts val="600"/>
              </a:spcAft>
              <a:buNone/>
            </a:pPr>
            <a:r>
              <a:rPr lang="en-US" sz="1500" dirty="0">
                <a:solidFill>
                  <a:schemeClr val="tx1"/>
                </a:solidFill>
              </a:rPr>
              <a:t> </a:t>
            </a:r>
            <a:endParaRPr lang="en-US" sz="1500" dirty="0"/>
          </a:p>
          <a:p>
            <a:pPr marL="342900" indent="-342900">
              <a:spcAft>
                <a:spcPts val="600"/>
              </a:spcAft>
              <a:buSzPct val="100000"/>
              <a:buChar char="•"/>
            </a:pPr>
            <a:r>
              <a:rPr lang="en-US" sz="1500" dirty="0">
                <a:solidFill>
                  <a:schemeClr val="tx1"/>
                </a:solidFill>
              </a:rPr>
              <a:t>Grouped by data stream: CGM, time, activity and sleep, EHR</a:t>
            </a:r>
            <a:endParaRPr lang="en-US" sz="1500" dirty="0"/>
          </a:p>
          <a:p>
            <a:pPr marL="342900" indent="-342900">
              <a:spcAft>
                <a:spcPts val="600"/>
              </a:spcAft>
              <a:buSzPct val="100000"/>
              <a:buChar char="•"/>
            </a:pPr>
            <a:r>
              <a:rPr lang="en-US" sz="1500" dirty="0">
                <a:solidFill>
                  <a:schemeClr val="tx1"/>
                </a:solidFill>
              </a:rPr>
              <a:t>Written as plain sentences for the clinician</a:t>
            </a:r>
            <a:endParaRPr lang="en-US" sz="1500" dirty="0"/>
          </a:p>
          <a:p>
            <a:pPr marL="342900" indent="-342900">
              <a:spcAft>
                <a:spcPts val="600"/>
              </a:spcAft>
              <a:buSzPct val="100000"/>
              <a:buChar char="•"/>
            </a:pPr>
            <a:r>
              <a:rPr lang="en-US" sz="1500" dirty="0">
                <a:solidFill>
                  <a:schemeClr val="tx1"/>
                </a:solidFill>
              </a:rPr>
              <a:t>They explain the model, not the physiology, and the dashboard says so</a:t>
            </a:r>
            <a:endParaRPr lang="en-US" sz="1500" dirty="0"/>
          </a:p>
        </p:txBody>
      </p:sp>
      <p:sp>
        <p:nvSpPr>
          <p:cNvPr id="6" name="Text 3"/>
          <p:cNvSpPr txBox="1"/>
          <p:nvPr/>
        </p:nvSpPr>
        <p:spPr>
          <a:xfrm>
            <a:off x="548640" y="5029200"/>
            <a:ext cx="7406640" cy="640080"/>
          </a:xfrm>
          <a:prstGeom prst="rect">
            <a:avLst/>
          </a:prstGeom>
          <a:noFill/>
          <a:ln/>
        </p:spPr>
        <p:txBody>
          <a:bodyPr wrap="square" lIns="0" tIns="0" rIns="0" bIns="0" rtlCol="0" anchor="t"/>
          <a:lstStyle/>
          <a:p>
            <a:pPr indent="0" marL="0">
              <a:buNone/>
            </a:pPr>
            <a:r>
              <a:rPr lang="en-US" sz="1300" dirty="0">
                <a:solidFill>
                  <a:schemeClr val="accent6"/>
                </a:solidFill>
              </a:rPr>
              <a:t>Example: hypoglycaemia risk 95% for patient P0014 (synthetic). Current glucose, the sulfonylurea dose and the time of day push the risk up.</a:t>
            </a:r>
            <a:endParaRPr lang="en-US" sz="1300" dirty="0"/>
          </a:p>
        </p:txBody>
      </p:sp>
      <p:sp>
        <p:nvSpPr>
          <p:cNvPr id="25" name="Slide Number Placeholder 0"/>
          <p:cNvSpPr>
            <a:spLocks noGrp="1"/>
          </p:cNvSpPr>
          <p:nvPr>
            <p:ph type="sldNum" sz="quarter" idx="4294967295"/>
          </p:nvPr>
        </p:nvSpPr>
        <p:spPr>
          <a:xfrm>
            <a:off x="1118585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94415" cy="77724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A personalised twin answers 'what if?'</a:t>
            </a:r>
            <a:endParaRPr lang="en-US" sz="3200" dirty="0"/>
          </a:p>
        </p:txBody>
      </p:sp>
      <p:pic>
        <p:nvPicPr>
          <p:cNvPr id="3" name="whatif" descr="C:\Users\Akhilesh\AppData\Local\Temp\claude\C--Users-Akhilesh-Desktop-Claude-code-Happiest-Health\47a587f0-c947-456b-8324-0bf75adb31d4\scratchpad\deck\img\whatif.png">    </p:cNvPr>
          <p:cNvPicPr>
            <a:picLocks noChangeAspect="1"/>
          </p:cNvPicPr>
          <p:nvPr/>
        </p:nvPicPr>
        <p:blipFill>
          <a:blip r:embed="rId1"/>
          <a:stretch>
            <a:fillRect/>
          </a:stretch>
        </p:blipFill>
        <p:spPr>
          <a:xfrm>
            <a:off x="548640" y="1280160"/>
            <a:ext cx="7680960" cy="3145536"/>
          </a:xfrm>
          <a:prstGeom prst="rect">
            <a:avLst/>
          </a:prstGeom>
        </p:spPr>
      </p:pic>
      <p:sp>
        <p:nvSpPr>
          <p:cNvPr id="4" name="card"/>
          <p:cNvSpPr/>
          <p:nvPr/>
        </p:nvSpPr>
        <p:spPr>
          <a:xfrm>
            <a:off x="8595360" y="1280160"/>
            <a:ext cx="3044952" cy="2057400"/>
          </a:xfrm>
          <a:prstGeom prst="roundRect">
            <a:avLst>
              <a:gd name="adj" fmla="val 5333"/>
            </a:avLst>
          </a:prstGeom>
          <a:solidFill>
            <a:schemeClr val="bg2"/>
          </a:solidFill>
          <a:ln/>
        </p:spPr>
      </p:sp>
      <p:sp>
        <p:nvSpPr>
          <p:cNvPr id="5" name="Text 2"/>
          <p:cNvSpPr txBox="1"/>
          <p:nvPr/>
        </p:nvSpPr>
        <p:spPr>
          <a:xfrm>
            <a:off x="8869680" y="1463040"/>
            <a:ext cx="2651760" cy="731520"/>
          </a:xfrm>
          <a:prstGeom prst="rect">
            <a:avLst/>
          </a:prstGeom>
          <a:noFill/>
          <a:ln/>
        </p:spPr>
        <p:txBody>
          <a:bodyPr wrap="square" lIns="0" tIns="0" rIns="0" bIns="0" rtlCol="0" anchor="b"/>
          <a:lstStyle/>
          <a:p>
            <a:pPr indent="0" marL="0">
              <a:buNone/>
            </a:pPr>
            <a:r>
              <a:rPr lang="en-US" sz="3400" b="1" dirty="0">
                <a:solidFill>
                  <a:schemeClr val="accent1"/>
                </a:solidFill>
                <a:latin typeface="Cambria" pitchFamily="34" charset="0"/>
                <a:ea typeface="Cambria" pitchFamily="34" charset="-122"/>
                <a:cs typeface="Cambria" pitchFamily="34" charset="-120"/>
              </a:rPr>
              <a:t>5.9 vs 12.1</a:t>
            </a:r>
            <a:endParaRPr lang="en-US" sz="3400" dirty="0"/>
          </a:p>
        </p:txBody>
      </p:sp>
      <p:sp>
        <p:nvSpPr>
          <p:cNvPr id="6" name="Text 3"/>
          <p:cNvSpPr txBox="1"/>
          <p:nvPr/>
        </p:nvSpPr>
        <p:spPr>
          <a:xfrm>
            <a:off x="8869680" y="2286000"/>
            <a:ext cx="2651760" cy="914400"/>
          </a:xfrm>
          <a:prstGeom prst="rect">
            <a:avLst/>
          </a:prstGeom>
          <a:noFill/>
          <a:ln/>
        </p:spPr>
        <p:txBody>
          <a:bodyPr wrap="square" lIns="0" tIns="0" rIns="0" bIns="0" rtlCol="0" anchor="t"/>
          <a:lstStyle/>
          <a:p>
            <a:pPr indent="0" marL="0">
              <a:buNone/>
            </a:pPr>
            <a:r>
              <a:rPr lang="en-US" sz="1400" dirty="0">
                <a:solidFill>
                  <a:schemeClr val="tx1"/>
                </a:solidFill>
              </a:rPr>
              <a:t>mg/dL error on a held-out week: fitted twin vs EHR defaults</a:t>
            </a:r>
            <a:endParaRPr lang="en-US" sz="1400" dirty="0"/>
          </a:p>
        </p:txBody>
      </p:sp>
      <p:sp>
        <p:nvSpPr>
          <p:cNvPr id="7" name="card"/>
          <p:cNvSpPr/>
          <p:nvPr/>
        </p:nvSpPr>
        <p:spPr>
          <a:xfrm>
            <a:off x="8595360" y="3566160"/>
            <a:ext cx="3044952" cy="2057400"/>
          </a:xfrm>
          <a:prstGeom prst="roundRect">
            <a:avLst>
              <a:gd name="adj" fmla="val 5333"/>
            </a:avLst>
          </a:prstGeom>
          <a:solidFill>
            <a:schemeClr val="bg2"/>
          </a:solidFill>
          <a:ln/>
        </p:spPr>
      </p:sp>
      <p:sp>
        <p:nvSpPr>
          <p:cNvPr id="8" name="Text 5"/>
          <p:cNvSpPr txBox="1"/>
          <p:nvPr/>
        </p:nvSpPr>
        <p:spPr>
          <a:xfrm>
            <a:off x="8869680" y="3749040"/>
            <a:ext cx="2651760" cy="731520"/>
          </a:xfrm>
          <a:prstGeom prst="rect">
            <a:avLst/>
          </a:prstGeom>
          <a:noFill/>
          <a:ln/>
        </p:spPr>
        <p:txBody>
          <a:bodyPr wrap="square" lIns="0" tIns="0" rIns="0" bIns="0" rtlCol="0" anchor="b"/>
          <a:lstStyle/>
          <a:p>
            <a:pPr indent="0" marL="0">
              <a:buNone/>
            </a:pPr>
            <a:r>
              <a:rPr lang="en-US" sz="3400" b="1" dirty="0">
                <a:solidFill>
                  <a:schemeClr val="accent1"/>
                </a:solidFill>
                <a:latin typeface="Cambria" pitchFamily="34" charset="0"/>
                <a:ea typeface="Cambria" pitchFamily="34" charset="-122"/>
                <a:cs typeface="Cambria" pitchFamily="34" charset="-120"/>
              </a:rPr>
              <a:t>79%</a:t>
            </a:r>
            <a:endParaRPr lang="en-US" sz="3400" dirty="0"/>
          </a:p>
        </p:txBody>
      </p:sp>
      <p:sp>
        <p:nvSpPr>
          <p:cNvPr id="9" name="Text 6"/>
          <p:cNvSpPr txBox="1"/>
          <p:nvPr/>
        </p:nvSpPr>
        <p:spPr>
          <a:xfrm>
            <a:off x="8869680" y="4572000"/>
            <a:ext cx="2651760" cy="914400"/>
          </a:xfrm>
          <a:prstGeom prst="rect">
            <a:avLst/>
          </a:prstGeom>
          <a:noFill/>
          <a:ln/>
        </p:spPr>
        <p:txBody>
          <a:bodyPr wrap="square" lIns="0" tIns="0" rIns="0" bIns="0" rtlCol="0" anchor="t"/>
          <a:lstStyle/>
          <a:p>
            <a:pPr indent="0" marL="0">
              <a:buNone/>
            </a:pPr>
            <a:r>
              <a:rPr lang="en-US" sz="1400" dirty="0">
                <a:solidFill>
                  <a:schemeClr val="tx1"/>
                </a:solidFill>
              </a:rPr>
              <a:t>of real readings fell inside the 80% band on unseen test patients</a:t>
            </a:r>
            <a:endParaRPr lang="en-US" sz="1400" dirty="0"/>
          </a:p>
        </p:txBody>
      </p:sp>
      <p:sp>
        <p:nvSpPr>
          <p:cNvPr id="10" name="Text 7"/>
          <p:cNvSpPr txBox="1"/>
          <p:nvPr/>
        </p:nvSpPr>
        <p:spPr>
          <a:xfrm>
            <a:off x="548640" y="4617720"/>
            <a:ext cx="7680960" cy="1143000"/>
          </a:xfrm>
          <a:prstGeom prst="rect">
            <a:avLst/>
          </a:prstGeom>
          <a:noFill/>
          <a:ln/>
        </p:spPr>
        <p:txBody>
          <a:bodyPr wrap="square" lIns="0" tIns="0" rIns="0" bIns="0" rtlCol="0" anchor="t"/>
          <a:lstStyle/>
          <a:p>
            <a:pPr indent="0" marL="0">
              <a:buNone/>
            </a:pPr>
            <a:r>
              <a:rPr lang="en-US" sz="1400" b="1" dirty="0">
                <a:solidFill>
                  <a:schemeClr val="tx1"/>
                </a:solidFill>
              </a:rPr>
              <a:t>How it works: </a:t>
            </a:r>
            <a:pPr indent="0" marL="0">
              <a:buNone/>
            </a:pPr>
            <a:r>
              <a:rPr lang="en-US" sz="1400" dirty="0">
                <a:solidFill>
                  <a:schemeClr val="tx1"/>
                </a:solidFill>
              </a:rPr>
              <a:t>4 physiology parameters fitted to the patient's first week (basal glucose, carb sensitivity, clearance, drug sensitivity); a state observer tracks the CGM up to now; scenarios are re-simulated with a calibrated uncertainty band. Shown: an extra 8 U insulin dose pushes the projected low from 64 to 55 mg/dL.</a:t>
            </a:r>
            <a:endParaRPr lang="en-US" sz="1400" dirty="0"/>
          </a:p>
        </p:txBody>
      </p:sp>
      <p:sp>
        <p:nvSpPr>
          <p:cNvPr id="25" name="Slide Number Placeholder 0"/>
          <p:cNvSpPr>
            <a:spLocks noGrp="1"/>
          </p:cNvSpPr>
          <p:nvPr>
            <p:ph type="sldNum" sz="quarter" idx="4294967295"/>
          </p:nvPr>
        </p:nvSpPr>
        <p:spPr>
          <a:xfrm>
            <a:off x="1118585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377440"/>
            <a:ext cx="10424160" cy="1188720"/>
          </a:xfrm>
          <a:prstGeom prst="rect">
            <a:avLst/>
          </a:prstGeom>
          <a:noFill/>
          <a:ln/>
        </p:spPr>
        <p:txBody>
          <a:bodyPr wrap="square" lIns="0" tIns="0" rIns="0" bIns="0" rtlCol="0" anchor="b"/>
          <a:lstStyle/>
          <a:p>
            <a:pPr algn="l" indent="0" marL="0">
              <a:buNone/>
            </a:pPr>
            <a:r>
              <a:rPr lang="en-US" sz="4000" b="1" dirty="0">
                <a:solidFill>
                  <a:schemeClr val="bg1"/>
                </a:solidFill>
                <a:latin typeface="Cambria" pitchFamily="34" charset="0"/>
                <a:ea typeface="Cambria" pitchFamily="34" charset="-122"/>
                <a:cs typeface="Cambria" pitchFamily="34" charset="-120"/>
              </a:rPr>
              <a:t>Then we tested it on real people</a:t>
            </a:r>
            <a:endParaRPr lang="en-US" sz="4000" dirty="0"/>
          </a:p>
        </p:txBody>
      </p:sp>
      <p:sp>
        <p:nvSpPr>
          <p:cNvPr id="3" name="Text 0"/>
          <p:cNvSpPr/>
          <p:nvPr>
            <p:ph idx="101" type="body" hasCustomPrompt="1"/>
          </p:nvPr>
        </p:nvSpPr>
        <p:spPr>
          <a:xfrm>
            <a:off x="548640" y="3703320"/>
            <a:ext cx="9601200" cy="1097280"/>
          </a:xfrm>
          <a:prstGeom prst="rect">
            <a:avLst/>
          </a:prstGeom>
          <a:noFill/>
          <a:ln/>
        </p:spPr>
        <p:txBody>
          <a:bodyPr wrap="square" lIns="0" tIns="0" rIns="0" bIns="0" rtlCol="0" anchor="t"/>
          <a:lstStyle/>
          <a:p>
            <a:pPr indent="0" marL="0">
              <a:buNone/>
            </a:pPr>
            <a:r>
              <a:rPr lang="en-US" sz="2000" dirty="0">
                <a:solidFill>
                  <a:schemeClr val="bg2"/>
                </a:solidFill>
              </a:rPr>
              <a:t>Two public datasets, never used for training: 14 US adults (CGMacros) and 100 Chinese patients whose CGM comes with their own clinical records (ShanghaiT2DM)</a:t>
            </a:r>
            <a:endParaRPr lang="en-US" sz="2000" dirty="0"/>
          </a:p>
        </p:txBody>
      </p:sp>
      <p:sp>
        <p:nvSpPr>
          <p:cNvPr id="25" name="Slide Number Placeholder 0"/>
          <p:cNvSpPr>
            <a:spLocks noGrp="1"/>
          </p:cNvSpPr>
          <p:nvPr>
            <p:ph type="sldNum" sz="quarter" idx="4294967295"/>
          </p:nvPr>
        </p:nvSpPr>
        <p:spPr>
          <a:xfrm>
            <a:off x="11185855"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bg2"/>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94415" cy="77724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Real CGM: performance drops, and we show it</a:t>
            </a:r>
            <a:endParaRPr lang="en-US" sz="3200" dirty="0"/>
          </a:p>
        </p:txBody>
      </p:sp>
      <p:graphicFrame>
        <p:nvGraphicFramePr>
          <p:cNvPr id="3" name="chart-cgmacros" descr=""/>
          <p:cNvGraphicFramePr/>
          <p:nvPr/>
        </p:nvGraphicFramePr>
        <p:xfrm>
          <a:off x="548640" y="1280160"/>
          <a:ext cx="5486400" cy="4434840"/>
        </p:xfrm>
        <a:graphic xmlns:a="http://schemas.openxmlformats.org/drawingml/2006/main">
          <a:graphicData uri="http://schemas.openxmlformats.org/drawingml/2006/chart">
            <c:chart xmlns:c="http://schemas.openxmlformats.org/drawingml/2006/chart" r:id="rId1"/>
          </a:graphicData>
        </a:graphic>
      </p:graphicFrame>
      <p:graphicFrame>
        <p:nvGraphicFramePr>
          <p:cNvPr id="4" name="chart-recal" descr=""/>
          <p:cNvGraphicFramePr/>
          <p:nvPr/>
        </p:nvGraphicFramePr>
        <p:xfrm>
          <a:off x="6309360" y="1280160"/>
          <a:ext cx="2743200" cy="4434840"/>
        </p:xfrm>
        <a:graphic xmlns:a="http://schemas.openxmlformats.org/drawingml/2006/main">
          <a:graphicData uri="http://schemas.openxmlformats.org/drawingml/2006/chart">
            <c:chart xmlns:c="http://schemas.openxmlformats.org/drawingml/2006/chart" r:id="rId2"/>
          </a:graphicData>
        </a:graphic>
      </p:graphicFrame>
      <p:sp>
        <p:nvSpPr>
          <p:cNvPr id="5" name="card"/>
          <p:cNvSpPr/>
          <p:nvPr/>
        </p:nvSpPr>
        <p:spPr>
          <a:xfrm>
            <a:off x="9326880" y="1280160"/>
            <a:ext cx="2313432" cy="4434840"/>
          </a:xfrm>
          <a:prstGeom prst="roundRect">
            <a:avLst>
              <a:gd name="adj" fmla="val 4743"/>
            </a:avLst>
          </a:prstGeom>
          <a:solidFill>
            <a:schemeClr val="bg2"/>
          </a:solidFill>
          <a:ln/>
        </p:spPr>
      </p:sp>
      <p:sp>
        <p:nvSpPr>
          <p:cNvPr id="6" name="Text 2"/>
          <p:cNvSpPr txBox="1"/>
          <p:nvPr/>
        </p:nvSpPr>
        <p:spPr>
          <a:xfrm>
            <a:off x="9555480" y="1508760"/>
            <a:ext cx="1920240" cy="4114800"/>
          </a:xfrm>
          <a:prstGeom prst="rect">
            <a:avLst/>
          </a:prstGeom>
          <a:noFill/>
          <a:ln/>
        </p:spPr>
        <p:txBody>
          <a:bodyPr wrap="square" lIns="0" tIns="0" rIns="0" bIns="0" rtlCol="0" anchor="t"/>
          <a:lstStyle/>
          <a:p>
            <a:pPr indent="0" marL="0">
              <a:buNone/>
            </a:pPr>
            <a:r>
              <a:rPr lang="en-US" sz="1400" b="1" dirty="0">
                <a:solidFill>
                  <a:schemeClr val="tx2"/>
                </a:solidFill>
              </a:rPr>
              <a:t>Honest gap</a:t>
            </a:r>
            <a:endParaRPr lang="en-US" sz="1400" dirty="0"/>
          </a:p>
          <a:p>
            <a:pPr indent="0" marL="0">
              <a:buNone/>
            </a:pPr>
            <a:r>
              <a:rPr lang="en-US" sz="1400" dirty="0">
                <a:solidFill>
                  <a:schemeClr val="tx1"/>
                </a:solidFill>
              </a:rPr>
              <a:t>Simulated glucose is smoother than real glucose</a:t>
            </a:r>
            <a:endParaRPr lang="en-US" sz="1400" dirty="0"/>
          </a:p>
          <a:p>
            <a:pPr indent="0" marL="0">
              <a:buNone/>
            </a:pPr>
            <a:r>
              <a:rPr lang="en-US" sz="1400" dirty="0">
                <a:solidFill>
                  <a:schemeClr val="tx1"/>
                </a:solidFill>
              </a:rPr>
              <a:t> </a:t>
            </a:r>
            <a:endParaRPr lang="en-US" sz="1400" dirty="0"/>
          </a:p>
          <a:p>
            <a:pPr indent="0" marL="0">
              <a:buNone/>
            </a:pPr>
            <a:r>
              <a:rPr lang="en-US" sz="1400" b="1" dirty="0">
                <a:solidFill>
                  <a:schemeClr val="tx2"/>
                </a:solidFill>
              </a:rPr>
              <a:t>Fixable</a:t>
            </a:r>
            <a:endParaRPr lang="en-US" sz="1400" dirty="0"/>
          </a:p>
          <a:p>
            <a:pPr indent="0" marL="0">
              <a:buNone/>
            </a:pPr>
            <a:r>
              <a:rPr lang="en-US" sz="1400" dirty="0">
                <a:solidFill>
                  <a:schemeClr val="tx1"/>
                </a:solidFill>
              </a:rPr>
              <a:t>Recalibrating on other real patients makes the probabilities trustworthy without retraining</a:t>
            </a:r>
            <a:endParaRPr lang="en-US" sz="1400" dirty="0"/>
          </a:p>
        </p:txBody>
      </p:sp>
      <p:sp>
        <p:nvSpPr>
          <p:cNvPr id="25" name="Slide Number Placeholder 0"/>
          <p:cNvSpPr>
            <a:spLocks noGrp="1"/>
          </p:cNvSpPr>
          <p:nvPr>
            <p:ph type="sldNum" sz="quarter" idx="4294967295"/>
          </p:nvPr>
        </p:nvSpPr>
        <p:spPr>
          <a:xfrm>
            <a:off x="1118585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94415" cy="77724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Real linked records: the CGM model predicts real lows well</a:t>
            </a:r>
            <a:endParaRPr lang="en-US" sz="3200" dirty="0"/>
          </a:p>
        </p:txBody>
      </p:sp>
      <p:graphicFrame>
        <p:nvGraphicFramePr>
          <p:cNvPr id="3" name="chart-shanghai" descr=""/>
          <p:cNvGraphicFramePr/>
          <p:nvPr/>
        </p:nvGraphicFramePr>
        <p:xfrm>
          <a:off x="548640" y="1280160"/>
          <a:ext cx="6949440" cy="4434840"/>
        </p:xfrm>
        <a:graphic xmlns:a="http://schemas.openxmlformats.org/drawingml/2006/main">
          <a:graphicData uri="http://schemas.openxmlformats.org/drawingml/2006/chart">
            <c:chart xmlns:c="http://schemas.openxmlformats.org/drawingml/2006/chart" r:id="rId1"/>
          </a:graphicData>
        </a:graphic>
      </p:graphicFrame>
      <p:sp>
        <p:nvSpPr>
          <p:cNvPr id="4" name="card"/>
          <p:cNvSpPr/>
          <p:nvPr/>
        </p:nvSpPr>
        <p:spPr>
          <a:xfrm>
            <a:off x="7863840" y="1280160"/>
            <a:ext cx="3776472" cy="1325880"/>
          </a:xfrm>
          <a:prstGeom prst="roundRect">
            <a:avLst>
              <a:gd name="adj" fmla="val 8276"/>
            </a:avLst>
          </a:prstGeom>
          <a:solidFill>
            <a:schemeClr val="bg2"/>
          </a:solidFill>
          <a:ln/>
        </p:spPr>
      </p:sp>
      <p:sp>
        <p:nvSpPr>
          <p:cNvPr id="5" name="Text 2"/>
          <p:cNvSpPr txBox="1"/>
          <p:nvPr/>
        </p:nvSpPr>
        <p:spPr>
          <a:xfrm>
            <a:off x="8092440" y="1417320"/>
            <a:ext cx="1463040" cy="1051560"/>
          </a:xfrm>
          <a:prstGeom prst="rect">
            <a:avLst/>
          </a:prstGeom>
          <a:noFill/>
          <a:ln/>
        </p:spPr>
        <p:txBody>
          <a:bodyPr wrap="square" lIns="0" tIns="0" rIns="0" bIns="0" rtlCol="0" anchor="ctr"/>
          <a:lstStyle/>
          <a:p>
            <a:pPr indent="0" marL="0">
              <a:buNone/>
            </a:pPr>
            <a:r>
              <a:rPr lang="en-US" sz="2800" b="1" dirty="0">
                <a:solidFill>
                  <a:schemeClr val="accent1"/>
                </a:solidFill>
                <a:latin typeface="Cambria" pitchFamily="34" charset="0"/>
                <a:ea typeface="Cambria" pitchFamily="34" charset="-122"/>
                <a:cs typeface="Cambria" pitchFamily="34" charset="-120"/>
              </a:rPr>
              <a:t>0.89</a:t>
            </a:r>
            <a:endParaRPr lang="en-US" sz="2800" dirty="0"/>
          </a:p>
        </p:txBody>
      </p:sp>
      <p:sp>
        <p:nvSpPr>
          <p:cNvPr id="6" name="Text 3"/>
          <p:cNvSpPr txBox="1"/>
          <p:nvPr/>
        </p:nvSpPr>
        <p:spPr>
          <a:xfrm>
            <a:off x="9555480" y="1417320"/>
            <a:ext cx="1965960" cy="1051560"/>
          </a:xfrm>
          <a:prstGeom prst="rect">
            <a:avLst/>
          </a:prstGeom>
          <a:noFill/>
          <a:ln/>
        </p:spPr>
        <p:txBody>
          <a:bodyPr wrap="square" lIns="0" tIns="0" rIns="0" bIns="0" rtlCol="0" anchor="ctr"/>
          <a:lstStyle/>
          <a:p>
            <a:pPr indent="0" marL="0">
              <a:buNone/>
            </a:pPr>
            <a:r>
              <a:rPr lang="en-US" sz="1400" dirty="0">
                <a:solidFill>
                  <a:schemeClr val="tx1"/>
                </a:solidFill>
              </a:rPr>
              <a:t>AUROC for real lows (nocturnal 0.91), well calibrated</a:t>
            </a:r>
            <a:endParaRPr lang="en-US" sz="1400" dirty="0"/>
          </a:p>
        </p:txBody>
      </p:sp>
      <p:sp>
        <p:nvSpPr>
          <p:cNvPr id="7" name="card"/>
          <p:cNvSpPr/>
          <p:nvPr/>
        </p:nvSpPr>
        <p:spPr>
          <a:xfrm>
            <a:off x="7863840" y="2788920"/>
            <a:ext cx="3776472" cy="1325880"/>
          </a:xfrm>
          <a:prstGeom prst="roundRect">
            <a:avLst>
              <a:gd name="adj" fmla="val 8276"/>
            </a:avLst>
          </a:prstGeom>
          <a:solidFill>
            <a:schemeClr val="bg2"/>
          </a:solidFill>
          <a:ln/>
        </p:spPr>
      </p:sp>
      <p:sp>
        <p:nvSpPr>
          <p:cNvPr id="8" name="Text 5"/>
          <p:cNvSpPr txBox="1"/>
          <p:nvPr/>
        </p:nvSpPr>
        <p:spPr>
          <a:xfrm>
            <a:off x="8092440" y="2926080"/>
            <a:ext cx="1463040" cy="1051560"/>
          </a:xfrm>
          <a:prstGeom prst="rect">
            <a:avLst/>
          </a:prstGeom>
          <a:noFill/>
          <a:ln/>
        </p:spPr>
        <p:txBody>
          <a:bodyPr wrap="square" lIns="0" tIns="0" rIns="0" bIns="0" rtlCol="0" anchor="ctr"/>
          <a:lstStyle/>
          <a:p>
            <a:pPr indent="0" marL="0">
              <a:buNone/>
            </a:pPr>
            <a:r>
              <a:rPr lang="en-US" sz="2800" b="1" dirty="0">
                <a:solidFill>
                  <a:schemeClr val="accent1"/>
                </a:solidFill>
                <a:latin typeface="Cambria" pitchFamily="34" charset="0"/>
                <a:ea typeface="Cambria" pitchFamily="34" charset="-122"/>
                <a:cs typeface="Cambria" pitchFamily="34" charset="-120"/>
              </a:rPr>
              <a:t>+0.07</a:t>
            </a:r>
            <a:endParaRPr lang="en-US" sz="2800" dirty="0"/>
          </a:p>
        </p:txBody>
      </p:sp>
      <p:sp>
        <p:nvSpPr>
          <p:cNvPr id="9" name="Text 6"/>
          <p:cNvSpPr txBox="1"/>
          <p:nvPr/>
        </p:nvSpPr>
        <p:spPr>
          <a:xfrm>
            <a:off x="9555480" y="2926080"/>
            <a:ext cx="1965960" cy="1051560"/>
          </a:xfrm>
          <a:prstGeom prst="rect">
            <a:avLst/>
          </a:prstGeom>
          <a:noFill/>
          <a:ln/>
        </p:spPr>
        <p:txBody>
          <a:bodyPr wrap="square" lIns="0" tIns="0" rIns="0" bIns="0" rtlCol="0" anchor="ctr"/>
          <a:lstStyle/>
          <a:p>
            <a:pPr indent="0" marL="0">
              <a:buNone/>
            </a:pPr>
            <a:r>
              <a:rPr lang="en-US" sz="1400" dirty="0">
                <a:solidFill>
                  <a:schemeClr val="tx1"/>
                </a:solidFill>
              </a:rPr>
              <a:t>synthetic-trained model beats trend extrapolation on real lows</a:t>
            </a:r>
            <a:endParaRPr lang="en-US" sz="1400" dirty="0"/>
          </a:p>
        </p:txBody>
      </p:sp>
      <p:sp>
        <p:nvSpPr>
          <p:cNvPr id="10" name="card"/>
          <p:cNvSpPr/>
          <p:nvPr/>
        </p:nvSpPr>
        <p:spPr>
          <a:xfrm>
            <a:off x="7863840" y="4297680"/>
            <a:ext cx="3776472" cy="1325880"/>
          </a:xfrm>
          <a:prstGeom prst="roundRect">
            <a:avLst>
              <a:gd name="adj" fmla="val 8276"/>
            </a:avLst>
          </a:prstGeom>
          <a:solidFill>
            <a:schemeClr val="bg2"/>
          </a:solidFill>
          <a:ln/>
        </p:spPr>
      </p:sp>
      <p:sp>
        <p:nvSpPr>
          <p:cNvPr id="11" name="Text 8"/>
          <p:cNvSpPr txBox="1"/>
          <p:nvPr/>
        </p:nvSpPr>
        <p:spPr>
          <a:xfrm>
            <a:off x="8092440" y="4434840"/>
            <a:ext cx="1463040" cy="1051560"/>
          </a:xfrm>
          <a:prstGeom prst="rect">
            <a:avLst/>
          </a:prstGeom>
          <a:noFill/>
          <a:ln/>
        </p:spPr>
        <p:txBody>
          <a:bodyPr wrap="square" lIns="0" tIns="0" rIns="0" bIns="0" rtlCol="0" anchor="ctr"/>
          <a:lstStyle/>
          <a:p>
            <a:pPr indent="0" marL="0">
              <a:buNone/>
            </a:pPr>
            <a:r>
              <a:rPr lang="en-US" sz="2800" b="1" dirty="0">
                <a:solidFill>
                  <a:schemeClr val="accent2"/>
                </a:solidFill>
                <a:latin typeface="Cambria" pitchFamily="34" charset="0"/>
                <a:ea typeface="Cambria" pitchFamily="34" charset="-122"/>
                <a:cs typeface="Cambria" pitchFamily="34" charset="-120"/>
              </a:rPr>
              <a:t>No gain</a:t>
            </a:r>
            <a:endParaRPr lang="en-US" sz="2800" dirty="0"/>
          </a:p>
        </p:txBody>
      </p:sp>
      <p:sp>
        <p:nvSpPr>
          <p:cNvPr id="12" name="Text 9"/>
          <p:cNvSpPr txBox="1"/>
          <p:nvPr/>
        </p:nvSpPr>
        <p:spPr>
          <a:xfrm>
            <a:off x="9555480" y="4434840"/>
            <a:ext cx="1965960" cy="1051560"/>
          </a:xfrm>
          <a:prstGeom prst="rect">
            <a:avLst/>
          </a:prstGeom>
          <a:noFill/>
          <a:ln/>
        </p:spPr>
        <p:txBody>
          <a:bodyPr wrap="square" lIns="0" tIns="0" rIns="0" bIns="0" rtlCol="0" anchor="ctr"/>
          <a:lstStyle/>
          <a:p>
            <a:pPr indent="0" marL="0">
              <a:buNone/>
            </a:pPr>
            <a:r>
              <a:rPr lang="en-US" sz="1400" dirty="0">
                <a:solidFill>
                  <a:schemeClr val="tx1"/>
                </a:solidFill>
              </a:rPr>
              <a:t>from the EHR, logged doses or the full record</a:t>
            </a:r>
            <a:endParaRPr lang="en-US" sz="1400" dirty="0"/>
          </a:p>
        </p:txBody>
      </p:sp>
      <p:sp>
        <p:nvSpPr>
          <p:cNvPr id="25" name="Slide Number Placeholder 0"/>
          <p:cNvSpPr>
            <a:spLocks noGrp="1"/>
          </p:cNvSpPr>
          <p:nvPr>
            <p:ph type="sldNum" sz="quarter" idx="4294967295"/>
          </p:nvPr>
        </p:nvSpPr>
        <p:spPr>
          <a:xfrm>
            <a:off x="1118585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94415" cy="77724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The EHR helps only before the sensor starts</a:t>
            </a:r>
            <a:endParaRPr lang="en-US" sz="3200" dirty="0"/>
          </a:p>
        </p:txBody>
      </p:sp>
      <p:graphicFrame>
        <p:nvGraphicFramePr>
          <p:cNvPr id="3" name="chart-coldstart" descr=""/>
          <p:cNvGraphicFramePr/>
          <p:nvPr/>
        </p:nvGraphicFramePr>
        <p:xfrm>
          <a:off x="548640" y="1280160"/>
          <a:ext cx="6949440" cy="4434840"/>
        </p:xfrm>
        <a:graphic xmlns:a="http://schemas.openxmlformats.org/drawingml/2006/main">
          <a:graphicData uri="http://schemas.openxmlformats.org/drawingml/2006/chart">
            <c:chart xmlns:c="http://schemas.openxmlformats.org/drawingml/2006/chart" r:id="rId1"/>
          </a:graphicData>
        </a:graphic>
      </p:graphicFrame>
      <p:sp>
        <p:nvSpPr>
          <p:cNvPr id="4" name="card"/>
          <p:cNvSpPr/>
          <p:nvPr/>
        </p:nvSpPr>
        <p:spPr>
          <a:xfrm>
            <a:off x="7863840" y="1280160"/>
            <a:ext cx="3776472" cy="4434840"/>
          </a:xfrm>
          <a:prstGeom prst="roundRect">
            <a:avLst>
              <a:gd name="adj" fmla="val 2906"/>
            </a:avLst>
          </a:prstGeom>
          <a:solidFill>
            <a:schemeClr val="bg2"/>
          </a:solidFill>
          <a:ln/>
        </p:spPr>
      </p:sp>
      <p:sp>
        <p:nvSpPr>
          <p:cNvPr id="5" name="Text 2"/>
          <p:cNvSpPr txBox="1"/>
          <p:nvPr/>
        </p:nvSpPr>
        <p:spPr>
          <a:xfrm>
            <a:off x="8138160" y="1508760"/>
            <a:ext cx="3291840" cy="4114800"/>
          </a:xfrm>
          <a:prstGeom prst="rect">
            <a:avLst/>
          </a:prstGeom>
          <a:noFill/>
          <a:ln/>
        </p:spPr>
        <p:txBody>
          <a:bodyPr wrap="square" lIns="0" tIns="0" rIns="0" bIns="0" rtlCol="0" anchor="t"/>
          <a:lstStyle/>
          <a:p>
            <a:pPr indent="0" marL="0">
              <a:buNone/>
            </a:pPr>
            <a:r>
              <a:rPr lang="en-US" sz="1500" b="1" dirty="0">
                <a:solidFill>
                  <a:schemeClr val="tx2"/>
                </a:solidFill>
              </a:rPr>
              <a:t>No CGM yet</a:t>
            </a:r>
            <a:endParaRPr lang="en-US" sz="1500" dirty="0"/>
          </a:p>
          <a:p>
            <a:pPr indent="0" marL="0">
              <a:buNone/>
            </a:pPr>
            <a:r>
              <a:rPr lang="en-US" sz="1500" dirty="0">
                <a:solidFill>
                  <a:schemeClr val="tx1"/>
                </a:solidFill>
              </a:rPr>
              <a:t>The EHR lifts AUROC from chance to 0.54: a weak but real signal for deciding who to watch</a:t>
            </a:r>
            <a:endParaRPr lang="en-US" sz="1500" dirty="0"/>
          </a:p>
          <a:p>
            <a:pPr indent="0" marL="0">
              <a:buNone/>
            </a:pPr>
            <a:r>
              <a:rPr lang="en-US" sz="1500" dirty="0">
                <a:solidFill>
                  <a:schemeClr val="tx1"/>
                </a:solidFill>
              </a:rPr>
              <a:t> </a:t>
            </a:r>
            <a:endParaRPr lang="en-US" sz="1500" dirty="0"/>
          </a:p>
          <a:p>
            <a:pPr indent="0" marL="0">
              <a:buNone/>
            </a:pPr>
            <a:r>
              <a:rPr lang="en-US" sz="1500" b="1" dirty="0">
                <a:solidFill>
                  <a:schemeClr val="tx2"/>
                </a:solidFill>
              </a:rPr>
              <a:t>30 minutes of CGM</a:t>
            </a:r>
            <a:endParaRPr lang="en-US" sz="1500" dirty="0"/>
          </a:p>
          <a:p>
            <a:pPr indent="0" marL="0">
              <a:buNone/>
            </a:pPr>
            <a:r>
              <a:rPr lang="en-US" sz="1500" dirty="0">
                <a:solidFill>
                  <a:schemeClr val="tx1"/>
                </a:solidFill>
              </a:rPr>
              <a:t>already reaches 0.88, almost as good as 6 hours. From then on the EHR adds nothing</a:t>
            </a:r>
            <a:endParaRPr lang="en-US" sz="1500" dirty="0"/>
          </a:p>
          <a:p>
            <a:pPr indent="0" marL="0">
              <a:buNone/>
            </a:pPr>
            <a:r>
              <a:rPr lang="en-US" sz="1500" dirty="0">
                <a:solidFill>
                  <a:schemeClr val="tx1"/>
                </a:solidFill>
              </a:rPr>
              <a:t> </a:t>
            </a:r>
            <a:endParaRPr lang="en-US" sz="1500" dirty="0"/>
          </a:p>
          <a:p>
            <a:pPr indent="0" marL="0">
              <a:buNone/>
            </a:pPr>
            <a:r>
              <a:rPr lang="en-US" sz="1500" b="1" dirty="0">
                <a:solidFill>
                  <a:schemeClr val="accent2"/>
                </a:solidFill>
              </a:rPr>
              <a:t>So the EHR is a prior, not a forecaster</a:t>
            </a:r>
            <a:endParaRPr lang="en-US" sz="1500" dirty="0"/>
          </a:p>
        </p:txBody>
      </p:sp>
      <p:sp>
        <p:nvSpPr>
          <p:cNvPr id="25" name="Slide Number Placeholder 0"/>
          <p:cNvSpPr>
            <a:spLocks noGrp="1"/>
          </p:cNvSpPr>
          <p:nvPr>
            <p:ph type="sldNum" sz="quarter" idx="4294967295"/>
          </p:nvPr>
        </p:nvSpPr>
        <p:spPr>
          <a:xfrm>
            <a:off x="1118585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94415" cy="77724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What we claim, and what we no longer claim</a:t>
            </a:r>
            <a:endParaRPr lang="en-US" sz="3200" dirty="0"/>
          </a:p>
        </p:txBody>
      </p:sp>
      <p:sp>
        <p:nvSpPr>
          <p:cNvPr id="3" name="card"/>
          <p:cNvSpPr/>
          <p:nvPr/>
        </p:nvSpPr>
        <p:spPr>
          <a:xfrm>
            <a:off x="548640" y="1325880"/>
            <a:ext cx="5440680" cy="4389120"/>
          </a:xfrm>
          <a:prstGeom prst="roundRect">
            <a:avLst>
              <a:gd name="adj" fmla="val 2500"/>
            </a:avLst>
          </a:prstGeom>
          <a:solidFill>
            <a:schemeClr val="bg2"/>
          </a:solidFill>
          <a:ln/>
        </p:spPr>
      </p:sp>
      <p:sp>
        <p:nvSpPr>
          <p:cNvPr id="4" name="card"/>
          <p:cNvSpPr/>
          <p:nvPr/>
        </p:nvSpPr>
        <p:spPr>
          <a:xfrm>
            <a:off x="6199632" y="1325880"/>
            <a:ext cx="5440680" cy="4389120"/>
          </a:xfrm>
          <a:prstGeom prst="roundRect">
            <a:avLst>
              <a:gd name="adj" fmla="val 2500"/>
            </a:avLst>
          </a:prstGeom>
          <a:solidFill>
            <a:schemeClr val="tx2"/>
          </a:solidFill>
          <a:ln/>
        </p:spPr>
      </p:sp>
      <p:sp>
        <p:nvSpPr>
          <p:cNvPr id="5" name="Text 3"/>
          <p:cNvSpPr txBox="1"/>
          <p:nvPr/>
        </p:nvSpPr>
        <p:spPr>
          <a:xfrm>
            <a:off x="868680" y="1508760"/>
            <a:ext cx="4846320" cy="457200"/>
          </a:xfrm>
          <a:prstGeom prst="rect">
            <a:avLst/>
          </a:prstGeom>
          <a:noFill/>
          <a:ln/>
        </p:spPr>
        <p:txBody>
          <a:bodyPr wrap="square" lIns="0" tIns="0" rIns="0" bIns="0" rtlCol="0" anchor="t"/>
          <a:lstStyle/>
          <a:p>
            <a:pPr indent="0" marL="0">
              <a:buNone/>
            </a:pPr>
            <a:r>
              <a:rPr lang="en-US" sz="2200" b="1" dirty="0">
                <a:solidFill>
                  <a:schemeClr val="accent1"/>
                </a:solidFill>
                <a:latin typeface="Cambria" pitchFamily="34" charset="0"/>
                <a:ea typeface="Cambria" pitchFamily="34" charset="-122"/>
                <a:cs typeface="Cambria" pitchFamily="34" charset="-120"/>
              </a:rPr>
              <a:t>We claim</a:t>
            </a:r>
            <a:endParaRPr lang="en-US" sz="2200" dirty="0"/>
          </a:p>
        </p:txBody>
      </p:sp>
      <p:sp>
        <p:nvSpPr>
          <p:cNvPr id="6" name="Text 4"/>
          <p:cNvSpPr txBox="1"/>
          <p:nvPr/>
        </p:nvSpPr>
        <p:spPr>
          <a:xfrm>
            <a:off x="868680" y="2103120"/>
            <a:ext cx="4846320" cy="347472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chemeClr val="tx1"/>
                </a:solidFill>
              </a:rPr>
              <a:t>A CGM-based twin predicts real lows 2 hours ahead (AUROC 0.89 on 100 real patients)</a:t>
            </a:r>
            <a:endParaRPr lang="en-US" sz="1600" dirty="0"/>
          </a:p>
          <a:p>
            <a:pPr marL="342900" indent="-342900">
              <a:spcAft>
                <a:spcPts val="1000"/>
              </a:spcAft>
              <a:buSzPct val="100000"/>
              <a:buChar char="•"/>
            </a:pPr>
            <a:r>
              <a:rPr lang="en-US" sz="1600" dirty="0">
                <a:solidFill>
                  <a:schemeClr val="tx1"/>
                </a:solidFill>
              </a:rPr>
              <a:t>Alerting can be tuned to about one alert every two days</a:t>
            </a:r>
            <a:endParaRPr lang="en-US" sz="1600" dirty="0"/>
          </a:p>
          <a:p>
            <a:pPr marL="342900" indent="-342900">
              <a:spcAft>
                <a:spcPts val="1000"/>
              </a:spcAft>
              <a:buSzPct val="100000"/>
              <a:buChar char="•"/>
            </a:pPr>
            <a:r>
              <a:rPr lang="en-US" sz="1600" dirty="0">
                <a:solidFill>
                  <a:schemeClr val="tx1"/>
                </a:solidFill>
              </a:rPr>
              <a:t>Recalibration on local data fixes the probabilities</a:t>
            </a:r>
            <a:endParaRPr lang="en-US" sz="1600" dirty="0"/>
          </a:p>
          <a:p>
            <a:pPr marL="342900" indent="-342900">
              <a:spcAft>
                <a:spcPts val="1000"/>
              </a:spcAft>
              <a:buSzPct val="100000"/>
              <a:buChar char="•"/>
            </a:pPr>
            <a:r>
              <a:rPr lang="en-US" sz="1600" dirty="0">
                <a:solidFill>
                  <a:schemeClr val="tx1"/>
                </a:solidFill>
              </a:rPr>
              <a:t>A personalised twin halves projection error, with honest bands</a:t>
            </a:r>
            <a:endParaRPr lang="en-US" sz="1600" dirty="0"/>
          </a:p>
        </p:txBody>
      </p:sp>
      <p:sp>
        <p:nvSpPr>
          <p:cNvPr id="7" name="Text 5"/>
          <p:cNvSpPr txBox="1"/>
          <p:nvPr/>
        </p:nvSpPr>
        <p:spPr>
          <a:xfrm>
            <a:off x="6519672" y="1508760"/>
            <a:ext cx="4846320" cy="457200"/>
          </a:xfrm>
          <a:prstGeom prst="rect">
            <a:avLst/>
          </a:prstGeom>
          <a:noFill/>
          <a:ln/>
        </p:spPr>
        <p:txBody>
          <a:bodyPr wrap="square" lIns="0" tIns="0" rIns="0" bIns="0" rtlCol="0" anchor="t"/>
          <a:lstStyle/>
          <a:p>
            <a:pPr indent="0" marL="0">
              <a:buNone/>
            </a:pPr>
            <a:r>
              <a:rPr lang="en-US" sz="2200" b="1" dirty="0">
                <a:solidFill>
                  <a:schemeClr val="bg1"/>
                </a:solidFill>
                <a:latin typeface="Cambria" pitchFamily="34" charset="0"/>
                <a:ea typeface="Cambria" pitchFamily="34" charset="-122"/>
                <a:cs typeface="Cambria" pitchFamily="34" charset="-120"/>
              </a:rPr>
              <a:t>We no longer claim</a:t>
            </a:r>
            <a:endParaRPr lang="en-US" sz="2200" dirty="0"/>
          </a:p>
        </p:txBody>
      </p:sp>
      <p:sp>
        <p:nvSpPr>
          <p:cNvPr id="8" name="Text 6"/>
          <p:cNvSpPr txBox="1"/>
          <p:nvPr/>
        </p:nvSpPr>
        <p:spPr>
          <a:xfrm>
            <a:off x="6519672" y="2103120"/>
            <a:ext cx="4846320" cy="347472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chemeClr val="bg1"/>
                </a:solidFill>
              </a:rPr>
              <a:t>That adding the EHR improves the 2-hour forecast: true on synthetic data only</a:t>
            </a:r>
            <a:endParaRPr lang="en-US" sz="1600" dirty="0"/>
          </a:p>
          <a:p>
            <a:pPr marL="342900" indent="-342900">
              <a:spcAft>
                <a:spcPts val="1000"/>
              </a:spcAft>
              <a:buSzPct val="100000"/>
              <a:buChar char="•"/>
            </a:pPr>
            <a:r>
              <a:rPr lang="en-US" sz="1600" dirty="0">
                <a:solidFill>
                  <a:schemeClr val="bg1"/>
                </a:solidFill>
              </a:rPr>
              <a:t>That synthetic accuracy (0.93) is what real patients would see</a:t>
            </a:r>
            <a:endParaRPr lang="en-US" sz="1600" dirty="0"/>
          </a:p>
          <a:p>
            <a:pPr marL="342900" indent="-342900">
              <a:spcAft>
                <a:spcPts val="1000"/>
              </a:spcAft>
              <a:buSzPct val="100000"/>
              <a:buChar char="•"/>
            </a:pPr>
            <a:r>
              <a:rPr lang="en-US" sz="1600" dirty="0">
                <a:solidFill>
                  <a:schemeClr val="bg1"/>
                </a:solidFill>
              </a:rPr>
              <a:t>Any clinical validity: this is a research prototype</a:t>
            </a:r>
            <a:endParaRPr lang="en-US" sz="1600" dirty="0"/>
          </a:p>
        </p:txBody>
      </p:sp>
      <p:sp>
        <p:nvSpPr>
          <p:cNvPr id="25" name="Slide Number Placeholder 0"/>
          <p:cNvSpPr>
            <a:spLocks noGrp="1"/>
          </p:cNvSpPr>
          <p:nvPr>
            <p:ph type="sldNum" sz="quarter" idx="4294967295"/>
          </p:nvPr>
        </p:nvSpPr>
        <p:spPr>
          <a:xfrm>
            <a:off x="1118585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94415" cy="77724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Path to real use in India</a:t>
            </a:r>
            <a:endParaRPr lang="en-US" sz="3200" dirty="0"/>
          </a:p>
        </p:txBody>
      </p:sp>
      <p:sp>
        <p:nvSpPr>
          <p:cNvPr id="3" name="card"/>
          <p:cNvSpPr/>
          <p:nvPr/>
        </p:nvSpPr>
        <p:spPr>
          <a:xfrm>
            <a:off x="548640" y="1371600"/>
            <a:ext cx="2606040" cy="2651760"/>
          </a:xfrm>
          <a:prstGeom prst="roundRect">
            <a:avLst>
              <a:gd name="adj" fmla="val 4211"/>
            </a:avLst>
          </a:prstGeom>
          <a:solidFill>
            <a:schemeClr val="bg2"/>
          </a:solidFill>
          <a:ln/>
        </p:spPr>
      </p:sp>
      <p:sp>
        <p:nvSpPr>
          <p:cNvPr id="4" name="dot"/>
          <p:cNvSpPr/>
          <p:nvPr/>
        </p:nvSpPr>
        <p:spPr>
          <a:xfrm>
            <a:off x="822960" y="1600200"/>
            <a:ext cx="475488" cy="475488"/>
          </a:xfrm>
          <a:prstGeom prst="ellipse">
            <a:avLst/>
          </a:prstGeom>
          <a:solidFill>
            <a:schemeClr val="accent1"/>
          </a:solidFill>
          <a:ln/>
        </p:spPr>
      </p:sp>
      <p:sp>
        <p:nvSpPr>
          <p:cNvPr id="5" name="Text 3"/>
          <p:cNvSpPr txBox="1"/>
          <p:nvPr/>
        </p:nvSpPr>
        <p:spPr>
          <a:xfrm>
            <a:off x="822960" y="1600200"/>
            <a:ext cx="475488" cy="475488"/>
          </a:xfrm>
          <a:prstGeom prst="rect">
            <a:avLst/>
          </a:prstGeom>
          <a:noFill/>
          <a:ln/>
        </p:spPr>
        <p:txBody>
          <a:bodyPr wrap="square" lIns="0" tIns="0" rIns="0" bIns="0" rtlCol="0" anchor="ctr"/>
          <a:lstStyle/>
          <a:p>
            <a:pPr algn="ctr" indent="0" marL="0">
              <a:buNone/>
            </a:pPr>
            <a:r>
              <a:rPr lang="en-US" sz="1600" b="1" dirty="0">
                <a:solidFill>
                  <a:schemeClr val="bg1"/>
                </a:solidFill>
              </a:rPr>
              <a:t>1a</a:t>
            </a:r>
            <a:endParaRPr lang="en-US" sz="1600" dirty="0"/>
          </a:p>
        </p:txBody>
      </p:sp>
      <p:sp>
        <p:nvSpPr>
          <p:cNvPr id="6" name="Text 4"/>
          <p:cNvSpPr txBox="1"/>
          <p:nvPr/>
        </p:nvSpPr>
        <p:spPr>
          <a:xfrm>
            <a:off x="822960" y="2240280"/>
            <a:ext cx="2103120" cy="457200"/>
          </a:xfrm>
          <a:prstGeom prst="rect">
            <a:avLst/>
          </a:prstGeom>
          <a:noFill/>
          <a:ln/>
        </p:spPr>
        <p:txBody>
          <a:bodyPr wrap="square" lIns="0" tIns="0" rIns="0" bIns="0" rtlCol="0" anchor="t"/>
          <a:lstStyle/>
          <a:p>
            <a:pPr indent="0" marL="0">
              <a:buNone/>
            </a:pPr>
            <a:r>
              <a:rPr lang="en-US" sz="1700" b="1" dirty="0">
                <a:solidFill>
                  <a:schemeClr val="tx2"/>
                </a:solidFill>
              </a:rPr>
              <a:t>Real-data study</a:t>
            </a:r>
            <a:endParaRPr lang="en-US" sz="1700" dirty="0"/>
          </a:p>
        </p:txBody>
      </p:sp>
      <p:sp>
        <p:nvSpPr>
          <p:cNvPr id="7" name="Text 5"/>
          <p:cNvSpPr txBox="1"/>
          <p:nvPr/>
        </p:nvSpPr>
        <p:spPr>
          <a:xfrm>
            <a:off x="822960" y="2697480"/>
            <a:ext cx="2103120" cy="1234440"/>
          </a:xfrm>
          <a:prstGeom prst="rect">
            <a:avLst/>
          </a:prstGeom>
          <a:noFill/>
          <a:ln/>
        </p:spPr>
        <p:txBody>
          <a:bodyPr wrap="square" lIns="0" tIns="0" rIns="0" bIns="0" rtlCol="0" anchor="t"/>
          <a:lstStyle/>
          <a:p>
            <a:pPr indent="0" marL="0">
              <a:buNone/>
            </a:pPr>
            <a:r>
              <a:rPr lang="en-US" sz="1400" dirty="0">
                <a:solidFill>
                  <a:schemeClr val="tx1"/>
                </a:solidFill>
              </a:rPr>
              <a:t>Real linked EHR + CGM from Indian T2D clinics, ethics approval (ICMR AI guidelines)</a:t>
            </a:r>
            <a:endParaRPr lang="en-US" sz="1400" dirty="0"/>
          </a:p>
        </p:txBody>
      </p:sp>
      <p:sp>
        <p:nvSpPr>
          <p:cNvPr id="8" name="card"/>
          <p:cNvSpPr/>
          <p:nvPr/>
        </p:nvSpPr>
        <p:spPr>
          <a:xfrm>
            <a:off x="3364992" y="1371600"/>
            <a:ext cx="2606040" cy="2651760"/>
          </a:xfrm>
          <a:prstGeom prst="roundRect">
            <a:avLst>
              <a:gd name="adj" fmla="val 4211"/>
            </a:avLst>
          </a:prstGeom>
          <a:solidFill>
            <a:schemeClr val="bg2"/>
          </a:solidFill>
          <a:ln/>
        </p:spPr>
      </p:sp>
      <p:sp>
        <p:nvSpPr>
          <p:cNvPr id="9" name="dot"/>
          <p:cNvSpPr/>
          <p:nvPr/>
        </p:nvSpPr>
        <p:spPr>
          <a:xfrm>
            <a:off x="3639312" y="1600200"/>
            <a:ext cx="475488" cy="475488"/>
          </a:xfrm>
          <a:prstGeom prst="ellipse">
            <a:avLst/>
          </a:prstGeom>
          <a:solidFill>
            <a:schemeClr val="accent1"/>
          </a:solidFill>
          <a:ln/>
        </p:spPr>
      </p:sp>
      <p:sp>
        <p:nvSpPr>
          <p:cNvPr id="10" name="Text 8"/>
          <p:cNvSpPr txBox="1"/>
          <p:nvPr/>
        </p:nvSpPr>
        <p:spPr>
          <a:xfrm>
            <a:off x="3639312" y="1600200"/>
            <a:ext cx="475488" cy="475488"/>
          </a:xfrm>
          <a:prstGeom prst="rect">
            <a:avLst/>
          </a:prstGeom>
          <a:noFill/>
          <a:ln/>
        </p:spPr>
        <p:txBody>
          <a:bodyPr wrap="square" lIns="0" tIns="0" rIns="0" bIns="0" rtlCol="0" anchor="ctr"/>
          <a:lstStyle/>
          <a:p>
            <a:pPr algn="ctr" indent="0" marL="0">
              <a:buNone/>
            </a:pPr>
            <a:r>
              <a:rPr lang="en-US" sz="1600" b="1" dirty="0">
                <a:solidFill>
                  <a:schemeClr val="bg1"/>
                </a:solidFill>
              </a:rPr>
              <a:t>1b</a:t>
            </a:r>
            <a:endParaRPr lang="en-US" sz="1600" dirty="0"/>
          </a:p>
        </p:txBody>
      </p:sp>
      <p:sp>
        <p:nvSpPr>
          <p:cNvPr id="11" name="Text 9"/>
          <p:cNvSpPr txBox="1"/>
          <p:nvPr/>
        </p:nvSpPr>
        <p:spPr>
          <a:xfrm>
            <a:off x="3639312" y="2240280"/>
            <a:ext cx="2103120" cy="457200"/>
          </a:xfrm>
          <a:prstGeom prst="rect">
            <a:avLst/>
          </a:prstGeom>
          <a:noFill/>
          <a:ln/>
        </p:spPr>
        <p:txBody>
          <a:bodyPr wrap="square" lIns="0" tIns="0" rIns="0" bIns="0" rtlCol="0" anchor="t"/>
          <a:lstStyle/>
          <a:p>
            <a:pPr indent="0" marL="0">
              <a:buNone/>
            </a:pPr>
            <a:r>
              <a:rPr lang="en-US" sz="1700" b="1" dirty="0">
                <a:solidFill>
                  <a:schemeClr val="tx2"/>
                </a:solidFill>
              </a:rPr>
              <a:t>Recalibrate</a:t>
            </a:r>
            <a:endParaRPr lang="en-US" sz="1700" dirty="0"/>
          </a:p>
        </p:txBody>
      </p:sp>
      <p:sp>
        <p:nvSpPr>
          <p:cNvPr id="12" name="Text 10"/>
          <p:cNvSpPr txBox="1"/>
          <p:nvPr/>
        </p:nvSpPr>
        <p:spPr>
          <a:xfrm>
            <a:off x="3639312" y="2697480"/>
            <a:ext cx="2103120" cy="1234440"/>
          </a:xfrm>
          <a:prstGeom prst="rect">
            <a:avLst/>
          </a:prstGeom>
          <a:noFill/>
          <a:ln/>
        </p:spPr>
        <p:txBody>
          <a:bodyPr wrap="square" lIns="0" tIns="0" rIns="0" bIns="0" rtlCol="0" anchor="t"/>
          <a:lstStyle/>
          <a:p>
            <a:pPr indent="0" marL="0">
              <a:buNone/>
            </a:pPr>
            <a:r>
              <a:rPr lang="en-US" sz="1400" dirty="0">
                <a:solidFill>
                  <a:schemeClr val="tx1"/>
                </a:solidFill>
              </a:rPr>
              <a:t>Fit probabilities and alert thresholds to the local population</a:t>
            </a:r>
            <a:endParaRPr lang="en-US" sz="1400" dirty="0"/>
          </a:p>
        </p:txBody>
      </p:sp>
      <p:sp>
        <p:nvSpPr>
          <p:cNvPr id="13" name="card"/>
          <p:cNvSpPr/>
          <p:nvPr/>
        </p:nvSpPr>
        <p:spPr>
          <a:xfrm>
            <a:off x="6181344" y="1371600"/>
            <a:ext cx="2606040" cy="2651760"/>
          </a:xfrm>
          <a:prstGeom prst="roundRect">
            <a:avLst>
              <a:gd name="adj" fmla="val 4211"/>
            </a:avLst>
          </a:prstGeom>
          <a:solidFill>
            <a:schemeClr val="bg2"/>
          </a:solidFill>
          <a:ln/>
        </p:spPr>
      </p:sp>
      <p:sp>
        <p:nvSpPr>
          <p:cNvPr id="14" name="dot"/>
          <p:cNvSpPr/>
          <p:nvPr/>
        </p:nvSpPr>
        <p:spPr>
          <a:xfrm>
            <a:off x="6455664" y="1600200"/>
            <a:ext cx="475488" cy="475488"/>
          </a:xfrm>
          <a:prstGeom prst="ellipse">
            <a:avLst/>
          </a:prstGeom>
          <a:solidFill>
            <a:schemeClr val="accent1"/>
          </a:solidFill>
          <a:ln/>
        </p:spPr>
      </p:sp>
      <p:sp>
        <p:nvSpPr>
          <p:cNvPr id="15" name="Text 13"/>
          <p:cNvSpPr txBox="1"/>
          <p:nvPr/>
        </p:nvSpPr>
        <p:spPr>
          <a:xfrm>
            <a:off x="6455664" y="1600200"/>
            <a:ext cx="475488" cy="475488"/>
          </a:xfrm>
          <a:prstGeom prst="rect">
            <a:avLst/>
          </a:prstGeom>
          <a:noFill/>
          <a:ln/>
        </p:spPr>
        <p:txBody>
          <a:bodyPr wrap="square" lIns="0" tIns="0" rIns="0" bIns="0" rtlCol="0" anchor="ctr"/>
          <a:lstStyle/>
          <a:p>
            <a:pPr algn="ctr" indent="0" marL="0">
              <a:buNone/>
            </a:pPr>
            <a:r>
              <a:rPr lang="en-US" sz="1600" b="1" dirty="0">
                <a:solidFill>
                  <a:schemeClr val="bg1"/>
                </a:solidFill>
              </a:rPr>
              <a:t>1c</a:t>
            </a:r>
            <a:endParaRPr lang="en-US" sz="1600" dirty="0"/>
          </a:p>
        </p:txBody>
      </p:sp>
      <p:sp>
        <p:nvSpPr>
          <p:cNvPr id="16" name="Text 14"/>
          <p:cNvSpPr txBox="1"/>
          <p:nvPr/>
        </p:nvSpPr>
        <p:spPr>
          <a:xfrm>
            <a:off x="6455664" y="2240280"/>
            <a:ext cx="2103120" cy="457200"/>
          </a:xfrm>
          <a:prstGeom prst="rect">
            <a:avLst/>
          </a:prstGeom>
          <a:noFill/>
          <a:ln/>
        </p:spPr>
        <p:txBody>
          <a:bodyPr wrap="square" lIns="0" tIns="0" rIns="0" bIns="0" rtlCol="0" anchor="t"/>
          <a:lstStyle/>
          <a:p>
            <a:pPr indent="0" marL="0">
              <a:buNone/>
            </a:pPr>
            <a:r>
              <a:rPr lang="en-US" sz="1700" b="1" dirty="0">
                <a:solidFill>
                  <a:schemeClr val="tx2"/>
                </a:solidFill>
              </a:rPr>
              <a:t>Silent pilot</a:t>
            </a:r>
            <a:endParaRPr lang="en-US" sz="1700" dirty="0"/>
          </a:p>
        </p:txBody>
      </p:sp>
      <p:sp>
        <p:nvSpPr>
          <p:cNvPr id="17" name="Text 15"/>
          <p:cNvSpPr txBox="1"/>
          <p:nvPr/>
        </p:nvSpPr>
        <p:spPr>
          <a:xfrm>
            <a:off x="6455664" y="2697480"/>
            <a:ext cx="2103120" cy="1234440"/>
          </a:xfrm>
          <a:prstGeom prst="rect">
            <a:avLst/>
          </a:prstGeom>
          <a:noFill/>
          <a:ln/>
        </p:spPr>
        <p:txBody>
          <a:bodyPr wrap="square" lIns="0" tIns="0" rIns="0" bIns="0" rtlCol="0" anchor="t"/>
          <a:lstStyle/>
          <a:p>
            <a:pPr indent="0" marL="0">
              <a:buNone/>
            </a:pPr>
            <a:r>
              <a:rPr lang="en-US" sz="1400" dirty="0">
                <a:solidFill>
                  <a:schemeClr val="tx1"/>
                </a:solidFill>
              </a:rPr>
              <a:t>Model scores in the background; outcomes compared afterwards</a:t>
            </a:r>
            <a:endParaRPr lang="en-US" sz="1400" dirty="0"/>
          </a:p>
        </p:txBody>
      </p:sp>
      <p:sp>
        <p:nvSpPr>
          <p:cNvPr id="18" name="card"/>
          <p:cNvSpPr/>
          <p:nvPr/>
        </p:nvSpPr>
        <p:spPr>
          <a:xfrm>
            <a:off x="8997696" y="1371600"/>
            <a:ext cx="2606040" cy="2651760"/>
          </a:xfrm>
          <a:prstGeom prst="roundRect">
            <a:avLst>
              <a:gd name="adj" fmla="val 4211"/>
            </a:avLst>
          </a:prstGeom>
          <a:solidFill>
            <a:schemeClr val="bg2"/>
          </a:solidFill>
          <a:ln/>
        </p:spPr>
      </p:sp>
      <p:sp>
        <p:nvSpPr>
          <p:cNvPr id="19" name="dot"/>
          <p:cNvSpPr/>
          <p:nvPr/>
        </p:nvSpPr>
        <p:spPr>
          <a:xfrm>
            <a:off x="9272016" y="1600200"/>
            <a:ext cx="475488" cy="475488"/>
          </a:xfrm>
          <a:prstGeom prst="ellipse">
            <a:avLst/>
          </a:prstGeom>
          <a:solidFill>
            <a:schemeClr val="accent1"/>
          </a:solidFill>
          <a:ln/>
        </p:spPr>
      </p:sp>
      <p:sp>
        <p:nvSpPr>
          <p:cNvPr id="20" name="Text 18"/>
          <p:cNvSpPr txBox="1"/>
          <p:nvPr/>
        </p:nvSpPr>
        <p:spPr>
          <a:xfrm>
            <a:off x="9272016" y="1600200"/>
            <a:ext cx="475488" cy="475488"/>
          </a:xfrm>
          <a:prstGeom prst="rect">
            <a:avLst/>
          </a:prstGeom>
          <a:noFill/>
          <a:ln/>
        </p:spPr>
        <p:txBody>
          <a:bodyPr wrap="square" lIns="0" tIns="0" rIns="0" bIns="0" rtlCol="0" anchor="ctr"/>
          <a:lstStyle/>
          <a:p>
            <a:pPr algn="ctr" indent="0" marL="0">
              <a:buNone/>
            </a:pPr>
            <a:r>
              <a:rPr lang="en-US" sz="1600" b="1" dirty="0">
                <a:solidFill>
                  <a:schemeClr val="bg1"/>
                </a:solidFill>
              </a:rPr>
              <a:t>1d</a:t>
            </a:r>
            <a:endParaRPr lang="en-US" sz="1600" dirty="0"/>
          </a:p>
        </p:txBody>
      </p:sp>
      <p:sp>
        <p:nvSpPr>
          <p:cNvPr id="21" name="Text 19"/>
          <p:cNvSpPr txBox="1"/>
          <p:nvPr/>
        </p:nvSpPr>
        <p:spPr>
          <a:xfrm>
            <a:off x="9272016" y="2240280"/>
            <a:ext cx="2103120" cy="457200"/>
          </a:xfrm>
          <a:prstGeom prst="rect">
            <a:avLst/>
          </a:prstGeom>
          <a:noFill/>
          <a:ln/>
        </p:spPr>
        <p:txBody>
          <a:bodyPr wrap="square" lIns="0" tIns="0" rIns="0" bIns="0" rtlCol="0" anchor="t"/>
          <a:lstStyle/>
          <a:p>
            <a:pPr indent="0" marL="0">
              <a:buNone/>
            </a:pPr>
            <a:r>
              <a:rPr lang="en-US" sz="1700" b="1" dirty="0">
                <a:solidFill>
                  <a:schemeClr val="tx2"/>
                </a:solidFill>
              </a:rPr>
              <a:t>Clinician pilot</a:t>
            </a:r>
            <a:endParaRPr lang="en-US" sz="1700" dirty="0"/>
          </a:p>
        </p:txBody>
      </p:sp>
      <p:sp>
        <p:nvSpPr>
          <p:cNvPr id="22" name="Text 20"/>
          <p:cNvSpPr txBox="1"/>
          <p:nvPr/>
        </p:nvSpPr>
        <p:spPr>
          <a:xfrm>
            <a:off x="9272016" y="2697480"/>
            <a:ext cx="2103120" cy="1234440"/>
          </a:xfrm>
          <a:prstGeom prst="rect">
            <a:avLst/>
          </a:prstGeom>
          <a:noFill/>
          <a:ln/>
        </p:spPr>
        <p:txBody>
          <a:bodyPr wrap="square" lIns="0" tIns="0" rIns="0" bIns="0" rtlCol="0" anchor="t"/>
          <a:lstStyle/>
          <a:p>
            <a:pPr indent="0" marL="0">
              <a:buNone/>
            </a:pPr>
            <a:r>
              <a:rPr lang="en-US" sz="1400" dirty="0">
                <a:solidFill>
                  <a:schemeClr val="tx1"/>
                </a:solidFill>
              </a:rPr>
              <a:t>Diabetologists judge usefulness, workload and safety</a:t>
            </a:r>
            <a:endParaRPr lang="en-US" sz="1400" dirty="0"/>
          </a:p>
        </p:txBody>
      </p:sp>
      <p:sp>
        <p:nvSpPr>
          <p:cNvPr id="23" name="card"/>
          <p:cNvSpPr/>
          <p:nvPr/>
        </p:nvSpPr>
        <p:spPr>
          <a:xfrm>
            <a:off x="548640" y="4297680"/>
            <a:ext cx="5440680" cy="548640"/>
          </a:xfrm>
          <a:prstGeom prst="roundRect">
            <a:avLst>
              <a:gd name="adj" fmla="val 20000"/>
            </a:avLst>
          </a:prstGeom>
          <a:solidFill>
            <a:schemeClr val="bg2"/>
          </a:solidFill>
          <a:ln/>
        </p:spPr>
      </p:sp>
      <p:sp>
        <p:nvSpPr>
          <p:cNvPr id="24" name="Text 22"/>
          <p:cNvSpPr txBox="1"/>
          <p:nvPr/>
        </p:nvSpPr>
        <p:spPr>
          <a:xfrm>
            <a:off x="777240" y="4297680"/>
            <a:ext cx="5120640" cy="548640"/>
          </a:xfrm>
          <a:prstGeom prst="rect">
            <a:avLst/>
          </a:prstGeom>
          <a:noFill/>
          <a:ln/>
        </p:spPr>
        <p:txBody>
          <a:bodyPr wrap="square" lIns="0" tIns="0" rIns="0" bIns="0" rtlCol="0" anchor="ctr"/>
          <a:lstStyle/>
          <a:p>
            <a:pPr indent="0" marL="0">
              <a:buNone/>
            </a:pPr>
            <a:r>
              <a:rPr lang="en-US" sz="1400" dirty="0">
                <a:solidFill>
                  <a:schemeClr val="tx1"/>
                </a:solidFill>
              </a:rPr>
              <a:t>DPDP Act 2023 &amp; Rules 2025: consent, purpose limits, security</a:t>
            </a:r>
            <a:endParaRPr lang="en-US" sz="1400" dirty="0"/>
          </a:p>
        </p:txBody>
      </p:sp>
      <p:sp>
        <p:nvSpPr>
          <p:cNvPr id="25" name="card"/>
          <p:cNvSpPr/>
          <p:nvPr/>
        </p:nvSpPr>
        <p:spPr>
          <a:xfrm>
            <a:off x="6172200" y="4297680"/>
            <a:ext cx="5440680" cy="548640"/>
          </a:xfrm>
          <a:prstGeom prst="roundRect">
            <a:avLst>
              <a:gd name="adj" fmla="val 20000"/>
            </a:avLst>
          </a:prstGeom>
          <a:solidFill>
            <a:schemeClr val="bg2"/>
          </a:solidFill>
          <a:ln/>
        </p:spPr>
      </p:sp>
      <p:sp>
        <p:nvSpPr>
          <p:cNvPr id="26" name="Text 24"/>
          <p:cNvSpPr txBox="1"/>
          <p:nvPr/>
        </p:nvSpPr>
        <p:spPr>
          <a:xfrm>
            <a:off x="6400800" y="4297680"/>
            <a:ext cx="5120640" cy="548640"/>
          </a:xfrm>
          <a:prstGeom prst="rect">
            <a:avLst/>
          </a:prstGeom>
          <a:noFill/>
          <a:ln/>
        </p:spPr>
        <p:txBody>
          <a:bodyPr wrap="square" lIns="0" tIns="0" rIns="0" bIns="0" rtlCol="0" anchor="ctr"/>
          <a:lstStyle/>
          <a:p>
            <a:pPr indent="0" marL="0">
              <a:buNone/>
            </a:pPr>
            <a:r>
              <a:rPr lang="en-US" sz="1400" dirty="0">
                <a:solidFill>
                  <a:schemeClr val="tx1"/>
                </a:solidFill>
              </a:rPr>
              <a:t>ABDM / ABHA consent flows for linking record and device</a:t>
            </a:r>
            <a:endParaRPr lang="en-US" sz="1400" dirty="0"/>
          </a:p>
        </p:txBody>
      </p:sp>
      <p:sp>
        <p:nvSpPr>
          <p:cNvPr id="27" name="card"/>
          <p:cNvSpPr/>
          <p:nvPr/>
        </p:nvSpPr>
        <p:spPr>
          <a:xfrm>
            <a:off x="548640" y="4983480"/>
            <a:ext cx="5440680" cy="548640"/>
          </a:xfrm>
          <a:prstGeom prst="roundRect">
            <a:avLst>
              <a:gd name="adj" fmla="val 20000"/>
            </a:avLst>
          </a:prstGeom>
          <a:solidFill>
            <a:schemeClr val="bg2"/>
          </a:solidFill>
          <a:ln/>
        </p:spPr>
      </p:sp>
      <p:sp>
        <p:nvSpPr>
          <p:cNvPr id="28" name="Text 26"/>
          <p:cNvSpPr txBox="1"/>
          <p:nvPr/>
        </p:nvSpPr>
        <p:spPr>
          <a:xfrm>
            <a:off x="777240" y="4983480"/>
            <a:ext cx="5120640" cy="548640"/>
          </a:xfrm>
          <a:prstGeom prst="rect">
            <a:avLst/>
          </a:prstGeom>
          <a:noFill/>
          <a:ln/>
        </p:spPr>
        <p:txBody>
          <a:bodyPr wrap="square" lIns="0" tIns="0" rIns="0" bIns="0" rtlCol="0" anchor="ctr"/>
          <a:lstStyle/>
          <a:p>
            <a:pPr indent="0" marL="0">
              <a:buNone/>
            </a:pPr>
            <a:r>
              <a:rPr lang="en-US" sz="1400" dirty="0">
                <a:solidFill>
                  <a:schemeClr val="tx1"/>
                </a:solidFill>
              </a:rPr>
              <a:t>CDSCO medical device software rules (risk class to confirm)</a:t>
            </a:r>
            <a:endParaRPr lang="en-US" sz="1400" dirty="0"/>
          </a:p>
        </p:txBody>
      </p:sp>
      <p:sp>
        <p:nvSpPr>
          <p:cNvPr id="29" name="card"/>
          <p:cNvSpPr/>
          <p:nvPr/>
        </p:nvSpPr>
        <p:spPr>
          <a:xfrm>
            <a:off x="6172200" y="4983480"/>
            <a:ext cx="5440680" cy="548640"/>
          </a:xfrm>
          <a:prstGeom prst="roundRect">
            <a:avLst>
              <a:gd name="adj" fmla="val 20000"/>
            </a:avLst>
          </a:prstGeom>
          <a:solidFill>
            <a:schemeClr val="bg2"/>
          </a:solidFill>
          <a:ln/>
        </p:spPr>
      </p:sp>
      <p:sp>
        <p:nvSpPr>
          <p:cNvPr id="30" name="Text 28"/>
          <p:cNvSpPr txBox="1"/>
          <p:nvPr/>
        </p:nvSpPr>
        <p:spPr>
          <a:xfrm>
            <a:off x="6400800" y="4983480"/>
            <a:ext cx="5120640" cy="548640"/>
          </a:xfrm>
          <a:prstGeom prst="rect">
            <a:avLst/>
          </a:prstGeom>
          <a:noFill/>
          <a:ln/>
        </p:spPr>
        <p:txBody>
          <a:bodyPr wrap="square" lIns="0" tIns="0" rIns="0" bIns="0" rtlCol="0" anchor="ctr"/>
          <a:lstStyle/>
          <a:p>
            <a:pPr indent="0" marL="0">
              <a:buNone/>
            </a:pPr>
            <a:r>
              <a:rPr lang="en-US" sz="1400" dirty="0">
                <a:solidFill>
                  <a:schemeClr val="tx1"/>
                </a:solidFill>
              </a:rPr>
              <a:t>CGM alarms stay on; the twin never replaces them</a:t>
            </a:r>
            <a:endParaRPr lang="en-US" sz="1400" dirty="0"/>
          </a:p>
        </p:txBody>
      </p:sp>
      <p:sp>
        <p:nvSpPr>
          <p:cNvPr id="25" name="Slide Number Placeholder 0"/>
          <p:cNvSpPr>
            <a:spLocks noGrp="1"/>
          </p:cNvSpPr>
          <p:nvPr>
            <p:ph type="sldNum" sz="quarter" idx="4294967295"/>
          </p:nvPr>
        </p:nvSpPr>
        <p:spPr>
          <a:xfrm>
            <a:off x="1118585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94415" cy="77724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Built to be checked, not just demoed</a:t>
            </a:r>
            <a:endParaRPr lang="en-US" sz="3200" dirty="0"/>
          </a:p>
        </p:txBody>
      </p:sp>
      <p:sp>
        <p:nvSpPr>
          <p:cNvPr id="3" name="card"/>
          <p:cNvSpPr/>
          <p:nvPr/>
        </p:nvSpPr>
        <p:spPr>
          <a:xfrm>
            <a:off x="548640" y="1371600"/>
            <a:ext cx="2606040" cy="2011680"/>
          </a:xfrm>
          <a:prstGeom prst="roundRect">
            <a:avLst>
              <a:gd name="adj" fmla="val 5455"/>
            </a:avLst>
          </a:prstGeom>
          <a:solidFill>
            <a:schemeClr val="bg2"/>
          </a:solidFill>
          <a:ln/>
        </p:spPr>
      </p:sp>
      <p:sp>
        <p:nvSpPr>
          <p:cNvPr id="4" name="Text 2"/>
          <p:cNvSpPr txBox="1"/>
          <p:nvPr/>
        </p:nvSpPr>
        <p:spPr>
          <a:xfrm>
            <a:off x="822960" y="1417320"/>
            <a:ext cx="2148840" cy="868680"/>
          </a:xfrm>
          <a:prstGeom prst="rect">
            <a:avLst/>
          </a:prstGeom>
          <a:noFill/>
          <a:ln/>
        </p:spPr>
        <p:txBody>
          <a:bodyPr wrap="square" lIns="0" tIns="0" rIns="0" bIns="0" rtlCol="0" anchor="b"/>
          <a:lstStyle/>
          <a:p>
            <a:pPr indent="0" marL="0">
              <a:buNone/>
            </a:pPr>
            <a:r>
              <a:rPr lang="en-US" sz="4600" b="1" dirty="0">
                <a:solidFill>
                  <a:schemeClr val="accent1"/>
                </a:solidFill>
                <a:latin typeface="Cambria" pitchFamily="34" charset="0"/>
                <a:ea typeface="Cambria" pitchFamily="34" charset="-122"/>
                <a:cs typeface="Cambria" pitchFamily="34" charset="-120"/>
              </a:rPr>
              <a:t>128</a:t>
            </a:r>
            <a:endParaRPr lang="en-US" sz="4600" dirty="0"/>
          </a:p>
        </p:txBody>
      </p:sp>
      <p:sp>
        <p:nvSpPr>
          <p:cNvPr id="5" name="Text 3"/>
          <p:cNvSpPr txBox="1"/>
          <p:nvPr/>
        </p:nvSpPr>
        <p:spPr>
          <a:xfrm>
            <a:off x="822960" y="2331720"/>
            <a:ext cx="2148840" cy="822960"/>
          </a:xfrm>
          <a:prstGeom prst="rect">
            <a:avLst/>
          </a:prstGeom>
          <a:noFill/>
          <a:ln/>
        </p:spPr>
        <p:txBody>
          <a:bodyPr wrap="square" lIns="0" tIns="0" rIns="0" bIns="0" rtlCol="0" anchor="t"/>
          <a:lstStyle/>
          <a:p>
            <a:pPr indent="0" marL="0">
              <a:buNone/>
            </a:pPr>
            <a:r>
              <a:rPr lang="en-US" sz="1400" dirty="0">
                <a:solidFill>
                  <a:schemeClr val="tx1"/>
                </a:solidFill>
              </a:rPr>
              <a:t>automated tests</a:t>
            </a:r>
            <a:endParaRPr lang="en-US" sz="1400" dirty="0"/>
          </a:p>
        </p:txBody>
      </p:sp>
      <p:sp>
        <p:nvSpPr>
          <p:cNvPr id="6" name="card"/>
          <p:cNvSpPr/>
          <p:nvPr/>
        </p:nvSpPr>
        <p:spPr>
          <a:xfrm>
            <a:off x="3364992" y="1371600"/>
            <a:ext cx="2606040" cy="2011680"/>
          </a:xfrm>
          <a:prstGeom prst="roundRect">
            <a:avLst>
              <a:gd name="adj" fmla="val 5455"/>
            </a:avLst>
          </a:prstGeom>
          <a:solidFill>
            <a:schemeClr val="bg2"/>
          </a:solidFill>
          <a:ln/>
        </p:spPr>
      </p:sp>
      <p:sp>
        <p:nvSpPr>
          <p:cNvPr id="7" name="Text 5"/>
          <p:cNvSpPr txBox="1"/>
          <p:nvPr/>
        </p:nvSpPr>
        <p:spPr>
          <a:xfrm>
            <a:off x="3639312" y="1417320"/>
            <a:ext cx="2148840" cy="868680"/>
          </a:xfrm>
          <a:prstGeom prst="rect">
            <a:avLst/>
          </a:prstGeom>
          <a:noFill/>
          <a:ln/>
        </p:spPr>
        <p:txBody>
          <a:bodyPr wrap="square" lIns="0" tIns="0" rIns="0" bIns="0" rtlCol="0" anchor="b"/>
          <a:lstStyle/>
          <a:p>
            <a:pPr indent="0" marL="0">
              <a:buNone/>
            </a:pPr>
            <a:r>
              <a:rPr lang="en-US" sz="4600" b="1" dirty="0">
                <a:solidFill>
                  <a:schemeClr val="accent1"/>
                </a:solidFill>
                <a:latin typeface="Cambria" pitchFamily="34" charset="0"/>
                <a:ea typeface="Cambria" pitchFamily="34" charset="-122"/>
                <a:cs typeface="Cambria" pitchFamily="34" charset="-120"/>
              </a:rPr>
              <a:t>1</a:t>
            </a:r>
            <a:endParaRPr lang="en-US" sz="4600" dirty="0"/>
          </a:p>
        </p:txBody>
      </p:sp>
      <p:sp>
        <p:nvSpPr>
          <p:cNvPr id="8" name="Text 6"/>
          <p:cNvSpPr txBox="1"/>
          <p:nvPr/>
        </p:nvSpPr>
        <p:spPr>
          <a:xfrm>
            <a:off x="3639312" y="2331720"/>
            <a:ext cx="2148840" cy="822960"/>
          </a:xfrm>
          <a:prstGeom prst="rect">
            <a:avLst/>
          </a:prstGeom>
          <a:noFill/>
          <a:ln/>
        </p:spPr>
        <p:txBody>
          <a:bodyPr wrap="square" lIns="0" tIns="0" rIns="0" bIns="0" rtlCol="0" anchor="t"/>
          <a:lstStyle/>
          <a:p>
            <a:pPr indent="0" marL="0">
              <a:buNone/>
            </a:pPr>
            <a:r>
              <a:rPr lang="en-US" sz="1400" dirty="0">
                <a:solidFill>
                  <a:schemeClr val="tx1"/>
                </a:solidFill>
              </a:rPr>
              <a:t>command rebuilds data, models and reports</a:t>
            </a:r>
            <a:endParaRPr lang="en-US" sz="1400" dirty="0"/>
          </a:p>
        </p:txBody>
      </p:sp>
      <p:sp>
        <p:nvSpPr>
          <p:cNvPr id="9" name="card"/>
          <p:cNvSpPr/>
          <p:nvPr/>
        </p:nvSpPr>
        <p:spPr>
          <a:xfrm>
            <a:off x="6181344" y="1371600"/>
            <a:ext cx="2606040" cy="2011680"/>
          </a:xfrm>
          <a:prstGeom prst="roundRect">
            <a:avLst>
              <a:gd name="adj" fmla="val 5455"/>
            </a:avLst>
          </a:prstGeom>
          <a:solidFill>
            <a:schemeClr val="bg2"/>
          </a:solidFill>
          <a:ln/>
        </p:spPr>
      </p:sp>
      <p:sp>
        <p:nvSpPr>
          <p:cNvPr id="10" name="Text 8"/>
          <p:cNvSpPr txBox="1"/>
          <p:nvPr/>
        </p:nvSpPr>
        <p:spPr>
          <a:xfrm>
            <a:off x="6455664" y="1417320"/>
            <a:ext cx="2148840" cy="868680"/>
          </a:xfrm>
          <a:prstGeom prst="rect">
            <a:avLst/>
          </a:prstGeom>
          <a:noFill/>
          <a:ln/>
        </p:spPr>
        <p:txBody>
          <a:bodyPr wrap="square" lIns="0" tIns="0" rIns="0" bIns="0" rtlCol="0" anchor="b"/>
          <a:lstStyle/>
          <a:p>
            <a:pPr indent="0" marL="0">
              <a:buNone/>
            </a:pPr>
            <a:r>
              <a:rPr lang="en-US" sz="4600" b="1" dirty="0">
                <a:solidFill>
                  <a:schemeClr val="accent1"/>
                </a:solidFill>
                <a:latin typeface="Cambria" pitchFamily="34" charset="0"/>
                <a:ea typeface="Cambria" pitchFamily="34" charset="-122"/>
                <a:cs typeface="Cambria" pitchFamily="34" charset="-120"/>
              </a:rPr>
              <a:t>2</a:t>
            </a:r>
            <a:endParaRPr lang="en-US" sz="4600" dirty="0"/>
          </a:p>
        </p:txBody>
      </p:sp>
      <p:sp>
        <p:nvSpPr>
          <p:cNvPr id="11" name="Text 9"/>
          <p:cNvSpPr txBox="1"/>
          <p:nvPr/>
        </p:nvSpPr>
        <p:spPr>
          <a:xfrm>
            <a:off x="6455664" y="2331720"/>
            <a:ext cx="2148840" cy="822960"/>
          </a:xfrm>
          <a:prstGeom prst="rect">
            <a:avLst/>
          </a:prstGeom>
          <a:noFill/>
          <a:ln/>
        </p:spPr>
        <p:txBody>
          <a:bodyPr wrap="square" lIns="0" tIns="0" rIns="0" bIns="0" rtlCol="0" anchor="t"/>
          <a:lstStyle/>
          <a:p>
            <a:pPr indent="0" marL="0">
              <a:buNone/>
            </a:pPr>
            <a:r>
              <a:rPr lang="en-US" sz="1400" dirty="0">
                <a:solidFill>
                  <a:schemeClr val="tx1"/>
                </a:solidFill>
              </a:rPr>
              <a:t>public real datasets checked</a:t>
            </a:r>
            <a:endParaRPr lang="en-US" sz="1400" dirty="0"/>
          </a:p>
        </p:txBody>
      </p:sp>
      <p:sp>
        <p:nvSpPr>
          <p:cNvPr id="12" name="card"/>
          <p:cNvSpPr/>
          <p:nvPr/>
        </p:nvSpPr>
        <p:spPr>
          <a:xfrm>
            <a:off x="8997696" y="1371600"/>
            <a:ext cx="2606040" cy="2011680"/>
          </a:xfrm>
          <a:prstGeom prst="roundRect">
            <a:avLst>
              <a:gd name="adj" fmla="val 5455"/>
            </a:avLst>
          </a:prstGeom>
          <a:solidFill>
            <a:schemeClr val="bg2"/>
          </a:solidFill>
          <a:ln/>
        </p:spPr>
      </p:sp>
      <p:sp>
        <p:nvSpPr>
          <p:cNvPr id="13" name="Text 11"/>
          <p:cNvSpPr txBox="1"/>
          <p:nvPr/>
        </p:nvSpPr>
        <p:spPr>
          <a:xfrm>
            <a:off x="9272016" y="1417320"/>
            <a:ext cx="2148840" cy="868680"/>
          </a:xfrm>
          <a:prstGeom prst="rect">
            <a:avLst/>
          </a:prstGeom>
          <a:noFill/>
          <a:ln/>
        </p:spPr>
        <p:txBody>
          <a:bodyPr wrap="square" lIns="0" tIns="0" rIns="0" bIns="0" rtlCol="0" anchor="b"/>
          <a:lstStyle/>
          <a:p>
            <a:pPr indent="0" marL="0">
              <a:buNone/>
            </a:pPr>
            <a:r>
              <a:rPr lang="en-US" sz="4600" b="1" dirty="0">
                <a:solidFill>
                  <a:schemeClr val="accent1"/>
                </a:solidFill>
                <a:latin typeface="Cambria" pitchFamily="34" charset="0"/>
                <a:ea typeface="Cambria" pitchFamily="34" charset="-122"/>
                <a:cs typeface="Cambria" pitchFamily="34" charset="-120"/>
              </a:rPr>
              <a:t>Live</a:t>
            </a:r>
            <a:endParaRPr lang="en-US" sz="4600" dirty="0"/>
          </a:p>
        </p:txBody>
      </p:sp>
      <p:sp>
        <p:nvSpPr>
          <p:cNvPr id="14" name="Text 12"/>
          <p:cNvSpPr txBox="1"/>
          <p:nvPr/>
        </p:nvSpPr>
        <p:spPr>
          <a:xfrm>
            <a:off x="9272016" y="2331720"/>
            <a:ext cx="2148840" cy="822960"/>
          </a:xfrm>
          <a:prstGeom prst="rect">
            <a:avLst/>
          </a:prstGeom>
          <a:noFill/>
          <a:ln/>
        </p:spPr>
        <p:txBody>
          <a:bodyPr wrap="square" lIns="0" tIns="0" rIns="0" bIns="0" rtlCol="0" anchor="t"/>
          <a:lstStyle/>
          <a:p>
            <a:pPr indent="0" marL="0">
              <a:buNone/>
            </a:pPr>
            <a:r>
              <a:rPr lang="en-US" sz="1400" dirty="0">
                <a:solidFill>
                  <a:schemeClr val="tx1"/>
                </a:solidFill>
              </a:rPr>
              <a:t>dashboard on Streamlit Cloud</a:t>
            </a:r>
            <a:endParaRPr lang="en-US" sz="1400" dirty="0"/>
          </a:p>
        </p:txBody>
      </p:sp>
      <p:sp>
        <p:nvSpPr>
          <p:cNvPr id="15" name="Text 13"/>
          <p:cNvSpPr txBox="1"/>
          <p:nvPr/>
        </p:nvSpPr>
        <p:spPr>
          <a:xfrm>
            <a:off x="548640" y="3749040"/>
            <a:ext cx="11064240" cy="822960"/>
          </a:xfrm>
          <a:prstGeom prst="rect">
            <a:avLst/>
          </a:prstGeom>
          <a:noFill/>
          <a:ln/>
        </p:spPr>
        <p:txBody>
          <a:bodyPr wrap="square" lIns="0" tIns="0" rIns="0" bIns="0" rtlCol="0" anchor="t"/>
          <a:lstStyle/>
          <a:p>
            <a:pPr indent="0" marL="0">
              <a:buNone/>
            </a:pPr>
            <a:r>
              <a:rPr lang="en-US" sz="1600" b="1" dirty="0">
                <a:solidFill>
                  <a:schemeClr val="tx1"/>
                </a:solidFill>
              </a:rPr>
              <a:t>Open and documented: </a:t>
            </a:r>
            <a:pPr indent="0" marL="0">
              <a:buNone/>
            </a:pPr>
            <a:r>
              <a:rPr lang="en-US" sz="1600" dirty="0">
                <a:solidFill>
                  <a:schemeClr val="tx1"/>
                </a:solidFill>
              </a:rPr>
              <a:t>MIT licence, model card, deployment path, data licences (CC BY 4.0, CC BY-NC-SA 4.0), architecture diagram and every result table in the repository. Real datasets are downloaded by the user and never committed.</a:t>
            </a:r>
            <a:endParaRPr lang="en-US" sz="1600" dirty="0"/>
          </a:p>
        </p:txBody>
      </p:sp>
      <p:sp>
        <p:nvSpPr>
          <p:cNvPr id="16" name="Text 14"/>
          <p:cNvSpPr txBox="1"/>
          <p:nvPr/>
        </p:nvSpPr>
        <p:spPr>
          <a:xfrm>
            <a:off x="548640" y="4800600"/>
            <a:ext cx="11064240" cy="457200"/>
          </a:xfrm>
          <a:prstGeom prst="rect">
            <a:avLst/>
          </a:prstGeom>
          <a:noFill/>
          <a:ln/>
        </p:spPr>
        <p:txBody>
          <a:bodyPr wrap="square" lIns="0" tIns="0" rIns="0" bIns="0" rtlCol="0" anchor="t"/>
          <a:lstStyle/>
          <a:p>
            <a:pPr indent="0" marL="0">
              <a:buNone/>
            </a:pPr>
            <a:r>
              <a:rPr lang="en-US" sz="1500" dirty="0">
                <a:solidFill>
                  <a:schemeClr val="accent6"/>
                </a:solidFill>
              </a:rPr>
              <a:t>Python · LightGBM · PyTorch · SHAP · SciPy · scikit-learn · Plotly · Streamlit</a:t>
            </a:r>
            <a:endParaRPr lang="en-US" sz="1500" dirty="0"/>
          </a:p>
        </p:txBody>
      </p:sp>
      <p:sp>
        <p:nvSpPr>
          <p:cNvPr id="25" name="Slide Number Placeholder 0"/>
          <p:cNvSpPr>
            <a:spLocks noGrp="1"/>
          </p:cNvSpPr>
          <p:nvPr>
            <p:ph type="sldNum" sz="quarter" idx="4294967295"/>
          </p:nvPr>
        </p:nvSpPr>
        <p:spPr>
          <a:xfrm>
            <a:off x="1118585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94415" cy="77724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Limitations we know about</a:t>
            </a:r>
            <a:endParaRPr lang="en-US" sz="3200" dirty="0"/>
          </a:p>
        </p:txBody>
      </p:sp>
      <p:sp>
        <p:nvSpPr>
          <p:cNvPr id="3" name="card"/>
          <p:cNvSpPr/>
          <p:nvPr/>
        </p:nvSpPr>
        <p:spPr>
          <a:xfrm>
            <a:off x="548640" y="1417320"/>
            <a:ext cx="5440680" cy="1874520"/>
          </a:xfrm>
          <a:prstGeom prst="roundRect">
            <a:avLst>
              <a:gd name="adj" fmla="val 5854"/>
            </a:avLst>
          </a:prstGeom>
          <a:solidFill>
            <a:schemeClr val="bg2"/>
          </a:solidFill>
          <a:ln/>
        </p:spPr>
      </p:sp>
      <p:sp>
        <p:nvSpPr>
          <p:cNvPr id="4" name="Text 2"/>
          <p:cNvSpPr txBox="1"/>
          <p:nvPr/>
        </p:nvSpPr>
        <p:spPr>
          <a:xfrm>
            <a:off x="868680" y="1691640"/>
            <a:ext cx="4846320" cy="457200"/>
          </a:xfrm>
          <a:prstGeom prst="rect">
            <a:avLst/>
          </a:prstGeom>
          <a:noFill/>
          <a:ln/>
        </p:spPr>
        <p:txBody>
          <a:bodyPr wrap="square" lIns="0" tIns="0" rIns="0" bIns="0" rtlCol="0" anchor="t"/>
          <a:lstStyle/>
          <a:p>
            <a:pPr indent="0" marL="0">
              <a:buNone/>
            </a:pPr>
            <a:r>
              <a:rPr lang="en-US" sz="1900" b="1" dirty="0">
                <a:solidFill>
                  <a:schemeClr val="accent2"/>
                </a:solidFill>
              </a:rPr>
              <a:t>Synthetic training data</a:t>
            </a:r>
            <a:endParaRPr lang="en-US" sz="1900" dirty="0"/>
          </a:p>
        </p:txBody>
      </p:sp>
      <p:sp>
        <p:nvSpPr>
          <p:cNvPr id="5" name="Text 3"/>
          <p:cNvSpPr txBox="1"/>
          <p:nvPr/>
        </p:nvSpPr>
        <p:spPr>
          <a:xfrm>
            <a:off x="868680" y="2194560"/>
            <a:ext cx="4846320" cy="914400"/>
          </a:xfrm>
          <a:prstGeom prst="rect">
            <a:avLst/>
          </a:prstGeom>
          <a:noFill/>
          <a:ln/>
        </p:spPr>
        <p:txBody>
          <a:bodyPr wrap="square" lIns="0" tIns="0" rIns="0" bIns="0" rtlCol="0" anchor="t"/>
          <a:lstStyle/>
          <a:p>
            <a:pPr indent="0" marL="0">
              <a:buNone/>
            </a:pPr>
            <a:r>
              <a:rPr lang="en-US" sz="1500" dirty="0">
                <a:solidFill>
                  <a:schemeClr val="tx1"/>
                </a:solidFill>
              </a:rPr>
              <a:t>The deployed model has never been trained on real patients</a:t>
            </a:r>
            <a:endParaRPr lang="en-US" sz="1500" dirty="0"/>
          </a:p>
        </p:txBody>
      </p:sp>
      <p:sp>
        <p:nvSpPr>
          <p:cNvPr id="6" name="card"/>
          <p:cNvSpPr/>
          <p:nvPr/>
        </p:nvSpPr>
        <p:spPr>
          <a:xfrm>
            <a:off x="6172200" y="1417320"/>
            <a:ext cx="5440680" cy="1874520"/>
          </a:xfrm>
          <a:prstGeom prst="roundRect">
            <a:avLst>
              <a:gd name="adj" fmla="val 5854"/>
            </a:avLst>
          </a:prstGeom>
          <a:solidFill>
            <a:schemeClr val="bg2"/>
          </a:solidFill>
          <a:ln/>
        </p:spPr>
      </p:sp>
      <p:sp>
        <p:nvSpPr>
          <p:cNvPr id="7" name="Text 5"/>
          <p:cNvSpPr txBox="1"/>
          <p:nvPr/>
        </p:nvSpPr>
        <p:spPr>
          <a:xfrm>
            <a:off x="6492240" y="1691640"/>
            <a:ext cx="4846320" cy="457200"/>
          </a:xfrm>
          <a:prstGeom prst="rect">
            <a:avLst/>
          </a:prstGeom>
          <a:noFill/>
          <a:ln/>
        </p:spPr>
        <p:txBody>
          <a:bodyPr wrap="square" lIns="0" tIns="0" rIns="0" bIns="0" rtlCol="0" anchor="t"/>
          <a:lstStyle/>
          <a:p>
            <a:pPr indent="0" marL="0">
              <a:buNone/>
            </a:pPr>
            <a:r>
              <a:rPr lang="en-US" sz="1900" b="1" dirty="0">
                <a:solidFill>
                  <a:schemeClr val="accent2"/>
                </a:solidFill>
              </a:rPr>
              <a:t>Small real checks</a:t>
            </a:r>
            <a:endParaRPr lang="en-US" sz="1900" dirty="0"/>
          </a:p>
        </p:txBody>
      </p:sp>
      <p:sp>
        <p:nvSpPr>
          <p:cNvPr id="8" name="Text 6"/>
          <p:cNvSpPr txBox="1"/>
          <p:nvPr/>
        </p:nvSpPr>
        <p:spPr>
          <a:xfrm>
            <a:off x="6492240" y="2194560"/>
            <a:ext cx="4846320" cy="914400"/>
          </a:xfrm>
          <a:prstGeom prst="rect">
            <a:avLst/>
          </a:prstGeom>
          <a:noFill/>
          <a:ln/>
        </p:spPr>
        <p:txBody>
          <a:bodyPr wrap="square" lIns="0" tIns="0" rIns="0" bIns="0" rtlCol="0" anchor="t"/>
          <a:lstStyle/>
          <a:p>
            <a:pPr indent="0" marL="0">
              <a:buNone/>
            </a:pPr>
            <a:r>
              <a:rPr lang="en-US" sz="1500" dirty="0">
                <a:solidFill>
                  <a:schemeClr val="tx1"/>
                </a:solidFill>
              </a:rPr>
              <a:t>14 US and 100 Chinese patients, not Indian outpatients</a:t>
            </a:r>
            <a:endParaRPr lang="en-US" sz="1500" dirty="0"/>
          </a:p>
        </p:txBody>
      </p:sp>
      <p:sp>
        <p:nvSpPr>
          <p:cNvPr id="9" name="card"/>
          <p:cNvSpPr/>
          <p:nvPr/>
        </p:nvSpPr>
        <p:spPr>
          <a:xfrm>
            <a:off x="548640" y="3520440"/>
            <a:ext cx="5440680" cy="1874520"/>
          </a:xfrm>
          <a:prstGeom prst="roundRect">
            <a:avLst>
              <a:gd name="adj" fmla="val 5854"/>
            </a:avLst>
          </a:prstGeom>
          <a:solidFill>
            <a:schemeClr val="bg2"/>
          </a:solidFill>
          <a:ln/>
        </p:spPr>
      </p:sp>
      <p:sp>
        <p:nvSpPr>
          <p:cNvPr id="10" name="Text 8"/>
          <p:cNvSpPr txBox="1"/>
          <p:nvPr/>
        </p:nvSpPr>
        <p:spPr>
          <a:xfrm>
            <a:off x="868680" y="3794760"/>
            <a:ext cx="4846320" cy="457200"/>
          </a:xfrm>
          <a:prstGeom prst="rect">
            <a:avLst/>
          </a:prstGeom>
          <a:noFill/>
          <a:ln/>
        </p:spPr>
        <p:txBody>
          <a:bodyPr wrap="square" lIns="0" tIns="0" rIns="0" bIns="0" rtlCol="0" anchor="t"/>
          <a:lstStyle/>
          <a:p>
            <a:pPr indent="0" marL="0">
              <a:buNone/>
            </a:pPr>
            <a:r>
              <a:rPr lang="en-US" sz="1900" b="1" dirty="0">
                <a:solidFill>
                  <a:schemeClr val="accent2"/>
                </a:solidFill>
              </a:rPr>
              <a:t>Insulin users</a:t>
            </a:r>
            <a:endParaRPr lang="en-US" sz="1900" dirty="0"/>
          </a:p>
        </p:txBody>
      </p:sp>
      <p:sp>
        <p:nvSpPr>
          <p:cNvPr id="11" name="Text 9"/>
          <p:cNvSpPr txBox="1"/>
          <p:nvPr/>
        </p:nvSpPr>
        <p:spPr>
          <a:xfrm>
            <a:off x="868680" y="4297680"/>
            <a:ext cx="4846320" cy="914400"/>
          </a:xfrm>
          <a:prstGeom prst="rect">
            <a:avLst/>
          </a:prstGeom>
          <a:noFill/>
          <a:ln/>
        </p:spPr>
        <p:txBody>
          <a:bodyPr wrap="square" lIns="0" tIns="0" rIns="0" bIns="0" rtlCol="0" anchor="t"/>
          <a:lstStyle/>
          <a:p>
            <a:pPr indent="0" marL="0">
              <a:buNone/>
            </a:pPr>
            <a:r>
              <a:rPr lang="en-US" sz="1500" dirty="0">
                <a:solidFill>
                  <a:schemeClr val="tx1"/>
                </a:solidFill>
              </a:rPr>
              <a:t>Their lows are the hardest to predict, on synthetic and real data</a:t>
            </a:r>
            <a:endParaRPr lang="en-US" sz="1500" dirty="0"/>
          </a:p>
        </p:txBody>
      </p:sp>
      <p:sp>
        <p:nvSpPr>
          <p:cNvPr id="12" name="card"/>
          <p:cNvSpPr/>
          <p:nvPr/>
        </p:nvSpPr>
        <p:spPr>
          <a:xfrm>
            <a:off x="6172200" y="3520440"/>
            <a:ext cx="5440680" cy="1874520"/>
          </a:xfrm>
          <a:prstGeom prst="roundRect">
            <a:avLst>
              <a:gd name="adj" fmla="val 5854"/>
            </a:avLst>
          </a:prstGeom>
          <a:solidFill>
            <a:schemeClr val="bg2"/>
          </a:solidFill>
          <a:ln/>
        </p:spPr>
      </p:sp>
      <p:sp>
        <p:nvSpPr>
          <p:cNvPr id="13" name="Text 11"/>
          <p:cNvSpPr txBox="1"/>
          <p:nvPr/>
        </p:nvSpPr>
        <p:spPr>
          <a:xfrm>
            <a:off x="6492240" y="3794760"/>
            <a:ext cx="4846320" cy="457200"/>
          </a:xfrm>
          <a:prstGeom prst="rect">
            <a:avLst/>
          </a:prstGeom>
          <a:noFill/>
          <a:ln/>
        </p:spPr>
        <p:txBody>
          <a:bodyPr wrap="square" lIns="0" tIns="0" rIns="0" bIns="0" rtlCol="0" anchor="t"/>
          <a:lstStyle/>
          <a:p>
            <a:pPr indent="0" marL="0">
              <a:buNone/>
            </a:pPr>
            <a:r>
              <a:rPr lang="en-US" sz="1900" b="1" dirty="0">
                <a:solidFill>
                  <a:schemeClr val="accent2"/>
                </a:solidFill>
              </a:rPr>
              <a:t>Inputs a real twin needs</a:t>
            </a:r>
            <a:endParaRPr lang="en-US" sz="1900" dirty="0"/>
          </a:p>
        </p:txBody>
      </p:sp>
      <p:sp>
        <p:nvSpPr>
          <p:cNvPr id="14" name="Text 12"/>
          <p:cNvSpPr txBox="1"/>
          <p:nvPr/>
        </p:nvSpPr>
        <p:spPr>
          <a:xfrm>
            <a:off x="6492240" y="4297680"/>
            <a:ext cx="4846320" cy="914400"/>
          </a:xfrm>
          <a:prstGeom prst="rect">
            <a:avLst/>
          </a:prstGeom>
          <a:noFill/>
          <a:ln/>
        </p:spPr>
        <p:txBody>
          <a:bodyPr wrap="square" lIns="0" tIns="0" rIns="0" bIns="0" rtlCol="0" anchor="t"/>
          <a:lstStyle/>
          <a:p>
            <a:pPr indent="0" marL="0">
              <a:buNone/>
            </a:pPr>
            <a:r>
              <a:rPr lang="en-US" sz="1500" dirty="0">
                <a:solidFill>
                  <a:schemeClr val="tx1"/>
                </a:solidFill>
              </a:rPr>
              <a:t>Planned meals and fresh doses are invisible to the model until glucose moves</a:t>
            </a:r>
            <a:endParaRPr lang="en-US" sz="1500" dirty="0"/>
          </a:p>
        </p:txBody>
      </p:sp>
      <p:sp>
        <p:nvSpPr>
          <p:cNvPr id="25" name="Slide Number Placeholder 0"/>
          <p:cNvSpPr>
            <a:spLocks noGrp="1"/>
          </p:cNvSpPr>
          <p:nvPr>
            <p:ph type="sldNum" sz="quarter" idx="4294967295"/>
          </p:nvPr>
        </p:nvSpPr>
        <p:spPr>
          <a:xfrm>
            <a:off x="1118585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1828800"/>
            <a:ext cx="10424160" cy="1737360"/>
          </a:xfrm>
          <a:prstGeom prst="rect">
            <a:avLst/>
          </a:prstGeom>
          <a:noFill/>
          <a:ln/>
        </p:spPr>
        <p:txBody>
          <a:bodyPr wrap="square" lIns="0" tIns="0" rIns="0" bIns="0" rtlCol="0" anchor="b"/>
          <a:lstStyle/>
          <a:p>
            <a:pPr algn="l" indent="0" marL="0">
              <a:buNone/>
            </a:pPr>
            <a:r>
              <a:rPr lang="en-US" sz="4200" b="1" dirty="0">
                <a:solidFill>
                  <a:schemeClr val="bg1"/>
                </a:solidFill>
                <a:latin typeface="Cambria" pitchFamily="34" charset="0"/>
                <a:ea typeface="Cambria" pitchFamily="34" charset="-122"/>
                <a:cs typeface="Cambria" pitchFamily="34" charset="-120"/>
              </a:rPr>
              <a:t>A twin that warns early, explains itself, and is honest about what it knows</a:t>
            </a:r>
            <a:endParaRPr lang="en-US" sz="4200" dirty="0"/>
          </a:p>
        </p:txBody>
      </p:sp>
      <p:sp>
        <p:nvSpPr>
          <p:cNvPr id="3" name="Text 0"/>
          <p:cNvSpPr/>
          <p:nvPr>
            <p:ph idx="101" type="body" hasCustomPrompt="1"/>
          </p:nvPr>
        </p:nvSpPr>
        <p:spPr>
          <a:xfrm>
            <a:off x="548640" y="3703320"/>
            <a:ext cx="10058400" cy="914400"/>
          </a:xfrm>
          <a:prstGeom prst="rect">
            <a:avLst/>
          </a:prstGeom>
          <a:noFill/>
          <a:ln/>
        </p:spPr>
        <p:txBody>
          <a:bodyPr wrap="square" lIns="0" tIns="0" rIns="0" bIns="0" rtlCol="0" anchor="t"/>
          <a:lstStyle/>
          <a:p>
            <a:pPr indent="0" marL="0">
              <a:buNone/>
            </a:pPr>
            <a:r>
              <a:rPr lang="en-US" sz="2000" dirty="0">
                <a:solidFill>
                  <a:schemeClr val="bg2"/>
                </a:solidFill>
              </a:rPr>
              <a:t>Next: validate on real linked records from Indian clinics, with clinicians in the loop</a:t>
            </a:r>
            <a:endParaRPr lang="en-US" sz="2000" dirty="0"/>
          </a:p>
        </p:txBody>
      </p:sp>
      <p:sp>
        <p:nvSpPr>
          <p:cNvPr id="4" name="Text 2"/>
          <p:cNvSpPr txBox="1"/>
          <p:nvPr/>
        </p:nvSpPr>
        <p:spPr>
          <a:xfrm>
            <a:off x="548640" y="4937760"/>
            <a:ext cx="8229600" cy="365760"/>
          </a:xfrm>
          <a:prstGeom prst="rect">
            <a:avLst/>
          </a:prstGeom>
          <a:noFill/>
          <a:ln/>
        </p:spPr>
        <p:txBody>
          <a:bodyPr wrap="square" lIns="0" tIns="0" rIns="0" bIns="0" rtlCol="0" anchor="t"/>
          <a:lstStyle/>
          <a:p>
            <a:pPr indent="0" marL="0">
              <a:buNone/>
            </a:pPr>
            <a:r>
              <a:rPr lang="en-US" sz="1600" b="1" dirty="0">
                <a:solidFill>
                  <a:schemeClr val="bg1"/>
                </a:solidFill>
              </a:rPr>
              <a:t>github.com/AkhileshNalla11/glycaemic-digital-twin</a:t>
            </a:r>
            <a:endParaRPr lang="en-US" sz="1600" dirty="0"/>
          </a:p>
        </p:txBody>
      </p:sp>
      <p:sp>
        <p:nvSpPr>
          <p:cNvPr id="5" name="Text 3"/>
          <p:cNvSpPr txBox="1"/>
          <p:nvPr/>
        </p:nvSpPr>
        <p:spPr>
          <a:xfrm>
            <a:off x="548640" y="5349240"/>
            <a:ext cx="8229600" cy="365760"/>
          </a:xfrm>
          <a:prstGeom prst="rect">
            <a:avLst/>
          </a:prstGeom>
          <a:noFill/>
          <a:ln/>
        </p:spPr>
        <p:txBody>
          <a:bodyPr wrap="square" lIns="0" tIns="0" rIns="0" bIns="0" rtlCol="0" anchor="t"/>
          <a:lstStyle/>
          <a:p>
            <a:pPr indent="0" marL="0">
              <a:buNone/>
            </a:pPr>
            <a:r>
              <a:rPr lang="en-US" sz="1400" dirty="0">
                <a:solidFill>
                  <a:schemeClr val="bg2"/>
                </a:solidFill>
              </a:rPr>
              <a:t>Live demo and video links: see the README</a:t>
            </a:r>
            <a:endParaRPr lang="en-US" sz="1400" dirty="0"/>
          </a:p>
        </p:txBody>
      </p:sp>
      <p:sp>
        <p:nvSpPr>
          <p:cNvPr id="6" name="Text 4"/>
          <p:cNvSpPr txBox="1"/>
          <p:nvPr/>
        </p:nvSpPr>
        <p:spPr>
          <a:xfrm>
            <a:off x="548640" y="6035040"/>
            <a:ext cx="7315200" cy="320040"/>
          </a:xfrm>
          <a:prstGeom prst="rect">
            <a:avLst/>
          </a:prstGeom>
          <a:noFill/>
          <a:ln/>
        </p:spPr>
        <p:txBody>
          <a:bodyPr wrap="square" lIns="0" tIns="0" rIns="0" bIns="0" rtlCol="0" anchor="t"/>
          <a:lstStyle/>
          <a:p>
            <a:pPr indent="0" marL="0">
              <a:buNone/>
            </a:pPr>
            <a:r>
              <a:rPr lang="en-US" sz="1200" dirty="0">
                <a:solidFill>
                  <a:schemeClr val="bg2"/>
                </a:solidFill>
              </a:rPr>
              <a:t>Synthetic-data research prototype. Not for clinical use.</a:t>
            </a:r>
            <a:endParaRPr lang="en-US" sz="1200" dirty="0"/>
          </a:p>
        </p:txBody>
      </p:sp>
    </p:spTree>
  </p:cSld>
  <p:clrMapOvr>
    <a:masterClrMapping/>
  </p:clrMapOvr>
</p:sld>
</file>

<file path=ppt/theme/theme1.xml><?xml version="1.0" encoding="utf-8"?>
<a:theme xmlns:a="http://schemas.openxmlformats.org/drawingml/2006/main" name="Glycaemic Twin">
  <a:themeElements>
    <a:clrScheme name="Glycaemic Twin">
      <a:dk1>
        <a:srgbClr val="0F1B2A"/>
      </a:dk1>
      <a:lt1>
        <a:srgbClr val="FFFFFF"/>
      </a:lt1>
      <a:dk2>
        <a:srgbClr val="0B2F3F"/>
      </a:dk2>
      <a:lt2>
        <a:srgbClr val="F1F5F7"/>
      </a:lt2>
      <a:accent1>
        <a:srgbClr val="0F766E"/>
      </a:accent1>
      <a:accent2>
        <a:srgbClr val="EB6834"/>
      </a:accent2>
      <a:accent3>
        <a:srgbClr val="2A78D6"/>
      </a:accent3>
      <a:accent4>
        <a:srgbClr val="3AA17E"/>
      </a:accent4>
      <a:accent5>
        <a:srgbClr val="B42318"/>
      </a:accent5>
      <a:accent6>
        <a:srgbClr val="8794A5"/>
      </a:accent6>
      <a:hlink>
        <a:srgbClr val="0F766E"/>
      </a:hlink>
      <a:folHlink>
        <a:srgbClr val="0B2F3F"/>
      </a:folHlink>
    </a:clrScheme>
    <a:fontScheme name="Glycaemic Twin">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Glycaemic Digital Twin</dc:title>
  <dc:subject>Happiest Health Digital Twin Challenge 2026</dc:subject>
  <dc:creator>PptxGenJS</dc:creator>
  <cp:lastModifiedBy>PptxGenJS</cp:lastModifiedBy>
  <cp:revision>1</cp:revision>
  <dcterms:created xsi:type="dcterms:W3CDTF">2026-10-19T10:04:53Z</dcterms:created>
  <dcterms:modified xsi:type="dcterms:W3CDTF">2026-10-19T10:04:53Z</dcterms:modified>
</cp:coreProperties>
</file>
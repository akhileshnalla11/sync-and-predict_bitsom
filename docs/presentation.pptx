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2"/>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BA56BDBC-93F8-7487-F16C-93A63708BE76}">
          <p14:sldIdLst>
            <p14:sldId id="256"/>
          </p14:sldIdLst>
        </p14:section>
        <p14:section name="Problem" id="{B6A1C5E8-0983-1A18-49F9-4CF3FF32057D}">
          <p14:sldIdLst>
            <p14:sldId id="257"/>
            <p14:sldId id="258"/>
          </p14:sldIdLst>
        </p14:section>
        <p14:section name="How it works" id="{88869EB3-3F3A-CE97-514D-6BC0C497CD10}">
          <p14:sldIdLst>
            <p14:sldId id="259"/>
            <p14:sldId id="260"/>
            <p14:sldId id="261"/>
          </p14:sldIdLst>
        </p14:section>
        <p14:section name="Results" id="{DCD4AA41-5D9B-3EE5-32E4-1A4616A875F9}">
          <p14:sldIdLst>
            <p14:sldId id="262"/>
            <p14:sldId id="263"/>
            <p14:sldId id="264"/>
            <p14:sldId id="265"/>
            <p14:sldId id="266"/>
          </p14:sldIdLst>
        </p14:section>
        <p14:section name="Real data" id="{1F4AC504-3833-2FDA-E0BC-6AF9CE6B123F}">
          <p14:sldIdLst>
            <p14:sldId id="267"/>
            <p14:sldId id="268"/>
            <p14:sldId id="269"/>
            <p14:sldId id="270"/>
            <p14:sldId id="271"/>
          </p14:sldIdLst>
        </p14:section>
        <p14:section name="Path forward" id="{59EBD792-AEBA-737F-3CD0-1264FC380D0D}">
          <p14:sldIdLst>
            <p14:sldId id="272"/>
            <p14:sldId id="273"/>
            <p14:sldId id="274"/>
            <p14:sldId id="27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74" d="100"/>
          <a:sy n="74" d="100"/>
        </p:scale>
        <p:origin x="352" y="3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Worksheet3.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Worksheet4.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clustered"/>
        <c:varyColors val="0"/>
        <c:ser>
          <c:idx val="0"/>
          <c:order val="0"/>
          <c:tx>
            <c:strRef>
              <c:f>Sheet1!$B$1</c:f>
              <c:strCache>
                <c:ptCount val="1"/>
                <c:pt idx="0">
                  <c:v>Trend extrapolation</c:v>
                </c:pt>
              </c:strCache>
            </c:strRef>
          </c:tx>
          <c:spPr>
            <a:solidFill>
              <a:srgbClr val="C9D3DD"/>
            </a:solidFill>
            <a:effectLst/>
          </c:spPr>
          <c:invertIfNegative val="0"/>
          <c:dLbls>
            <c:numFmt formatCode="0.00" sourceLinked="0"/>
            <c:spPr>
              <a:noFill/>
              <a:ln>
                <a:noFill/>
              </a:ln>
              <a:effectLst/>
            </c:spPr>
            <c:txPr>
              <a:bodyPr/>
              <a:lstStyle/>
              <a:p>
                <a:pPr>
                  <a:defRPr sz="1500" b="1" i="0" u="none" strike="noStrike">
                    <a:solidFill>
                      <a:srgbClr val="0B2F3F"/>
                    </a:solidFill>
                    <a:latin typeface="+mn-lt"/>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Sheet1!$A$2:$A$3</c:f>
              <c:strCache>
                <c:ptCount val="2"/>
                <c:pt idx="0">
                  <c:v>High glucose (&gt; 180)</c:v>
                </c:pt>
                <c:pt idx="1">
                  <c:v>Low glucose (&lt; 70)</c:v>
                </c:pt>
              </c:strCache>
            </c:strRef>
          </c:cat>
          <c:val>
            <c:numRef>
              <c:f>Sheet1!$B$2:$B$3</c:f>
              <c:numCache>
                <c:formatCode>General</c:formatCode>
                <c:ptCount val="2"/>
                <c:pt idx="0">
                  <c:v>0.38</c:v>
                </c:pt>
                <c:pt idx="1">
                  <c:v>0.19</c:v>
                </c:pt>
              </c:numCache>
            </c:numRef>
          </c:val>
          <c:extLst>
            <c:ext xmlns:c16="http://schemas.microsoft.com/office/drawing/2014/chart" uri="{C3380CC4-5D6E-409C-BE32-E72D297353CC}">
              <c16:uniqueId val="{00000000-B674-4074-A88F-890333D028B7}"/>
            </c:ext>
          </c:extLst>
        </c:ser>
        <c:ser>
          <c:idx val="1"/>
          <c:order val="1"/>
          <c:tx>
            <c:strRef>
              <c:f>Sheet1!$C$1</c:f>
              <c:strCache>
                <c:ptCount val="1"/>
                <c:pt idx="0">
                  <c:v>LightGBM, CGM only</c:v>
                </c:pt>
              </c:strCache>
            </c:strRef>
          </c:tx>
          <c:spPr>
            <a:solidFill>
              <a:srgbClr val="8CCBC4"/>
            </a:solidFill>
            <a:effectLst/>
          </c:spPr>
          <c:invertIfNegative val="0"/>
          <c:dLbls>
            <c:numFmt formatCode="0.00" sourceLinked="0"/>
            <c:spPr>
              <a:noFill/>
              <a:ln>
                <a:noFill/>
              </a:ln>
              <a:effectLst/>
            </c:spPr>
            <c:txPr>
              <a:bodyPr/>
              <a:lstStyle/>
              <a:p>
                <a:pPr>
                  <a:defRPr sz="1500" b="1" i="0" u="none" strike="noStrike">
                    <a:solidFill>
                      <a:srgbClr val="0B2F3F"/>
                    </a:solidFill>
                    <a:latin typeface="+mn-lt"/>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Sheet1!$A$2:$A$3</c:f>
              <c:strCache>
                <c:ptCount val="2"/>
                <c:pt idx="0">
                  <c:v>High glucose (&gt; 180)</c:v>
                </c:pt>
                <c:pt idx="1">
                  <c:v>Low glucose (&lt; 70)</c:v>
                </c:pt>
              </c:strCache>
            </c:strRef>
          </c:cat>
          <c:val>
            <c:numRef>
              <c:f>Sheet1!$C$2:$C$3</c:f>
              <c:numCache>
                <c:formatCode>General</c:formatCode>
                <c:ptCount val="2"/>
                <c:pt idx="0">
                  <c:v>0.72</c:v>
                </c:pt>
                <c:pt idx="1">
                  <c:v>0.65</c:v>
                </c:pt>
              </c:numCache>
            </c:numRef>
          </c:val>
          <c:extLst>
            <c:ext xmlns:c16="http://schemas.microsoft.com/office/drawing/2014/chart" uri="{C3380CC4-5D6E-409C-BE32-E72D297353CC}">
              <c16:uniqueId val="{00000001-B674-4074-A88F-890333D028B7}"/>
            </c:ext>
          </c:extLst>
        </c:ser>
        <c:ser>
          <c:idx val="2"/>
          <c:order val="2"/>
          <c:tx>
            <c:strRef>
              <c:f>Sheet1!$D$1</c:f>
              <c:strCache>
                <c:ptCount val="1"/>
                <c:pt idx="0">
                  <c:v>LightGBM, CGM + wearables + EHR</c:v>
                </c:pt>
              </c:strCache>
            </c:strRef>
          </c:tx>
          <c:spPr>
            <a:solidFill>
              <a:srgbClr val="0F766E"/>
            </a:solidFill>
            <a:effectLst/>
          </c:spPr>
          <c:invertIfNegative val="0"/>
          <c:dLbls>
            <c:numFmt formatCode="0.00" sourceLinked="0"/>
            <c:spPr>
              <a:noFill/>
              <a:ln>
                <a:noFill/>
              </a:ln>
              <a:effectLst/>
            </c:spPr>
            <c:txPr>
              <a:bodyPr/>
              <a:lstStyle/>
              <a:p>
                <a:pPr>
                  <a:defRPr sz="1500" b="1" i="0" u="none" strike="noStrike">
                    <a:solidFill>
                      <a:srgbClr val="0B2F3F"/>
                    </a:solidFill>
                    <a:latin typeface="+mn-lt"/>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Sheet1!$A$2:$A$3</c:f>
              <c:strCache>
                <c:ptCount val="2"/>
                <c:pt idx="0">
                  <c:v>High glucose (&gt; 180)</c:v>
                </c:pt>
                <c:pt idx="1">
                  <c:v>Low glucose (&lt; 70)</c:v>
                </c:pt>
              </c:strCache>
            </c:strRef>
          </c:cat>
          <c:val>
            <c:numRef>
              <c:f>Sheet1!$D$2:$D$3</c:f>
              <c:numCache>
                <c:formatCode>General</c:formatCode>
                <c:ptCount val="2"/>
                <c:pt idx="0">
                  <c:v>0.74</c:v>
                </c:pt>
                <c:pt idx="1">
                  <c:v>0.71</c:v>
                </c:pt>
              </c:numCache>
            </c:numRef>
          </c:val>
          <c:extLst>
            <c:ext xmlns:c16="http://schemas.microsoft.com/office/drawing/2014/chart" uri="{C3380CC4-5D6E-409C-BE32-E72D297353CC}">
              <c16:uniqueId val="{00000002-B674-4074-A88F-890333D028B7}"/>
            </c:ext>
          </c:extLst>
        </c:ser>
        <c:dLbls>
          <c:showLegendKey val="0"/>
          <c:showVal val="1"/>
          <c:showCatName val="0"/>
          <c:showSerName val="0"/>
          <c:showPercent val="0"/>
          <c:showBubbleSize val="0"/>
        </c:dLbls>
        <c:gapWidth val="55"/>
        <c:overlap val="-8"/>
        <c:axId val="2094734554"/>
        <c:axId val="2094734552"/>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300" b="0" i="0" u="none" strike="noStrike">
                <a:solidFill>
                  <a:srgbClr val="14202E"/>
                </a:solidFill>
                <a:latin typeface="+mn-lt"/>
              </a:defRPr>
            </a:pPr>
            <a:endParaRPr lang="en-US"/>
          </a:p>
        </c:txPr>
        <c:crossAx val="2094734552"/>
        <c:crosses val="autoZero"/>
        <c:auto val="1"/>
        <c:lblAlgn val="ctr"/>
        <c:lblOffset val="100"/>
        <c:noMultiLvlLbl val="1"/>
      </c:catAx>
      <c:valAx>
        <c:axId val="2094734552"/>
        <c:scaling>
          <c:orientation val="minMax"/>
          <c:max val="0.85"/>
          <c:min val="0"/>
        </c:scaling>
        <c:delete val="1"/>
        <c:axPos val="l"/>
        <c:numFmt formatCode="General" sourceLinked="0"/>
        <c:majorTickMark val="out"/>
        <c:minorTickMark val="none"/>
        <c:tickLblPos val="nextTo"/>
        <c:crossAx val="2094734554"/>
        <c:crosses val="autoZero"/>
        <c:crossBetween val="between"/>
      </c:valAx>
      <c:spPr>
        <a:noFill/>
        <a:ln>
          <a:noFill/>
        </a:ln>
        <a:effectLst/>
      </c:spPr>
    </c:plotArea>
    <c:legend>
      <c:legendPos val="b"/>
      <c:overlay val="0"/>
      <c:txPr>
        <a:bodyPr/>
        <a:lstStyle/>
        <a:p>
          <a:pPr>
            <a:defRPr sz="1200">
              <a:solidFill>
                <a:srgbClr val="14202E"/>
              </a:solidFill>
              <a:latin typeface="+mn-lt"/>
              <a:cs typeface="+mn-lt"/>
            </a:defRPr>
          </a:pPr>
          <a:endParaRPr lang="en-US"/>
        </a:p>
      </c:txPr>
    </c:legend>
    <c:plotVisOnly val="1"/>
    <c:dispBlanksAs val="span"/>
    <c:showDLblsOverMax val="1"/>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clustered"/>
        <c:varyColors val="0"/>
        <c:ser>
          <c:idx val="0"/>
          <c:order val="0"/>
          <c:tx>
            <c:strRef>
              <c:f>Sheet1!$B$1</c:f>
              <c:strCache>
                <c:ptCount val="1"/>
                <c:pt idx="0">
                  <c:v>AUROC</c:v>
                </c:pt>
              </c:strCache>
            </c:strRef>
          </c:tx>
          <c:spPr>
            <a:solidFill>
              <a:srgbClr val="C9D3DD"/>
            </a:solidFill>
            <a:effectLst/>
          </c:spPr>
          <c:invertIfNegative val="0"/>
          <c:dPt>
            <c:idx val="0"/>
            <c:invertIfNegative val="0"/>
            <c:bubble3D val="0"/>
            <c:extLst>
              <c:ext xmlns:c16="http://schemas.microsoft.com/office/drawing/2014/chart" uri="{C3380CC4-5D6E-409C-BE32-E72D297353CC}">
                <c16:uniqueId val="{00000001-CB8B-44BA-BBC3-DEBD0114460B}"/>
              </c:ext>
            </c:extLst>
          </c:dPt>
          <c:dPt>
            <c:idx val="1"/>
            <c:invertIfNegative val="0"/>
            <c:bubble3D val="0"/>
            <c:spPr>
              <a:solidFill>
                <a:srgbClr val="E8643A"/>
              </a:solidFill>
              <a:effectLst/>
            </c:spPr>
            <c:extLst>
              <c:ext xmlns:c16="http://schemas.microsoft.com/office/drawing/2014/chart" uri="{C3380CC4-5D6E-409C-BE32-E72D297353CC}">
                <c16:uniqueId val="{00000003-CB8B-44BA-BBC3-DEBD0114460B}"/>
              </c:ext>
            </c:extLst>
          </c:dPt>
          <c:dPt>
            <c:idx val="2"/>
            <c:invertIfNegative val="0"/>
            <c:bubble3D val="0"/>
            <c:spPr>
              <a:solidFill>
                <a:srgbClr val="0F766E"/>
              </a:solidFill>
              <a:effectLst/>
            </c:spPr>
            <c:extLst>
              <c:ext xmlns:c16="http://schemas.microsoft.com/office/drawing/2014/chart" uri="{C3380CC4-5D6E-409C-BE32-E72D297353CC}">
                <c16:uniqueId val="{00000005-CB8B-44BA-BBC3-DEBD0114460B}"/>
              </c:ext>
            </c:extLst>
          </c:dPt>
          <c:dLbls>
            <c:numFmt formatCode="0.00" sourceLinked="0"/>
            <c:spPr>
              <a:noFill/>
              <a:ln>
                <a:noFill/>
              </a:ln>
              <a:effectLst/>
            </c:spPr>
            <c:txPr>
              <a:bodyPr/>
              <a:lstStyle/>
              <a:p>
                <a:pPr>
                  <a:defRPr sz="1500" b="1" i="0" u="none" strike="noStrike">
                    <a:solidFill>
                      <a:srgbClr val="0B2F3F"/>
                    </a:solidFill>
                    <a:latin typeface="+mn-lt"/>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Synthetic test</c:v>
                </c:pt>
                <c:pt idx="1">
                  <c:v>Real, zero-shot</c:v>
                </c:pt>
                <c:pt idx="2">
                  <c:v>Real, retrained</c:v>
                </c:pt>
              </c:strCache>
            </c:strRef>
          </c:cat>
          <c:val>
            <c:numRef>
              <c:f>Sheet1!$B$2:$B$4</c:f>
              <c:numCache>
                <c:formatCode>General</c:formatCode>
                <c:ptCount val="3"/>
                <c:pt idx="0">
                  <c:v>0.93</c:v>
                </c:pt>
                <c:pt idx="1">
                  <c:v>0.7</c:v>
                </c:pt>
                <c:pt idx="2">
                  <c:v>0.77</c:v>
                </c:pt>
              </c:numCache>
            </c:numRef>
          </c:val>
          <c:extLst>
            <c:ext xmlns:c16="http://schemas.microsoft.com/office/drawing/2014/chart" uri="{C3380CC4-5D6E-409C-BE32-E72D297353CC}">
              <c16:uniqueId val="{00000006-CB8B-44BA-BBC3-DEBD0114460B}"/>
            </c:ext>
          </c:extLst>
        </c:ser>
        <c:dLbls>
          <c:showLegendKey val="0"/>
          <c:showVal val="1"/>
          <c:showCatName val="0"/>
          <c:showSerName val="0"/>
          <c:showPercent val="0"/>
          <c:showBubbleSize val="0"/>
        </c:dLbls>
        <c:gapWidth val="45"/>
        <c:axId val="2094734554"/>
        <c:axId val="2094734552"/>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300" b="0" i="0" u="none" strike="noStrike">
                <a:solidFill>
                  <a:srgbClr val="14202E"/>
                </a:solidFill>
                <a:latin typeface="+mn-lt"/>
              </a:defRPr>
            </a:pPr>
            <a:endParaRPr lang="en-US"/>
          </a:p>
        </c:txPr>
        <c:crossAx val="2094734552"/>
        <c:crosses val="autoZero"/>
        <c:auto val="1"/>
        <c:lblAlgn val="ctr"/>
        <c:lblOffset val="100"/>
        <c:noMultiLvlLbl val="1"/>
      </c:catAx>
      <c:valAx>
        <c:axId val="2094734552"/>
        <c:scaling>
          <c:orientation val="minMax"/>
          <c:max val="1.05"/>
          <c:min val="0"/>
        </c:scaling>
        <c:delete val="1"/>
        <c:axPos val="l"/>
        <c:numFmt formatCode="General" sourceLinked="0"/>
        <c:majorTickMark val="out"/>
        <c:minorTickMark val="none"/>
        <c:tickLblPos val="nextTo"/>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clustered"/>
        <c:varyColors val="0"/>
        <c:ser>
          <c:idx val="0"/>
          <c:order val="0"/>
          <c:tx>
            <c:strRef>
              <c:f>Sheet1!$B$1</c:f>
              <c:strCache>
                <c:ptCount val="1"/>
                <c:pt idx="0">
                  <c:v>ECE</c:v>
                </c:pt>
              </c:strCache>
            </c:strRef>
          </c:tx>
          <c:spPr>
            <a:solidFill>
              <a:srgbClr val="E8643A"/>
            </a:solidFill>
            <a:effectLst/>
          </c:spPr>
          <c:invertIfNegative val="0"/>
          <c:dPt>
            <c:idx val="0"/>
            <c:invertIfNegative val="0"/>
            <c:bubble3D val="0"/>
            <c:extLst>
              <c:ext xmlns:c16="http://schemas.microsoft.com/office/drawing/2014/chart" uri="{C3380CC4-5D6E-409C-BE32-E72D297353CC}">
                <c16:uniqueId val="{00000001-EDE8-404E-94B4-31E0B8A9EE38}"/>
              </c:ext>
            </c:extLst>
          </c:dPt>
          <c:dPt>
            <c:idx val="1"/>
            <c:invertIfNegative val="0"/>
            <c:bubble3D val="0"/>
            <c:spPr>
              <a:solidFill>
                <a:srgbClr val="0F766E"/>
              </a:solidFill>
              <a:effectLst/>
            </c:spPr>
            <c:extLst>
              <c:ext xmlns:c16="http://schemas.microsoft.com/office/drawing/2014/chart" uri="{C3380CC4-5D6E-409C-BE32-E72D297353CC}">
                <c16:uniqueId val="{00000003-EDE8-404E-94B4-31E0B8A9EE38}"/>
              </c:ext>
            </c:extLst>
          </c:dPt>
          <c:dLbls>
            <c:numFmt formatCode="0.000" sourceLinked="0"/>
            <c:spPr>
              <a:noFill/>
              <a:ln>
                <a:noFill/>
              </a:ln>
              <a:effectLst/>
            </c:spPr>
            <c:txPr>
              <a:bodyPr/>
              <a:lstStyle/>
              <a:p>
                <a:pPr>
                  <a:defRPr sz="1500" b="1" i="0" u="none" strike="noStrike">
                    <a:solidFill>
                      <a:srgbClr val="0B2F3F"/>
                    </a:solidFill>
                    <a:latin typeface="+mn-lt"/>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Sheet1!$A$2:$A$3</c:f>
              <c:strCache>
                <c:ptCount val="2"/>
                <c:pt idx="0">
                  <c:v>Zero-shot</c:v>
                </c:pt>
                <c:pt idx="1">
                  <c:v>Recalibrated</c:v>
                </c:pt>
              </c:strCache>
            </c:strRef>
          </c:cat>
          <c:val>
            <c:numRef>
              <c:f>Sheet1!$B$2:$B$3</c:f>
              <c:numCache>
                <c:formatCode>General</c:formatCode>
                <c:ptCount val="2"/>
                <c:pt idx="0">
                  <c:v>0.13600000000000001</c:v>
                </c:pt>
                <c:pt idx="1">
                  <c:v>2.4E-2</c:v>
                </c:pt>
              </c:numCache>
            </c:numRef>
          </c:val>
          <c:extLst>
            <c:ext xmlns:c16="http://schemas.microsoft.com/office/drawing/2014/chart" uri="{C3380CC4-5D6E-409C-BE32-E72D297353CC}">
              <c16:uniqueId val="{00000004-EDE8-404E-94B4-31E0B8A9EE38}"/>
            </c:ext>
          </c:extLst>
        </c:ser>
        <c:dLbls>
          <c:showLegendKey val="0"/>
          <c:showVal val="1"/>
          <c:showCatName val="0"/>
          <c:showSerName val="0"/>
          <c:showPercent val="0"/>
          <c:showBubbleSize val="0"/>
        </c:dLbls>
        <c:gapWidth val="45"/>
        <c:axId val="2094734554"/>
        <c:axId val="2094734552"/>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300" b="0" i="0" u="none" strike="noStrike">
                <a:solidFill>
                  <a:srgbClr val="14202E"/>
                </a:solidFill>
                <a:latin typeface="+mn-lt"/>
              </a:defRPr>
            </a:pPr>
            <a:endParaRPr lang="en-US"/>
          </a:p>
        </c:txPr>
        <c:crossAx val="2094734552"/>
        <c:crosses val="autoZero"/>
        <c:auto val="1"/>
        <c:lblAlgn val="ctr"/>
        <c:lblOffset val="100"/>
        <c:noMultiLvlLbl val="1"/>
      </c:catAx>
      <c:valAx>
        <c:axId val="2094734552"/>
        <c:scaling>
          <c:orientation val="minMax"/>
          <c:max val="0.16"/>
          <c:min val="0"/>
        </c:scaling>
        <c:delete val="1"/>
        <c:axPos val="l"/>
        <c:numFmt formatCode="General" sourceLinked="0"/>
        <c:majorTickMark val="out"/>
        <c:minorTickMark val="none"/>
        <c:tickLblPos val="nextTo"/>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bar"/>
        <c:grouping val="clustered"/>
        <c:varyColors val="0"/>
        <c:ser>
          <c:idx val="0"/>
          <c:order val="0"/>
          <c:tx>
            <c:strRef>
              <c:f>Sheet1!$B$1</c:f>
              <c:strCache>
                <c:ptCount val="1"/>
                <c:pt idx="0">
                  <c:v>AUPRC</c:v>
                </c:pt>
              </c:strCache>
            </c:strRef>
          </c:tx>
          <c:spPr>
            <a:solidFill>
              <a:srgbClr val="C9D3DD"/>
            </a:solidFill>
            <a:effectLst/>
          </c:spPr>
          <c:invertIfNegative val="0"/>
          <c:dPt>
            <c:idx val="0"/>
            <c:invertIfNegative val="0"/>
            <c:bubble3D val="0"/>
            <c:extLst>
              <c:ext xmlns:c16="http://schemas.microsoft.com/office/drawing/2014/chart" uri="{C3380CC4-5D6E-409C-BE32-E72D297353CC}">
                <c16:uniqueId val="{00000001-9A45-4C11-98E6-38BD4D24D442}"/>
              </c:ext>
            </c:extLst>
          </c:dPt>
          <c:dPt>
            <c:idx val="1"/>
            <c:invertIfNegative val="0"/>
            <c:bubble3D val="0"/>
            <c:spPr>
              <a:solidFill>
                <a:srgbClr val="8CCBC4"/>
              </a:solidFill>
              <a:effectLst/>
            </c:spPr>
            <c:extLst>
              <c:ext xmlns:c16="http://schemas.microsoft.com/office/drawing/2014/chart" uri="{C3380CC4-5D6E-409C-BE32-E72D297353CC}">
                <c16:uniqueId val="{00000003-9A45-4C11-98E6-38BD4D24D442}"/>
              </c:ext>
            </c:extLst>
          </c:dPt>
          <c:dPt>
            <c:idx val="2"/>
            <c:invertIfNegative val="0"/>
            <c:bubble3D val="0"/>
            <c:spPr>
              <a:solidFill>
                <a:srgbClr val="0F766E"/>
              </a:solidFill>
              <a:effectLst/>
            </c:spPr>
            <c:extLst>
              <c:ext xmlns:c16="http://schemas.microsoft.com/office/drawing/2014/chart" uri="{C3380CC4-5D6E-409C-BE32-E72D297353CC}">
                <c16:uniqueId val="{00000005-9A45-4C11-98E6-38BD4D24D442}"/>
              </c:ext>
            </c:extLst>
          </c:dPt>
          <c:dPt>
            <c:idx val="3"/>
            <c:invertIfNegative val="0"/>
            <c:bubble3D val="0"/>
            <c:spPr>
              <a:solidFill>
                <a:srgbClr val="F4B79E"/>
              </a:solidFill>
              <a:effectLst/>
            </c:spPr>
            <c:extLst>
              <c:ext xmlns:c16="http://schemas.microsoft.com/office/drawing/2014/chart" uri="{C3380CC4-5D6E-409C-BE32-E72D297353CC}">
                <c16:uniqueId val="{00000007-9A45-4C11-98E6-38BD4D24D442}"/>
              </c:ext>
            </c:extLst>
          </c:dPt>
          <c:dPt>
            <c:idx val="4"/>
            <c:invertIfNegative val="0"/>
            <c:bubble3D val="0"/>
            <c:spPr>
              <a:solidFill>
                <a:srgbClr val="F4B79E"/>
              </a:solidFill>
              <a:effectLst/>
            </c:spPr>
            <c:extLst>
              <c:ext xmlns:c16="http://schemas.microsoft.com/office/drawing/2014/chart" uri="{C3380CC4-5D6E-409C-BE32-E72D297353CC}">
                <c16:uniqueId val="{00000009-9A45-4C11-98E6-38BD4D24D442}"/>
              </c:ext>
            </c:extLst>
          </c:dPt>
          <c:dPt>
            <c:idx val="5"/>
            <c:invertIfNegative val="0"/>
            <c:bubble3D val="0"/>
            <c:spPr>
              <a:solidFill>
                <a:srgbClr val="F4B79E"/>
              </a:solidFill>
              <a:effectLst/>
            </c:spPr>
            <c:extLst>
              <c:ext xmlns:c16="http://schemas.microsoft.com/office/drawing/2014/chart" uri="{C3380CC4-5D6E-409C-BE32-E72D297353CC}">
                <c16:uniqueId val="{0000000B-9A45-4C11-98E6-38BD4D24D442}"/>
              </c:ext>
            </c:extLst>
          </c:dPt>
          <c:dLbls>
            <c:numFmt formatCode="0.00" sourceLinked="0"/>
            <c:spPr>
              <a:noFill/>
              <a:ln>
                <a:noFill/>
              </a:ln>
              <a:effectLst/>
            </c:spPr>
            <c:txPr>
              <a:bodyPr/>
              <a:lstStyle/>
              <a:p>
                <a:pPr>
                  <a:defRPr sz="1500" b="1" i="0" u="none" strike="noStrike">
                    <a:solidFill>
                      <a:srgbClr val="0B2F3F"/>
                    </a:solidFill>
                    <a:latin typeface="+mn-lt"/>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Sheet1!$A$2:$A$7</c:f>
              <c:strCache>
                <c:ptCount val="6"/>
                <c:pt idx="0">
                  <c:v>Trend extrapolation</c:v>
                </c:pt>
                <c:pt idx="1">
                  <c:v>Synthetic-trained, zero-shot</c:v>
                </c:pt>
                <c:pt idx="2">
                  <c:v>Real-trained, CGM only</c:v>
                </c:pt>
                <c:pt idx="3">
                  <c:v>+ health record (24 fields)</c:v>
                </c:pt>
                <c:pt idx="4">
                  <c:v>+ record + logged doses</c:v>
                </c:pt>
                <c:pt idx="5">
                  <c:v>+ full clinical record</c:v>
                </c:pt>
              </c:strCache>
            </c:strRef>
          </c:cat>
          <c:val>
            <c:numRef>
              <c:f>Sheet1!$B$2:$B$7</c:f>
              <c:numCache>
                <c:formatCode>General</c:formatCode>
                <c:ptCount val="6"/>
                <c:pt idx="0">
                  <c:v>0.14599999999999999</c:v>
                </c:pt>
                <c:pt idx="1">
                  <c:v>0.214</c:v>
                </c:pt>
                <c:pt idx="2">
                  <c:v>0.34100000000000003</c:v>
                </c:pt>
                <c:pt idx="3">
                  <c:v>0.32700000000000001</c:v>
                </c:pt>
                <c:pt idx="4">
                  <c:v>0.32100000000000001</c:v>
                </c:pt>
                <c:pt idx="5">
                  <c:v>0.3</c:v>
                </c:pt>
              </c:numCache>
            </c:numRef>
          </c:val>
          <c:extLst>
            <c:ext xmlns:c16="http://schemas.microsoft.com/office/drawing/2014/chart" uri="{C3380CC4-5D6E-409C-BE32-E72D297353CC}">
              <c16:uniqueId val="{0000000C-9A45-4C11-98E6-38BD4D24D442}"/>
            </c:ext>
          </c:extLst>
        </c:ser>
        <c:dLbls>
          <c:showLegendKey val="0"/>
          <c:showVal val="1"/>
          <c:showCatName val="0"/>
          <c:showSerName val="0"/>
          <c:showPercent val="0"/>
          <c:showBubbleSize val="0"/>
        </c:dLbls>
        <c:gapWidth val="38"/>
        <c:axId val="2094734554"/>
        <c:axId val="2094734552"/>
      </c:barChart>
      <c:catAx>
        <c:axId val="2094734554"/>
        <c:scaling>
          <c:orientation val="maxMin"/>
        </c:scaling>
        <c:delete val="0"/>
        <c:axPos val="l"/>
        <c:numFmt formatCode="General" sourceLinked="1"/>
        <c:majorTickMark val="out"/>
        <c:minorTickMark val="none"/>
        <c:tickLblPos val="nextTo"/>
        <c:spPr>
          <a:ln w="12700" cap="flat">
            <a:noFill/>
            <a:prstDash val="solid"/>
            <a:round/>
          </a:ln>
        </c:spPr>
        <c:txPr>
          <a:bodyPr/>
          <a:lstStyle/>
          <a:p>
            <a:pPr>
              <a:defRPr sz="1200" b="0" i="0" u="none" strike="noStrike">
                <a:solidFill>
                  <a:srgbClr val="14202E"/>
                </a:solidFill>
                <a:latin typeface="+mn-lt"/>
              </a:defRPr>
            </a:pPr>
            <a:endParaRPr lang="en-US"/>
          </a:p>
        </c:txPr>
        <c:crossAx val="2094734552"/>
        <c:crosses val="autoZero"/>
        <c:auto val="1"/>
        <c:lblAlgn val="ctr"/>
        <c:lblOffset val="100"/>
        <c:noMultiLvlLbl val="1"/>
      </c:catAx>
      <c:valAx>
        <c:axId val="2094734552"/>
        <c:scaling>
          <c:orientation val="minMax"/>
          <c:max val="0.42"/>
          <c:min val="0"/>
        </c:scaling>
        <c:delete val="1"/>
        <c:axPos val="t"/>
        <c:numFmt formatCode="General" sourceLinked="0"/>
        <c:majorTickMark val="out"/>
        <c:minorTickMark val="none"/>
        <c:tickLblPos val="low"/>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lineChart>
        <c:grouping val="standard"/>
        <c:varyColors val="0"/>
        <c:ser>
          <c:idx val="0"/>
          <c:order val="0"/>
          <c:tx>
            <c:strRef>
              <c:f>Sheet1!$B$1</c:f>
              <c:strCache>
                <c:ptCount val="1"/>
                <c:pt idx="0">
                  <c:v>CGM only</c:v>
                </c:pt>
              </c:strCache>
            </c:strRef>
          </c:tx>
          <c:spPr>
            <a:ln w="50800" cap="flat">
              <a:solidFill>
                <a:srgbClr val="0F766E"/>
              </a:solidFill>
              <a:prstDash val="solid"/>
              <a:round/>
            </a:ln>
            <a:effectLst/>
          </c:spPr>
          <c:marker>
            <c:symbol val="circle"/>
            <c:size val="11"/>
            <c:spPr>
              <a:solidFill>
                <a:srgbClr val="0F766E"/>
              </a:solidFill>
              <a:ln w="9525" cap="flat">
                <a:solidFill>
                  <a:srgbClr val="0F766E"/>
                </a:solidFill>
                <a:prstDash val="solid"/>
                <a:round/>
              </a:ln>
              <a:effectLst/>
            </c:spPr>
          </c:marker>
          <c:cat>
            <c:strRef>
              <c:f>Sheet1!$A$2:$A$6</c:f>
              <c:strCache>
                <c:ptCount val="5"/>
                <c:pt idx="0">
                  <c:v>0 h</c:v>
                </c:pt>
                <c:pt idx="1">
                  <c:v>30 min</c:v>
                </c:pt>
                <c:pt idx="2">
                  <c:v>1 h</c:v>
                </c:pt>
                <c:pt idx="3">
                  <c:v>2 h</c:v>
                </c:pt>
                <c:pt idx="4">
                  <c:v>6 h</c:v>
                </c:pt>
              </c:strCache>
            </c:strRef>
          </c:cat>
          <c:val>
            <c:numRef>
              <c:f>Sheet1!$B$2:$B$6</c:f>
              <c:numCache>
                <c:formatCode>General</c:formatCode>
                <c:ptCount val="5"/>
                <c:pt idx="0">
                  <c:v>0.41</c:v>
                </c:pt>
                <c:pt idx="1">
                  <c:v>0.88</c:v>
                </c:pt>
                <c:pt idx="2">
                  <c:v>0.88</c:v>
                </c:pt>
                <c:pt idx="3">
                  <c:v>0.9</c:v>
                </c:pt>
                <c:pt idx="4">
                  <c:v>0.89</c:v>
                </c:pt>
              </c:numCache>
            </c:numRef>
          </c:val>
          <c:smooth val="0"/>
          <c:extLst>
            <c:ext xmlns:c16="http://schemas.microsoft.com/office/drawing/2014/chart" uri="{C3380CC4-5D6E-409C-BE32-E72D297353CC}">
              <c16:uniqueId val="{00000000-D5D2-49F7-957E-BB45997FC31C}"/>
            </c:ext>
          </c:extLst>
        </c:ser>
        <c:ser>
          <c:idx val="1"/>
          <c:order val="1"/>
          <c:tx>
            <c:strRef>
              <c:f>Sheet1!$C$1</c:f>
              <c:strCache>
                <c:ptCount val="1"/>
                <c:pt idx="0">
                  <c:v>CGM + health record</c:v>
                </c:pt>
              </c:strCache>
            </c:strRef>
          </c:tx>
          <c:spPr>
            <a:ln w="50800" cap="flat">
              <a:solidFill>
                <a:srgbClr val="E8643A"/>
              </a:solidFill>
              <a:prstDash val="solid"/>
              <a:round/>
            </a:ln>
            <a:effectLst/>
          </c:spPr>
          <c:marker>
            <c:symbol val="circle"/>
            <c:size val="11"/>
            <c:spPr>
              <a:solidFill>
                <a:srgbClr val="E8643A"/>
              </a:solidFill>
              <a:ln w="9525" cap="flat">
                <a:solidFill>
                  <a:srgbClr val="E8643A"/>
                </a:solidFill>
                <a:prstDash val="solid"/>
                <a:round/>
              </a:ln>
              <a:effectLst/>
            </c:spPr>
          </c:marker>
          <c:cat>
            <c:strRef>
              <c:f>Sheet1!$A$2:$A$6</c:f>
              <c:strCache>
                <c:ptCount val="5"/>
                <c:pt idx="0">
                  <c:v>0 h</c:v>
                </c:pt>
                <c:pt idx="1">
                  <c:v>30 min</c:v>
                </c:pt>
                <c:pt idx="2">
                  <c:v>1 h</c:v>
                </c:pt>
                <c:pt idx="3">
                  <c:v>2 h</c:v>
                </c:pt>
                <c:pt idx="4">
                  <c:v>6 h</c:v>
                </c:pt>
              </c:strCache>
            </c:strRef>
          </c:cat>
          <c:val>
            <c:numRef>
              <c:f>Sheet1!$C$2:$C$6</c:f>
              <c:numCache>
                <c:formatCode>General</c:formatCode>
                <c:ptCount val="5"/>
                <c:pt idx="0">
                  <c:v>0.54</c:v>
                </c:pt>
                <c:pt idx="1">
                  <c:v>0.87</c:v>
                </c:pt>
                <c:pt idx="2">
                  <c:v>0.88</c:v>
                </c:pt>
                <c:pt idx="3">
                  <c:v>0.89</c:v>
                </c:pt>
                <c:pt idx="4">
                  <c:v>0.89</c:v>
                </c:pt>
              </c:numCache>
            </c:numRef>
          </c:val>
          <c:smooth val="0"/>
          <c:extLst>
            <c:ext xmlns:c16="http://schemas.microsoft.com/office/drawing/2014/chart" uri="{C3380CC4-5D6E-409C-BE32-E72D297353CC}">
              <c16:uniqueId val="{00000001-D5D2-49F7-957E-BB45997FC31C}"/>
            </c:ext>
          </c:extLst>
        </c:ser>
        <c:dLbls>
          <c:showLegendKey val="0"/>
          <c:showVal val="0"/>
          <c:showCatName val="0"/>
          <c:showSerName val="0"/>
          <c:showPercent val="0"/>
          <c:showBubbleSize val="0"/>
        </c:dLbls>
        <c:marker val="1"/>
        <c:smooth val="0"/>
        <c:axId val="2094734554"/>
        <c:axId val="2094734552"/>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300" b="0" i="0" u="none" strike="noStrike">
                <a:solidFill>
                  <a:srgbClr val="14202E"/>
                </a:solidFill>
                <a:latin typeface="+mn-lt"/>
              </a:defRPr>
            </a:pPr>
            <a:endParaRPr lang="en-US"/>
          </a:p>
        </c:txPr>
        <c:crossAx val="2094734552"/>
        <c:crosses val="autoZero"/>
        <c:auto val="1"/>
        <c:lblAlgn val="ctr"/>
        <c:lblOffset val="100"/>
        <c:noMultiLvlLbl val="1"/>
      </c:catAx>
      <c:valAx>
        <c:axId val="2094734552"/>
        <c:scaling>
          <c:orientation val="minMax"/>
          <c:max val="1"/>
          <c:min val="0.3"/>
        </c:scaling>
        <c:delete val="0"/>
        <c:axPos val="l"/>
        <c:majorGridlines>
          <c:spPr>
            <a:ln w="9525" cap="flat">
              <a:solidFill>
                <a:srgbClr val="E6ECF1"/>
              </a:solidFill>
              <a:prstDash val="solid"/>
              <a:round/>
            </a:ln>
          </c:spPr>
        </c:majorGridlines>
        <c:numFmt formatCode="0.0" sourceLinked="0"/>
        <c:majorTickMark val="out"/>
        <c:minorTickMark val="none"/>
        <c:tickLblPos val="nextTo"/>
        <c:spPr>
          <a:ln w="12700" cap="flat">
            <a:noFill/>
            <a:prstDash val="solid"/>
            <a:round/>
          </a:ln>
        </c:spPr>
        <c:txPr>
          <a:bodyPr/>
          <a:lstStyle/>
          <a:p>
            <a:pPr>
              <a:defRPr sz="1100" b="0" i="0" u="none" strike="noStrike">
                <a:solidFill>
                  <a:srgbClr val="7A8797"/>
                </a:solidFill>
                <a:latin typeface="+mn-lt"/>
              </a:defRPr>
            </a:pPr>
            <a:endParaRPr lang="en-US"/>
          </a:p>
        </c:txPr>
        <c:crossAx val="2094734554"/>
        <c:crosses val="autoZero"/>
        <c:crossBetween val="between"/>
        <c:majorUnit val="0.1"/>
      </c:valAx>
      <c:spPr>
        <a:noFill/>
        <a:ln>
          <a:noFill/>
        </a:ln>
        <a:effectLst/>
      </c:spPr>
    </c:plotArea>
    <c:legend>
      <c:legendPos val="b"/>
      <c:overlay val="0"/>
      <c:txPr>
        <a:bodyPr/>
        <a:lstStyle/>
        <a:p>
          <a:pPr>
            <a:defRPr sz="1200">
              <a:solidFill>
                <a:srgbClr val="14202E"/>
              </a:solidFill>
              <a:latin typeface="+mn-lt"/>
              <a:cs typeface="+mn-lt"/>
            </a:defRPr>
          </a:pPr>
          <a:endParaRPr lang="en-US"/>
        </a:p>
      </c:txPr>
    </c:legend>
    <c:plotVisOnly val="1"/>
    <c:dispBlanksAs val="span"/>
    <c:showDLblsOverMax val="1"/>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15138640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[V02] Hello, I'm your name, from team team name at college or incubator. I built a glycaemic digital twin for people with Type 2 diabetes. If you only have ninety seconds, here's the whole story.</a:t>
            </a:r>
          </a:p>
          <a:p/>
          <a:p>
            <a:r>
              <a:t>The twin combines a patient's health record with their wearable data. Every thirty minutes it estimates the risk of a dangerous high or low in the next two hours. It raises one alert per risk episode, explains why, and lets a doctor try a change, like a late dinner or an extra dose, on the twin before trying it on the patient.</a:t>
            </a:r>
          </a:p>
          <a:p/>
          <a:p>
            <a:r>
              <a:t>On synthetic patients, it warned of three out of four lows at least half an hour ahead.</a:t>
            </a:r>
          </a:p>
          <a:p/>
          <a:p>
            <a:r>
              <a:t>Then I tested it on a hundred real patients. Real lows arrive faster, and it warned of about one in three. And adding the health record, which I expected to help, didn't improve the forecast at all.</a:t>
            </a:r>
          </a:p>
          <a:p/>
          <a:p>
            <a:r>
              <a:t>So I changed my claims. I shipped a model trained on real patients, and I found what the record is really for: a new patient with no glucose data yet.</a:t>
            </a:r>
          </a:p>
          <a:p/>
          <a:p>
            <a:r>
              <a:t>That's the story. I built it, real data proved me partly wrong, and it got better. The chapters are in the description, so you can jump to any part. Everything you'll see is a research prototype, not for clinical use. Here's the full version.</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[V03] India has about 101 million people with diabetes, according to the ICMR-INDIAB study, most of them with Type 2.</a:t>
            </a:r>
          </a:p>
          <a:p/>
          <a:p>
            <a:r>
              <a:t>Day to day, glucose control fails in two opposite directions. The first is the spike after a meal. Traditional Indian meals are rich in carbohydrates: rice, roti, idli, poha. With insulin resistance they become large, long spikes above 180 milligrams per decilitre, and those repeated spikes drive the long-term complications.</a:t>
            </a:r>
          </a:p>
          <a:p/>
          <a:p>
            <a:r>
              <a:t>The second is the low, below 70. Sulfonylureas are widely prescribed in India because they're cheap and they work, and together with insulin they can push glucose too low, after a skipped meal, extra activity, or an extra dose. The worst case is at night, when the patient is asleep and can't react.</a:t>
            </a:r>
          </a:p>
          <a:p/>
          <a:p>
            <a:r>
              <a:t>The doctor sees an HbA1c every three months. These events happen within hours. The information to see them coming exists, but in two places that are never combined: the health record, with diagnoses, labs and medicines, and the wearable sensor, with a glucose reading every five minutes. So nobody turns them into an early warning a doctor can act on. That's the gap.</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[V04] My answer is a digital twin of each patient, with four capabilities.</a:t>
            </a:r>
          </a:p>
          <a:p/>
          <a:p>
            <a:r>
              <a:t>Predict: every 30 minutes, from the last six hours of wearable data plus the record, it estimates the risk of glucose going above 180 or below 70 in the next two hours.</a:t>
            </a:r>
          </a:p>
          <a:p/>
          <a:p>
            <a:r>
              <a:t>Alert: a risk score alone would fire constantly, so an alert policy raises one alert per risk episode.</a:t>
            </a:r>
          </a:p>
          <a:p/>
          <a:p>
            <a:r>
              <a:t>Explain: every risk comes with its main reasons, like "glucose is falling" or "this patient takes a sulfonylurea".</a:t>
            </a:r>
          </a:p>
          <a:p/>
          <a:p>
            <a:r>
              <a:t>Simulate: the twin is fitted to the patient's own data, so a clinician can ask what a late dinner, a skipped meal or an extra dose would do, and see the answer with an honest uncertainty band.</a:t>
            </a:r>
          </a:p>
          <a:p/>
          <a:p>
            <a:r>
              <a:t>That last part is what makes it a twin rather than just a predictor. A predictor tells you what will probably happen. A twin is a copy of this particular patient's body that you can experiment on, safely, before changing anything for the real person.</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[V05] Here's how it fits together, in five layers from left to right.</a:t>
            </a:r>
          </a:p>
          <a:p/>
          <a:p>
            <a:r>
              <a:t>Layer one is the data. A synthetic health-record cohort of 300 patients drives a physiology simulator, which produces the wearable stream: CGM every five minutes with realistic sensor lag, noise and dropouts, plus steps, heart rate and sleep. An enrollment log links each patient to a device, the way a real study would.</a:t>
            </a:r>
          </a:p>
          <a:p/>
          <a:p>
            <a:r>
              <a:t>Layer two links the streams and builds features: six-hour windows of sensor data, and the record as a static vector. Patients are split into training, validation and test sets as whole people, never by time.</a:t>
            </a:r>
          </a:p>
          <a:p/>
          <a:p>
            <a:r>
              <a:t>Layer three is the models: a simple trend baseline, LightGBM, and a deep fusion network for comparison.</a:t>
            </a:r>
          </a:p>
          <a:p/>
          <a:p>
            <a:r>
              <a:t>Layer four is evaluation. The teal box is the important one: real external data, used to check the models and to train a real-patient model.</a:t>
            </a:r>
          </a:p>
          <a:p/>
          <a:p>
            <a:r>
              <a:t>Layer five is the twin itself: the patient state, the explanations, the personalised what-if twin, a dashboard for clinicians, and a FHIR API so other hospital systems can use it.</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[V06] I need to be upfront about the data. No public dataset links hospital records and wearable data for the same Indian patients. So I built a physiology simulator: a Bergman-style glucose model with Indian meals, drug pharmacokinetics for metformin, sulfonylureas and insulin, sleep, activity and the morning rise in glucose. It generates 300 patients, 14 days each.</a:t>
            </a:r>
          </a:p>
          <a:p/>
          <a:p>
            <a:r>
              <a:t>A few details make it more than a toy. Doctors titrate doses, so patients with worse control take stronger drugs, as in real clinics. The CGM isn't the true glucose: it lags by about ten minutes, it's noisy and it drops out, like a real sensor. And lows are rare, about 4% of prediction windows, which is realistic.</a:t>
            </a:r>
          </a:p>
          <a:p/>
          <a:p>
            <a:r>
              <a:t>The link between record and sensor is therefore synthetic by design, and I say so in the code, the documents and on the dashboard. There's a subtle consequence: my simulator makes the record drive glucose. So any benefit I measure from the record on this data is partly built in. Keep that in mind, because it comes back later.</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[V07] Five habits make these numbers trustworthy.</a:t>
            </a:r>
          </a:p>
          <a:p/>
          <a:p>
            <a:r>
              <a:t>One: I split by patient. No patient is in both training and test, and the code raises an error if one is.</a:t>
            </a:r>
          </a:p>
          <a:p/>
          <a:p>
            <a:r>
              <a:t>Two: I score onset windows, predictions made before glucose crosses the line. Predicting a low once the patient is already low is trivial, and it inflates every metric.</a:t>
            </a:r>
          </a:p>
          <a:p/>
          <a:p>
            <a:r>
              <a:t>Three: every comparison has a 95% confidence interval from a patient-level bootstrap.</a:t>
            </a:r>
          </a:p>
          <a:p/>
          <a:p>
            <a:r>
              <a:t>Four: every choice, like the alert thresholds, was made on validation patients. The test patients were touched once.</a:t>
            </a:r>
          </a:p>
          <a:p/>
          <a:p>
            <a:r>
              <a:t>Five: it's reproducible. Fixed seeds, one command rebuilds everything, and 140 automated tests run on every push.</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[V08] On 60 synthetic test patients, both events are predictable. A quick word on the metrics. AUROC asks how well the model separates "trouble coming" from "fine": 0.5 is a coin flip and 1.0 is perfect. AUPRC asks how many of its warnings are right while still catching the events, which is the fairer measure when events are rare.</a:t>
            </a:r>
          </a:p>
          <a:p/>
          <a:p>
            <a:r>
              <a:t>For lows, chance is about 0.02. Extrapolating the trend scores 0.19. LightGBM on CGM scores 0.65, and with wearables and the record, 0.71. For highs: 0.38, 0.72 and 0.74. AUROC is 0.93 for highs and 0.99 for lows.</a:t>
            </a:r>
          </a:p>
          <a:p/>
          <a:p>
            <a:r>
              <a:t>Two results I didn't expect. A deep GRU fusion network didn't beat LightGBM, and steps, heart rate and sleep added nothing measurable on top of glucose. So I deploy LightGBM: it's the best for lows, it's fast, it explains itself exactly, and its probabilities are well calibrated.</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[V09] Accuracy isn't enough. Alarm fatigue is what kills alerting systems in hospitals. So the alert policy fires once when risk crosses the threshold, then stays quiet for 90 minutes while the risk stays high, and never fires while the CGM already reads low, because the sensor's own alarm covers that.</a:t>
            </a:r>
          </a:p>
          <a:p/>
          <a:p>
            <a:r>
              <a:t>On 60 synthetic test patients, the policy warns of 76% of lows at least 30 minutes ahead, with a median warning of 65 minutes. That's about one alert every two days, and two out of three alerts are followed by a real low.</a:t>
            </a:r>
          </a:p>
          <a:p/>
          <a:p>
            <a:r>
              <a:t>It's a trade-off, and the tooling shows the whole curve. Raising an alert in every high-risk window would catch 98% of lows, but at about three alerting windows a day, and only one in five would be real. One alert per episode gives six times fewer alerts. Where to sit on that curve is a clinical decision, not mine.</a:t>
            </a:r>
          </a:p>
          <a:p/>
          <a:p>
            <a:r>
              <a:t>Now let me show you the product.</a:t>
            </a:r>
          </a:p>
          <a:p/>
          <a:p>
            <a:r>
              <a:t>[V12] Claim one. The same alert policy, on 100 real ShanghaiT2DM patients, with a model trained on real data and thresholds set on other patients.</a:t>
            </a:r>
          </a:p>
          <a:p/>
          <a:p>
            <a:r>
              <a:t>It warns of 35% of real lows at least 30 minutes ahead, and 53% at 15 minutes. The median warning falls from 65 minutes to 25. It raises about 0.6 alerts a day, and 44% of them are followed by a real low.</a:t>
            </a:r>
          </a:p>
          <a:p/>
          <a:p>
            <a:r>
              <a:t>That's a big drop, and I'm showing it on purpose. Claim one: revised. The synthetic figure is an upper bound, and the real one is the honest baseline to improve.</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BACKUP SLIDE: not used in the video (the live demo covers this). Use it only if the demo clip cannot be shown.</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BACKUP SLIDE: not used in the video (the live demo covers this). Use it only if the demo clip cannot be shown.</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BACKUP SLIDE: not used in the video (the live demo covers this). Use it only if the demo clip cannot be shown.</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[V11] Synthetic results are only as good as the simulator, so I used two public, de-identified datasets. Neither is ever committed to the repository: they're downloaded separately, under their own licences. CGMacros, with 14 US adults with Type 2 diabetes. And ShanghaiT2DM, with 100 patients whose CGM comes with their own clinical records, which is exactly what I couldn't get for India.</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[V14] Claim three, the simulator. First, CGMacros. I applied my synthetic-trained model unchanged. It still ranks risk better than chance and beats trend extrapolation, but AUROC for highs drops from 0.93 on synthetic patients to 0.70 on real ones. Retrained on the real participants, it reaches 0.77.</a:t>
            </a:r>
          </a:p>
          <a:p/>
          <a:p>
            <a:r>
              <a:t>Then I compared the simulator with both real cohorts, metric by metric. The level of glucose, time in range and the rate of highs and lows are realistic. But real lows fall faster, as you just saw, real swings are bigger, and real patients peak after breakfast. Claim three: revised. And that comparison is now a to-do list for the simulator.</a:t>
            </a:r>
          </a:p>
          <a:p/>
          <a:p>
            <a:r>
              <a:t>The probabilities were also off: the model underpredicted. So I recalibrated it the way a hospital would. For each participant, a small correction curve is fitted on all the other participants and applied to that one, so no one is corrected using their own data. Without any retraining, that cuts the calibration error from 0.136 to 0.024. That's step one of any real deployment.</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[V15] Claim two is the central idea, and ShanghaiT2DM tests it: a hundred real patients, with CGM, their clinical records, and a log of their insulin and tablets.</a:t>
            </a:r>
          </a:p>
          <a:p/>
          <a:p>
            <a:r>
              <a:t>I trained on it with patient-grouped cross-validation: the patients are split into ten groups, and each group is scored by a model trained on the other nine, so every patient is scored by a model that never saw them. The CGM model predicts real lows well: AUROC 0.89, and 0.91 at night, with good calibration. My synthetic-trained model, applied unchanged, still beats trend extrapolation on these real lows, so the simulator taught something real.</a:t>
            </a:r>
          </a:p>
          <a:p/>
          <a:p>
            <a:r>
              <a:t>Then the key question: does adding the record help? I tried the 24 record fields, then the logged doses, then the full clinical record with C-peptide and other labs. None of them improved the forecast. I even tried a simple model that can't memorise patients. Still nothing. Claim two: dropped.</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[V16] So I asked where the record should matter most: a new patient, with little or no CGM yet. To test it, I took the same windows and hid all but the last few hours of glucose: none at all, 30 minutes, one hour, two hours, or the full six. Then I compared CGM alone with CGM plus the record at each step.</a:t>
            </a:r>
          </a:p>
          <a:p/>
          <a:p>
            <a:r>
              <a:t>With no CGM at all, the record does carry a real signal: AUROC goes from chance to 0.54. That's enough to decide who to watch, but far too weak to raise alerts on. With just 30 minutes of CGM, the CGM model already reaches 0.88, almost as good as six hours, and from then on the record adds nothing.</a:t>
            </a:r>
          </a:p>
          <a:p/>
          <a:p>
            <a:r>
              <a:t>So the record is a prior, not a forecaster. It helps decide who needs a sensor, it personalises the twin, and it gives the clinician context. It doesn't improve a two-hour forecast once glucose is being measured.</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[V17] This changed my project. Real data disagreed with me, so I changed the claims, in the README, the model card and this video.</a:t>
            </a:r>
          </a:p>
          <a:p/>
          <a:p>
            <a:r>
              <a:t>Here's what I claim now. A twin built on CGM predicts real lows two hours ahead, on 100 real patients. Its alerts give an honest real-world baseline. Recalibration on local data fixes the probabilities. The personalised twin comes with honest uncertainty. And the product ships a model trained on real patients: in the dashboard, a clinician can switch to it with one click.</a:t>
            </a:r>
          </a:p>
          <a:p/>
          <a:p>
            <a:r>
              <a:t>And here's what I no longer claim. That adding the record improves the two-hour forecast: that was true on synthetic data only. That the synthetic accuracy of 0.93 is what real patients would see. And any clinical validity at all: this is a research prototype.</a:t>
            </a:r>
          </a:p>
          <a:p/>
          <a:p>
            <a:r>
              <a:t>I think this is the most important minute of the video, because it's what a clinical team needs to see before trusting any model.</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[V18] Nothing here is ready for patients, and I've written down what would make it ready. Four steps: a study on real linked records from Indian clinics, with ethics approval under ICMR's AI guidelines, which must test the record's value rather than assume it. Then recalibration to the local population. Then a silent pilot, where the model scores in the background and nobody acts on it, so we learn how it behaves on live data without any risk to patients. Then a pilot with diabetologists in the loop, judged on usefulness, workload and safety.</a:t>
            </a:r>
          </a:p>
          <a:p/>
          <a:p>
            <a:r>
              <a:t>Around that is the compliance frame: consent and security under the DPDP Act and its 2025 Rules, ABDM and ABHA consent flows to link a record to a device, and CDSCO's rules for medical device software. And the CGM's own alarms always stay on: the twin supplements them and never replaces them.</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[V19] It's built to be checked, not just demoed: 140 automated tests that run on every push, one command to rebuild the data, models and reports, two public real datasets checked, and a live dashboard.</a:t>
            </a:r>
          </a:p>
          <a:p/>
          <a:p>
            <a:r>
              <a:t>It can also plug into hospital systems. A FHIR API takes a patient's record and CGM readings in FHIR, the standard behind India's ABDM health records, and returns standard risk assessments with their reasons. I tested that a patient sent through the API gets exactly the dashboard's risk.</a:t>
            </a:r>
          </a:p>
          <a:p/>
          <a:p>
            <a:r>
              <a:t>And it's open: an MIT licence, a model card that states what the model is for and what it isn't, a written deployment path, and every result table in the repository.</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[V20] I know the limits, and each one points to the next piece of work. The default model is trained on synthetic data, and the real-trained one has seen only 100 patients: the fix is more real data. Those patients are Chinese and American, not Indian outpatients: the fix is the Indian clinic study. Insulin users' lows are the hardest to predict, on synthetic and real data alike: that needs more insulin users and better dose logging. And a real twin needs meals and doses logged as they happen, because the model can't see a planned dinner or a fresh dose until glucose moves.</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[V21] To close. I set out to build a digital twin that warns early, explains itself, and is honest about what it knows. I built it, real data proved me partly wrong, and it got better. It predicts real lows, it explains every alert, it lets a clinician test a change safely, and it says clearly where the evidence stops.</a:t>
            </a:r>
          </a:p>
          <a:p/>
          <a:p>
            <a:r>
              <a:t>The next step is validation on real linked records from Indian clinics, with clinicians in the loop. If you can help with that data, or a diabetologist partner, I'd love to talk. Thank you.</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3.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HERO">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pic>
        <p:nvPicPr>
          <p:cNvPr id="2" name="Image 0" descr="C:\Users\Akhilesh\AppData\Local\Temp\claude\C--Users-Akhilesh-Desktop-Claude-code-Happiest-Health\47a587f0-c947-456b-8324-0bf75adb31d4\scratchpad\deck\img\wave_hero.png"/>
          <p:cNvPicPr>
            <a:picLocks noChangeAspect="1"/>
          </p:cNvPicPr>
          <p:nvPr/>
        </p:nvPicPr>
        <p:blipFill>
          <a:blip r:embed="rId3"/>
          <a:stretch>
            <a:fillRect/>
          </a:stretch>
        </p:blipFill>
        <p:spPr>
          <a:xfrm>
            <a:off x="0" y="2788920"/>
            <a:ext cx="12191695" cy="4267093"/>
          </a:xfrm>
          <a:prstGeom prst="rect">
            <a:avLst/>
          </a:prstGeom>
        </p:spPr>
      </p:pic>
      <p:sp>
        <p:nvSpPr>
          <p:cNvPr id="3" name="Text 0"/>
          <p:cNvSpPr>
            <a:spLocks noGrp="1"/>
          </p:cNvSpPr>
          <p:nvPr>
            <p:ph type="title" idx="101" hasCustomPrompt="1"/>
          </p:nvPr>
        </p:nvSpPr>
        <p:spPr>
          <a:xfrm>
            <a:off x="685800" y="868680"/>
            <a:ext cx="8595360" cy="1783080"/>
          </a:xfrm>
          <a:prstGeom prst="rect">
            <a:avLst/>
          </a:prstGeom>
          <a:noFill/>
          <a:ln/>
        </p:spPr>
        <p:txBody>
          <a:bodyPr wrap="square" rtlCol="0"/>
          <a:lstStyle>
            <a:lvl1pPr marL="0" indent="0" algn="l">
              <a:buNone/>
              <a:defRPr lang="en-US" sz="4000" b="1" dirty="0">
                <a:solidFill>
                  <a:schemeClr val="bg1"/>
                </a:solidFill>
                <a:latin typeface="Georgia" pitchFamily="34" charset="0"/>
                <a:ea typeface="Georgia" pitchFamily="34" charset="-122"/>
                <a:cs typeface="Georgia" pitchFamily="34" charset="-120"/>
              </a:defRPr>
            </a:lvl1pPr>
          </a:lstStyle>
          <a:p>
            <a:pPr marL="0" indent="0" algn="l">
              <a:buNone/>
            </a:pPr>
            <a:endParaRPr lang="en-US" sz="4000" dirty="0"/>
          </a:p>
        </p:txBody>
      </p:sp>
      <p:sp>
        <p:nvSpPr>
          <p:cNvPr id="4" name="Text 0"/>
          <p:cNvSpPr>
            <a:spLocks noGrp="1"/>
          </p:cNvSpPr>
          <p:nvPr>
            <p:ph type="body" idx="102" hasCustomPrompt="1"/>
          </p:nvPr>
        </p:nvSpPr>
        <p:spPr>
          <a:xfrm>
            <a:off x="685800" y="2743200"/>
            <a:ext cx="8229600" cy="548640"/>
          </a:xfrm>
          <a:prstGeom prst="rect">
            <a:avLst/>
          </a:prstGeom>
          <a:noFill/>
          <a:ln/>
        </p:spPr>
        <p:txBody>
          <a:bodyPr wrap="square" rtlCol="0"/>
          <a:lstStyle>
            <a:lvl1pPr marL="0" indent="0" algn="l">
              <a:buNone/>
              <a:defRPr lang="en-US" sz="1800" dirty="0">
                <a:solidFill>
                  <a:schemeClr val="accent4"/>
                </a:solidFill>
              </a:defRPr>
            </a:lvl1pPr>
          </a:lstStyle>
          <a:p>
            <a:pPr marL="0" indent="0" algn="l">
              <a:buNone/>
            </a:pP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TION">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pic>
        <p:nvPicPr>
          <p:cNvPr id="2" name="Image 0" descr="C:\Users\Akhilesh\AppData\Local\Temp\claude\C--Users-Akhilesh-Desktop-Claude-code-Happiest-Health\47a587f0-c947-456b-8324-0bf75adb31d4\scratchpad\deck\img\wave_section.png"/>
          <p:cNvPicPr>
            <a:picLocks noChangeAspect="1"/>
          </p:cNvPicPr>
          <p:nvPr/>
        </p:nvPicPr>
        <p:blipFill>
          <a:blip r:embed="rId3"/>
          <a:stretch>
            <a:fillRect/>
          </a:stretch>
        </p:blipFill>
        <p:spPr>
          <a:xfrm>
            <a:off x="0" y="4526280"/>
            <a:ext cx="12191695" cy="3047924"/>
          </a:xfrm>
          <a:prstGeom prst="rect">
            <a:avLst/>
          </a:prstGeom>
        </p:spPr>
      </p:pic>
      <p:sp>
        <p:nvSpPr>
          <p:cNvPr id="3" name="Text 0"/>
          <p:cNvSpPr>
            <a:spLocks noGrp="1"/>
          </p:cNvSpPr>
          <p:nvPr>
            <p:ph type="title" idx="101" hasCustomPrompt="1"/>
          </p:nvPr>
        </p:nvSpPr>
        <p:spPr>
          <a:xfrm>
            <a:off x="685800" y="1600200"/>
            <a:ext cx="10058400" cy="1097280"/>
          </a:xfrm>
          <a:prstGeom prst="rect">
            <a:avLst/>
          </a:prstGeom>
          <a:noFill/>
          <a:ln/>
        </p:spPr>
        <p:txBody>
          <a:bodyPr wrap="square" rtlCol="0"/>
          <a:lstStyle>
            <a:lvl1pPr marL="0" indent="0" algn="l">
              <a:buNone/>
              <a:defRPr lang="en-US" sz="4000" b="1" dirty="0">
                <a:solidFill>
                  <a:schemeClr val="bg1"/>
                </a:solidFill>
                <a:latin typeface="Georgia" pitchFamily="34" charset="0"/>
                <a:ea typeface="Georgia" pitchFamily="34" charset="-122"/>
                <a:cs typeface="Georgia" pitchFamily="34" charset="-120"/>
              </a:defRPr>
            </a:lvl1pPr>
          </a:lstStyle>
          <a:p>
            <a:pPr marL="0" indent="0" algn="l">
              <a:buNone/>
            </a:pPr>
            <a:endParaRPr lang="en-US" sz="4000" dirty="0"/>
          </a:p>
        </p:txBody>
      </p:sp>
      <p:sp>
        <p:nvSpPr>
          <p:cNvPr id="4" name="Text 0"/>
          <p:cNvSpPr>
            <a:spLocks noGrp="1"/>
          </p:cNvSpPr>
          <p:nvPr>
            <p:ph type="body" idx="102" hasCustomPrompt="1"/>
          </p:nvPr>
        </p:nvSpPr>
        <p:spPr>
          <a:xfrm>
            <a:off x="685800" y="2834640"/>
            <a:ext cx="9144000" cy="822960"/>
          </a:xfrm>
          <a:prstGeom prst="rect">
            <a:avLst/>
          </a:prstGeom>
          <a:noFill/>
          <a:ln/>
        </p:spPr>
        <p:txBody>
          <a:bodyPr wrap="square" rtlCol="0"/>
          <a:lstStyle>
            <a:lvl1pPr marL="0" indent="0" algn="l">
              <a:buNone/>
              <a:defRPr lang="en-US" sz="1800" dirty="0">
                <a:solidFill>
                  <a:schemeClr val="bg2"/>
                </a:solidFill>
              </a:defRPr>
            </a:lvl1pPr>
          </a:lstStyle>
          <a:p>
            <a:pPr marL="0" indent="0" algn="l">
              <a:buNone/>
            </a:pPr>
            <a:endParaRPr lang="en-US" sz="1800" dirty="0"/>
          </a:p>
        </p:txBody>
      </p:sp>
      <p:sp>
        <p:nvSpPr>
          <p:cNvPr id="25" name="Slide Number Placeholder 0"/>
          <p:cNvSpPr>
            <a:spLocks noGrp="1"/>
          </p:cNvSpPr>
          <p:nvPr>
            <p:ph type="sldNum" sz="quarter" idx="4294967295"/>
          </p:nvPr>
        </p:nvSpPr>
        <p:spPr>
          <a:xfrm>
            <a:off x="11185855"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4"/>
                </a:solidFill>
              </a:defRPr>
            </a:lvl1pPr>
          </a:lstStyle>
          <a:p>
            <a:pPr algn="r"/>
            <a:fld id="{F7021451-1387-4CA6-816F-3879F97B5CBC}" type="slidenum">
              <a:rPr lang="en-US" b="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94360" y="566928"/>
            <a:ext cx="11002975" cy="658368"/>
          </a:xfrm>
          <a:prstGeom prst="rect">
            <a:avLst/>
          </a:prstGeom>
          <a:noFill/>
          <a:ln/>
        </p:spPr>
        <p:txBody>
          <a:bodyPr wrap="square" rtlCol="0"/>
          <a:lstStyle>
            <a:lvl1pPr marL="0" indent="0" algn="l">
              <a:buNone/>
              <a:defRPr lang="en-US" sz="3000" b="1" dirty="0">
                <a:solidFill>
                  <a:schemeClr val="tx2"/>
                </a:solidFill>
                <a:latin typeface="Georgia" pitchFamily="34" charset="0"/>
                <a:ea typeface="Georgia" pitchFamily="34" charset="-122"/>
                <a:cs typeface="Georgia" pitchFamily="34" charset="-120"/>
              </a:defRPr>
            </a:lvl1pPr>
          </a:lstStyle>
          <a:p>
            <a:pPr marL="0" indent="0" algn="l">
              <a:buNone/>
            </a:pPr>
            <a:endParaRPr lang="en-US" sz="3000" dirty="0"/>
          </a:p>
        </p:txBody>
      </p:sp>
      <p:sp>
        <p:nvSpPr>
          <p:cNvPr id="3" name="Text 0"/>
          <p:cNvSpPr/>
          <p:nvPr/>
        </p:nvSpPr>
        <p:spPr>
          <a:xfrm>
            <a:off x="594360" y="6446520"/>
            <a:ext cx="8229600" cy="256032"/>
          </a:xfrm>
          <a:prstGeom prst="rect">
            <a:avLst/>
          </a:prstGeom>
          <a:noFill/>
          <a:ln/>
        </p:spPr>
        <p:txBody>
          <a:bodyPr wrap="square" lIns="0" tIns="0" rIns="0" bIns="0" rtlCol="0" anchor="ctr"/>
          <a:lstStyle/>
          <a:p>
            <a:pPr marL="0" indent="0">
              <a:buNone/>
            </a:pPr>
            <a:r>
              <a:rPr lang="en-US" sz="900" dirty="0">
                <a:solidFill>
                  <a:schemeClr val="accent6"/>
                </a:solidFill>
              </a:rPr>
              <a:t>Glycaemic Digital Twin  ·  Research prototype, not for clinical use</a:t>
            </a:r>
            <a:endParaRPr lang="en-US" sz="900" dirty="0"/>
          </a:p>
        </p:txBody>
      </p:sp>
      <p:sp>
        <p:nvSpPr>
          <p:cNvPr id="25" name="Slide Number Placeholder 0"/>
          <p:cNvSpPr>
            <a:spLocks noGrp="1"/>
          </p:cNvSpPr>
          <p:nvPr>
            <p:ph type="sldNum" sz="quarter" idx="4294967295"/>
          </p:nvPr>
        </p:nvSpPr>
        <p:spPr>
          <a:xfrm>
            <a:off x="11140135" y="6446520"/>
            <a:ext cx="457200" cy="256032"/>
          </a:xfrm>
          <a:prstGeom prst="rect">
            <a:avLst/>
          </a:prstGeom>
          <a:extLst>
            <a:ext uri="{C572A759-6A51-4108-AA02-DFA0A04FC94B}">
              <ma14:wrappingTextBoxFlag xmlns:ma14="http://schemas.microsoft.com/office/mac/drawingml/2011/main" xmlns="" val="0"/>
            </a:ext>
          </a:extLst>
        </p:spPr>
        <p:txBody>
          <a:bodyPr/>
          <a:lstStyle>
            <a:lvl1pPr>
              <a:defRPr sz="900">
                <a:solidFill>
                  <a:schemeClr val="accent6"/>
                </a:solidFill>
              </a:defRPr>
            </a:lvl1pPr>
          </a:lstStyle>
          <a:p>
            <a:pPr algn="r"/>
            <a:fld id="{F7021451-1387-4CA6-816F-3879F97B5CBC}" type="slidenum">
              <a:rPr lang="en-US" b="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85855"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4"/>
                </a:solidFill>
              </a:defRPr>
            </a:lvl1pPr>
          </a:lstStyle>
          <a:p>
            <a:pPr algn="r"/>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8.png"/><Relationship Id="rId7" Type="http://schemas.openxmlformats.org/officeDocument/2006/relationships/image" Target="../media/image9.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xml"/><Relationship Id="rId3" Type="http://schemas.openxmlformats.org/officeDocument/2006/relationships/image" Target="../media/image10.png"/><Relationship Id="rId4" Type="http://schemas.openxmlformats.org/officeDocument/2006/relationships/image" Target="../media/image11.png"/><Relationship Id="rId5" Type="http://schemas.openxmlformats.org/officeDocument/2006/relationships/image" Target="../media/image12.png"/><Relationship Id="rId6" Type="http://schemas.openxmlformats.org/officeDocument/2006/relationships/image" Target="../media/image13.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 Id="rId3" Type="http://schemas.openxmlformats.org/officeDocument/2006/relationships/image" Target="../media/image14.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 Id="rId3" Type="http://schemas.openxmlformats.org/officeDocument/2006/relationships/image" Target="../media/image15.png"/><Relationship Id="rId4" Type="http://schemas.openxmlformats.org/officeDocument/2006/relationships/image" Target="../media/image8.png"/><Relationship Id="rId5" Type="http://schemas.openxmlformats.org/officeDocument/2006/relationships/image" Target="../media/image16.png"/><Relationship Id="rId6" Type="http://schemas.openxmlformats.org/officeDocument/2006/relationships/image" Target="../media/image5.png"/><Relationship Id="rId7" Type="http://schemas.openxmlformats.org/officeDocument/2006/relationships/image" Target="../media/image17.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xml"/><Relationship Id="rId3" Type="http://schemas.openxmlformats.org/officeDocument/2006/relationships/image" Target="../media/image5.png"/><Relationship Id="rId4" Type="http://schemas.openxmlformats.org/officeDocument/2006/relationships/image" Target="../media/image18.png"/><Relationship Id="rId5" Type="http://schemas.openxmlformats.org/officeDocument/2006/relationships/image" Target="../media/image19.png"/><Relationship Id="rId6" Type="http://schemas.openxmlformats.org/officeDocument/2006/relationships/image" Target="../media/image17.png"/><Relationship Id="rId7" Type="http://schemas.openxmlformats.org/officeDocument/2006/relationships/image" Target="../media/image20.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 Id="rId3" Type="http://schemas.openxmlformats.org/officeDocument/2006/relationships/chart" Target="../charts/chart1.xml"/><Relationship Id="rId4" Type="http://schemas.openxmlformats.org/officeDocument/2006/relationships/image" Target="../media/image21.png"/><Relationship Id="rId5" Type="http://schemas.openxmlformats.org/officeDocument/2006/relationships/image" Target="../media/image9.png"/><Relationship Id="rId6" Type="http://schemas.openxmlformats.org/officeDocument/2006/relationships/image" Target="../media/image22.png"/><Relationship Id="rId7" Type="http://schemas.openxmlformats.org/officeDocument/2006/relationships/image" Target="../media/image23.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xml"/><Relationship Id="rId3" Type="http://schemas.openxmlformats.org/officeDocument/2006/relationships/image" Target="../media/image24.png"/><Relationship Id="rId4" Type="http://schemas.openxmlformats.org/officeDocument/2006/relationships/image" Target="../media/image6.png"/><Relationship Id="rId5" Type="http://schemas.openxmlformats.org/officeDocument/2006/relationships/image" Target="../media/image11.png"/><Relationship Id="rId6" Type="http://schemas.openxmlformats.org/officeDocument/2006/relationships/image" Target="../media/image25.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xml"/><Relationship Id="rId3" Type="http://schemas.openxmlformats.org/officeDocument/2006/relationships/image" Target="../media/image26.png"/><Relationship Id="rId4" Type="http://schemas.openxmlformats.org/officeDocument/2006/relationships/image" Target="../media/image11.png"/><Relationship Id="rId5" Type="http://schemas.openxmlformats.org/officeDocument/2006/relationships/image" Target="../media/image2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xml"/><Relationship Id="rId3" Type="http://schemas.openxmlformats.org/officeDocument/2006/relationships/image" Target="../media/image28.png"/><Relationship Id="rId4" Type="http://schemas.openxmlformats.org/officeDocument/2006/relationships/image" Target="../media/image24.png"/><Relationship Id="rId5" Type="http://schemas.openxmlformats.org/officeDocument/2006/relationships/image" Target="../media/image29.png"/><Relationship Id="rId6" Type="http://schemas.openxmlformats.org/officeDocument/2006/relationships/image" Target="../media/image30.png"/><Relationship Id="rId7" Type="http://schemas.openxmlformats.org/officeDocument/2006/relationships/image" Target="../media/image23.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xml"/><Relationship Id="rId3" Type="http://schemas.openxmlformats.org/officeDocument/2006/relationships/image" Target="../media/image31.png"/><Relationship Id="rId4" Type="http://schemas.openxmlformats.org/officeDocument/2006/relationships/image" Target="../media/image24.png"/><Relationship Id="rId5" Type="http://schemas.openxmlformats.org/officeDocument/2006/relationships/image" Target="../media/image22.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 Id="rId3" Type="http://schemas.openxmlformats.org/officeDocument/2006/relationships/image" Target="../media/image32.png"/><Relationship Id="rId4" Type="http://schemas.openxmlformats.org/officeDocument/2006/relationships/image" Target="../media/image3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3.xml"/><Relationship Id="rId3" Type="http://schemas.openxmlformats.org/officeDocument/2006/relationships/chart" Target="../charts/chart2.xml"/><Relationship Id="rId4" Type="http://schemas.openxmlformats.org/officeDocument/2006/relationships/chart" Target="../charts/chart3.xml"/><Relationship Id="rId5" Type="http://schemas.openxmlformats.org/officeDocument/2006/relationships/image" Target="../media/image23.png"/><Relationship Id="rId6" Type="http://schemas.openxmlformats.org/officeDocument/2006/relationships/image" Target="../media/image34.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4.xml"/><Relationship Id="rId3" Type="http://schemas.openxmlformats.org/officeDocument/2006/relationships/chart" Target="../charts/chart4.xml"/><Relationship Id="rId4" Type="http://schemas.openxmlformats.org/officeDocument/2006/relationships/image" Target="../media/image35.png"/><Relationship Id="rId5" Type="http://schemas.openxmlformats.org/officeDocument/2006/relationships/image" Target="../media/image10.png"/><Relationship Id="rId6" Type="http://schemas.openxmlformats.org/officeDocument/2006/relationships/image" Target="../media/image36.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5.xml"/><Relationship Id="rId3" Type="http://schemas.openxmlformats.org/officeDocument/2006/relationships/chart" Target="../charts/chart5.xml"/><Relationship Id="rId4" Type="http://schemas.openxmlformats.org/officeDocument/2006/relationships/image" Target="../media/image37.png"/><Relationship Id="rId5" Type="http://schemas.openxmlformats.org/officeDocument/2006/relationships/image" Target="../media/image38.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6.xml"/><Relationship Id="rId3" Type="http://schemas.openxmlformats.org/officeDocument/2006/relationships/image" Target="../media/image25.png"/><Relationship Id="rId4" Type="http://schemas.openxmlformats.org/officeDocument/2006/relationships/image" Target="../media/image36.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7.xml"/><Relationship Id="rId3" Type="http://schemas.openxmlformats.org/officeDocument/2006/relationships/image" Target="../media/image39.png"/><Relationship Id="rId4" Type="http://schemas.openxmlformats.org/officeDocument/2006/relationships/image" Target="../media/image34.png"/><Relationship Id="rId5" Type="http://schemas.openxmlformats.org/officeDocument/2006/relationships/image" Target="../media/image37.png"/><Relationship Id="rId6" Type="http://schemas.openxmlformats.org/officeDocument/2006/relationships/image" Target="../media/image40.png"/><Relationship Id="rId7" Type="http://schemas.openxmlformats.org/officeDocument/2006/relationships/image" Target="../media/image41.png"/><Relationship Id="rId8" Type="http://schemas.openxmlformats.org/officeDocument/2006/relationships/image" Target="../media/image42.png"/><Relationship Id="rId9" Type="http://schemas.openxmlformats.org/officeDocument/2006/relationships/image" Target="../media/image43.png"/><Relationship Id="rId10" Type="http://schemas.openxmlformats.org/officeDocument/2006/relationships/image" Target="../media/image1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8.xml"/><Relationship Id="rId3" Type="http://schemas.openxmlformats.org/officeDocument/2006/relationships/image" Target="../media/image13.png"/><Relationship Id="rId4" Type="http://schemas.openxmlformats.org/officeDocument/2006/relationships/image" Target="../media/image44.png"/><Relationship Id="rId5" Type="http://schemas.openxmlformats.org/officeDocument/2006/relationships/image" Target="../media/image15.png"/><Relationship Id="rId6" Type="http://schemas.openxmlformats.org/officeDocument/2006/relationships/image" Target="../media/image45.png"/><Relationship Id="rId7" Type="http://schemas.openxmlformats.org/officeDocument/2006/relationships/image" Target="../media/image46.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9.xml"/><Relationship Id="rId3" Type="http://schemas.openxmlformats.org/officeDocument/2006/relationships/image" Target="../media/image15.png"/><Relationship Id="rId4" Type="http://schemas.openxmlformats.org/officeDocument/2006/relationships/image" Target="../media/image32.png"/><Relationship Id="rId5" Type="http://schemas.openxmlformats.org/officeDocument/2006/relationships/image" Target="../media/image47.png"/><Relationship Id="rId6" Type="http://schemas.openxmlformats.org/officeDocument/2006/relationships/image" Target="../media/image16.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 Id="rId3" Type="http://schemas.openxmlformats.org/officeDocument/2006/relationships/image" Target="../media/image48.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685800" y="502920"/>
            <a:ext cx="8229600" cy="274320"/>
          </a:xfrm>
          <a:prstGeom prst="rect">
            <a:avLst/>
          </a:prstGeom>
          <a:noFill/>
          <a:ln/>
        </p:spPr>
        <p:txBody>
          <a:bodyPr wrap="square" lIns="0" tIns="0" rIns="0" bIns="0" rtlCol="0" anchor="t"/>
          <a:lstStyle/>
          <a:p>
            <a:pPr marL="0" indent="0">
              <a:buNone/>
            </a:pPr>
            <a:r>
              <a:rPr lang="en-US" sz="1100" b="1" kern="0" spc="300" dirty="0">
                <a:solidFill>
                  <a:schemeClr val="accent4"/>
                </a:solidFill>
              </a:rPr>
              <a:t>HAPPIEST HEALTH DIGITAL TWIN CHALLENGE 2026</a:t>
            </a:r>
            <a:endParaRPr lang="en-US" sz="1100" dirty="0"/>
          </a:p>
        </p:txBody>
      </p:sp>
      <p:sp>
        <p:nvSpPr>
          <p:cNvPr id="3" name="Text 0"/>
          <p:cNvSpPr>
            <a:spLocks noGrp="1"/>
          </p:cNvSpPr>
          <p:nvPr>
            <p:ph type="title" idx="101" hasCustomPrompt="1"/>
          </p:nvPr>
        </p:nvSpPr>
        <p:spPr>
          <a:xfrm>
            <a:off x="685800" y="868680"/>
            <a:ext cx="8595360" cy="1783080"/>
          </a:xfrm>
          <a:prstGeom prst="rect">
            <a:avLst/>
          </a:prstGeom>
          <a:noFill/>
          <a:ln/>
        </p:spPr>
        <p:txBody>
          <a:bodyPr wrap="square" lIns="0" tIns="0" rIns="0" bIns="0" rtlCol="0" anchor="b"/>
          <a:lstStyle/>
          <a:p>
            <a:pPr marL="0" indent="0" algn="l">
              <a:buNone/>
            </a:pPr>
            <a:r>
              <a:rPr lang="en-US" sz="4000" b="1" dirty="0">
                <a:solidFill>
                  <a:schemeClr val="bg1"/>
                </a:solidFill>
                <a:latin typeface="Georgia" pitchFamily="34" charset="0"/>
                <a:ea typeface="Georgia" pitchFamily="34" charset="-122"/>
                <a:cs typeface="Georgia" pitchFamily="34" charset="-120"/>
              </a:rPr>
              <a:t>A glycaemic digital twin that warns of highs and lows two hours ahead</a:t>
            </a:r>
            <a:endParaRPr lang="en-US" sz="4000" dirty="0"/>
          </a:p>
        </p:txBody>
      </p:sp>
      <p:sp>
        <p:nvSpPr>
          <p:cNvPr id="4" name="Text 0"/>
          <p:cNvSpPr>
            <a:spLocks noGrp="1"/>
          </p:cNvSpPr>
          <p:nvPr>
            <p:ph type="body" idx="102" hasCustomPrompt="1"/>
          </p:nvPr>
        </p:nvSpPr>
        <p:spPr>
          <a:xfrm>
            <a:off x="685800" y="2743200"/>
            <a:ext cx="8229600" cy="548640"/>
          </a:xfrm>
          <a:prstGeom prst="rect">
            <a:avLst/>
          </a:prstGeom>
          <a:noFill/>
          <a:ln/>
        </p:spPr>
        <p:txBody>
          <a:bodyPr wrap="square" lIns="0" tIns="0" rIns="0" bIns="0" rtlCol="0" anchor="t"/>
          <a:lstStyle/>
          <a:p>
            <a:pPr marL="0" indent="0" algn="l">
              <a:buNone/>
            </a:pPr>
            <a:r>
              <a:rPr lang="en-US" sz="1800" dirty="0">
                <a:solidFill>
                  <a:schemeClr val="accent4"/>
                </a:solidFill>
              </a:rPr>
              <a:t>Type 2 diabetes  ·  health record + wearables  ·  explained, personalised, tested on real patients</a:t>
            </a:r>
            <a:endParaRPr lang="en-US" sz="1800" dirty="0"/>
          </a:p>
        </p:txBody>
      </p:sp>
      <p:sp>
        <p:nvSpPr>
          <p:cNvPr id="5" name="Text 3"/>
          <p:cNvSpPr txBox="1"/>
          <p:nvPr/>
        </p:nvSpPr>
        <p:spPr>
          <a:xfrm>
            <a:off x="685800" y="5989320"/>
            <a:ext cx="6400800" cy="320040"/>
          </a:xfrm>
          <a:prstGeom prst="rect">
            <a:avLst/>
          </a:prstGeom>
          <a:noFill/>
          <a:ln/>
        </p:spPr>
        <p:txBody>
          <a:bodyPr wrap="square" lIns="0" tIns="0" rIns="0" bIns="0" rtlCol="0" anchor="t"/>
          <a:lstStyle/>
          <a:p>
            <a:pPr marL="0" indent="0">
              <a:buNone/>
            </a:pPr>
            <a:r>
              <a:rPr lang="en-US" sz="1500" b="1" dirty="0">
                <a:solidFill>
                  <a:schemeClr val="bg1"/>
                </a:solidFill>
              </a:rPr>
              <a:t> Sync &amp; Predict ·  </a:t>
            </a:r>
            <a:r>
              <a:rPr lang="en-US" sz="1500" b="1" dirty="0" err="1">
                <a:solidFill>
                  <a:schemeClr val="bg1"/>
                </a:solidFill>
              </a:rPr>
              <a:t>BITSoM</a:t>
            </a:r>
            <a:endParaRPr lang="en-US" sz="1500" dirty="0"/>
          </a:p>
        </p:txBody>
      </p:sp>
      <p:sp>
        <p:nvSpPr>
          <p:cNvPr id="6" name="Text 4"/>
          <p:cNvSpPr txBox="1"/>
          <p:nvPr/>
        </p:nvSpPr>
        <p:spPr>
          <a:xfrm>
            <a:off x="7863840" y="502920"/>
            <a:ext cx="3657600" cy="274320"/>
          </a:xfrm>
          <a:prstGeom prst="rect">
            <a:avLst/>
          </a:prstGeom>
          <a:noFill/>
          <a:ln/>
        </p:spPr>
        <p:txBody>
          <a:bodyPr wrap="square" lIns="0" tIns="0" rIns="0" bIns="0" rtlCol="0" anchor="t"/>
          <a:lstStyle/>
          <a:p>
            <a:pPr marL="0" indent="0" algn="r">
              <a:buNone/>
            </a:pPr>
            <a:r>
              <a:rPr lang="en-US" sz="1100" dirty="0">
                <a:solidFill>
                  <a:schemeClr val="bg2"/>
                </a:solidFill>
              </a:rPr>
              <a:t>Research prototype · not for clinical use</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94360" y="292608"/>
            <a:ext cx="8229600" cy="256032"/>
          </a:xfrm>
          <a:prstGeom prst="rect">
            <a:avLst/>
          </a:prstGeom>
          <a:noFill/>
          <a:ln/>
        </p:spPr>
        <p:txBody>
          <a:bodyPr wrap="square" lIns="0" tIns="0" rIns="0" bIns="0" rtlCol="0" anchor="t"/>
          <a:lstStyle/>
          <a:p>
            <a:pPr marL="0" indent="0">
              <a:buNone/>
            </a:pPr>
            <a:r>
              <a:rPr lang="en-US" sz="1100" b="1" kern="0" spc="300" dirty="0">
                <a:solidFill>
                  <a:schemeClr val="accent1"/>
                </a:solidFill>
              </a:rPr>
              <a:t>01 · THE PROBLEM</a:t>
            </a:r>
            <a:endParaRPr lang="en-US" sz="1100" dirty="0"/>
          </a:p>
        </p:txBody>
      </p:sp>
      <p:sp>
        <p:nvSpPr>
          <p:cNvPr id="3" name="Text 0"/>
          <p:cNvSpPr>
            <a:spLocks noGrp="1"/>
          </p:cNvSpPr>
          <p:nvPr>
            <p:ph type="title" idx="100" hasCustomPrompt="1"/>
          </p:nvPr>
        </p:nvSpPr>
        <p:spPr>
          <a:xfrm>
            <a:off x="594360" y="566928"/>
            <a:ext cx="11002975" cy="658368"/>
          </a:xfrm>
          <a:prstGeom prst="rect">
            <a:avLst/>
          </a:prstGeom>
          <a:noFill/>
          <a:ln/>
        </p:spPr>
        <p:txBody>
          <a:bodyPr wrap="square" lIns="0" tIns="0" rIns="0" bIns="0" rtlCol="0" anchor="ctr"/>
          <a:lstStyle/>
          <a:p>
            <a:pPr marL="0" indent="0" algn="l">
              <a:buNone/>
            </a:pPr>
            <a:r>
              <a:rPr lang="en-US" sz="3000" b="1" dirty="0">
                <a:solidFill>
                  <a:schemeClr val="tx2"/>
                </a:solidFill>
                <a:latin typeface="Georgia" pitchFamily="34" charset="0"/>
                <a:ea typeface="Georgia" pitchFamily="34" charset="-122"/>
                <a:cs typeface="Georgia" pitchFamily="34" charset="-120"/>
              </a:rPr>
              <a:t>Highs and lows happen between clinic visits</a:t>
            </a:r>
            <a:endParaRPr lang="en-US" sz="3000" dirty="0"/>
          </a:p>
        </p:txBody>
      </p:sp>
      <p:sp>
        <p:nvSpPr>
          <p:cNvPr id="4" name="card"/>
          <p:cNvSpPr/>
          <p:nvPr/>
        </p:nvSpPr>
        <p:spPr>
          <a:xfrm>
            <a:off x="594360" y="1463040"/>
            <a:ext cx="4206240" cy="2788920"/>
          </a:xfrm>
          <a:prstGeom prst="roundRect">
            <a:avLst>
              <a:gd name="adj" fmla="val 4590"/>
            </a:avLst>
          </a:prstGeom>
          <a:solidFill>
            <a:schemeClr val="tx2"/>
          </a:solidFill>
          <a:ln/>
          <a:effectLst>
            <a:outerShdw blurRad="177800" dist="38100" dir="5400000" algn="bl" rotWithShape="0">
              <a:srgbClr val="0B2F3F">
                <a:alpha val="10000"/>
              </a:srgbClr>
            </a:outerShdw>
          </a:effectLst>
        </p:spPr>
      </p:sp>
      <p:sp>
        <p:nvSpPr>
          <p:cNvPr id="5" name="icon-dot"/>
          <p:cNvSpPr/>
          <p:nvPr/>
        </p:nvSpPr>
        <p:spPr>
          <a:xfrm>
            <a:off x="960120" y="1737360"/>
            <a:ext cx="566928" cy="566928"/>
          </a:xfrm>
          <a:prstGeom prst="ellipse">
            <a:avLst/>
          </a:prstGeom>
          <a:solidFill>
            <a:schemeClr val="accent1"/>
          </a:solidFill>
          <a:ln/>
        </p:spPr>
      </p:sp>
      <p:pic>
        <p:nvPicPr>
          <p:cNvPr id="6" name="icon-users" descr="C:\Users\Akhilesh\AppData\Local\Temp\claude\C--Users-Akhilesh-Desktop-Claude-code-Happiest-Health\47a587f0-c947-456b-8324-0bf75adb31d4\scratchpad\deck\img\icons\users.png"/>
          <p:cNvPicPr>
            <a:picLocks noChangeAspect="1"/>
          </p:cNvPicPr>
          <p:nvPr/>
        </p:nvPicPr>
        <p:blipFill>
          <a:blip r:embed="rId3"/>
          <a:stretch>
            <a:fillRect/>
          </a:stretch>
        </p:blipFill>
        <p:spPr>
          <a:xfrm>
            <a:off x="1084844" y="1862084"/>
            <a:ext cx="317480" cy="317480"/>
          </a:xfrm>
          <a:prstGeom prst="rect">
            <a:avLst/>
          </a:prstGeom>
        </p:spPr>
      </p:pic>
      <p:sp>
        <p:nvSpPr>
          <p:cNvPr id="7" name="Text 4"/>
          <p:cNvSpPr txBox="1"/>
          <p:nvPr/>
        </p:nvSpPr>
        <p:spPr>
          <a:xfrm>
            <a:off x="960120" y="2395728"/>
            <a:ext cx="3657600" cy="914400"/>
          </a:xfrm>
          <a:prstGeom prst="rect">
            <a:avLst/>
          </a:prstGeom>
          <a:noFill/>
          <a:ln/>
        </p:spPr>
        <p:txBody>
          <a:bodyPr wrap="square" lIns="0" tIns="0" rIns="0" bIns="0" rtlCol="0" anchor="b"/>
          <a:lstStyle/>
          <a:p>
            <a:pPr marL="0" indent="0">
              <a:buNone/>
            </a:pPr>
            <a:r>
              <a:rPr lang="en-US" sz="5600" b="1" dirty="0">
                <a:solidFill>
                  <a:schemeClr val="bg1"/>
                </a:solidFill>
                <a:latin typeface="Georgia" pitchFamily="34" charset="0"/>
                <a:ea typeface="Georgia" pitchFamily="34" charset="-122"/>
                <a:cs typeface="Georgia" pitchFamily="34" charset="-120"/>
              </a:rPr>
              <a:t>101 M</a:t>
            </a:r>
            <a:endParaRPr lang="en-US" sz="5600" dirty="0"/>
          </a:p>
        </p:txBody>
      </p:sp>
      <p:sp>
        <p:nvSpPr>
          <p:cNvPr id="8" name="Text 5"/>
          <p:cNvSpPr txBox="1"/>
          <p:nvPr/>
        </p:nvSpPr>
        <p:spPr>
          <a:xfrm>
            <a:off x="960120" y="3383280"/>
            <a:ext cx="3520440" cy="731520"/>
          </a:xfrm>
          <a:prstGeom prst="rect">
            <a:avLst/>
          </a:prstGeom>
          <a:noFill/>
          <a:ln/>
        </p:spPr>
        <p:txBody>
          <a:bodyPr wrap="square" lIns="0" tIns="0" rIns="0" bIns="0" rtlCol="0" anchor="t"/>
          <a:lstStyle/>
          <a:p>
            <a:pPr marL="0" indent="0">
              <a:buNone/>
            </a:pPr>
            <a:r>
              <a:rPr lang="en-US" sz="1300" dirty="0">
                <a:solidFill>
                  <a:schemeClr val="bg2"/>
                </a:solidFill>
              </a:rPr>
              <a:t>people with diabetes in India, mostly Type 2 (ICMR-INDIAB, Lancet Diabetes &amp; Endocrinology 2023)</a:t>
            </a:r>
            <a:endParaRPr lang="en-US" sz="1300" dirty="0"/>
          </a:p>
        </p:txBody>
      </p:sp>
      <p:sp>
        <p:nvSpPr>
          <p:cNvPr id="9" name="card"/>
          <p:cNvSpPr/>
          <p:nvPr/>
        </p:nvSpPr>
        <p:spPr>
          <a:xfrm>
            <a:off x="5074920" y="1463040"/>
            <a:ext cx="3127248" cy="2788920"/>
          </a:xfrm>
          <a:prstGeom prst="roundRect">
            <a:avLst>
              <a:gd name="adj" fmla="val 4590"/>
            </a:avLst>
          </a:prstGeom>
          <a:solidFill>
            <a:schemeClr val="bg1"/>
          </a:solidFill>
          <a:ln/>
          <a:effectLst>
            <a:outerShdw blurRad="177800" dist="38100" dir="5400000" algn="bl" rotWithShape="0">
              <a:srgbClr val="0B2F3F">
                <a:alpha val="10000"/>
              </a:srgbClr>
            </a:outerShdw>
          </a:effectLst>
        </p:spPr>
      </p:sp>
      <p:sp>
        <p:nvSpPr>
          <p:cNvPr id="10" name="icon-dot"/>
          <p:cNvSpPr/>
          <p:nvPr/>
        </p:nvSpPr>
        <p:spPr>
          <a:xfrm>
            <a:off x="5394960" y="1737360"/>
            <a:ext cx="566928" cy="566928"/>
          </a:xfrm>
          <a:prstGeom prst="ellipse">
            <a:avLst/>
          </a:prstGeom>
          <a:solidFill>
            <a:schemeClr val="accent2"/>
          </a:solidFill>
          <a:ln/>
        </p:spPr>
      </p:sp>
      <p:pic>
        <p:nvPicPr>
          <p:cNvPr id="11" name="icon-clock" descr="C:\Users\Akhilesh\AppData\Local\Temp\claude\C--Users-Akhilesh-Desktop-Claude-code-Happiest-Health\47a587f0-c947-456b-8324-0bf75adb31d4\scratchpad\deck\img\icons\clock.png"/>
          <p:cNvPicPr>
            <a:picLocks noChangeAspect="1"/>
          </p:cNvPicPr>
          <p:nvPr/>
        </p:nvPicPr>
        <p:blipFill>
          <a:blip r:embed="rId4"/>
          <a:stretch>
            <a:fillRect/>
          </a:stretch>
        </p:blipFill>
        <p:spPr>
          <a:xfrm>
            <a:off x="5519684" y="1862084"/>
            <a:ext cx="317480" cy="317480"/>
          </a:xfrm>
          <a:prstGeom prst="rect">
            <a:avLst/>
          </a:prstGeom>
        </p:spPr>
      </p:pic>
      <p:sp>
        <p:nvSpPr>
          <p:cNvPr id="12" name="Text 8"/>
          <p:cNvSpPr txBox="1"/>
          <p:nvPr/>
        </p:nvSpPr>
        <p:spPr>
          <a:xfrm>
            <a:off x="5394960" y="2395728"/>
            <a:ext cx="2651760" cy="822960"/>
          </a:xfrm>
          <a:prstGeom prst="rect">
            <a:avLst/>
          </a:prstGeom>
          <a:noFill/>
          <a:ln/>
        </p:spPr>
        <p:txBody>
          <a:bodyPr wrap="square" lIns="0" tIns="0" rIns="0" bIns="0" rtlCol="0" anchor="b"/>
          <a:lstStyle/>
          <a:p>
            <a:pPr marL="0" indent="0">
              <a:buNone/>
            </a:pPr>
            <a:r>
              <a:rPr lang="en-US" sz="3600" b="1" dirty="0">
                <a:solidFill>
                  <a:schemeClr val="accent2"/>
                </a:solidFill>
                <a:latin typeface="Georgia" pitchFamily="34" charset="0"/>
                <a:ea typeface="Georgia" pitchFamily="34" charset="-122"/>
                <a:cs typeface="Georgia" pitchFamily="34" charset="-120"/>
              </a:rPr>
              <a:t>3 months</a:t>
            </a:r>
            <a:endParaRPr lang="en-US" sz="3600" dirty="0"/>
          </a:p>
        </p:txBody>
      </p:sp>
      <p:sp>
        <p:nvSpPr>
          <p:cNvPr id="13" name="Text 9"/>
          <p:cNvSpPr txBox="1"/>
          <p:nvPr/>
        </p:nvSpPr>
        <p:spPr>
          <a:xfrm>
            <a:off x="5394960" y="3337560"/>
            <a:ext cx="2560320" cy="777240"/>
          </a:xfrm>
          <a:prstGeom prst="rect">
            <a:avLst/>
          </a:prstGeom>
          <a:noFill/>
          <a:ln/>
        </p:spPr>
        <p:txBody>
          <a:bodyPr wrap="square" lIns="0" tIns="0" rIns="0" bIns="0" rtlCol="0" anchor="t"/>
          <a:lstStyle/>
          <a:p>
            <a:pPr marL="0" indent="0">
              <a:buNone/>
            </a:pPr>
            <a:r>
              <a:rPr lang="en-US" sz="1300" dirty="0">
                <a:solidFill>
                  <a:schemeClr val="tx1"/>
                </a:solidFill>
              </a:rPr>
              <a:t>between HbA1c tests, while dangerous highs and lows happen within hours</a:t>
            </a:r>
            <a:endParaRPr lang="en-US" sz="1300" dirty="0"/>
          </a:p>
        </p:txBody>
      </p:sp>
      <p:sp>
        <p:nvSpPr>
          <p:cNvPr id="14" name="card"/>
          <p:cNvSpPr/>
          <p:nvPr/>
        </p:nvSpPr>
        <p:spPr>
          <a:xfrm>
            <a:off x="8385048" y="1463040"/>
            <a:ext cx="3127248" cy="2788920"/>
          </a:xfrm>
          <a:prstGeom prst="roundRect">
            <a:avLst>
              <a:gd name="adj" fmla="val 4590"/>
            </a:avLst>
          </a:prstGeom>
          <a:solidFill>
            <a:schemeClr val="bg1"/>
          </a:solidFill>
          <a:ln/>
          <a:effectLst>
            <a:outerShdw blurRad="177800" dist="38100" dir="5400000" algn="bl" rotWithShape="0">
              <a:srgbClr val="0B2F3F">
                <a:alpha val="10000"/>
              </a:srgbClr>
            </a:outerShdw>
          </a:effectLst>
        </p:spPr>
      </p:sp>
      <p:sp>
        <p:nvSpPr>
          <p:cNvPr id="15" name="icon-dot"/>
          <p:cNvSpPr/>
          <p:nvPr/>
        </p:nvSpPr>
        <p:spPr>
          <a:xfrm>
            <a:off x="8705088" y="1737360"/>
            <a:ext cx="566928" cy="566928"/>
          </a:xfrm>
          <a:prstGeom prst="ellipse">
            <a:avLst/>
          </a:prstGeom>
          <a:solidFill>
            <a:schemeClr val="accent3"/>
          </a:solidFill>
          <a:ln/>
        </p:spPr>
      </p:sp>
      <p:pic>
        <p:nvPicPr>
          <p:cNvPr id="16" name="icon-moon" descr="C:\Users\Akhilesh\AppData\Local\Temp\claude\C--Users-Akhilesh-Desktop-Claude-code-Happiest-Health\47a587f0-c947-456b-8324-0bf75adb31d4\scratchpad\deck\img\icons\moon.png"/>
          <p:cNvPicPr>
            <a:picLocks noChangeAspect="1"/>
          </p:cNvPicPr>
          <p:nvPr/>
        </p:nvPicPr>
        <p:blipFill>
          <a:blip r:embed="rId5"/>
          <a:stretch>
            <a:fillRect/>
          </a:stretch>
        </p:blipFill>
        <p:spPr>
          <a:xfrm>
            <a:off x="8829812" y="1862084"/>
            <a:ext cx="317480" cy="317480"/>
          </a:xfrm>
          <a:prstGeom prst="rect">
            <a:avLst/>
          </a:prstGeom>
        </p:spPr>
      </p:pic>
      <p:sp>
        <p:nvSpPr>
          <p:cNvPr id="17" name="Text 12"/>
          <p:cNvSpPr txBox="1"/>
          <p:nvPr/>
        </p:nvSpPr>
        <p:spPr>
          <a:xfrm>
            <a:off x="8705088" y="2395728"/>
            <a:ext cx="2651760" cy="822960"/>
          </a:xfrm>
          <a:prstGeom prst="rect">
            <a:avLst/>
          </a:prstGeom>
          <a:noFill/>
          <a:ln/>
        </p:spPr>
        <p:txBody>
          <a:bodyPr wrap="square" lIns="0" tIns="0" rIns="0" bIns="0" rtlCol="0" anchor="b"/>
          <a:lstStyle/>
          <a:p>
            <a:pPr marL="0" indent="0">
              <a:buNone/>
            </a:pPr>
            <a:r>
              <a:rPr lang="en-US" sz="3600" b="1" dirty="0">
                <a:solidFill>
                  <a:schemeClr val="accent3"/>
                </a:solidFill>
                <a:latin typeface="Georgia" pitchFamily="34" charset="0"/>
                <a:ea typeface="Georgia" pitchFamily="34" charset="-122"/>
                <a:cs typeface="Georgia" pitchFamily="34" charset="-120"/>
              </a:rPr>
              <a:t>At night</a:t>
            </a:r>
            <a:endParaRPr lang="en-US" sz="3600" dirty="0"/>
          </a:p>
        </p:txBody>
      </p:sp>
      <p:sp>
        <p:nvSpPr>
          <p:cNvPr id="18" name="Text 13"/>
          <p:cNvSpPr txBox="1"/>
          <p:nvPr/>
        </p:nvSpPr>
        <p:spPr>
          <a:xfrm>
            <a:off x="8705088" y="3337560"/>
            <a:ext cx="2560320" cy="777240"/>
          </a:xfrm>
          <a:prstGeom prst="rect">
            <a:avLst/>
          </a:prstGeom>
          <a:noFill/>
          <a:ln/>
        </p:spPr>
        <p:txBody>
          <a:bodyPr wrap="square" lIns="0" tIns="0" rIns="0" bIns="0" rtlCol="0" anchor="t"/>
          <a:lstStyle/>
          <a:p>
            <a:pPr marL="0" indent="0">
              <a:buNone/>
            </a:pPr>
            <a:r>
              <a:rPr lang="en-US" sz="1300" dirty="0">
                <a:solidFill>
                  <a:schemeClr val="tx1"/>
                </a:solidFill>
              </a:rPr>
              <a:t>lows from sulfonylureas or insulin strike while the patient sleeps and cannot react</a:t>
            </a:r>
            <a:endParaRPr lang="en-US" sz="1300" dirty="0"/>
          </a:p>
        </p:txBody>
      </p:sp>
      <p:sp>
        <p:nvSpPr>
          <p:cNvPr id="19" name="card"/>
          <p:cNvSpPr/>
          <p:nvPr/>
        </p:nvSpPr>
        <p:spPr>
          <a:xfrm>
            <a:off x="594360" y="4526280"/>
            <a:ext cx="11002975" cy="1508760"/>
          </a:xfrm>
          <a:prstGeom prst="roundRect">
            <a:avLst>
              <a:gd name="adj" fmla="val 8485"/>
            </a:avLst>
          </a:prstGeom>
          <a:solidFill>
            <a:schemeClr val="bg1"/>
          </a:solidFill>
          <a:ln/>
          <a:effectLst>
            <a:outerShdw blurRad="177800" dist="38100" dir="5400000" algn="bl" rotWithShape="0">
              <a:srgbClr val="0B2F3F">
                <a:alpha val="10000"/>
              </a:srgbClr>
            </a:outerShdw>
          </a:effectLst>
        </p:spPr>
      </p:sp>
      <p:sp>
        <p:nvSpPr>
          <p:cNvPr id="20" name="icon-dot"/>
          <p:cNvSpPr/>
          <p:nvPr/>
        </p:nvSpPr>
        <p:spPr>
          <a:xfrm>
            <a:off x="960120" y="4956048"/>
            <a:ext cx="658368" cy="658368"/>
          </a:xfrm>
          <a:prstGeom prst="ellipse">
            <a:avLst/>
          </a:prstGeom>
          <a:solidFill>
            <a:schemeClr val="accent6"/>
          </a:solidFill>
          <a:ln/>
        </p:spPr>
      </p:sp>
      <p:pic>
        <p:nvPicPr>
          <p:cNvPr id="21" name="icon-record" descr="C:\Users\Akhilesh\AppData\Local\Temp\claude\C--Users-Akhilesh-Desktop-Claude-code-Happiest-Health\47a587f0-c947-456b-8324-0bf75adb31d4\scratchpad\deck\img\icons\record.png"/>
          <p:cNvPicPr>
            <a:picLocks noChangeAspect="1"/>
          </p:cNvPicPr>
          <p:nvPr/>
        </p:nvPicPr>
        <p:blipFill>
          <a:blip r:embed="rId6"/>
          <a:stretch>
            <a:fillRect/>
          </a:stretch>
        </p:blipFill>
        <p:spPr>
          <a:xfrm>
            <a:off x="1104961" y="5100889"/>
            <a:ext cx="368686" cy="368686"/>
          </a:xfrm>
          <a:prstGeom prst="rect">
            <a:avLst/>
          </a:prstGeom>
        </p:spPr>
      </p:pic>
      <p:sp>
        <p:nvSpPr>
          <p:cNvPr id="22" name="Text 16"/>
          <p:cNvSpPr txBox="1"/>
          <p:nvPr/>
        </p:nvSpPr>
        <p:spPr>
          <a:xfrm>
            <a:off x="1783080" y="4919472"/>
            <a:ext cx="2103120" cy="731520"/>
          </a:xfrm>
          <a:prstGeom prst="rect">
            <a:avLst/>
          </a:prstGeom>
          <a:noFill/>
          <a:ln/>
        </p:spPr>
        <p:txBody>
          <a:bodyPr wrap="square" lIns="0" tIns="0" rIns="0" bIns="0" rtlCol="0" anchor="t"/>
          <a:lstStyle/>
          <a:p>
            <a:pPr marL="0" indent="0">
              <a:buNone/>
            </a:pPr>
            <a:r>
              <a:rPr lang="en-US" sz="1300" b="1" dirty="0">
                <a:solidFill>
                  <a:schemeClr val="tx1"/>
                </a:solidFill>
              </a:rPr>
              <a:t>Health record</a:t>
            </a:r>
            <a:endParaRPr lang="en-US" sz="1300" dirty="0"/>
          </a:p>
          <a:p>
            <a:pPr marL="0" indent="0">
              <a:buNone/>
            </a:pPr>
            <a:r>
              <a:rPr lang="en-US" sz="1300" dirty="0">
                <a:solidFill>
                  <a:schemeClr val="accent6"/>
                </a:solidFill>
              </a:rPr>
              <a:t>diagnoses, labs, medicines</a:t>
            </a:r>
            <a:endParaRPr lang="en-US" sz="1300" dirty="0"/>
          </a:p>
        </p:txBody>
      </p:sp>
      <p:sp>
        <p:nvSpPr>
          <p:cNvPr id="23" name="Shape 17"/>
          <p:cNvSpPr/>
          <p:nvPr/>
        </p:nvSpPr>
        <p:spPr>
          <a:xfrm>
            <a:off x="3931920" y="5285232"/>
            <a:ext cx="1417320" cy="0"/>
          </a:xfrm>
          <a:prstGeom prst="line">
            <a:avLst/>
          </a:prstGeom>
          <a:noFill/>
          <a:ln w="19050">
            <a:solidFill>
              <a:srgbClr val="7A8797"/>
            </a:solidFill>
            <a:prstDash val="dash"/>
          </a:ln>
        </p:spPr>
      </p:sp>
      <p:sp>
        <p:nvSpPr>
          <p:cNvPr id="24" name="pill"/>
          <p:cNvSpPr/>
          <p:nvPr/>
        </p:nvSpPr>
        <p:spPr>
          <a:xfrm>
            <a:off x="3840480" y="5102352"/>
            <a:ext cx="1600200" cy="365760"/>
          </a:xfrm>
          <a:prstGeom prst="roundRect">
            <a:avLst>
              <a:gd name="adj" fmla="val 50000"/>
            </a:avLst>
          </a:prstGeom>
          <a:solidFill>
            <a:srgbClr val="FBE3D8"/>
          </a:solidFill>
          <a:ln/>
        </p:spPr>
      </p:sp>
      <p:sp>
        <p:nvSpPr>
          <p:cNvPr id="25" name="Text 19"/>
          <p:cNvSpPr txBox="1"/>
          <p:nvPr/>
        </p:nvSpPr>
        <p:spPr>
          <a:xfrm>
            <a:off x="3840480" y="5102352"/>
            <a:ext cx="1600200" cy="365760"/>
          </a:xfrm>
          <a:prstGeom prst="rect">
            <a:avLst/>
          </a:prstGeom>
          <a:noFill/>
          <a:ln/>
        </p:spPr>
        <p:txBody>
          <a:bodyPr wrap="square" lIns="0" tIns="0" rIns="0" bIns="0" rtlCol="0" anchor="ctr"/>
          <a:lstStyle/>
          <a:p>
            <a:pPr marL="0" indent="0" algn="ctr">
              <a:buNone/>
            </a:pPr>
            <a:r>
              <a:rPr lang="en-US" sz="1200" b="1" dirty="0">
                <a:solidFill>
                  <a:schemeClr val="accent2"/>
                </a:solidFill>
              </a:rPr>
              <a:t>never combined</a:t>
            </a:r>
            <a:endParaRPr lang="en-US" sz="1200" dirty="0"/>
          </a:p>
        </p:txBody>
      </p:sp>
      <p:sp>
        <p:nvSpPr>
          <p:cNvPr id="26" name="icon-dot"/>
          <p:cNvSpPr/>
          <p:nvPr/>
        </p:nvSpPr>
        <p:spPr>
          <a:xfrm>
            <a:off x="5486400" y="4956048"/>
            <a:ext cx="658368" cy="658368"/>
          </a:xfrm>
          <a:prstGeom prst="ellipse">
            <a:avLst/>
          </a:prstGeom>
          <a:solidFill>
            <a:schemeClr val="accent3"/>
          </a:solidFill>
          <a:ln/>
        </p:spPr>
      </p:sp>
      <p:pic>
        <p:nvPicPr>
          <p:cNvPr id="27" name="icon-watch" descr="C:\Users\Akhilesh\AppData\Local\Temp\claude\C--Users-Akhilesh-Desktop-Claude-code-Happiest-Health\47a587f0-c947-456b-8324-0bf75adb31d4\scratchpad\deck\img\icons\watch.png"/>
          <p:cNvPicPr>
            <a:picLocks noChangeAspect="1"/>
          </p:cNvPicPr>
          <p:nvPr/>
        </p:nvPicPr>
        <p:blipFill>
          <a:blip r:embed="rId7"/>
          <a:stretch>
            <a:fillRect/>
          </a:stretch>
        </p:blipFill>
        <p:spPr>
          <a:xfrm>
            <a:off x="5631241" y="5100889"/>
            <a:ext cx="368686" cy="368686"/>
          </a:xfrm>
          <a:prstGeom prst="rect">
            <a:avLst/>
          </a:prstGeom>
        </p:spPr>
      </p:pic>
      <p:sp>
        <p:nvSpPr>
          <p:cNvPr id="28" name="Text 21"/>
          <p:cNvSpPr txBox="1"/>
          <p:nvPr/>
        </p:nvSpPr>
        <p:spPr>
          <a:xfrm>
            <a:off x="6309360" y="4919472"/>
            <a:ext cx="2194560" cy="731520"/>
          </a:xfrm>
          <a:prstGeom prst="rect">
            <a:avLst/>
          </a:prstGeom>
          <a:noFill/>
          <a:ln/>
        </p:spPr>
        <p:txBody>
          <a:bodyPr wrap="square" lIns="0" tIns="0" rIns="0" bIns="0" rtlCol="0" anchor="t"/>
          <a:lstStyle/>
          <a:p>
            <a:pPr marL="0" indent="0">
              <a:buNone/>
            </a:pPr>
            <a:r>
              <a:rPr lang="en-US" sz="1300" b="1" dirty="0">
                <a:solidFill>
                  <a:schemeClr val="tx1"/>
                </a:solidFill>
              </a:rPr>
              <a:t>Wearable sensor</a:t>
            </a:r>
            <a:endParaRPr lang="en-US" sz="1300" dirty="0"/>
          </a:p>
          <a:p>
            <a:pPr marL="0" indent="0">
              <a:buNone/>
            </a:pPr>
            <a:r>
              <a:rPr lang="en-US" sz="1300" dirty="0">
                <a:solidFill>
                  <a:schemeClr val="accent6"/>
                </a:solidFill>
              </a:rPr>
              <a:t>glucose every 5 minutes</a:t>
            </a:r>
            <a:endParaRPr lang="en-US" sz="1300" dirty="0"/>
          </a:p>
        </p:txBody>
      </p:sp>
      <p:sp>
        <p:nvSpPr>
          <p:cNvPr id="29" name="Text 22"/>
          <p:cNvSpPr txBox="1"/>
          <p:nvPr/>
        </p:nvSpPr>
        <p:spPr>
          <a:xfrm>
            <a:off x="8549640" y="4846320"/>
            <a:ext cx="2880360" cy="914400"/>
          </a:xfrm>
          <a:prstGeom prst="rect">
            <a:avLst/>
          </a:prstGeom>
          <a:noFill/>
          <a:ln/>
        </p:spPr>
        <p:txBody>
          <a:bodyPr wrap="square" lIns="0" tIns="0" rIns="0" bIns="0" rtlCol="0" anchor="ctr"/>
          <a:lstStyle/>
          <a:p>
            <a:pPr marL="0" indent="0">
              <a:buNone/>
            </a:pPr>
            <a:r>
              <a:rPr lang="en-US" sz="1500" b="1" dirty="0">
                <a:solidFill>
                  <a:schemeClr val="tx2"/>
                </a:solidFill>
              </a:rPr>
              <a:t>So nobody turns them into an early warning a doctor can act on.</a:t>
            </a:r>
            <a:endParaRPr lang="en-US" sz="1500" dirty="0"/>
          </a:p>
        </p:txBody>
      </p:sp>
      <p:sp>
        <p:nvSpPr>
          <p:cNvPr id="30" name="Slide Number Placeholder 0"/>
          <p:cNvSpPr>
            <a:spLocks noGrp="1"/>
          </p:cNvSpPr>
          <p:nvPr>
            <p:ph type="sldNum" sz="quarter" idx="4294967295"/>
          </p:nvPr>
        </p:nvSpPr>
        <p:spPr>
          <a:xfrm>
            <a:off x="11140135" y="6446520"/>
            <a:ext cx="457200" cy="256032"/>
          </a:xfrm>
          <a:prstGeom prst="rect">
            <a:avLst/>
          </a:prstGeom>
          <a:extLst>
            <a:ext uri="{C572A759-6A51-4108-AA02-DFA0A04FC94B}">
              <ma14:wrappingTextBoxFlag xmlns:ma14="http://schemas.microsoft.com/office/mac/drawingml/2011/main" xmlns="" val="0"/>
            </a:ext>
          </a:extLst>
        </p:spPr>
        <p:txBody>
          <a:bodyPr/>
          <a:lstStyle>
            <a:lvl1pPr>
              <a:defRPr sz="900">
                <a:solidFill>
                  <a:schemeClr val="accent6"/>
                </a:solidFill>
              </a:defRPr>
            </a:lvl1pPr>
          </a:lstStyle>
          <a:p>
            <a:pPr algn="r"/>
            <a:fld id="{F7021451-1387-4CA6-816F-3879F97B5CBC}" type="slidenum">
              <a:rPr lang="en-US" b="0"/>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94360" y="292608"/>
            <a:ext cx="8229600" cy="256032"/>
          </a:xfrm>
          <a:prstGeom prst="rect">
            <a:avLst/>
          </a:prstGeom>
          <a:noFill/>
          <a:ln/>
        </p:spPr>
        <p:txBody>
          <a:bodyPr wrap="square" lIns="0" tIns="0" rIns="0" bIns="0" rtlCol="0" anchor="t"/>
          <a:lstStyle/>
          <a:p>
            <a:pPr marL="0" indent="0">
              <a:buNone/>
            </a:pPr>
            <a:r>
              <a:rPr lang="en-US" sz="1100" b="1" kern="0" spc="300" dirty="0">
                <a:solidFill>
                  <a:schemeClr val="accent1"/>
                </a:solidFill>
              </a:rPr>
              <a:t>02 · OUR ANSWER</a:t>
            </a:r>
            <a:endParaRPr lang="en-US" sz="1100" dirty="0"/>
          </a:p>
        </p:txBody>
      </p:sp>
      <p:sp>
        <p:nvSpPr>
          <p:cNvPr id="3" name="Text 0"/>
          <p:cNvSpPr>
            <a:spLocks noGrp="1"/>
          </p:cNvSpPr>
          <p:nvPr>
            <p:ph type="title" idx="100" hasCustomPrompt="1"/>
          </p:nvPr>
        </p:nvSpPr>
        <p:spPr>
          <a:xfrm>
            <a:off x="594360" y="566928"/>
            <a:ext cx="11002975" cy="658368"/>
          </a:xfrm>
          <a:prstGeom prst="rect">
            <a:avLst/>
          </a:prstGeom>
          <a:noFill/>
          <a:ln/>
        </p:spPr>
        <p:txBody>
          <a:bodyPr wrap="square" lIns="0" tIns="0" rIns="0" bIns="0" rtlCol="0" anchor="ctr"/>
          <a:lstStyle/>
          <a:p>
            <a:pPr marL="0" indent="0" algn="l">
              <a:buNone/>
            </a:pPr>
            <a:r>
              <a:rPr lang="en-US" sz="3000" b="1" dirty="0">
                <a:solidFill>
                  <a:schemeClr val="tx2"/>
                </a:solidFill>
                <a:latin typeface="Georgia" pitchFamily="34" charset="0"/>
                <a:ea typeface="Georgia" pitchFamily="34" charset="-122"/>
                <a:cs typeface="Georgia" pitchFamily="34" charset="-120"/>
              </a:rPr>
              <a:t>A digital twin of each patient</a:t>
            </a:r>
            <a:endParaRPr lang="en-US" sz="3000" dirty="0"/>
          </a:p>
        </p:txBody>
      </p:sp>
      <p:sp>
        <p:nvSpPr>
          <p:cNvPr id="4" name="card"/>
          <p:cNvSpPr/>
          <p:nvPr/>
        </p:nvSpPr>
        <p:spPr>
          <a:xfrm>
            <a:off x="594360" y="1508760"/>
            <a:ext cx="2624328" cy="3657600"/>
          </a:xfrm>
          <a:prstGeom prst="roundRect">
            <a:avLst>
              <a:gd name="adj" fmla="val 4878"/>
            </a:avLst>
          </a:prstGeom>
          <a:solidFill>
            <a:schemeClr val="bg1"/>
          </a:solidFill>
          <a:ln/>
          <a:effectLst>
            <a:outerShdw blurRad="177800" dist="38100" dir="5400000" algn="bl" rotWithShape="0">
              <a:srgbClr val="0B2F3F">
                <a:alpha val="10000"/>
              </a:srgbClr>
            </a:outerShdw>
          </a:effectLst>
        </p:spPr>
      </p:sp>
      <p:sp>
        <p:nvSpPr>
          <p:cNvPr id="5" name="icon-dot"/>
          <p:cNvSpPr/>
          <p:nvPr/>
        </p:nvSpPr>
        <p:spPr>
          <a:xfrm>
            <a:off x="914400" y="1828800"/>
            <a:ext cx="777240" cy="777240"/>
          </a:xfrm>
          <a:prstGeom prst="ellipse">
            <a:avLst/>
          </a:prstGeom>
          <a:solidFill>
            <a:schemeClr val="accent1"/>
          </a:solidFill>
          <a:ln/>
        </p:spPr>
      </p:sp>
      <p:pic>
        <p:nvPicPr>
          <p:cNvPr id="6" name="icon-trend" descr="C:\Users\Akhilesh\AppData\Local\Temp\claude\C--Users-Akhilesh-Desktop-Claude-code-Happiest-Health\47a587f0-c947-456b-8324-0bf75adb31d4\scratchpad\deck\img\icons\trend.png"/>
          <p:cNvPicPr>
            <a:picLocks noChangeAspect="1"/>
          </p:cNvPicPr>
          <p:nvPr/>
        </p:nvPicPr>
        <p:blipFill>
          <a:blip r:embed="rId3"/>
          <a:stretch>
            <a:fillRect/>
          </a:stretch>
        </p:blipFill>
        <p:spPr>
          <a:xfrm>
            <a:off x="1085393" y="1999793"/>
            <a:ext cx="435254" cy="435254"/>
          </a:xfrm>
          <a:prstGeom prst="rect">
            <a:avLst/>
          </a:prstGeom>
        </p:spPr>
      </p:pic>
      <p:sp>
        <p:nvSpPr>
          <p:cNvPr id="7" name="Text 4"/>
          <p:cNvSpPr txBox="1"/>
          <p:nvPr/>
        </p:nvSpPr>
        <p:spPr>
          <a:xfrm>
            <a:off x="2423160" y="1874520"/>
            <a:ext cx="548640" cy="365760"/>
          </a:xfrm>
          <a:prstGeom prst="rect">
            <a:avLst/>
          </a:prstGeom>
          <a:noFill/>
          <a:ln/>
        </p:spPr>
        <p:txBody>
          <a:bodyPr wrap="square" lIns="0" tIns="0" rIns="0" bIns="0" rtlCol="0" anchor="t"/>
          <a:lstStyle/>
          <a:p>
            <a:pPr marL="0" indent="0" algn="r">
              <a:buNone/>
            </a:pPr>
            <a:r>
              <a:rPr lang="en-US" sz="1400" b="1" dirty="0">
                <a:solidFill>
                  <a:schemeClr val="accent6"/>
                </a:solidFill>
              </a:rPr>
              <a:t>01</a:t>
            </a:r>
            <a:endParaRPr lang="en-US" sz="1400" dirty="0"/>
          </a:p>
        </p:txBody>
      </p:sp>
      <p:sp>
        <p:nvSpPr>
          <p:cNvPr id="8" name="Text 5"/>
          <p:cNvSpPr txBox="1"/>
          <p:nvPr/>
        </p:nvSpPr>
        <p:spPr>
          <a:xfrm>
            <a:off x="914400" y="2834640"/>
            <a:ext cx="2103120" cy="457200"/>
          </a:xfrm>
          <a:prstGeom prst="rect">
            <a:avLst/>
          </a:prstGeom>
          <a:noFill/>
          <a:ln/>
        </p:spPr>
        <p:txBody>
          <a:bodyPr wrap="square" lIns="0" tIns="0" rIns="0" bIns="0" rtlCol="0" anchor="t"/>
          <a:lstStyle/>
          <a:p>
            <a:pPr marL="0" indent="0">
              <a:buNone/>
            </a:pPr>
            <a:r>
              <a:rPr lang="en-US" sz="2200" b="1" dirty="0">
                <a:solidFill>
                  <a:schemeClr val="tx2"/>
                </a:solidFill>
                <a:latin typeface="Georgia" pitchFamily="34" charset="0"/>
                <a:ea typeface="Georgia" pitchFamily="34" charset="-122"/>
                <a:cs typeface="Georgia" pitchFamily="34" charset="-120"/>
              </a:rPr>
              <a:t>Predict</a:t>
            </a:r>
            <a:endParaRPr lang="en-US" sz="2200" dirty="0"/>
          </a:p>
        </p:txBody>
      </p:sp>
      <p:sp>
        <p:nvSpPr>
          <p:cNvPr id="9" name="Text 6"/>
          <p:cNvSpPr txBox="1"/>
          <p:nvPr/>
        </p:nvSpPr>
        <p:spPr>
          <a:xfrm>
            <a:off x="914400" y="3429000"/>
            <a:ext cx="2011680" cy="1554480"/>
          </a:xfrm>
          <a:prstGeom prst="rect">
            <a:avLst/>
          </a:prstGeom>
          <a:noFill/>
          <a:ln/>
        </p:spPr>
        <p:txBody>
          <a:bodyPr wrap="square" lIns="0" tIns="0" rIns="0" bIns="0" rtlCol="0" anchor="t"/>
          <a:lstStyle/>
          <a:p>
            <a:pPr marL="0" indent="0">
              <a:buNone/>
            </a:pPr>
            <a:r>
              <a:rPr lang="en-US" sz="1400" dirty="0">
                <a:solidFill>
                  <a:schemeClr val="tx1"/>
                </a:solidFill>
              </a:rPr>
              <a:t>Risk of glucose above 180 or below 70 mg/dL in the next 2 hours, every 30 minutes</a:t>
            </a:r>
            <a:endParaRPr lang="en-US" sz="1400" dirty="0"/>
          </a:p>
        </p:txBody>
      </p:sp>
      <p:sp>
        <p:nvSpPr>
          <p:cNvPr id="10" name="card"/>
          <p:cNvSpPr/>
          <p:nvPr/>
        </p:nvSpPr>
        <p:spPr>
          <a:xfrm>
            <a:off x="3401568" y="1508760"/>
            <a:ext cx="2624328" cy="3657600"/>
          </a:xfrm>
          <a:prstGeom prst="roundRect">
            <a:avLst>
              <a:gd name="adj" fmla="val 4878"/>
            </a:avLst>
          </a:prstGeom>
          <a:solidFill>
            <a:schemeClr val="bg1"/>
          </a:solidFill>
          <a:ln/>
          <a:effectLst>
            <a:outerShdw blurRad="177800" dist="38100" dir="5400000" algn="bl" rotWithShape="0">
              <a:srgbClr val="0B2F3F">
                <a:alpha val="10000"/>
              </a:srgbClr>
            </a:outerShdw>
          </a:effectLst>
        </p:spPr>
      </p:sp>
      <p:sp>
        <p:nvSpPr>
          <p:cNvPr id="11" name="icon-dot"/>
          <p:cNvSpPr/>
          <p:nvPr/>
        </p:nvSpPr>
        <p:spPr>
          <a:xfrm>
            <a:off x="3721608" y="1828800"/>
            <a:ext cx="777240" cy="777240"/>
          </a:xfrm>
          <a:prstGeom prst="ellipse">
            <a:avLst/>
          </a:prstGeom>
          <a:solidFill>
            <a:schemeClr val="accent2"/>
          </a:solidFill>
          <a:ln/>
        </p:spPr>
      </p:sp>
      <p:pic>
        <p:nvPicPr>
          <p:cNvPr id="12" name="icon-bell" descr="C:\Users\Akhilesh\AppData\Local\Temp\claude\C--Users-Akhilesh-Desktop-Claude-code-Happiest-Health\47a587f0-c947-456b-8324-0bf75adb31d4\scratchpad\deck\img\icons\bell.png"/>
          <p:cNvPicPr>
            <a:picLocks noChangeAspect="1"/>
          </p:cNvPicPr>
          <p:nvPr/>
        </p:nvPicPr>
        <p:blipFill>
          <a:blip r:embed="rId4"/>
          <a:stretch>
            <a:fillRect/>
          </a:stretch>
        </p:blipFill>
        <p:spPr>
          <a:xfrm>
            <a:off x="3892601" y="1999793"/>
            <a:ext cx="435254" cy="435254"/>
          </a:xfrm>
          <a:prstGeom prst="rect">
            <a:avLst/>
          </a:prstGeom>
        </p:spPr>
      </p:pic>
      <p:sp>
        <p:nvSpPr>
          <p:cNvPr id="13" name="Text 9"/>
          <p:cNvSpPr txBox="1"/>
          <p:nvPr/>
        </p:nvSpPr>
        <p:spPr>
          <a:xfrm>
            <a:off x="5230368" y="1874520"/>
            <a:ext cx="548640" cy="365760"/>
          </a:xfrm>
          <a:prstGeom prst="rect">
            <a:avLst/>
          </a:prstGeom>
          <a:noFill/>
          <a:ln/>
        </p:spPr>
        <p:txBody>
          <a:bodyPr wrap="square" lIns="0" tIns="0" rIns="0" bIns="0" rtlCol="0" anchor="t"/>
          <a:lstStyle/>
          <a:p>
            <a:pPr marL="0" indent="0" algn="r">
              <a:buNone/>
            </a:pPr>
            <a:r>
              <a:rPr lang="en-US" sz="1400" b="1" dirty="0">
                <a:solidFill>
                  <a:schemeClr val="accent6"/>
                </a:solidFill>
              </a:rPr>
              <a:t>02</a:t>
            </a:r>
            <a:endParaRPr lang="en-US" sz="1400" dirty="0"/>
          </a:p>
        </p:txBody>
      </p:sp>
      <p:sp>
        <p:nvSpPr>
          <p:cNvPr id="14" name="Text 10"/>
          <p:cNvSpPr txBox="1"/>
          <p:nvPr/>
        </p:nvSpPr>
        <p:spPr>
          <a:xfrm>
            <a:off x="3721608" y="2834640"/>
            <a:ext cx="2103120" cy="457200"/>
          </a:xfrm>
          <a:prstGeom prst="rect">
            <a:avLst/>
          </a:prstGeom>
          <a:noFill/>
          <a:ln/>
        </p:spPr>
        <p:txBody>
          <a:bodyPr wrap="square" lIns="0" tIns="0" rIns="0" bIns="0" rtlCol="0" anchor="t"/>
          <a:lstStyle/>
          <a:p>
            <a:pPr marL="0" indent="0">
              <a:buNone/>
            </a:pPr>
            <a:r>
              <a:rPr lang="en-US" sz="2200" b="1" dirty="0">
                <a:solidFill>
                  <a:schemeClr val="tx2"/>
                </a:solidFill>
                <a:latin typeface="Georgia" pitchFamily="34" charset="0"/>
                <a:ea typeface="Georgia" pitchFamily="34" charset="-122"/>
                <a:cs typeface="Georgia" pitchFamily="34" charset="-120"/>
              </a:rPr>
              <a:t>Alert</a:t>
            </a:r>
            <a:endParaRPr lang="en-US" sz="2200" dirty="0"/>
          </a:p>
        </p:txBody>
      </p:sp>
      <p:sp>
        <p:nvSpPr>
          <p:cNvPr id="15" name="Text 11"/>
          <p:cNvSpPr txBox="1"/>
          <p:nvPr/>
        </p:nvSpPr>
        <p:spPr>
          <a:xfrm>
            <a:off x="3721608" y="3429000"/>
            <a:ext cx="2011680" cy="1554480"/>
          </a:xfrm>
          <a:prstGeom prst="rect">
            <a:avLst/>
          </a:prstGeom>
          <a:noFill/>
          <a:ln/>
        </p:spPr>
        <p:txBody>
          <a:bodyPr wrap="square" lIns="0" tIns="0" rIns="0" bIns="0" rtlCol="0" anchor="t"/>
          <a:lstStyle/>
          <a:p>
            <a:pPr marL="0" indent="0">
              <a:buNone/>
            </a:pPr>
            <a:r>
              <a:rPr lang="en-US" sz="1400" dirty="0">
                <a:solidFill>
                  <a:schemeClr val="tx1"/>
                </a:solidFill>
              </a:rPr>
              <a:t>One alert per risk episode, tuned so clinicians are not flooded with alarms</a:t>
            </a:r>
            <a:endParaRPr lang="en-US" sz="1400" dirty="0"/>
          </a:p>
        </p:txBody>
      </p:sp>
      <p:sp>
        <p:nvSpPr>
          <p:cNvPr id="16" name="card"/>
          <p:cNvSpPr/>
          <p:nvPr/>
        </p:nvSpPr>
        <p:spPr>
          <a:xfrm>
            <a:off x="6208776" y="1508760"/>
            <a:ext cx="2624328" cy="3657600"/>
          </a:xfrm>
          <a:prstGeom prst="roundRect">
            <a:avLst>
              <a:gd name="adj" fmla="val 4878"/>
            </a:avLst>
          </a:prstGeom>
          <a:solidFill>
            <a:schemeClr val="bg1"/>
          </a:solidFill>
          <a:ln/>
          <a:effectLst>
            <a:outerShdw blurRad="177800" dist="38100" dir="5400000" algn="bl" rotWithShape="0">
              <a:srgbClr val="0B2F3F">
                <a:alpha val="10000"/>
              </a:srgbClr>
            </a:outerShdw>
          </a:effectLst>
        </p:spPr>
      </p:sp>
      <p:sp>
        <p:nvSpPr>
          <p:cNvPr id="17" name="icon-dot"/>
          <p:cNvSpPr/>
          <p:nvPr/>
        </p:nvSpPr>
        <p:spPr>
          <a:xfrm>
            <a:off x="6528816" y="1828800"/>
            <a:ext cx="777240" cy="777240"/>
          </a:xfrm>
          <a:prstGeom prst="ellipse">
            <a:avLst/>
          </a:prstGeom>
          <a:solidFill>
            <a:schemeClr val="accent3"/>
          </a:solidFill>
          <a:ln/>
        </p:spPr>
      </p:sp>
      <p:pic>
        <p:nvPicPr>
          <p:cNvPr id="18" name="icon-bulb" descr="C:\Users\Akhilesh\AppData\Local\Temp\claude\C--Users-Akhilesh-Desktop-Claude-code-Happiest-Health\47a587f0-c947-456b-8324-0bf75adb31d4\scratchpad\deck\img\icons\bulb.png"/>
          <p:cNvPicPr>
            <a:picLocks noChangeAspect="1"/>
          </p:cNvPicPr>
          <p:nvPr/>
        </p:nvPicPr>
        <p:blipFill>
          <a:blip r:embed="rId5"/>
          <a:stretch>
            <a:fillRect/>
          </a:stretch>
        </p:blipFill>
        <p:spPr>
          <a:xfrm>
            <a:off x="6699809" y="1999793"/>
            <a:ext cx="435254" cy="435254"/>
          </a:xfrm>
          <a:prstGeom prst="rect">
            <a:avLst/>
          </a:prstGeom>
        </p:spPr>
      </p:pic>
      <p:sp>
        <p:nvSpPr>
          <p:cNvPr id="19" name="Text 14"/>
          <p:cNvSpPr txBox="1"/>
          <p:nvPr/>
        </p:nvSpPr>
        <p:spPr>
          <a:xfrm>
            <a:off x="8037576" y="1874520"/>
            <a:ext cx="548640" cy="365760"/>
          </a:xfrm>
          <a:prstGeom prst="rect">
            <a:avLst/>
          </a:prstGeom>
          <a:noFill/>
          <a:ln/>
        </p:spPr>
        <p:txBody>
          <a:bodyPr wrap="square" lIns="0" tIns="0" rIns="0" bIns="0" rtlCol="0" anchor="t"/>
          <a:lstStyle/>
          <a:p>
            <a:pPr marL="0" indent="0" algn="r">
              <a:buNone/>
            </a:pPr>
            <a:r>
              <a:rPr lang="en-US" sz="1400" b="1" dirty="0">
                <a:solidFill>
                  <a:schemeClr val="accent6"/>
                </a:solidFill>
              </a:rPr>
              <a:t>03</a:t>
            </a:r>
            <a:endParaRPr lang="en-US" sz="1400" dirty="0"/>
          </a:p>
        </p:txBody>
      </p:sp>
      <p:sp>
        <p:nvSpPr>
          <p:cNvPr id="20" name="Text 15"/>
          <p:cNvSpPr txBox="1"/>
          <p:nvPr/>
        </p:nvSpPr>
        <p:spPr>
          <a:xfrm>
            <a:off x="6528816" y="2834640"/>
            <a:ext cx="2103120" cy="457200"/>
          </a:xfrm>
          <a:prstGeom prst="rect">
            <a:avLst/>
          </a:prstGeom>
          <a:noFill/>
          <a:ln/>
        </p:spPr>
        <p:txBody>
          <a:bodyPr wrap="square" lIns="0" tIns="0" rIns="0" bIns="0" rtlCol="0" anchor="t"/>
          <a:lstStyle/>
          <a:p>
            <a:pPr marL="0" indent="0">
              <a:buNone/>
            </a:pPr>
            <a:r>
              <a:rPr lang="en-US" sz="2200" b="1" dirty="0">
                <a:solidFill>
                  <a:schemeClr val="tx2"/>
                </a:solidFill>
                <a:latin typeface="Georgia" pitchFamily="34" charset="0"/>
                <a:ea typeface="Georgia" pitchFamily="34" charset="-122"/>
                <a:cs typeface="Georgia" pitchFamily="34" charset="-120"/>
              </a:rPr>
              <a:t>Explain</a:t>
            </a:r>
            <a:endParaRPr lang="en-US" sz="2200" dirty="0"/>
          </a:p>
        </p:txBody>
      </p:sp>
      <p:sp>
        <p:nvSpPr>
          <p:cNvPr id="21" name="Text 16"/>
          <p:cNvSpPr txBox="1"/>
          <p:nvPr/>
        </p:nvSpPr>
        <p:spPr>
          <a:xfrm>
            <a:off x="6528816" y="3429000"/>
            <a:ext cx="2011680" cy="1554480"/>
          </a:xfrm>
          <a:prstGeom prst="rect">
            <a:avLst/>
          </a:prstGeom>
          <a:noFill/>
          <a:ln/>
        </p:spPr>
        <p:txBody>
          <a:bodyPr wrap="square" lIns="0" tIns="0" rIns="0" bIns="0" rtlCol="0" anchor="t"/>
          <a:lstStyle/>
          <a:p>
            <a:pPr marL="0" indent="0">
              <a:buNone/>
            </a:pPr>
            <a:r>
              <a:rPr lang="en-US" sz="1400" dirty="0">
                <a:solidFill>
                  <a:schemeClr val="tx1"/>
                </a:solidFill>
              </a:rPr>
              <a:t>The top reasons behind every risk: falling glucose, a sulfonylurea dose, the time of day</a:t>
            </a:r>
            <a:endParaRPr lang="en-US" sz="1400" dirty="0"/>
          </a:p>
        </p:txBody>
      </p:sp>
      <p:sp>
        <p:nvSpPr>
          <p:cNvPr id="22" name="card"/>
          <p:cNvSpPr/>
          <p:nvPr/>
        </p:nvSpPr>
        <p:spPr>
          <a:xfrm>
            <a:off x="9015984" y="1508760"/>
            <a:ext cx="2624328" cy="3657600"/>
          </a:xfrm>
          <a:prstGeom prst="roundRect">
            <a:avLst>
              <a:gd name="adj" fmla="val 4878"/>
            </a:avLst>
          </a:prstGeom>
          <a:solidFill>
            <a:schemeClr val="bg1"/>
          </a:solidFill>
          <a:ln/>
          <a:effectLst>
            <a:outerShdw blurRad="177800" dist="38100" dir="5400000" algn="bl" rotWithShape="0">
              <a:srgbClr val="0B2F3F">
                <a:alpha val="10000"/>
              </a:srgbClr>
            </a:outerShdw>
          </a:effectLst>
        </p:spPr>
      </p:sp>
      <p:sp>
        <p:nvSpPr>
          <p:cNvPr id="23" name="icon-dot"/>
          <p:cNvSpPr/>
          <p:nvPr/>
        </p:nvSpPr>
        <p:spPr>
          <a:xfrm>
            <a:off x="9336024" y="1828800"/>
            <a:ext cx="777240" cy="777240"/>
          </a:xfrm>
          <a:prstGeom prst="ellipse">
            <a:avLst/>
          </a:prstGeom>
          <a:solidFill>
            <a:schemeClr val="accent1"/>
          </a:solidFill>
          <a:ln/>
        </p:spPr>
      </p:sp>
      <p:pic>
        <p:nvPicPr>
          <p:cNvPr id="24" name="icon-flask" descr="C:\Users\Akhilesh\AppData\Local\Temp\claude\C--Users-Akhilesh-Desktop-Claude-code-Happiest-Health\47a587f0-c947-456b-8324-0bf75adb31d4\scratchpad\deck\img\icons\flask.png"/>
          <p:cNvPicPr>
            <a:picLocks noChangeAspect="1"/>
          </p:cNvPicPr>
          <p:nvPr/>
        </p:nvPicPr>
        <p:blipFill>
          <a:blip r:embed="rId6"/>
          <a:stretch>
            <a:fillRect/>
          </a:stretch>
        </p:blipFill>
        <p:spPr>
          <a:xfrm>
            <a:off x="9507017" y="1999793"/>
            <a:ext cx="435254" cy="435254"/>
          </a:xfrm>
          <a:prstGeom prst="rect">
            <a:avLst/>
          </a:prstGeom>
        </p:spPr>
      </p:pic>
      <p:sp>
        <p:nvSpPr>
          <p:cNvPr id="25" name="Text 19"/>
          <p:cNvSpPr txBox="1"/>
          <p:nvPr/>
        </p:nvSpPr>
        <p:spPr>
          <a:xfrm>
            <a:off x="10844784" y="1874520"/>
            <a:ext cx="548640" cy="365760"/>
          </a:xfrm>
          <a:prstGeom prst="rect">
            <a:avLst/>
          </a:prstGeom>
          <a:noFill/>
          <a:ln/>
        </p:spPr>
        <p:txBody>
          <a:bodyPr wrap="square" lIns="0" tIns="0" rIns="0" bIns="0" rtlCol="0" anchor="t"/>
          <a:lstStyle/>
          <a:p>
            <a:pPr marL="0" indent="0" algn="r">
              <a:buNone/>
            </a:pPr>
            <a:r>
              <a:rPr lang="en-US" sz="1400" b="1" dirty="0">
                <a:solidFill>
                  <a:schemeClr val="accent6"/>
                </a:solidFill>
              </a:rPr>
              <a:t>04</a:t>
            </a:r>
            <a:endParaRPr lang="en-US" sz="1400" dirty="0"/>
          </a:p>
        </p:txBody>
      </p:sp>
      <p:sp>
        <p:nvSpPr>
          <p:cNvPr id="26" name="Text 20"/>
          <p:cNvSpPr txBox="1"/>
          <p:nvPr/>
        </p:nvSpPr>
        <p:spPr>
          <a:xfrm>
            <a:off x="9336024" y="2834640"/>
            <a:ext cx="2103120" cy="457200"/>
          </a:xfrm>
          <a:prstGeom prst="rect">
            <a:avLst/>
          </a:prstGeom>
          <a:noFill/>
          <a:ln/>
        </p:spPr>
        <p:txBody>
          <a:bodyPr wrap="square" lIns="0" tIns="0" rIns="0" bIns="0" rtlCol="0" anchor="t"/>
          <a:lstStyle/>
          <a:p>
            <a:pPr marL="0" indent="0">
              <a:buNone/>
            </a:pPr>
            <a:r>
              <a:rPr lang="en-US" sz="2200" b="1" dirty="0">
                <a:solidFill>
                  <a:schemeClr val="tx2"/>
                </a:solidFill>
                <a:latin typeface="Georgia" pitchFamily="34" charset="0"/>
                <a:ea typeface="Georgia" pitchFamily="34" charset="-122"/>
                <a:cs typeface="Georgia" pitchFamily="34" charset="-120"/>
              </a:rPr>
              <a:t>Simulate</a:t>
            </a:r>
            <a:endParaRPr lang="en-US" sz="2200" dirty="0"/>
          </a:p>
        </p:txBody>
      </p:sp>
      <p:sp>
        <p:nvSpPr>
          <p:cNvPr id="27" name="Text 21"/>
          <p:cNvSpPr txBox="1"/>
          <p:nvPr/>
        </p:nvSpPr>
        <p:spPr>
          <a:xfrm>
            <a:off x="9336024" y="3429000"/>
            <a:ext cx="2011680" cy="1554480"/>
          </a:xfrm>
          <a:prstGeom prst="rect">
            <a:avLst/>
          </a:prstGeom>
          <a:noFill/>
          <a:ln/>
        </p:spPr>
        <p:txBody>
          <a:bodyPr wrap="square" lIns="0" tIns="0" rIns="0" bIns="0" rtlCol="0" anchor="t"/>
          <a:lstStyle/>
          <a:p>
            <a:pPr marL="0" indent="0">
              <a:buNone/>
            </a:pPr>
            <a:r>
              <a:rPr lang="en-US" sz="1400" dirty="0">
                <a:solidFill>
                  <a:schemeClr val="tx1"/>
                </a:solidFill>
              </a:rPr>
              <a:t>A twin fitted to the patient's own data answers 'what if?' with an honest uncertainty band</a:t>
            </a:r>
            <a:endParaRPr lang="en-US" sz="1400" dirty="0"/>
          </a:p>
        </p:txBody>
      </p:sp>
      <p:sp>
        <p:nvSpPr>
          <p:cNvPr id="28" name="Text 22"/>
          <p:cNvSpPr txBox="1"/>
          <p:nvPr/>
        </p:nvSpPr>
        <p:spPr>
          <a:xfrm>
            <a:off x="594360" y="5440680"/>
            <a:ext cx="11002975" cy="411480"/>
          </a:xfrm>
          <a:prstGeom prst="rect">
            <a:avLst/>
          </a:prstGeom>
          <a:noFill/>
          <a:ln/>
        </p:spPr>
        <p:txBody>
          <a:bodyPr wrap="square" lIns="0" tIns="0" rIns="0" bIns="0" rtlCol="0" anchor="t"/>
          <a:lstStyle/>
          <a:p>
            <a:pPr marL="0" indent="0">
              <a:buNone/>
            </a:pPr>
            <a:r>
              <a:rPr lang="en-US" sz="1300" dirty="0">
                <a:solidFill>
                  <a:schemeClr val="accent6"/>
                </a:solidFill>
              </a:rPr>
              <a:t>Inputs: the last 6 hours of CGM, steps, heart rate and sleep, plus the health record. Output: an explained 2-hour early warning.</a:t>
            </a:r>
            <a:endParaRPr lang="en-US" sz="1300" dirty="0"/>
          </a:p>
        </p:txBody>
      </p:sp>
      <p:sp>
        <p:nvSpPr>
          <p:cNvPr id="29" name="Slide Number Placeholder 0"/>
          <p:cNvSpPr>
            <a:spLocks noGrp="1"/>
          </p:cNvSpPr>
          <p:nvPr>
            <p:ph type="sldNum" sz="quarter" idx="4294967295"/>
          </p:nvPr>
        </p:nvSpPr>
        <p:spPr>
          <a:xfrm>
            <a:off x="11140135" y="6446520"/>
            <a:ext cx="457200" cy="256032"/>
          </a:xfrm>
          <a:prstGeom prst="rect">
            <a:avLst/>
          </a:prstGeom>
          <a:extLst>
            <a:ext uri="{C572A759-6A51-4108-AA02-DFA0A04FC94B}">
              <ma14:wrappingTextBoxFlag xmlns:ma14="http://schemas.microsoft.com/office/mac/drawingml/2011/main" xmlns="" val="0"/>
            </a:ext>
          </a:extLst>
        </p:spPr>
        <p:txBody>
          <a:bodyPr/>
          <a:lstStyle>
            <a:lvl1pPr>
              <a:defRPr sz="900">
                <a:solidFill>
                  <a:schemeClr val="accent6"/>
                </a:solidFill>
              </a:defRPr>
            </a:lvl1pPr>
          </a:lstStyle>
          <a:p>
            <a:pPr algn="r"/>
            <a:fld id="{F7021451-1387-4CA6-816F-3879F97B5CBC}" type="slidenum">
              <a:rPr lang="en-US" b="0"/>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594360" y="292608"/>
            <a:ext cx="8229600" cy="256032"/>
          </a:xfrm>
          <a:prstGeom prst="rect">
            <a:avLst/>
          </a:prstGeom>
          <a:noFill/>
          <a:ln/>
        </p:spPr>
        <p:txBody>
          <a:bodyPr wrap="square" lIns="0" tIns="0" rIns="0" bIns="0" rtlCol="0" anchor="t"/>
          <a:lstStyle/>
          <a:p>
            <a:pPr marL="0" indent="0">
              <a:buNone/>
            </a:pPr>
            <a:r>
              <a:rPr lang="en-US" sz="1100" b="1" kern="0" spc="300" dirty="0">
                <a:solidFill>
                  <a:schemeClr val="accent1"/>
                </a:solidFill>
              </a:rPr>
              <a:t>03 · HOW IT WORKS</a:t>
            </a:r>
            <a:endParaRPr lang="en-US" sz="1100" dirty="0"/>
          </a:p>
        </p:txBody>
      </p:sp>
      <p:sp>
        <p:nvSpPr>
          <p:cNvPr id="3" name="Text 0"/>
          <p:cNvSpPr>
            <a:spLocks noGrp="1"/>
          </p:cNvSpPr>
          <p:nvPr>
            <p:ph type="title" idx="100" hasCustomPrompt="1"/>
          </p:nvPr>
        </p:nvSpPr>
        <p:spPr>
          <a:xfrm>
            <a:off x="594360" y="566928"/>
            <a:ext cx="11002975" cy="658368"/>
          </a:xfrm>
          <a:prstGeom prst="rect">
            <a:avLst/>
          </a:prstGeom>
          <a:noFill/>
          <a:ln/>
        </p:spPr>
        <p:txBody>
          <a:bodyPr wrap="square" lIns="0" tIns="0" rIns="0" bIns="0" rtlCol="0" anchor="ctr"/>
          <a:lstStyle/>
          <a:p>
            <a:pPr marL="0" indent="0" algn="l">
              <a:buNone/>
            </a:pPr>
            <a:r>
              <a:rPr lang="en-US" sz="3000" b="1" dirty="0">
                <a:solidFill>
                  <a:schemeClr val="tx2"/>
                </a:solidFill>
                <a:latin typeface="Georgia" pitchFamily="34" charset="0"/>
                <a:ea typeface="Georgia" pitchFamily="34" charset="-122"/>
                <a:cs typeface="Georgia" pitchFamily="34" charset="-120"/>
              </a:rPr>
              <a:t>Five layers, from data to dashboard and API</a:t>
            </a:r>
            <a:endParaRPr lang="en-US" sz="3000" dirty="0"/>
          </a:p>
        </p:txBody>
      </p:sp>
      <p:sp>
        <p:nvSpPr>
          <p:cNvPr id="4" name="card"/>
          <p:cNvSpPr/>
          <p:nvPr/>
        </p:nvSpPr>
        <p:spPr>
          <a:xfrm>
            <a:off x="1325880" y="1371600"/>
            <a:ext cx="9537192" cy="5074920"/>
          </a:xfrm>
          <a:prstGeom prst="roundRect">
            <a:avLst>
              <a:gd name="adj" fmla="val 2523"/>
            </a:avLst>
          </a:prstGeom>
          <a:solidFill>
            <a:schemeClr val="bg1"/>
          </a:solidFill>
          <a:ln/>
          <a:effectLst>
            <a:outerShdw blurRad="177800" dist="38100" dir="5400000" algn="bl" rotWithShape="0">
              <a:srgbClr val="0B2F3F">
                <a:alpha val="10000"/>
              </a:srgbClr>
            </a:outerShdw>
          </a:effectLst>
        </p:spPr>
      </p:sp>
      <p:pic>
        <p:nvPicPr>
          <p:cNvPr id="5" name="architecture" descr="C:\Users\Akhilesh\Desktop\Claude code\Happiest Health\docs\architecture.png"/>
          <p:cNvPicPr>
            <a:picLocks noChangeAspect="1"/>
          </p:cNvPicPr>
          <p:nvPr/>
        </p:nvPicPr>
        <p:blipFill>
          <a:blip r:embed="rId3"/>
          <a:stretch>
            <a:fillRect/>
          </a:stretch>
        </p:blipFill>
        <p:spPr>
          <a:xfrm>
            <a:off x="1453896" y="1499616"/>
            <a:ext cx="9281160" cy="4818888"/>
          </a:xfrm>
          <a:prstGeom prst="rect">
            <a:avLst/>
          </a:prstGeom>
        </p:spPr>
      </p:pic>
      <p:sp>
        <p:nvSpPr>
          <p:cNvPr id="25" name="Slide Number Placeholder 0"/>
          <p:cNvSpPr>
            <a:spLocks noGrp="1"/>
          </p:cNvSpPr>
          <p:nvPr>
            <p:ph type="sldNum" sz="quarter" idx="4294967295"/>
          </p:nvPr>
        </p:nvSpPr>
        <p:spPr>
          <a:xfrm>
            <a:off x="11140135" y="6446520"/>
            <a:ext cx="457200" cy="256032"/>
          </a:xfrm>
          <a:prstGeom prst="rect">
            <a:avLst/>
          </a:prstGeom>
          <a:extLst>
            <a:ext uri="{C572A759-6A51-4108-AA02-DFA0A04FC94B}">
              <ma14:wrappingTextBoxFlag xmlns:ma14="http://schemas.microsoft.com/office/mac/drawingml/2011/main" xmlns="" val="0"/>
            </a:ext>
          </a:extLst>
        </p:spPr>
        <p:txBody>
          <a:bodyPr/>
          <a:lstStyle>
            <a:lvl1pPr>
              <a:defRPr sz="900">
                <a:solidFill>
                  <a:schemeClr val="accent6"/>
                </a:solidFill>
              </a:defRPr>
            </a:lvl1pPr>
          </a:lstStyle>
          <a:p>
            <a:pPr algn="r"/>
            <a:fld id="{F7021451-1387-4CA6-816F-3879F97B5CBC}" type="slidenum">
              <a:rPr lang="en-US" b="0"/>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594360" y="292608"/>
            <a:ext cx="8229600" cy="256032"/>
          </a:xfrm>
          <a:prstGeom prst="rect">
            <a:avLst/>
          </a:prstGeom>
          <a:noFill/>
          <a:ln/>
        </p:spPr>
        <p:txBody>
          <a:bodyPr wrap="square" lIns="0" tIns="0" rIns="0" bIns="0" rtlCol="0" anchor="t"/>
          <a:lstStyle/>
          <a:p>
            <a:pPr marL="0" indent="0">
              <a:buNone/>
            </a:pPr>
            <a:r>
              <a:rPr lang="en-US" sz="1100" b="1" kern="0" spc="300" dirty="0">
                <a:solidFill>
                  <a:schemeClr val="accent1"/>
                </a:solidFill>
              </a:rPr>
              <a:t>04 · DATA</a:t>
            </a:r>
            <a:endParaRPr lang="en-US" sz="1100" dirty="0"/>
          </a:p>
        </p:txBody>
      </p:sp>
      <p:sp>
        <p:nvSpPr>
          <p:cNvPr id="3" name="Text 0"/>
          <p:cNvSpPr>
            <a:spLocks noGrp="1"/>
          </p:cNvSpPr>
          <p:nvPr>
            <p:ph type="title" idx="100" hasCustomPrompt="1"/>
          </p:nvPr>
        </p:nvSpPr>
        <p:spPr>
          <a:xfrm>
            <a:off x="594360" y="566928"/>
            <a:ext cx="11002975" cy="658368"/>
          </a:xfrm>
          <a:prstGeom prst="rect">
            <a:avLst/>
          </a:prstGeom>
          <a:noFill/>
          <a:ln/>
        </p:spPr>
        <p:txBody>
          <a:bodyPr wrap="square" lIns="0" tIns="0" rIns="0" bIns="0" rtlCol="0" anchor="ctr"/>
          <a:lstStyle/>
          <a:p>
            <a:pPr marL="0" indent="0" algn="l">
              <a:buNone/>
            </a:pPr>
            <a:r>
              <a:rPr lang="en-US" sz="3000" b="1" dirty="0">
                <a:solidFill>
                  <a:schemeClr val="tx2"/>
                </a:solidFill>
                <a:latin typeface="Georgia" pitchFamily="34" charset="0"/>
                <a:ea typeface="Georgia" pitchFamily="34" charset="-122"/>
                <a:cs typeface="Georgia" pitchFamily="34" charset="-120"/>
              </a:rPr>
              <a:t>A physiology simulator, honestly labelled</a:t>
            </a:r>
            <a:endParaRPr lang="en-US" sz="3000" dirty="0"/>
          </a:p>
        </p:txBody>
      </p:sp>
      <p:sp>
        <p:nvSpPr>
          <p:cNvPr id="4" name="card"/>
          <p:cNvSpPr/>
          <p:nvPr/>
        </p:nvSpPr>
        <p:spPr>
          <a:xfrm>
            <a:off x="594360" y="1463040"/>
            <a:ext cx="5989320" cy="4526280"/>
          </a:xfrm>
          <a:prstGeom prst="roundRect">
            <a:avLst>
              <a:gd name="adj" fmla="val 2828"/>
            </a:avLst>
          </a:prstGeom>
          <a:solidFill>
            <a:schemeClr val="bg1"/>
          </a:solidFill>
          <a:ln/>
          <a:effectLst>
            <a:outerShdw blurRad="177800" dist="38100" dir="5400000" algn="bl" rotWithShape="0">
              <a:srgbClr val="0B2F3F">
                <a:alpha val="10000"/>
              </a:srgbClr>
            </a:outerShdw>
          </a:effectLst>
        </p:spPr>
      </p:sp>
      <p:sp>
        <p:nvSpPr>
          <p:cNvPr id="5" name="Text 3"/>
          <p:cNvSpPr txBox="1"/>
          <p:nvPr/>
        </p:nvSpPr>
        <p:spPr>
          <a:xfrm>
            <a:off x="960120" y="1691640"/>
            <a:ext cx="5303520" cy="384048"/>
          </a:xfrm>
          <a:prstGeom prst="rect">
            <a:avLst/>
          </a:prstGeom>
          <a:noFill/>
          <a:ln/>
        </p:spPr>
        <p:txBody>
          <a:bodyPr wrap="square" lIns="0" tIns="0" rIns="0" bIns="0" rtlCol="0" anchor="t"/>
          <a:lstStyle/>
          <a:p>
            <a:pPr marL="0" indent="0">
              <a:buNone/>
            </a:pPr>
            <a:r>
              <a:rPr lang="en-US" sz="1800" b="1" dirty="0">
                <a:solidFill>
                  <a:schemeClr val="tx2"/>
                </a:solidFill>
                <a:latin typeface="Georgia" pitchFamily="34" charset="0"/>
                <a:ea typeface="Georgia" pitchFamily="34" charset="-122"/>
                <a:cs typeface="Georgia" pitchFamily="34" charset="-120"/>
              </a:rPr>
              <a:t>What we generate</a:t>
            </a:r>
            <a:endParaRPr lang="en-US" sz="1800" dirty="0"/>
          </a:p>
        </p:txBody>
      </p:sp>
      <p:sp>
        <p:nvSpPr>
          <p:cNvPr id="6" name="icon-dot"/>
          <p:cNvSpPr/>
          <p:nvPr/>
        </p:nvSpPr>
        <p:spPr>
          <a:xfrm>
            <a:off x="960120" y="2286000"/>
            <a:ext cx="548640" cy="548640"/>
          </a:xfrm>
          <a:prstGeom prst="ellipse">
            <a:avLst/>
          </a:prstGeom>
          <a:solidFill>
            <a:schemeClr val="accent1"/>
          </a:solidFill>
          <a:ln/>
        </p:spPr>
      </p:sp>
      <p:pic>
        <p:nvPicPr>
          <p:cNvPr id="7" name="icon-database" descr="C:\Users\Akhilesh\AppData\Local\Temp\claude\C--Users-Akhilesh-Desktop-Claude-code-Happiest-Health\47a587f0-c947-456b-8324-0bf75adb31d4\scratchpad\deck\img\icons\database.png"/>
          <p:cNvPicPr>
            <a:picLocks noChangeAspect="1"/>
          </p:cNvPicPr>
          <p:nvPr/>
        </p:nvPicPr>
        <p:blipFill>
          <a:blip r:embed="rId3"/>
          <a:stretch>
            <a:fillRect/>
          </a:stretch>
        </p:blipFill>
        <p:spPr>
          <a:xfrm>
            <a:off x="1080821" y="2406701"/>
            <a:ext cx="307238" cy="307238"/>
          </a:xfrm>
          <a:prstGeom prst="rect">
            <a:avLst/>
          </a:prstGeom>
        </p:spPr>
      </p:pic>
      <p:sp>
        <p:nvSpPr>
          <p:cNvPr id="8" name="Text 5"/>
          <p:cNvSpPr txBox="1"/>
          <p:nvPr/>
        </p:nvSpPr>
        <p:spPr>
          <a:xfrm>
            <a:off x="1691640" y="2267712"/>
            <a:ext cx="4663440" cy="731520"/>
          </a:xfrm>
          <a:prstGeom prst="rect">
            <a:avLst/>
          </a:prstGeom>
          <a:noFill/>
          <a:ln/>
        </p:spPr>
        <p:txBody>
          <a:bodyPr wrap="square" lIns="0" tIns="0" rIns="0" bIns="0" rtlCol="0" anchor="t"/>
          <a:lstStyle/>
          <a:p>
            <a:pPr marL="0" indent="0">
              <a:buNone/>
            </a:pPr>
            <a:r>
              <a:rPr lang="en-US" sz="1300" b="1" dirty="0">
                <a:solidFill>
                  <a:schemeClr val="tx1"/>
                </a:solidFill>
              </a:rPr>
              <a:t>300 patients × 14 days</a:t>
            </a:r>
            <a:endParaRPr lang="en-US" sz="1300" dirty="0"/>
          </a:p>
          <a:p>
            <a:pPr marL="0" indent="0">
              <a:buNone/>
            </a:pPr>
            <a:r>
              <a:rPr lang="en-US" sz="1300" dirty="0">
                <a:solidFill>
                  <a:schemeClr val="accent6"/>
                </a:solidFill>
              </a:rPr>
              <a:t>5-minute CGM with sensor lag, noise and dropouts</a:t>
            </a:r>
            <a:endParaRPr lang="en-US" sz="1300" dirty="0"/>
          </a:p>
        </p:txBody>
      </p:sp>
      <p:sp>
        <p:nvSpPr>
          <p:cNvPr id="9" name="icon-dot"/>
          <p:cNvSpPr/>
          <p:nvPr/>
        </p:nvSpPr>
        <p:spPr>
          <a:xfrm>
            <a:off x="960120" y="3182112"/>
            <a:ext cx="548640" cy="548640"/>
          </a:xfrm>
          <a:prstGeom prst="ellipse">
            <a:avLst/>
          </a:prstGeom>
          <a:solidFill>
            <a:schemeClr val="accent1"/>
          </a:solidFill>
          <a:ln/>
        </p:spPr>
      </p:sp>
      <p:pic>
        <p:nvPicPr>
          <p:cNvPr id="10" name="icon-record" descr="C:\Users\Akhilesh\AppData\Local\Temp\claude\C--Users-Akhilesh-Desktop-Claude-code-Happiest-Health\47a587f0-c947-456b-8324-0bf75adb31d4\scratchpad\deck\img\icons\record.png"/>
          <p:cNvPicPr>
            <a:picLocks noChangeAspect="1"/>
          </p:cNvPicPr>
          <p:nvPr/>
        </p:nvPicPr>
        <p:blipFill>
          <a:blip r:embed="rId4"/>
          <a:stretch>
            <a:fillRect/>
          </a:stretch>
        </p:blipFill>
        <p:spPr>
          <a:xfrm>
            <a:off x="1080821" y="3302813"/>
            <a:ext cx="307238" cy="307238"/>
          </a:xfrm>
          <a:prstGeom prst="rect">
            <a:avLst/>
          </a:prstGeom>
        </p:spPr>
      </p:pic>
      <p:sp>
        <p:nvSpPr>
          <p:cNvPr id="11" name="Text 7"/>
          <p:cNvSpPr txBox="1"/>
          <p:nvPr/>
        </p:nvSpPr>
        <p:spPr>
          <a:xfrm>
            <a:off x="1691640" y="3163824"/>
            <a:ext cx="4663440" cy="731520"/>
          </a:xfrm>
          <a:prstGeom prst="rect">
            <a:avLst/>
          </a:prstGeom>
          <a:noFill/>
          <a:ln/>
        </p:spPr>
        <p:txBody>
          <a:bodyPr wrap="square" lIns="0" tIns="0" rIns="0" bIns="0" rtlCol="0" anchor="t"/>
          <a:lstStyle/>
          <a:p>
            <a:pPr marL="0" indent="0">
              <a:buNone/>
            </a:pPr>
            <a:r>
              <a:rPr lang="en-US" sz="1300" b="1" dirty="0">
                <a:solidFill>
                  <a:schemeClr val="tx1"/>
                </a:solidFill>
              </a:rPr>
              <a:t>A full health record</a:t>
            </a:r>
            <a:endParaRPr lang="en-US" sz="1300" dirty="0"/>
          </a:p>
          <a:p>
            <a:pPr marL="0" indent="0">
              <a:buNone/>
            </a:pPr>
            <a:r>
              <a:rPr lang="en-US" sz="1300" dirty="0">
                <a:solidFill>
                  <a:schemeClr val="accent6"/>
                </a:solidFill>
              </a:rPr>
              <a:t>age, BMI, HbA1c, eGFR, lipids, comorbidities, drug doses</a:t>
            </a:r>
            <a:endParaRPr lang="en-US" sz="1300" dirty="0"/>
          </a:p>
        </p:txBody>
      </p:sp>
      <p:sp>
        <p:nvSpPr>
          <p:cNvPr id="12" name="icon-dot"/>
          <p:cNvSpPr/>
          <p:nvPr/>
        </p:nvSpPr>
        <p:spPr>
          <a:xfrm>
            <a:off x="960120" y="4078224"/>
            <a:ext cx="548640" cy="548640"/>
          </a:xfrm>
          <a:prstGeom prst="ellipse">
            <a:avLst/>
          </a:prstGeom>
          <a:solidFill>
            <a:schemeClr val="accent1"/>
          </a:solidFill>
          <a:ln/>
        </p:spPr>
      </p:sp>
      <p:pic>
        <p:nvPicPr>
          <p:cNvPr id="13" name="icon-meal" descr="C:\Users\Akhilesh\AppData\Local\Temp\claude\C--Users-Akhilesh-Desktop-Claude-code-Happiest-Health\47a587f0-c947-456b-8324-0bf75adb31d4\scratchpad\deck\img\icons\meal.png"/>
          <p:cNvPicPr>
            <a:picLocks noChangeAspect="1"/>
          </p:cNvPicPr>
          <p:nvPr/>
        </p:nvPicPr>
        <p:blipFill>
          <a:blip r:embed="rId5"/>
          <a:stretch>
            <a:fillRect/>
          </a:stretch>
        </p:blipFill>
        <p:spPr>
          <a:xfrm>
            <a:off x="1080821" y="4198925"/>
            <a:ext cx="307238" cy="307238"/>
          </a:xfrm>
          <a:prstGeom prst="rect">
            <a:avLst/>
          </a:prstGeom>
        </p:spPr>
      </p:pic>
      <p:sp>
        <p:nvSpPr>
          <p:cNvPr id="14" name="Text 9"/>
          <p:cNvSpPr txBox="1"/>
          <p:nvPr/>
        </p:nvSpPr>
        <p:spPr>
          <a:xfrm>
            <a:off x="1691640" y="4059936"/>
            <a:ext cx="4663440" cy="731520"/>
          </a:xfrm>
          <a:prstGeom prst="rect">
            <a:avLst/>
          </a:prstGeom>
          <a:noFill/>
          <a:ln/>
        </p:spPr>
        <p:txBody>
          <a:bodyPr wrap="square" lIns="0" tIns="0" rIns="0" bIns="0" rtlCol="0" anchor="t"/>
          <a:lstStyle/>
          <a:p>
            <a:pPr marL="0" indent="0">
              <a:buNone/>
            </a:pPr>
            <a:r>
              <a:rPr lang="en-US" sz="1300" b="1" dirty="0">
                <a:solidFill>
                  <a:schemeClr val="tx1"/>
                </a:solidFill>
              </a:rPr>
              <a:t>Indian-context physiology</a:t>
            </a:r>
            <a:endParaRPr lang="en-US" sz="1300" dirty="0"/>
          </a:p>
          <a:p>
            <a:pPr marL="0" indent="0">
              <a:buNone/>
            </a:pPr>
            <a:r>
              <a:rPr lang="en-US" sz="1300" dirty="0">
                <a:solidFill>
                  <a:schemeClr val="accent6"/>
                </a:solidFill>
              </a:rPr>
              <a:t>rice, roti, idli, poha; drug pharmacokinetics; sleep, activity, dawn effect</a:t>
            </a:r>
            <a:endParaRPr lang="en-US" sz="1300" dirty="0"/>
          </a:p>
        </p:txBody>
      </p:sp>
      <p:sp>
        <p:nvSpPr>
          <p:cNvPr id="15" name="icon-dot"/>
          <p:cNvSpPr/>
          <p:nvPr/>
        </p:nvSpPr>
        <p:spPr>
          <a:xfrm>
            <a:off x="960120" y="4974336"/>
            <a:ext cx="548640" cy="548640"/>
          </a:xfrm>
          <a:prstGeom prst="ellipse">
            <a:avLst/>
          </a:prstGeom>
          <a:solidFill>
            <a:schemeClr val="accent1"/>
          </a:solidFill>
          <a:ln/>
        </p:spPr>
      </p:sp>
      <p:pic>
        <p:nvPicPr>
          <p:cNvPr id="16" name="icon-users" descr="C:\Users\Akhilesh\AppData\Local\Temp\claude\C--Users-Akhilesh-Desktop-Claude-code-Happiest-Health\47a587f0-c947-456b-8324-0bf75adb31d4\scratchpad\deck\img\icons\users.png"/>
          <p:cNvPicPr>
            <a:picLocks noChangeAspect="1"/>
          </p:cNvPicPr>
          <p:nvPr/>
        </p:nvPicPr>
        <p:blipFill>
          <a:blip r:embed="rId6"/>
          <a:stretch>
            <a:fillRect/>
          </a:stretch>
        </p:blipFill>
        <p:spPr>
          <a:xfrm>
            <a:off x="1080821" y="5095037"/>
            <a:ext cx="307238" cy="307238"/>
          </a:xfrm>
          <a:prstGeom prst="rect">
            <a:avLst/>
          </a:prstGeom>
        </p:spPr>
      </p:pic>
      <p:sp>
        <p:nvSpPr>
          <p:cNvPr id="17" name="Text 11"/>
          <p:cNvSpPr txBox="1"/>
          <p:nvPr/>
        </p:nvSpPr>
        <p:spPr>
          <a:xfrm>
            <a:off x="1691640" y="4956048"/>
            <a:ext cx="4663440" cy="731520"/>
          </a:xfrm>
          <a:prstGeom prst="rect">
            <a:avLst/>
          </a:prstGeom>
          <a:noFill/>
          <a:ln/>
        </p:spPr>
        <p:txBody>
          <a:bodyPr wrap="square" lIns="0" tIns="0" rIns="0" bIns="0" rtlCol="0" anchor="t"/>
          <a:lstStyle/>
          <a:p>
            <a:pPr marL="0" indent="0">
              <a:buNone/>
            </a:pPr>
            <a:r>
              <a:rPr lang="en-US" sz="1300" b="1" dirty="0">
                <a:solidFill>
                  <a:schemeClr val="tx1"/>
                </a:solidFill>
              </a:rPr>
              <a:t>Split by patient</a:t>
            </a:r>
            <a:endParaRPr lang="en-US" sz="1300" dirty="0"/>
          </a:p>
          <a:p>
            <a:pPr marL="0" indent="0">
              <a:buNone/>
            </a:pPr>
            <a:r>
              <a:rPr lang="en-US" sz="1300" dirty="0">
                <a:solidFill>
                  <a:schemeClr val="accent6"/>
                </a:solidFill>
              </a:rPr>
              <a:t>194 train / 46 validation / 60 test, stratified by drug class</a:t>
            </a:r>
            <a:endParaRPr lang="en-US" sz="1300" dirty="0"/>
          </a:p>
        </p:txBody>
      </p:sp>
      <p:sp>
        <p:nvSpPr>
          <p:cNvPr id="18" name="card"/>
          <p:cNvSpPr/>
          <p:nvPr/>
        </p:nvSpPr>
        <p:spPr>
          <a:xfrm>
            <a:off x="6812280" y="1463040"/>
            <a:ext cx="4782312" cy="4526280"/>
          </a:xfrm>
          <a:prstGeom prst="roundRect">
            <a:avLst>
              <a:gd name="adj" fmla="val 2828"/>
            </a:avLst>
          </a:prstGeom>
          <a:solidFill>
            <a:schemeClr val="tx2"/>
          </a:solidFill>
          <a:ln/>
          <a:effectLst>
            <a:outerShdw blurRad="177800" dist="38100" dir="5400000" algn="bl" rotWithShape="0">
              <a:srgbClr val="0B2F3F">
                <a:alpha val="10000"/>
              </a:srgbClr>
            </a:outerShdw>
          </a:effectLst>
        </p:spPr>
      </p:sp>
      <p:sp>
        <p:nvSpPr>
          <p:cNvPr id="19" name="icon-dot"/>
          <p:cNvSpPr/>
          <p:nvPr/>
        </p:nvSpPr>
        <p:spPr>
          <a:xfrm>
            <a:off x="7178040" y="1783080"/>
            <a:ext cx="658368" cy="658368"/>
          </a:xfrm>
          <a:prstGeom prst="ellipse">
            <a:avLst/>
          </a:prstGeom>
          <a:solidFill>
            <a:schemeClr val="accent4"/>
          </a:solidFill>
          <a:ln/>
        </p:spPr>
      </p:sp>
      <p:pic>
        <p:nvPicPr>
          <p:cNvPr id="20" name="icon-shield" descr="C:\Users\Akhilesh\AppData\Local\Temp\claude\C--Users-Akhilesh-Desktop-Claude-code-Happiest-Health\47a587f0-c947-456b-8324-0bf75adb31d4\scratchpad\deck\img\icons\shield.png"/>
          <p:cNvPicPr>
            <a:picLocks noChangeAspect="1"/>
          </p:cNvPicPr>
          <p:nvPr/>
        </p:nvPicPr>
        <p:blipFill>
          <a:blip r:embed="rId7"/>
          <a:stretch>
            <a:fillRect/>
          </a:stretch>
        </p:blipFill>
        <p:spPr>
          <a:xfrm>
            <a:off x="7322881" y="1927921"/>
            <a:ext cx="368686" cy="368686"/>
          </a:xfrm>
          <a:prstGeom prst="rect">
            <a:avLst/>
          </a:prstGeom>
        </p:spPr>
      </p:pic>
      <p:sp>
        <p:nvSpPr>
          <p:cNvPr id="21" name="Text 14"/>
          <p:cNvSpPr txBox="1"/>
          <p:nvPr/>
        </p:nvSpPr>
        <p:spPr>
          <a:xfrm>
            <a:off x="7178040" y="2651760"/>
            <a:ext cx="4206240" cy="457200"/>
          </a:xfrm>
          <a:prstGeom prst="rect">
            <a:avLst/>
          </a:prstGeom>
          <a:noFill/>
          <a:ln/>
        </p:spPr>
        <p:txBody>
          <a:bodyPr wrap="square" lIns="0" tIns="0" rIns="0" bIns="0" rtlCol="0" anchor="t"/>
          <a:lstStyle/>
          <a:p>
            <a:pPr marL="0" indent="0">
              <a:buNone/>
            </a:pPr>
            <a:r>
              <a:rPr lang="en-US" sz="1900" b="1" dirty="0">
                <a:solidFill>
                  <a:schemeClr val="bg1"/>
                </a:solidFill>
                <a:latin typeface="Georgia" pitchFamily="34" charset="0"/>
                <a:ea typeface="Georgia" pitchFamily="34" charset="-122"/>
                <a:cs typeface="Georgia" pitchFamily="34" charset="-120"/>
              </a:rPr>
              <a:t>Synthetic by design, and labelled</a:t>
            </a:r>
            <a:endParaRPr lang="en-US" sz="1900" dirty="0"/>
          </a:p>
        </p:txBody>
      </p:sp>
      <p:sp>
        <p:nvSpPr>
          <p:cNvPr id="22" name="Text 15"/>
          <p:cNvSpPr txBox="1"/>
          <p:nvPr/>
        </p:nvSpPr>
        <p:spPr>
          <a:xfrm>
            <a:off x="7178040" y="3200400"/>
            <a:ext cx="4069080" cy="2560320"/>
          </a:xfrm>
          <a:prstGeom prst="rect">
            <a:avLst/>
          </a:prstGeom>
          <a:noFill/>
          <a:ln/>
        </p:spPr>
        <p:txBody>
          <a:bodyPr wrap="square" lIns="0" tIns="0" rIns="0" bIns="0" rtlCol="0" anchor="t"/>
          <a:lstStyle/>
          <a:p>
            <a:pPr marL="0" indent="0">
              <a:buNone/>
            </a:pPr>
            <a:r>
              <a:rPr lang="en-US" sz="1400" dirty="0">
                <a:solidFill>
                  <a:schemeClr val="bg1"/>
                </a:solidFill>
              </a:rPr>
              <a:t>No public dataset links hospital records and wearables for the same Indian patients, so we simulate both.</a:t>
            </a:r>
            <a:endParaRPr lang="en-US" sz="1400" dirty="0"/>
          </a:p>
          <a:p>
            <a:pPr marL="0" indent="0">
              <a:buNone/>
            </a:pPr>
            <a:r>
              <a:rPr lang="en-US" sz="800" dirty="0">
                <a:solidFill>
                  <a:schemeClr val="bg1"/>
                </a:solidFill>
              </a:rPr>
              <a:t> </a:t>
            </a:r>
            <a:endParaRPr lang="en-US" sz="1400" dirty="0"/>
          </a:p>
          <a:p>
            <a:pPr marL="0" indent="0">
              <a:buNone/>
            </a:pPr>
            <a:r>
              <a:rPr lang="en-US" sz="1400" dirty="0">
                <a:solidFill>
                  <a:schemeClr val="bg1"/>
                </a:solidFill>
              </a:rPr>
              <a:t>The simulator makes EHR traits drive glucose, so any EHR gain on this data is partly built in. </a:t>
            </a:r>
            <a:r>
              <a:rPr lang="en-US" sz="1400" b="1" dirty="0">
                <a:solidFill>
                  <a:schemeClr val="accent4"/>
                </a:solidFill>
              </a:rPr>
              <a:t>That is why we went on to test the EHR on real linked records.</a:t>
            </a:r>
            <a:endParaRPr lang="en-US" sz="1400" dirty="0"/>
          </a:p>
        </p:txBody>
      </p:sp>
      <p:sp>
        <p:nvSpPr>
          <p:cNvPr id="25" name="Slide Number Placeholder 0"/>
          <p:cNvSpPr>
            <a:spLocks noGrp="1"/>
          </p:cNvSpPr>
          <p:nvPr>
            <p:ph type="sldNum" sz="quarter" idx="4294967295"/>
          </p:nvPr>
        </p:nvSpPr>
        <p:spPr>
          <a:xfrm>
            <a:off x="11140135" y="6446520"/>
            <a:ext cx="457200" cy="256032"/>
          </a:xfrm>
          <a:prstGeom prst="rect">
            <a:avLst/>
          </a:prstGeom>
          <a:extLst>
            <a:ext uri="{C572A759-6A51-4108-AA02-DFA0A04FC94B}">
              <ma14:wrappingTextBoxFlag xmlns:ma14="http://schemas.microsoft.com/office/mac/drawingml/2011/main" xmlns="" val="0"/>
            </a:ext>
          </a:extLst>
        </p:spPr>
        <p:txBody>
          <a:bodyPr/>
          <a:lstStyle>
            <a:lvl1pPr>
              <a:defRPr sz="900">
                <a:solidFill>
                  <a:schemeClr val="accent6"/>
                </a:solidFill>
              </a:defRPr>
            </a:lvl1pPr>
          </a:lstStyle>
          <a:p>
            <a:pPr algn="r"/>
            <a:fld id="{F7021451-1387-4CA6-816F-3879F97B5CBC}" type="slidenum">
              <a:rPr lang="en-US" b="0"/>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594360" y="292608"/>
            <a:ext cx="8229600" cy="256032"/>
          </a:xfrm>
          <a:prstGeom prst="rect">
            <a:avLst/>
          </a:prstGeom>
          <a:noFill/>
          <a:ln/>
        </p:spPr>
        <p:txBody>
          <a:bodyPr wrap="square" lIns="0" tIns="0" rIns="0" bIns="0" rtlCol="0" anchor="t"/>
          <a:lstStyle/>
          <a:p>
            <a:pPr marL="0" indent="0">
              <a:buNone/>
            </a:pPr>
            <a:r>
              <a:rPr lang="en-US" sz="1100" b="1" kern="0" spc="300" dirty="0">
                <a:solidFill>
                  <a:schemeClr val="accent1"/>
                </a:solidFill>
              </a:rPr>
              <a:t>05 · RIGOUR</a:t>
            </a:r>
            <a:endParaRPr lang="en-US" sz="1100" dirty="0"/>
          </a:p>
        </p:txBody>
      </p:sp>
      <p:sp>
        <p:nvSpPr>
          <p:cNvPr id="3" name="Text 0"/>
          <p:cNvSpPr>
            <a:spLocks noGrp="1"/>
          </p:cNvSpPr>
          <p:nvPr>
            <p:ph type="title" idx="100" hasCustomPrompt="1"/>
          </p:nvPr>
        </p:nvSpPr>
        <p:spPr>
          <a:xfrm>
            <a:off x="594360" y="566928"/>
            <a:ext cx="11002975" cy="658368"/>
          </a:xfrm>
          <a:prstGeom prst="rect">
            <a:avLst/>
          </a:prstGeom>
          <a:noFill/>
          <a:ln/>
        </p:spPr>
        <p:txBody>
          <a:bodyPr wrap="square" lIns="0" tIns="0" rIns="0" bIns="0" rtlCol="0" anchor="ctr"/>
          <a:lstStyle/>
          <a:p>
            <a:pPr marL="0" indent="0" algn="l">
              <a:buNone/>
            </a:pPr>
            <a:r>
              <a:rPr lang="en-US" sz="3000" b="1" dirty="0">
                <a:solidFill>
                  <a:schemeClr val="tx2"/>
                </a:solidFill>
                <a:latin typeface="Georgia" pitchFamily="34" charset="0"/>
                <a:ea typeface="Georgia" pitchFamily="34" charset="-122"/>
                <a:cs typeface="Georgia" pitchFamily="34" charset="-120"/>
              </a:rPr>
              <a:t>Built so the numbers can be trusted</a:t>
            </a:r>
            <a:endParaRPr lang="en-US" sz="3000" dirty="0"/>
          </a:p>
        </p:txBody>
      </p:sp>
      <p:sp>
        <p:nvSpPr>
          <p:cNvPr id="4" name="card"/>
          <p:cNvSpPr/>
          <p:nvPr/>
        </p:nvSpPr>
        <p:spPr>
          <a:xfrm>
            <a:off x="594360" y="1508760"/>
            <a:ext cx="2103120" cy="3794760"/>
          </a:xfrm>
          <a:prstGeom prst="roundRect">
            <a:avLst>
              <a:gd name="adj" fmla="val 6087"/>
            </a:avLst>
          </a:prstGeom>
          <a:solidFill>
            <a:schemeClr val="bg1"/>
          </a:solidFill>
          <a:ln/>
          <a:effectLst>
            <a:outerShdw blurRad="177800" dist="38100" dir="5400000" algn="bl" rotWithShape="0">
              <a:srgbClr val="0B2F3F">
                <a:alpha val="10000"/>
              </a:srgbClr>
            </a:outerShdw>
          </a:effectLst>
        </p:spPr>
      </p:sp>
      <p:sp>
        <p:nvSpPr>
          <p:cNvPr id="5" name="icon-dot"/>
          <p:cNvSpPr/>
          <p:nvPr/>
        </p:nvSpPr>
        <p:spPr>
          <a:xfrm>
            <a:off x="868680" y="1783080"/>
            <a:ext cx="658368" cy="658368"/>
          </a:xfrm>
          <a:prstGeom prst="ellipse">
            <a:avLst/>
          </a:prstGeom>
          <a:solidFill>
            <a:schemeClr val="accent1"/>
          </a:solidFill>
          <a:ln/>
        </p:spPr>
      </p:sp>
      <p:pic>
        <p:nvPicPr>
          <p:cNvPr id="6" name="icon-users" descr="C:\Users\Akhilesh\AppData\Local\Temp\claude\C--Users-Akhilesh-Desktop-Claude-code-Happiest-Health\47a587f0-c947-456b-8324-0bf75adb31d4\scratchpad\deck\img\icons\users.png"/>
          <p:cNvPicPr>
            <a:picLocks noChangeAspect="1"/>
          </p:cNvPicPr>
          <p:nvPr/>
        </p:nvPicPr>
        <p:blipFill>
          <a:blip r:embed="rId3"/>
          <a:stretch>
            <a:fillRect/>
          </a:stretch>
        </p:blipFill>
        <p:spPr>
          <a:xfrm>
            <a:off x="1013521" y="1927921"/>
            <a:ext cx="368686" cy="368686"/>
          </a:xfrm>
          <a:prstGeom prst="rect">
            <a:avLst/>
          </a:prstGeom>
        </p:spPr>
      </p:pic>
      <p:sp>
        <p:nvSpPr>
          <p:cNvPr id="7" name="Text 4"/>
          <p:cNvSpPr txBox="1"/>
          <p:nvPr/>
        </p:nvSpPr>
        <p:spPr>
          <a:xfrm>
            <a:off x="1965960" y="1874520"/>
            <a:ext cx="502920" cy="365760"/>
          </a:xfrm>
          <a:prstGeom prst="rect">
            <a:avLst/>
          </a:prstGeom>
          <a:noFill/>
          <a:ln/>
        </p:spPr>
        <p:txBody>
          <a:bodyPr wrap="square" lIns="0" tIns="0" rIns="0" bIns="0" rtlCol="0" anchor="t"/>
          <a:lstStyle/>
          <a:p>
            <a:pPr marL="0" indent="0" algn="r">
              <a:buNone/>
            </a:pPr>
            <a:r>
              <a:rPr lang="en-US" sz="1300" b="1" dirty="0">
                <a:solidFill>
                  <a:schemeClr val="accent6"/>
                </a:solidFill>
              </a:rPr>
              <a:t>01</a:t>
            </a:r>
            <a:endParaRPr lang="en-US" sz="1300" dirty="0"/>
          </a:p>
        </p:txBody>
      </p:sp>
      <p:sp>
        <p:nvSpPr>
          <p:cNvPr id="8" name="Text 5"/>
          <p:cNvSpPr txBox="1"/>
          <p:nvPr/>
        </p:nvSpPr>
        <p:spPr>
          <a:xfrm>
            <a:off x="868680" y="2697480"/>
            <a:ext cx="1691640" cy="685800"/>
          </a:xfrm>
          <a:prstGeom prst="rect">
            <a:avLst/>
          </a:prstGeom>
          <a:noFill/>
          <a:ln/>
        </p:spPr>
        <p:txBody>
          <a:bodyPr wrap="square" lIns="0" tIns="0" rIns="0" bIns="0" rtlCol="0" anchor="t"/>
          <a:lstStyle/>
          <a:p>
            <a:pPr marL="0" indent="0">
              <a:buNone/>
            </a:pPr>
            <a:r>
              <a:rPr lang="en-US" sz="1600" b="1" dirty="0">
                <a:solidFill>
                  <a:schemeClr val="tx2"/>
                </a:solidFill>
                <a:latin typeface="Georgia" pitchFamily="34" charset="0"/>
                <a:ea typeface="Georgia" pitchFamily="34" charset="-122"/>
                <a:cs typeface="Georgia" pitchFamily="34" charset="-120"/>
              </a:rPr>
              <a:t>Patient-level split</a:t>
            </a:r>
            <a:endParaRPr lang="en-US" sz="1600" dirty="0"/>
          </a:p>
        </p:txBody>
      </p:sp>
      <p:sp>
        <p:nvSpPr>
          <p:cNvPr id="9" name="Text 6"/>
          <p:cNvSpPr txBox="1"/>
          <p:nvPr/>
        </p:nvSpPr>
        <p:spPr>
          <a:xfrm>
            <a:off x="868680" y="3429000"/>
            <a:ext cx="1645920" cy="1737360"/>
          </a:xfrm>
          <a:prstGeom prst="rect">
            <a:avLst/>
          </a:prstGeom>
          <a:noFill/>
          <a:ln/>
        </p:spPr>
        <p:txBody>
          <a:bodyPr wrap="square" lIns="0" tIns="0" rIns="0" bIns="0" rtlCol="0" anchor="t"/>
          <a:lstStyle/>
          <a:p>
            <a:pPr marL="0" indent="0">
              <a:buNone/>
            </a:pPr>
            <a:r>
              <a:rPr lang="en-US" sz="1300" dirty="0">
                <a:solidFill>
                  <a:schemeClr val="tx1"/>
                </a:solidFill>
              </a:rPr>
              <a:t>No patient in both training and test; the code raises an error if one appears</a:t>
            </a:r>
            <a:endParaRPr lang="en-US" sz="1300" dirty="0"/>
          </a:p>
        </p:txBody>
      </p:sp>
      <p:sp>
        <p:nvSpPr>
          <p:cNvPr id="10" name="card"/>
          <p:cNvSpPr/>
          <p:nvPr/>
        </p:nvSpPr>
        <p:spPr>
          <a:xfrm>
            <a:off x="2834640" y="1508760"/>
            <a:ext cx="2103120" cy="3794760"/>
          </a:xfrm>
          <a:prstGeom prst="roundRect">
            <a:avLst>
              <a:gd name="adj" fmla="val 6087"/>
            </a:avLst>
          </a:prstGeom>
          <a:solidFill>
            <a:schemeClr val="bg1"/>
          </a:solidFill>
          <a:ln/>
          <a:effectLst>
            <a:outerShdw blurRad="177800" dist="38100" dir="5400000" algn="bl" rotWithShape="0">
              <a:srgbClr val="0B2F3F">
                <a:alpha val="10000"/>
              </a:srgbClr>
            </a:outerShdw>
          </a:effectLst>
        </p:spPr>
      </p:sp>
      <p:sp>
        <p:nvSpPr>
          <p:cNvPr id="11" name="icon-dot"/>
          <p:cNvSpPr/>
          <p:nvPr/>
        </p:nvSpPr>
        <p:spPr>
          <a:xfrm>
            <a:off x="3108960" y="1783080"/>
            <a:ext cx="658368" cy="658368"/>
          </a:xfrm>
          <a:prstGeom prst="ellipse">
            <a:avLst/>
          </a:prstGeom>
          <a:solidFill>
            <a:schemeClr val="accent3"/>
          </a:solidFill>
          <a:ln/>
        </p:spPr>
      </p:sp>
      <p:pic>
        <p:nvPicPr>
          <p:cNvPr id="12" name="icon-timer" descr="C:\Users\Akhilesh\AppData\Local\Temp\claude\C--Users-Akhilesh-Desktop-Claude-code-Happiest-Health\47a587f0-c947-456b-8324-0bf75adb31d4\scratchpad\deck\img\icons\timer.png"/>
          <p:cNvPicPr>
            <a:picLocks noChangeAspect="1"/>
          </p:cNvPicPr>
          <p:nvPr/>
        </p:nvPicPr>
        <p:blipFill>
          <a:blip r:embed="rId4"/>
          <a:stretch>
            <a:fillRect/>
          </a:stretch>
        </p:blipFill>
        <p:spPr>
          <a:xfrm>
            <a:off x="3253801" y="1927921"/>
            <a:ext cx="368686" cy="368686"/>
          </a:xfrm>
          <a:prstGeom prst="rect">
            <a:avLst/>
          </a:prstGeom>
        </p:spPr>
      </p:pic>
      <p:sp>
        <p:nvSpPr>
          <p:cNvPr id="13" name="Text 9"/>
          <p:cNvSpPr txBox="1"/>
          <p:nvPr/>
        </p:nvSpPr>
        <p:spPr>
          <a:xfrm>
            <a:off x="4206240" y="1874520"/>
            <a:ext cx="502920" cy="365760"/>
          </a:xfrm>
          <a:prstGeom prst="rect">
            <a:avLst/>
          </a:prstGeom>
          <a:noFill/>
          <a:ln/>
        </p:spPr>
        <p:txBody>
          <a:bodyPr wrap="square" lIns="0" tIns="0" rIns="0" bIns="0" rtlCol="0" anchor="t"/>
          <a:lstStyle/>
          <a:p>
            <a:pPr marL="0" indent="0" algn="r">
              <a:buNone/>
            </a:pPr>
            <a:r>
              <a:rPr lang="en-US" sz="1300" b="1" dirty="0">
                <a:solidFill>
                  <a:schemeClr val="accent6"/>
                </a:solidFill>
              </a:rPr>
              <a:t>02</a:t>
            </a:r>
            <a:endParaRPr lang="en-US" sz="1300" dirty="0"/>
          </a:p>
        </p:txBody>
      </p:sp>
      <p:sp>
        <p:nvSpPr>
          <p:cNvPr id="14" name="Text 10"/>
          <p:cNvSpPr txBox="1"/>
          <p:nvPr/>
        </p:nvSpPr>
        <p:spPr>
          <a:xfrm>
            <a:off x="3108960" y="2697480"/>
            <a:ext cx="1691640" cy="685800"/>
          </a:xfrm>
          <a:prstGeom prst="rect">
            <a:avLst/>
          </a:prstGeom>
          <a:noFill/>
          <a:ln/>
        </p:spPr>
        <p:txBody>
          <a:bodyPr wrap="square" lIns="0" tIns="0" rIns="0" bIns="0" rtlCol="0" anchor="t"/>
          <a:lstStyle/>
          <a:p>
            <a:pPr marL="0" indent="0">
              <a:buNone/>
            </a:pPr>
            <a:r>
              <a:rPr lang="en-US" sz="1600" b="1" dirty="0">
                <a:solidFill>
                  <a:schemeClr val="tx2"/>
                </a:solidFill>
                <a:latin typeface="Georgia" pitchFamily="34" charset="0"/>
                <a:ea typeface="Georgia" pitchFamily="34" charset="-122"/>
                <a:cs typeface="Georgia" pitchFamily="34" charset="-120"/>
              </a:rPr>
              <a:t>Onset windows</a:t>
            </a:r>
            <a:endParaRPr lang="en-US" sz="1600" dirty="0"/>
          </a:p>
        </p:txBody>
      </p:sp>
      <p:sp>
        <p:nvSpPr>
          <p:cNvPr id="15" name="Text 11"/>
          <p:cNvSpPr txBox="1"/>
          <p:nvPr/>
        </p:nvSpPr>
        <p:spPr>
          <a:xfrm>
            <a:off x="3108960" y="3429000"/>
            <a:ext cx="1645920" cy="1737360"/>
          </a:xfrm>
          <a:prstGeom prst="rect">
            <a:avLst/>
          </a:prstGeom>
          <a:noFill/>
          <a:ln/>
        </p:spPr>
        <p:txBody>
          <a:bodyPr wrap="square" lIns="0" tIns="0" rIns="0" bIns="0" rtlCol="0" anchor="t"/>
          <a:lstStyle/>
          <a:p>
            <a:pPr marL="0" indent="0">
              <a:buNone/>
            </a:pPr>
            <a:r>
              <a:rPr lang="en-US" sz="1300" dirty="0">
                <a:solidFill>
                  <a:schemeClr val="tx1"/>
                </a:solidFill>
              </a:rPr>
              <a:t>Predictions are scored before the event starts, never once glucose is already low</a:t>
            </a:r>
            <a:endParaRPr lang="en-US" sz="1300" dirty="0"/>
          </a:p>
        </p:txBody>
      </p:sp>
      <p:sp>
        <p:nvSpPr>
          <p:cNvPr id="16" name="card"/>
          <p:cNvSpPr/>
          <p:nvPr/>
        </p:nvSpPr>
        <p:spPr>
          <a:xfrm>
            <a:off x="5074920" y="1508760"/>
            <a:ext cx="2103120" cy="3794760"/>
          </a:xfrm>
          <a:prstGeom prst="roundRect">
            <a:avLst>
              <a:gd name="adj" fmla="val 6087"/>
            </a:avLst>
          </a:prstGeom>
          <a:solidFill>
            <a:schemeClr val="bg1"/>
          </a:solidFill>
          <a:ln/>
          <a:effectLst>
            <a:outerShdw blurRad="177800" dist="38100" dir="5400000" algn="bl" rotWithShape="0">
              <a:srgbClr val="0B2F3F">
                <a:alpha val="10000"/>
              </a:srgbClr>
            </a:outerShdw>
          </a:effectLst>
        </p:spPr>
      </p:sp>
      <p:sp>
        <p:nvSpPr>
          <p:cNvPr id="17" name="icon-dot"/>
          <p:cNvSpPr/>
          <p:nvPr/>
        </p:nvSpPr>
        <p:spPr>
          <a:xfrm>
            <a:off x="5349240" y="1783080"/>
            <a:ext cx="658368" cy="658368"/>
          </a:xfrm>
          <a:prstGeom prst="ellipse">
            <a:avLst/>
          </a:prstGeom>
          <a:solidFill>
            <a:schemeClr val="accent1"/>
          </a:solidFill>
          <a:ln/>
        </p:spPr>
      </p:sp>
      <p:pic>
        <p:nvPicPr>
          <p:cNvPr id="18" name="icon-bars" descr="C:\Users\Akhilesh\AppData\Local\Temp\claude\C--Users-Akhilesh-Desktop-Claude-code-Happiest-Health\47a587f0-c947-456b-8324-0bf75adb31d4\scratchpad\deck\img\icons\bars.png"/>
          <p:cNvPicPr>
            <a:picLocks noChangeAspect="1"/>
          </p:cNvPicPr>
          <p:nvPr/>
        </p:nvPicPr>
        <p:blipFill>
          <a:blip r:embed="rId5"/>
          <a:stretch>
            <a:fillRect/>
          </a:stretch>
        </p:blipFill>
        <p:spPr>
          <a:xfrm>
            <a:off x="5494081" y="1927921"/>
            <a:ext cx="368686" cy="368686"/>
          </a:xfrm>
          <a:prstGeom prst="rect">
            <a:avLst/>
          </a:prstGeom>
        </p:spPr>
      </p:pic>
      <p:sp>
        <p:nvSpPr>
          <p:cNvPr id="19" name="Text 14"/>
          <p:cNvSpPr txBox="1"/>
          <p:nvPr/>
        </p:nvSpPr>
        <p:spPr>
          <a:xfrm>
            <a:off x="6446520" y="1874520"/>
            <a:ext cx="502920" cy="365760"/>
          </a:xfrm>
          <a:prstGeom prst="rect">
            <a:avLst/>
          </a:prstGeom>
          <a:noFill/>
          <a:ln/>
        </p:spPr>
        <p:txBody>
          <a:bodyPr wrap="square" lIns="0" tIns="0" rIns="0" bIns="0" rtlCol="0" anchor="t"/>
          <a:lstStyle/>
          <a:p>
            <a:pPr marL="0" indent="0" algn="r">
              <a:buNone/>
            </a:pPr>
            <a:r>
              <a:rPr lang="en-US" sz="1300" b="1" dirty="0">
                <a:solidFill>
                  <a:schemeClr val="accent6"/>
                </a:solidFill>
              </a:rPr>
              <a:t>03</a:t>
            </a:r>
            <a:endParaRPr lang="en-US" sz="1300" dirty="0"/>
          </a:p>
        </p:txBody>
      </p:sp>
      <p:sp>
        <p:nvSpPr>
          <p:cNvPr id="20" name="Text 15"/>
          <p:cNvSpPr txBox="1"/>
          <p:nvPr/>
        </p:nvSpPr>
        <p:spPr>
          <a:xfrm>
            <a:off x="5349240" y="2697480"/>
            <a:ext cx="1691640" cy="685800"/>
          </a:xfrm>
          <a:prstGeom prst="rect">
            <a:avLst/>
          </a:prstGeom>
          <a:noFill/>
          <a:ln/>
        </p:spPr>
        <p:txBody>
          <a:bodyPr wrap="square" lIns="0" tIns="0" rIns="0" bIns="0" rtlCol="0" anchor="t"/>
          <a:lstStyle/>
          <a:p>
            <a:pPr marL="0" indent="0">
              <a:buNone/>
            </a:pPr>
            <a:r>
              <a:rPr lang="en-US" sz="1600" b="1" dirty="0">
                <a:solidFill>
                  <a:schemeClr val="tx2"/>
                </a:solidFill>
                <a:latin typeface="Georgia" pitchFamily="34" charset="0"/>
                <a:ea typeface="Georgia" pitchFamily="34" charset="-122"/>
                <a:cs typeface="Georgia" pitchFamily="34" charset="-120"/>
              </a:rPr>
              <a:t>Paired bootstrap</a:t>
            </a:r>
            <a:endParaRPr lang="en-US" sz="1600" dirty="0"/>
          </a:p>
        </p:txBody>
      </p:sp>
      <p:sp>
        <p:nvSpPr>
          <p:cNvPr id="21" name="Text 16"/>
          <p:cNvSpPr txBox="1"/>
          <p:nvPr/>
        </p:nvSpPr>
        <p:spPr>
          <a:xfrm>
            <a:off x="5349240" y="3429000"/>
            <a:ext cx="1645920" cy="1737360"/>
          </a:xfrm>
          <a:prstGeom prst="rect">
            <a:avLst/>
          </a:prstGeom>
          <a:noFill/>
          <a:ln/>
        </p:spPr>
        <p:txBody>
          <a:bodyPr wrap="square" lIns="0" tIns="0" rIns="0" bIns="0" rtlCol="0" anchor="t"/>
          <a:lstStyle/>
          <a:p>
            <a:pPr marL="0" indent="0">
              <a:buNone/>
            </a:pPr>
            <a:r>
              <a:rPr lang="en-US" sz="1300" dirty="0">
                <a:solidFill>
                  <a:schemeClr val="tx1"/>
                </a:solidFill>
              </a:rPr>
              <a:t>Every comparison has a 95% confidence interval over patients</a:t>
            </a:r>
            <a:endParaRPr lang="en-US" sz="1300" dirty="0"/>
          </a:p>
        </p:txBody>
      </p:sp>
      <p:sp>
        <p:nvSpPr>
          <p:cNvPr id="22" name="card"/>
          <p:cNvSpPr/>
          <p:nvPr/>
        </p:nvSpPr>
        <p:spPr>
          <a:xfrm>
            <a:off x="7315200" y="1508760"/>
            <a:ext cx="2103120" cy="3794760"/>
          </a:xfrm>
          <a:prstGeom prst="roundRect">
            <a:avLst>
              <a:gd name="adj" fmla="val 6087"/>
            </a:avLst>
          </a:prstGeom>
          <a:solidFill>
            <a:schemeClr val="bg1"/>
          </a:solidFill>
          <a:ln/>
          <a:effectLst>
            <a:outerShdw blurRad="177800" dist="38100" dir="5400000" algn="bl" rotWithShape="0">
              <a:srgbClr val="0B2F3F">
                <a:alpha val="10000"/>
              </a:srgbClr>
            </a:outerShdw>
          </a:effectLst>
        </p:spPr>
      </p:sp>
      <p:sp>
        <p:nvSpPr>
          <p:cNvPr id="23" name="icon-dot"/>
          <p:cNvSpPr/>
          <p:nvPr/>
        </p:nvSpPr>
        <p:spPr>
          <a:xfrm>
            <a:off x="7589520" y="1783080"/>
            <a:ext cx="658368" cy="658368"/>
          </a:xfrm>
          <a:prstGeom prst="ellipse">
            <a:avLst/>
          </a:prstGeom>
          <a:solidFill>
            <a:schemeClr val="accent3"/>
          </a:solidFill>
          <a:ln/>
        </p:spPr>
      </p:sp>
      <p:pic>
        <p:nvPicPr>
          <p:cNvPr id="24" name="icon-shield" descr="C:\Users\Akhilesh\AppData\Local\Temp\claude\C--Users-Akhilesh-Desktop-Claude-code-Happiest-Health\47a587f0-c947-456b-8324-0bf75adb31d4\scratchpad\deck\img\icons\shield.png"/>
          <p:cNvPicPr>
            <a:picLocks noChangeAspect="1"/>
          </p:cNvPicPr>
          <p:nvPr/>
        </p:nvPicPr>
        <p:blipFill>
          <a:blip r:embed="rId6"/>
          <a:stretch>
            <a:fillRect/>
          </a:stretch>
        </p:blipFill>
        <p:spPr>
          <a:xfrm>
            <a:off x="7734361" y="1927921"/>
            <a:ext cx="368686" cy="368686"/>
          </a:xfrm>
          <a:prstGeom prst="rect">
            <a:avLst/>
          </a:prstGeom>
        </p:spPr>
      </p:pic>
      <p:sp>
        <p:nvSpPr>
          <p:cNvPr id="25" name="Text 19"/>
          <p:cNvSpPr txBox="1"/>
          <p:nvPr/>
        </p:nvSpPr>
        <p:spPr>
          <a:xfrm>
            <a:off x="8686800" y="1874520"/>
            <a:ext cx="502920" cy="365760"/>
          </a:xfrm>
          <a:prstGeom prst="rect">
            <a:avLst/>
          </a:prstGeom>
          <a:noFill/>
          <a:ln/>
        </p:spPr>
        <p:txBody>
          <a:bodyPr wrap="square" lIns="0" tIns="0" rIns="0" bIns="0" rtlCol="0" anchor="t"/>
          <a:lstStyle/>
          <a:p>
            <a:pPr marL="0" indent="0" algn="r">
              <a:buNone/>
            </a:pPr>
            <a:r>
              <a:rPr lang="en-US" sz="1300" b="1" dirty="0">
                <a:solidFill>
                  <a:schemeClr val="accent6"/>
                </a:solidFill>
              </a:rPr>
              <a:t>04</a:t>
            </a:r>
            <a:endParaRPr lang="en-US" sz="1300" dirty="0"/>
          </a:p>
        </p:txBody>
      </p:sp>
      <p:sp>
        <p:nvSpPr>
          <p:cNvPr id="26" name="Text 20"/>
          <p:cNvSpPr txBox="1"/>
          <p:nvPr/>
        </p:nvSpPr>
        <p:spPr>
          <a:xfrm>
            <a:off x="7589520" y="2697480"/>
            <a:ext cx="1691640" cy="685800"/>
          </a:xfrm>
          <a:prstGeom prst="rect">
            <a:avLst/>
          </a:prstGeom>
          <a:noFill/>
          <a:ln/>
        </p:spPr>
        <p:txBody>
          <a:bodyPr wrap="square" lIns="0" tIns="0" rIns="0" bIns="0" rtlCol="0" anchor="t"/>
          <a:lstStyle/>
          <a:p>
            <a:pPr marL="0" indent="0">
              <a:buNone/>
            </a:pPr>
            <a:r>
              <a:rPr lang="en-US" sz="1600" b="1" dirty="0">
                <a:solidFill>
                  <a:schemeClr val="tx2"/>
                </a:solidFill>
                <a:latin typeface="Georgia" pitchFamily="34" charset="0"/>
                <a:ea typeface="Georgia" pitchFamily="34" charset="-122"/>
                <a:cs typeface="Georgia" pitchFamily="34" charset="-120"/>
              </a:rPr>
              <a:t>Choices on validation</a:t>
            </a:r>
            <a:endParaRPr lang="en-US" sz="1600" dirty="0"/>
          </a:p>
        </p:txBody>
      </p:sp>
      <p:sp>
        <p:nvSpPr>
          <p:cNvPr id="27" name="Text 21"/>
          <p:cNvSpPr txBox="1"/>
          <p:nvPr/>
        </p:nvSpPr>
        <p:spPr>
          <a:xfrm>
            <a:off x="7589520" y="3429000"/>
            <a:ext cx="1645920" cy="1737360"/>
          </a:xfrm>
          <a:prstGeom prst="rect">
            <a:avLst/>
          </a:prstGeom>
          <a:noFill/>
          <a:ln/>
        </p:spPr>
        <p:txBody>
          <a:bodyPr wrap="square" lIns="0" tIns="0" rIns="0" bIns="0" rtlCol="0" anchor="t"/>
          <a:lstStyle/>
          <a:p>
            <a:pPr marL="0" indent="0">
              <a:buNone/>
            </a:pPr>
            <a:r>
              <a:rPr lang="en-US" sz="1300" dirty="0">
                <a:solidFill>
                  <a:schemeClr val="tx1"/>
                </a:solidFill>
              </a:rPr>
              <a:t>Alert thresholds and policy never see the test patients</a:t>
            </a:r>
            <a:endParaRPr lang="en-US" sz="1300" dirty="0"/>
          </a:p>
        </p:txBody>
      </p:sp>
      <p:sp>
        <p:nvSpPr>
          <p:cNvPr id="28" name="card"/>
          <p:cNvSpPr/>
          <p:nvPr/>
        </p:nvSpPr>
        <p:spPr>
          <a:xfrm>
            <a:off x="9555480" y="1508760"/>
            <a:ext cx="2103120" cy="3794760"/>
          </a:xfrm>
          <a:prstGeom prst="roundRect">
            <a:avLst>
              <a:gd name="adj" fmla="val 6087"/>
            </a:avLst>
          </a:prstGeom>
          <a:solidFill>
            <a:schemeClr val="bg1"/>
          </a:solidFill>
          <a:ln/>
          <a:effectLst>
            <a:outerShdw blurRad="177800" dist="38100" dir="5400000" algn="bl" rotWithShape="0">
              <a:srgbClr val="0B2F3F">
                <a:alpha val="10000"/>
              </a:srgbClr>
            </a:outerShdw>
          </a:effectLst>
        </p:spPr>
      </p:sp>
      <p:sp>
        <p:nvSpPr>
          <p:cNvPr id="29" name="icon-dot"/>
          <p:cNvSpPr/>
          <p:nvPr/>
        </p:nvSpPr>
        <p:spPr>
          <a:xfrm>
            <a:off x="9829800" y="1783080"/>
            <a:ext cx="658368" cy="658368"/>
          </a:xfrm>
          <a:prstGeom prst="ellipse">
            <a:avLst/>
          </a:prstGeom>
          <a:solidFill>
            <a:schemeClr val="accent1"/>
          </a:solidFill>
          <a:ln/>
        </p:spPr>
      </p:sp>
      <p:pic>
        <p:nvPicPr>
          <p:cNvPr id="30" name="icon-repeat" descr="C:\Users\Akhilesh\AppData\Local\Temp\claude\C--Users-Akhilesh-Desktop-Claude-code-Happiest-Health\47a587f0-c947-456b-8324-0bf75adb31d4\scratchpad\deck\img\icons\repeat.png"/>
          <p:cNvPicPr>
            <a:picLocks noChangeAspect="1"/>
          </p:cNvPicPr>
          <p:nvPr/>
        </p:nvPicPr>
        <p:blipFill>
          <a:blip r:embed="rId7"/>
          <a:stretch>
            <a:fillRect/>
          </a:stretch>
        </p:blipFill>
        <p:spPr>
          <a:xfrm>
            <a:off x="9974641" y="1927921"/>
            <a:ext cx="368686" cy="368686"/>
          </a:xfrm>
          <a:prstGeom prst="rect">
            <a:avLst/>
          </a:prstGeom>
        </p:spPr>
      </p:pic>
      <p:sp>
        <p:nvSpPr>
          <p:cNvPr id="31" name="Text 24"/>
          <p:cNvSpPr txBox="1"/>
          <p:nvPr/>
        </p:nvSpPr>
        <p:spPr>
          <a:xfrm>
            <a:off x="10927080" y="1874520"/>
            <a:ext cx="502920" cy="365760"/>
          </a:xfrm>
          <a:prstGeom prst="rect">
            <a:avLst/>
          </a:prstGeom>
          <a:noFill/>
          <a:ln/>
        </p:spPr>
        <p:txBody>
          <a:bodyPr wrap="square" lIns="0" tIns="0" rIns="0" bIns="0" rtlCol="0" anchor="t"/>
          <a:lstStyle/>
          <a:p>
            <a:pPr marL="0" indent="0" algn="r">
              <a:buNone/>
            </a:pPr>
            <a:r>
              <a:rPr lang="en-US" sz="1300" b="1" dirty="0">
                <a:solidFill>
                  <a:schemeClr val="accent6"/>
                </a:solidFill>
              </a:rPr>
              <a:t>05</a:t>
            </a:r>
            <a:endParaRPr lang="en-US" sz="1300" dirty="0"/>
          </a:p>
        </p:txBody>
      </p:sp>
      <p:sp>
        <p:nvSpPr>
          <p:cNvPr id="32" name="Text 25"/>
          <p:cNvSpPr txBox="1"/>
          <p:nvPr/>
        </p:nvSpPr>
        <p:spPr>
          <a:xfrm>
            <a:off x="9829800" y="2697480"/>
            <a:ext cx="1691640" cy="685800"/>
          </a:xfrm>
          <a:prstGeom prst="rect">
            <a:avLst/>
          </a:prstGeom>
          <a:noFill/>
          <a:ln/>
        </p:spPr>
        <p:txBody>
          <a:bodyPr wrap="square" lIns="0" tIns="0" rIns="0" bIns="0" rtlCol="0" anchor="t"/>
          <a:lstStyle/>
          <a:p>
            <a:pPr marL="0" indent="0">
              <a:buNone/>
            </a:pPr>
            <a:r>
              <a:rPr lang="en-US" sz="1600" b="1" dirty="0">
                <a:solidFill>
                  <a:schemeClr val="tx2"/>
                </a:solidFill>
                <a:latin typeface="Georgia" pitchFamily="34" charset="0"/>
                <a:ea typeface="Georgia" pitchFamily="34" charset="-122"/>
                <a:cs typeface="Georgia" pitchFamily="34" charset="-120"/>
              </a:rPr>
              <a:t>Reproducible</a:t>
            </a:r>
            <a:endParaRPr lang="en-US" sz="1600" dirty="0"/>
          </a:p>
        </p:txBody>
      </p:sp>
      <p:sp>
        <p:nvSpPr>
          <p:cNvPr id="33" name="Text 26"/>
          <p:cNvSpPr txBox="1"/>
          <p:nvPr/>
        </p:nvSpPr>
        <p:spPr>
          <a:xfrm>
            <a:off x="9829800" y="3429000"/>
            <a:ext cx="1645920" cy="1737360"/>
          </a:xfrm>
          <a:prstGeom prst="rect">
            <a:avLst/>
          </a:prstGeom>
          <a:noFill/>
          <a:ln/>
        </p:spPr>
        <p:txBody>
          <a:bodyPr wrap="square" lIns="0" tIns="0" rIns="0" bIns="0" rtlCol="0" anchor="t"/>
          <a:lstStyle/>
          <a:p>
            <a:pPr marL="0" indent="0">
              <a:buNone/>
            </a:pPr>
            <a:r>
              <a:rPr lang="en-US" sz="1300" dirty="0">
                <a:solidFill>
                  <a:schemeClr val="tx1"/>
                </a:solidFill>
              </a:rPr>
              <a:t>Fixed seeds, one command rebuilds everything, 140 tests on every push</a:t>
            </a:r>
            <a:endParaRPr lang="en-US" sz="1300" dirty="0"/>
          </a:p>
        </p:txBody>
      </p:sp>
      <p:sp>
        <p:nvSpPr>
          <p:cNvPr id="34" name="Text 27"/>
          <p:cNvSpPr txBox="1"/>
          <p:nvPr/>
        </p:nvSpPr>
        <p:spPr>
          <a:xfrm>
            <a:off x="594360" y="5577840"/>
            <a:ext cx="11002975" cy="411480"/>
          </a:xfrm>
          <a:prstGeom prst="rect">
            <a:avLst/>
          </a:prstGeom>
          <a:noFill/>
          <a:ln/>
        </p:spPr>
        <p:txBody>
          <a:bodyPr wrap="square" lIns="0" tIns="0" rIns="0" bIns="0" rtlCol="0" anchor="t"/>
          <a:lstStyle/>
          <a:p>
            <a:pPr marL="0" indent="0">
              <a:buNone/>
            </a:pPr>
            <a:r>
              <a:rPr lang="en-US" sz="1300" dirty="0">
                <a:solidFill>
                  <a:schemeClr val="accent6"/>
                </a:solidFill>
              </a:rPr>
              <a:t>Splitting by patient and scoring only onset windows remove the two most common ways glucose models look better than they are.</a:t>
            </a:r>
            <a:endParaRPr lang="en-US" sz="1300" dirty="0"/>
          </a:p>
        </p:txBody>
      </p:sp>
      <p:sp>
        <p:nvSpPr>
          <p:cNvPr id="35" name="Slide Number Placeholder 0"/>
          <p:cNvSpPr>
            <a:spLocks noGrp="1"/>
          </p:cNvSpPr>
          <p:nvPr>
            <p:ph type="sldNum" sz="quarter" idx="4294967295"/>
          </p:nvPr>
        </p:nvSpPr>
        <p:spPr>
          <a:xfrm>
            <a:off x="11140135" y="6446520"/>
            <a:ext cx="457200" cy="256032"/>
          </a:xfrm>
          <a:prstGeom prst="rect">
            <a:avLst/>
          </a:prstGeom>
          <a:extLst>
            <a:ext uri="{C572A759-6A51-4108-AA02-DFA0A04FC94B}">
              <ma14:wrappingTextBoxFlag xmlns:ma14="http://schemas.microsoft.com/office/mac/drawingml/2011/main" xmlns="" val="0"/>
            </a:ext>
          </a:extLst>
        </p:spPr>
        <p:txBody>
          <a:bodyPr/>
          <a:lstStyle>
            <a:lvl1pPr>
              <a:defRPr sz="900">
                <a:solidFill>
                  <a:schemeClr val="accent6"/>
                </a:solidFill>
              </a:defRPr>
            </a:lvl1pPr>
          </a:lstStyle>
          <a:p>
            <a:pPr algn="r"/>
            <a:fld id="{F7021451-1387-4CA6-816F-3879F97B5CBC}" type="slidenum">
              <a:rPr lang="en-US" b="0"/>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94360" y="292608"/>
            <a:ext cx="8229600" cy="256032"/>
          </a:xfrm>
          <a:prstGeom prst="rect">
            <a:avLst/>
          </a:prstGeom>
          <a:noFill/>
          <a:ln/>
        </p:spPr>
        <p:txBody>
          <a:bodyPr wrap="square" lIns="0" tIns="0" rIns="0" bIns="0" rtlCol="0" anchor="t"/>
          <a:lstStyle/>
          <a:p>
            <a:pPr marL="0" indent="0">
              <a:buNone/>
            </a:pPr>
            <a:r>
              <a:rPr lang="en-US" sz="1100" b="1" kern="0" spc="300" dirty="0">
                <a:solidFill>
                  <a:schemeClr val="accent1"/>
                </a:solidFill>
              </a:rPr>
              <a:t>06 · RESULTS ON SYNTHETIC PATIENTS</a:t>
            </a:r>
            <a:endParaRPr lang="en-US" sz="1100" dirty="0"/>
          </a:p>
        </p:txBody>
      </p:sp>
      <p:sp>
        <p:nvSpPr>
          <p:cNvPr id="3" name="Text 0"/>
          <p:cNvSpPr>
            <a:spLocks noGrp="1"/>
          </p:cNvSpPr>
          <p:nvPr>
            <p:ph type="title" idx="100" hasCustomPrompt="1"/>
          </p:nvPr>
        </p:nvSpPr>
        <p:spPr>
          <a:xfrm>
            <a:off x="594360" y="566928"/>
            <a:ext cx="11002975" cy="658368"/>
          </a:xfrm>
          <a:prstGeom prst="rect">
            <a:avLst/>
          </a:prstGeom>
          <a:noFill/>
          <a:ln/>
        </p:spPr>
        <p:txBody>
          <a:bodyPr wrap="square" lIns="0" tIns="0" rIns="0" bIns="0" rtlCol="0" anchor="ctr"/>
          <a:lstStyle/>
          <a:p>
            <a:pPr marL="0" indent="0" algn="l">
              <a:buNone/>
            </a:pPr>
            <a:r>
              <a:rPr lang="en-US" sz="3000" b="1" dirty="0">
                <a:solidFill>
                  <a:schemeClr val="tx2"/>
                </a:solidFill>
                <a:latin typeface="Georgia" pitchFamily="34" charset="0"/>
                <a:ea typeface="Georgia" pitchFamily="34" charset="-122"/>
                <a:cs typeface="Georgia" pitchFamily="34" charset="-120"/>
              </a:rPr>
              <a:t>The model predicts both events well</a:t>
            </a:r>
            <a:endParaRPr lang="en-US" sz="3000" dirty="0"/>
          </a:p>
        </p:txBody>
      </p:sp>
      <p:sp>
        <p:nvSpPr>
          <p:cNvPr id="4" name="card"/>
          <p:cNvSpPr/>
          <p:nvPr/>
        </p:nvSpPr>
        <p:spPr>
          <a:xfrm>
            <a:off x="594360" y="1463040"/>
            <a:ext cx="7040880" cy="4526280"/>
          </a:xfrm>
          <a:prstGeom prst="roundRect">
            <a:avLst>
              <a:gd name="adj" fmla="val 2828"/>
            </a:avLst>
          </a:prstGeom>
          <a:solidFill>
            <a:schemeClr val="bg1"/>
          </a:solidFill>
          <a:ln/>
          <a:effectLst>
            <a:outerShdw blurRad="177800" dist="38100" dir="5400000" algn="bl" rotWithShape="0">
              <a:srgbClr val="0B2F3F">
                <a:alpha val="10000"/>
              </a:srgbClr>
            </a:outerShdw>
          </a:effectLst>
        </p:spPr>
      </p:sp>
      <p:sp>
        <p:nvSpPr>
          <p:cNvPr id="5" name="Text 3"/>
          <p:cNvSpPr txBox="1"/>
          <p:nvPr/>
        </p:nvSpPr>
        <p:spPr>
          <a:xfrm>
            <a:off x="914400" y="1645920"/>
            <a:ext cx="6400800" cy="384048"/>
          </a:xfrm>
          <a:prstGeom prst="rect">
            <a:avLst/>
          </a:prstGeom>
          <a:noFill/>
          <a:ln/>
        </p:spPr>
        <p:txBody>
          <a:bodyPr wrap="square" lIns="0" tIns="0" rIns="0" bIns="0" rtlCol="0" anchor="t"/>
          <a:lstStyle/>
          <a:p>
            <a:pPr marL="0" indent="0">
              <a:buNone/>
            </a:pPr>
            <a:r>
              <a:rPr lang="en-US" sz="1500" b="1" dirty="0">
                <a:solidFill>
                  <a:schemeClr val="tx2"/>
                </a:solidFill>
                <a:latin typeface="Georgia" pitchFamily="34" charset="0"/>
                <a:ea typeface="Georgia" pitchFamily="34" charset="-122"/>
                <a:cs typeface="Georgia" pitchFamily="34" charset="-120"/>
              </a:rPr>
              <a:t>Precision-recall (AUPRC) on 60 test patients</a:t>
            </a:r>
            <a:endParaRPr lang="en-US" sz="1500" dirty="0"/>
          </a:p>
        </p:txBody>
      </p:sp>
      <p:sp>
        <p:nvSpPr>
          <p:cNvPr id="6" name="Text 4"/>
          <p:cNvSpPr txBox="1"/>
          <p:nvPr/>
        </p:nvSpPr>
        <p:spPr>
          <a:xfrm>
            <a:off x="914400" y="2011680"/>
            <a:ext cx="6400800" cy="274320"/>
          </a:xfrm>
          <a:prstGeom prst="rect">
            <a:avLst/>
          </a:prstGeom>
          <a:noFill/>
          <a:ln/>
        </p:spPr>
        <p:txBody>
          <a:bodyPr wrap="square" lIns="0" tIns="0" rIns="0" bIns="0" rtlCol="0" anchor="t"/>
          <a:lstStyle/>
          <a:p>
            <a:pPr marL="0" indent="0">
              <a:buNone/>
            </a:pPr>
            <a:r>
              <a:rPr lang="en-US" sz="1200" dirty="0">
                <a:solidFill>
                  <a:schemeClr val="accent6"/>
                </a:solidFill>
              </a:rPr>
              <a:t>Higher is better. For rare lows, chance is about 0.02.</a:t>
            </a:r>
            <a:endParaRPr lang="en-US" sz="1200" dirty="0"/>
          </a:p>
        </p:txBody>
      </p:sp>
      <p:graphicFrame>
        <p:nvGraphicFramePr>
          <p:cNvPr id="7" name="chart-synthetic"/>
          <p:cNvGraphicFramePr/>
          <p:nvPr/>
        </p:nvGraphicFramePr>
        <p:xfrm>
          <a:off x="777240" y="2331720"/>
          <a:ext cx="6675120" cy="3566160"/>
        </p:xfrm>
        <a:graphic>
          <a:graphicData uri="http://schemas.openxmlformats.org/drawingml/2006/chart">
            <c:chart xmlns:c="http://schemas.openxmlformats.org/drawingml/2006/chart" xmlns:r="http://schemas.openxmlformats.org/officeDocument/2006/relationships" r:id="rId3"/>
          </a:graphicData>
        </a:graphic>
      </p:graphicFrame>
      <p:sp>
        <p:nvSpPr>
          <p:cNvPr id="8" name="card"/>
          <p:cNvSpPr/>
          <p:nvPr/>
        </p:nvSpPr>
        <p:spPr>
          <a:xfrm>
            <a:off x="7863840" y="1463040"/>
            <a:ext cx="1810512" cy="1417320"/>
          </a:xfrm>
          <a:prstGeom prst="roundRect">
            <a:avLst>
              <a:gd name="adj" fmla="val 9032"/>
            </a:avLst>
          </a:prstGeom>
          <a:solidFill>
            <a:schemeClr val="bg1"/>
          </a:solidFill>
          <a:ln/>
          <a:effectLst>
            <a:outerShdw blurRad="177800" dist="38100" dir="5400000" algn="bl" rotWithShape="0">
              <a:srgbClr val="0B2F3F">
                <a:alpha val="10000"/>
              </a:srgbClr>
            </a:outerShdw>
          </a:effectLst>
        </p:spPr>
      </p:sp>
      <p:sp>
        <p:nvSpPr>
          <p:cNvPr id="9" name="Text 6"/>
          <p:cNvSpPr txBox="1"/>
          <p:nvPr/>
        </p:nvSpPr>
        <p:spPr>
          <a:xfrm>
            <a:off x="8092440" y="1572768"/>
            <a:ext cx="1463040" cy="685800"/>
          </a:xfrm>
          <a:prstGeom prst="rect">
            <a:avLst/>
          </a:prstGeom>
          <a:noFill/>
          <a:ln/>
        </p:spPr>
        <p:txBody>
          <a:bodyPr wrap="square" lIns="0" tIns="0" rIns="0" bIns="0" rtlCol="0" anchor="b"/>
          <a:lstStyle/>
          <a:p>
            <a:pPr marL="0" indent="0">
              <a:buNone/>
            </a:pPr>
            <a:r>
              <a:rPr lang="en-US" sz="3200" b="1" dirty="0">
                <a:solidFill>
                  <a:schemeClr val="accent1"/>
                </a:solidFill>
                <a:latin typeface="Georgia" pitchFamily="34" charset="0"/>
                <a:ea typeface="Georgia" pitchFamily="34" charset="-122"/>
                <a:cs typeface="Georgia" pitchFamily="34" charset="-120"/>
              </a:rPr>
              <a:t>0.93</a:t>
            </a:r>
            <a:endParaRPr lang="en-US" sz="3200" dirty="0"/>
          </a:p>
        </p:txBody>
      </p:sp>
      <p:sp>
        <p:nvSpPr>
          <p:cNvPr id="10" name="Text 7"/>
          <p:cNvSpPr txBox="1"/>
          <p:nvPr/>
        </p:nvSpPr>
        <p:spPr>
          <a:xfrm>
            <a:off x="8092440" y="2286000"/>
            <a:ext cx="1463040" cy="457200"/>
          </a:xfrm>
          <a:prstGeom prst="rect">
            <a:avLst/>
          </a:prstGeom>
          <a:noFill/>
          <a:ln/>
        </p:spPr>
        <p:txBody>
          <a:bodyPr wrap="square" lIns="0" tIns="0" rIns="0" bIns="0" rtlCol="0" anchor="t"/>
          <a:lstStyle/>
          <a:p>
            <a:pPr marL="0" indent="0">
              <a:buNone/>
            </a:pPr>
            <a:r>
              <a:rPr lang="en-US" sz="1200" dirty="0">
                <a:solidFill>
                  <a:schemeClr val="accent6"/>
                </a:solidFill>
              </a:rPr>
              <a:t>AUROC for highs</a:t>
            </a:r>
            <a:endParaRPr lang="en-US" sz="1200" dirty="0"/>
          </a:p>
        </p:txBody>
      </p:sp>
      <p:sp>
        <p:nvSpPr>
          <p:cNvPr id="11" name="card"/>
          <p:cNvSpPr/>
          <p:nvPr/>
        </p:nvSpPr>
        <p:spPr>
          <a:xfrm>
            <a:off x="9765792" y="1463040"/>
            <a:ext cx="1810512" cy="1417320"/>
          </a:xfrm>
          <a:prstGeom prst="roundRect">
            <a:avLst>
              <a:gd name="adj" fmla="val 9032"/>
            </a:avLst>
          </a:prstGeom>
          <a:solidFill>
            <a:schemeClr val="bg1"/>
          </a:solidFill>
          <a:ln/>
          <a:effectLst>
            <a:outerShdw blurRad="177800" dist="38100" dir="5400000" algn="bl" rotWithShape="0">
              <a:srgbClr val="0B2F3F">
                <a:alpha val="10000"/>
              </a:srgbClr>
            </a:outerShdw>
          </a:effectLst>
        </p:spPr>
      </p:sp>
      <p:sp>
        <p:nvSpPr>
          <p:cNvPr id="12" name="Text 9"/>
          <p:cNvSpPr txBox="1"/>
          <p:nvPr/>
        </p:nvSpPr>
        <p:spPr>
          <a:xfrm>
            <a:off x="9994392" y="1572768"/>
            <a:ext cx="1463040" cy="685800"/>
          </a:xfrm>
          <a:prstGeom prst="rect">
            <a:avLst/>
          </a:prstGeom>
          <a:noFill/>
          <a:ln/>
        </p:spPr>
        <p:txBody>
          <a:bodyPr wrap="square" lIns="0" tIns="0" rIns="0" bIns="0" rtlCol="0" anchor="b"/>
          <a:lstStyle/>
          <a:p>
            <a:pPr marL="0" indent="0">
              <a:buNone/>
            </a:pPr>
            <a:r>
              <a:rPr lang="en-US" sz="3200" b="1" dirty="0">
                <a:solidFill>
                  <a:schemeClr val="accent1"/>
                </a:solidFill>
                <a:latin typeface="Georgia" pitchFamily="34" charset="0"/>
                <a:ea typeface="Georgia" pitchFamily="34" charset="-122"/>
                <a:cs typeface="Georgia" pitchFamily="34" charset="-120"/>
              </a:rPr>
              <a:t>0.99</a:t>
            </a:r>
            <a:endParaRPr lang="en-US" sz="3200" dirty="0"/>
          </a:p>
        </p:txBody>
      </p:sp>
      <p:sp>
        <p:nvSpPr>
          <p:cNvPr id="13" name="Text 10"/>
          <p:cNvSpPr txBox="1"/>
          <p:nvPr/>
        </p:nvSpPr>
        <p:spPr>
          <a:xfrm>
            <a:off x="9994392" y="2286000"/>
            <a:ext cx="1463040" cy="457200"/>
          </a:xfrm>
          <a:prstGeom prst="rect">
            <a:avLst/>
          </a:prstGeom>
          <a:noFill/>
          <a:ln/>
        </p:spPr>
        <p:txBody>
          <a:bodyPr wrap="square" lIns="0" tIns="0" rIns="0" bIns="0" rtlCol="0" anchor="t"/>
          <a:lstStyle/>
          <a:p>
            <a:pPr marL="0" indent="0">
              <a:buNone/>
            </a:pPr>
            <a:r>
              <a:rPr lang="en-US" sz="1200" dirty="0">
                <a:solidFill>
                  <a:schemeClr val="accent6"/>
                </a:solidFill>
              </a:rPr>
              <a:t>AUROC for lows</a:t>
            </a:r>
            <a:endParaRPr lang="en-US" sz="1200" dirty="0"/>
          </a:p>
        </p:txBody>
      </p:sp>
      <p:sp>
        <p:nvSpPr>
          <p:cNvPr id="14" name="card"/>
          <p:cNvSpPr/>
          <p:nvPr/>
        </p:nvSpPr>
        <p:spPr>
          <a:xfrm>
            <a:off x="7863840" y="3063240"/>
            <a:ext cx="3730752" cy="2926080"/>
          </a:xfrm>
          <a:prstGeom prst="roundRect">
            <a:avLst>
              <a:gd name="adj" fmla="val 4375"/>
            </a:avLst>
          </a:prstGeom>
          <a:solidFill>
            <a:schemeClr val="bg1"/>
          </a:solidFill>
          <a:ln/>
          <a:effectLst>
            <a:outerShdw blurRad="177800" dist="38100" dir="5400000" algn="bl" rotWithShape="0">
              <a:srgbClr val="0B2F3F">
                <a:alpha val="10000"/>
              </a:srgbClr>
            </a:outerShdw>
          </a:effectLst>
        </p:spPr>
      </p:sp>
      <p:sp>
        <p:nvSpPr>
          <p:cNvPr id="15" name="icon-dot"/>
          <p:cNvSpPr/>
          <p:nvPr/>
        </p:nvSpPr>
        <p:spPr>
          <a:xfrm>
            <a:off x="8092440" y="3291840"/>
            <a:ext cx="402336" cy="402336"/>
          </a:xfrm>
          <a:prstGeom prst="ellipse">
            <a:avLst/>
          </a:prstGeom>
          <a:solidFill>
            <a:schemeClr val="accent1"/>
          </a:solidFill>
          <a:ln/>
        </p:spPr>
      </p:sp>
      <p:pic>
        <p:nvPicPr>
          <p:cNvPr id="16" name="icon-cpu" descr="C:\Users\Akhilesh\AppData\Local\Temp\claude\C--Users-Akhilesh-Desktop-Claude-code-Happiest-Health\47a587f0-c947-456b-8324-0bf75adb31d4\scratchpad\deck\img\icons\cpu.png"/>
          <p:cNvPicPr>
            <a:picLocks noChangeAspect="1"/>
          </p:cNvPicPr>
          <p:nvPr/>
        </p:nvPicPr>
        <p:blipFill>
          <a:blip r:embed="rId4"/>
          <a:stretch>
            <a:fillRect/>
          </a:stretch>
        </p:blipFill>
        <p:spPr>
          <a:xfrm>
            <a:off x="8180954" y="3380354"/>
            <a:ext cx="225308" cy="225308"/>
          </a:xfrm>
          <a:prstGeom prst="rect">
            <a:avLst/>
          </a:prstGeom>
        </p:spPr>
      </p:pic>
      <p:sp>
        <p:nvSpPr>
          <p:cNvPr id="17" name="Text 13"/>
          <p:cNvSpPr txBox="1"/>
          <p:nvPr/>
        </p:nvSpPr>
        <p:spPr>
          <a:xfrm>
            <a:off x="8641080" y="3264408"/>
            <a:ext cx="2788920" cy="502920"/>
          </a:xfrm>
          <a:prstGeom prst="rect">
            <a:avLst/>
          </a:prstGeom>
          <a:noFill/>
          <a:ln/>
        </p:spPr>
        <p:txBody>
          <a:bodyPr wrap="square" lIns="0" tIns="0" rIns="0" bIns="0" rtlCol="0" anchor="ctr"/>
          <a:lstStyle/>
          <a:p>
            <a:pPr marL="0" indent="0">
              <a:buNone/>
            </a:pPr>
            <a:r>
              <a:rPr lang="en-US" sz="1200" dirty="0">
                <a:solidFill>
                  <a:schemeClr val="tx1"/>
                </a:solidFill>
              </a:rPr>
              <a:t>A deep GRU fusion network did not beat LightGBM</a:t>
            </a:r>
            <a:endParaRPr lang="en-US" sz="1200" dirty="0"/>
          </a:p>
        </p:txBody>
      </p:sp>
      <p:sp>
        <p:nvSpPr>
          <p:cNvPr id="18" name="icon-dot"/>
          <p:cNvSpPr/>
          <p:nvPr/>
        </p:nvSpPr>
        <p:spPr>
          <a:xfrm>
            <a:off x="8092440" y="3931920"/>
            <a:ext cx="402336" cy="402336"/>
          </a:xfrm>
          <a:prstGeom prst="ellipse">
            <a:avLst/>
          </a:prstGeom>
          <a:solidFill>
            <a:schemeClr val="accent1"/>
          </a:solidFill>
          <a:ln/>
        </p:spPr>
      </p:sp>
      <p:pic>
        <p:nvPicPr>
          <p:cNvPr id="19" name="icon-watch" descr="C:\Users\Akhilesh\AppData\Local\Temp\claude\C--Users-Akhilesh-Desktop-Claude-code-Happiest-Health\47a587f0-c947-456b-8324-0bf75adb31d4\scratchpad\deck\img\icons\watch.png"/>
          <p:cNvPicPr>
            <a:picLocks noChangeAspect="1"/>
          </p:cNvPicPr>
          <p:nvPr/>
        </p:nvPicPr>
        <p:blipFill>
          <a:blip r:embed="rId5"/>
          <a:stretch>
            <a:fillRect/>
          </a:stretch>
        </p:blipFill>
        <p:spPr>
          <a:xfrm>
            <a:off x="8180954" y="4020434"/>
            <a:ext cx="225308" cy="225308"/>
          </a:xfrm>
          <a:prstGeom prst="rect">
            <a:avLst/>
          </a:prstGeom>
        </p:spPr>
      </p:pic>
      <p:sp>
        <p:nvSpPr>
          <p:cNvPr id="20" name="Text 15"/>
          <p:cNvSpPr txBox="1"/>
          <p:nvPr/>
        </p:nvSpPr>
        <p:spPr>
          <a:xfrm>
            <a:off x="8641080" y="3904488"/>
            <a:ext cx="2788920" cy="502920"/>
          </a:xfrm>
          <a:prstGeom prst="rect">
            <a:avLst/>
          </a:prstGeom>
          <a:noFill/>
          <a:ln/>
        </p:spPr>
        <p:txBody>
          <a:bodyPr wrap="square" lIns="0" tIns="0" rIns="0" bIns="0" rtlCol="0" anchor="ctr"/>
          <a:lstStyle/>
          <a:p>
            <a:pPr marL="0" indent="0">
              <a:buNone/>
            </a:pPr>
            <a:r>
              <a:rPr lang="en-US" sz="1200" dirty="0">
                <a:solidFill>
                  <a:schemeClr val="tx1"/>
                </a:solidFill>
              </a:rPr>
              <a:t>Steps, heart rate and sleep added nothing measurable</a:t>
            </a:r>
            <a:endParaRPr lang="en-US" sz="1200" dirty="0"/>
          </a:p>
        </p:txBody>
      </p:sp>
      <p:sp>
        <p:nvSpPr>
          <p:cNvPr id="21" name="icon-dot"/>
          <p:cNvSpPr/>
          <p:nvPr/>
        </p:nvSpPr>
        <p:spPr>
          <a:xfrm>
            <a:off x="8092440" y="4572000"/>
            <a:ext cx="402336" cy="402336"/>
          </a:xfrm>
          <a:prstGeom prst="ellipse">
            <a:avLst/>
          </a:prstGeom>
          <a:solidFill>
            <a:schemeClr val="accent1"/>
          </a:solidFill>
          <a:ln/>
        </p:spPr>
      </p:sp>
      <p:pic>
        <p:nvPicPr>
          <p:cNvPr id="22" name="icon-gauge" descr="C:\Users\Akhilesh\AppData\Local\Temp\claude\C--Users-Akhilesh-Desktop-Claude-code-Happiest-Health\47a587f0-c947-456b-8324-0bf75adb31d4\scratchpad\deck\img\icons\gauge.png"/>
          <p:cNvPicPr>
            <a:picLocks noChangeAspect="1"/>
          </p:cNvPicPr>
          <p:nvPr/>
        </p:nvPicPr>
        <p:blipFill>
          <a:blip r:embed="rId6"/>
          <a:stretch>
            <a:fillRect/>
          </a:stretch>
        </p:blipFill>
        <p:spPr>
          <a:xfrm>
            <a:off x="8180954" y="4660514"/>
            <a:ext cx="225308" cy="225308"/>
          </a:xfrm>
          <a:prstGeom prst="rect">
            <a:avLst/>
          </a:prstGeom>
        </p:spPr>
      </p:pic>
      <p:sp>
        <p:nvSpPr>
          <p:cNvPr id="23" name="Text 17"/>
          <p:cNvSpPr txBox="1"/>
          <p:nvPr/>
        </p:nvSpPr>
        <p:spPr>
          <a:xfrm>
            <a:off x="8641080" y="4544568"/>
            <a:ext cx="2788920" cy="502920"/>
          </a:xfrm>
          <a:prstGeom prst="rect">
            <a:avLst/>
          </a:prstGeom>
          <a:noFill/>
          <a:ln/>
        </p:spPr>
        <p:txBody>
          <a:bodyPr wrap="square" lIns="0" tIns="0" rIns="0" bIns="0" rtlCol="0" anchor="ctr"/>
          <a:lstStyle/>
          <a:p>
            <a:pPr marL="0" indent="0">
              <a:buNone/>
            </a:pPr>
            <a:r>
              <a:rPr lang="en-US" sz="1200" dirty="0">
                <a:solidFill>
                  <a:schemeClr val="tx1"/>
                </a:solidFill>
              </a:rPr>
              <a:t>Well calibrated (hypo ECE 0.004), so LightGBM is deployed</a:t>
            </a:r>
            <a:endParaRPr lang="en-US" sz="1200" dirty="0"/>
          </a:p>
        </p:txBody>
      </p:sp>
      <p:sp>
        <p:nvSpPr>
          <p:cNvPr id="24" name="icon-dot"/>
          <p:cNvSpPr/>
          <p:nvPr/>
        </p:nvSpPr>
        <p:spPr>
          <a:xfrm>
            <a:off x="8092440" y="5212080"/>
            <a:ext cx="402336" cy="402336"/>
          </a:xfrm>
          <a:prstGeom prst="ellipse">
            <a:avLst/>
          </a:prstGeom>
          <a:solidFill>
            <a:schemeClr val="accent2"/>
          </a:solidFill>
          <a:ln/>
        </p:spPr>
      </p:sp>
      <p:pic>
        <p:nvPicPr>
          <p:cNvPr id="25" name="icon-alert" descr="C:\Users\Akhilesh\AppData\Local\Temp\claude\C--Users-Akhilesh-Desktop-Claude-code-Happiest-Health\47a587f0-c947-456b-8324-0bf75adb31d4\scratchpad\deck\img\icons\alert.png"/>
          <p:cNvPicPr>
            <a:picLocks noChangeAspect="1"/>
          </p:cNvPicPr>
          <p:nvPr/>
        </p:nvPicPr>
        <p:blipFill>
          <a:blip r:embed="rId7"/>
          <a:stretch>
            <a:fillRect/>
          </a:stretch>
        </p:blipFill>
        <p:spPr>
          <a:xfrm>
            <a:off x="8180954" y="5300594"/>
            <a:ext cx="225308" cy="225308"/>
          </a:xfrm>
          <a:prstGeom prst="rect">
            <a:avLst/>
          </a:prstGeom>
        </p:spPr>
      </p:pic>
      <p:sp>
        <p:nvSpPr>
          <p:cNvPr id="26" name="Text 19"/>
          <p:cNvSpPr txBox="1"/>
          <p:nvPr/>
        </p:nvSpPr>
        <p:spPr>
          <a:xfrm>
            <a:off x="8641080" y="5184648"/>
            <a:ext cx="2788920" cy="502920"/>
          </a:xfrm>
          <a:prstGeom prst="rect">
            <a:avLst/>
          </a:prstGeom>
          <a:noFill/>
          <a:ln/>
        </p:spPr>
        <p:txBody>
          <a:bodyPr wrap="square" lIns="0" tIns="0" rIns="0" bIns="0" rtlCol="0" anchor="ctr"/>
          <a:lstStyle/>
          <a:p>
            <a:pPr marL="0" indent="0">
              <a:buNone/>
            </a:pPr>
            <a:r>
              <a:rPr lang="en-US" sz="1200" dirty="0">
                <a:solidFill>
                  <a:schemeClr val="tx1"/>
                </a:solidFill>
              </a:rPr>
              <a:t>Optimistic: simulated lows drift in slowly</a:t>
            </a:r>
            <a:endParaRPr lang="en-US" sz="1200" dirty="0"/>
          </a:p>
        </p:txBody>
      </p:sp>
      <p:sp>
        <p:nvSpPr>
          <p:cNvPr id="27" name="Slide Number Placeholder 0"/>
          <p:cNvSpPr>
            <a:spLocks noGrp="1"/>
          </p:cNvSpPr>
          <p:nvPr>
            <p:ph type="sldNum" sz="quarter" idx="4294967295"/>
          </p:nvPr>
        </p:nvSpPr>
        <p:spPr>
          <a:xfrm>
            <a:off x="11140135" y="6446520"/>
            <a:ext cx="457200" cy="256032"/>
          </a:xfrm>
          <a:prstGeom prst="rect">
            <a:avLst/>
          </a:prstGeom>
          <a:extLst>
            <a:ext uri="{C572A759-6A51-4108-AA02-DFA0A04FC94B}">
              <ma14:wrappingTextBoxFlag xmlns:ma14="http://schemas.microsoft.com/office/mac/drawingml/2011/main" xmlns="" val="0"/>
            </a:ext>
          </a:extLst>
        </p:spPr>
        <p:txBody>
          <a:bodyPr/>
          <a:lstStyle>
            <a:lvl1pPr>
              <a:defRPr sz="900">
                <a:solidFill>
                  <a:schemeClr val="accent6"/>
                </a:solidFill>
              </a:defRPr>
            </a:lvl1pPr>
          </a:lstStyle>
          <a:p>
            <a:pPr algn="r"/>
            <a:fld id="{F7021451-1387-4CA6-816F-3879F97B5CBC}" type="slidenum">
              <a:rPr lang="en-US" b="0"/>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94360" y="292608"/>
            <a:ext cx="8229600" cy="256032"/>
          </a:xfrm>
          <a:prstGeom prst="rect">
            <a:avLst/>
          </a:prstGeom>
          <a:noFill/>
          <a:ln/>
        </p:spPr>
        <p:txBody>
          <a:bodyPr wrap="square" lIns="0" tIns="0" rIns="0" bIns="0" rtlCol="0" anchor="t"/>
          <a:lstStyle/>
          <a:p>
            <a:pPr marL="0" indent="0">
              <a:buNone/>
            </a:pPr>
            <a:r>
              <a:rPr lang="en-US" sz="1100" b="1" kern="0" spc="300" dirty="0">
                <a:solidFill>
                  <a:schemeClr val="accent1"/>
                </a:solidFill>
              </a:rPr>
              <a:t>07 · ALERTING</a:t>
            </a:r>
            <a:endParaRPr lang="en-US" sz="1100" dirty="0"/>
          </a:p>
        </p:txBody>
      </p:sp>
      <p:sp>
        <p:nvSpPr>
          <p:cNvPr id="3" name="Text 0"/>
          <p:cNvSpPr>
            <a:spLocks noGrp="1"/>
          </p:cNvSpPr>
          <p:nvPr>
            <p:ph type="title" idx="100" hasCustomPrompt="1"/>
          </p:nvPr>
        </p:nvSpPr>
        <p:spPr>
          <a:xfrm>
            <a:off x="594360" y="566928"/>
            <a:ext cx="11002975" cy="658368"/>
          </a:xfrm>
          <a:prstGeom prst="rect">
            <a:avLst/>
          </a:prstGeom>
          <a:noFill/>
          <a:ln/>
        </p:spPr>
        <p:txBody>
          <a:bodyPr wrap="square" lIns="0" tIns="0" rIns="0" bIns="0" rtlCol="0" anchor="ctr"/>
          <a:lstStyle/>
          <a:p>
            <a:pPr marL="0" indent="0" algn="l">
              <a:buNone/>
            </a:pPr>
            <a:r>
              <a:rPr lang="en-US" sz="3000" b="1" dirty="0">
                <a:solidFill>
                  <a:schemeClr val="tx2"/>
                </a:solidFill>
                <a:latin typeface="Georgia" pitchFamily="34" charset="0"/>
                <a:ea typeface="Georgia" pitchFamily="34" charset="-122"/>
                <a:cs typeface="Georgia" pitchFamily="34" charset="-120"/>
              </a:rPr>
              <a:t>Alerts a clinic can live with, tested on real patients</a:t>
            </a:r>
            <a:endParaRPr lang="en-US" sz="3000" dirty="0"/>
          </a:p>
        </p:txBody>
      </p:sp>
      <p:sp>
        <p:nvSpPr>
          <p:cNvPr id="4" name="card"/>
          <p:cNvSpPr/>
          <p:nvPr/>
        </p:nvSpPr>
        <p:spPr>
          <a:xfrm>
            <a:off x="594360" y="1463040"/>
            <a:ext cx="11002975" cy="4526280"/>
          </a:xfrm>
          <a:prstGeom prst="roundRect">
            <a:avLst>
              <a:gd name="adj" fmla="val 2828"/>
            </a:avLst>
          </a:prstGeom>
          <a:solidFill>
            <a:schemeClr val="bg1"/>
          </a:solidFill>
          <a:ln/>
          <a:effectLst>
            <a:outerShdw blurRad="177800" dist="38100" dir="5400000" algn="bl" rotWithShape="0">
              <a:srgbClr val="0B2F3F">
                <a:alpha val="10000"/>
              </a:srgbClr>
            </a:outerShdw>
          </a:effectLst>
        </p:spPr>
      </p:sp>
      <p:sp>
        <p:nvSpPr>
          <p:cNvPr id="5" name="pill"/>
          <p:cNvSpPr/>
          <p:nvPr/>
        </p:nvSpPr>
        <p:spPr>
          <a:xfrm>
            <a:off x="914400" y="1691640"/>
            <a:ext cx="4206240" cy="365760"/>
          </a:xfrm>
          <a:prstGeom prst="roundRect">
            <a:avLst>
              <a:gd name="adj" fmla="val 50000"/>
            </a:avLst>
          </a:prstGeom>
          <a:solidFill>
            <a:srgbClr val="DCEFEC"/>
          </a:solidFill>
          <a:ln/>
        </p:spPr>
      </p:sp>
      <p:sp>
        <p:nvSpPr>
          <p:cNvPr id="6" name="Text 4"/>
          <p:cNvSpPr txBox="1"/>
          <p:nvPr/>
        </p:nvSpPr>
        <p:spPr>
          <a:xfrm>
            <a:off x="914400" y="1691640"/>
            <a:ext cx="4206240" cy="365760"/>
          </a:xfrm>
          <a:prstGeom prst="rect">
            <a:avLst/>
          </a:prstGeom>
          <a:noFill/>
          <a:ln/>
        </p:spPr>
        <p:txBody>
          <a:bodyPr wrap="square" lIns="0" tIns="0" rIns="0" bIns="0" rtlCol="0" anchor="ctr"/>
          <a:lstStyle/>
          <a:p>
            <a:pPr marL="0" indent="0" algn="ctr">
              <a:buNone/>
            </a:pPr>
            <a:r>
              <a:rPr lang="en-US" sz="1200" b="1" dirty="0">
                <a:solidFill>
                  <a:schemeClr val="accent1"/>
                </a:solidFill>
              </a:rPr>
              <a:t>60 synthetic test patients · synthetic-trained model</a:t>
            </a:r>
            <a:endParaRPr lang="en-US" sz="1200" dirty="0"/>
          </a:p>
        </p:txBody>
      </p:sp>
      <p:sp>
        <p:nvSpPr>
          <p:cNvPr id="7" name="pill"/>
          <p:cNvSpPr/>
          <p:nvPr/>
        </p:nvSpPr>
        <p:spPr>
          <a:xfrm>
            <a:off x="5303520" y="1691640"/>
            <a:ext cx="4206240" cy="365760"/>
          </a:xfrm>
          <a:prstGeom prst="roundRect">
            <a:avLst>
              <a:gd name="adj" fmla="val 50000"/>
            </a:avLst>
          </a:prstGeom>
          <a:solidFill>
            <a:srgbClr val="FBE3D8"/>
          </a:solidFill>
          <a:ln/>
        </p:spPr>
      </p:sp>
      <p:sp>
        <p:nvSpPr>
          <p:cNvPr id="8" name="Text 6"/>
          <p:cNvSpPr txBox="1"/>
          <p:nvPr/>
        </p:nvSpPr>
        <p:spPr>
          <a:xfrm>
            <a:off x="5303520" y="1691640"/>
            <a:ext cx="4206240" cy="365760"/>
          </a:xfrm>
          <a:prstGeom prst="rect">
            <a:avLst/>
          </a:prstGeom>
          <a:noFill/>
          <a:ln/>
        </p:spPr>
        <p:txBody>
          <a:bodyPr wrap="square" lIns="0" tIns="0" rIns="0" bIns="0" rtlCol="0" anchor="ctr"/>
          <a:lstStyle/>
          <a:p>
            <a:pPr marL="0" indent="0" algn="ctr">
              <a:buNone/>
            </a:pPr>
            <a:r>
              <a:rPr lang="en-US" sz="1200" b="1" dirty="0">
                <a:solidFill>
                  <a:schemeClr val="accent2"/>
                </a:solidFill>
              </a:rPr>
              <a:t>100 real patients (ShanghaiT2DM) · real-trained model</a:t>
            </a:r>
            <a:endParaRPr lang="en-US" sz="1200" dirty="0"/>
          </a:p>
        </p:txBody>
      </p:sp>
      <p:sp>
        <p:nvSpPr>
          <p:cNvPr id="9" name="icon-dot"/>
          <p:cNvSpPr/>
          <p:nvPr/>
        </p:nvSpPr>
        <p:spPr>
          <a:xfrm>
            <a:off x="914400" y="2377440"/>
            <a:ext cx="502920" cy="502920"/>
          </a:xfrm>
          <a:prstGeom prst="ellipse">
            <a:avLst/>
          </a:prstGeom>
          <a:solidFill>
            <a:schemeClr val="tx2"/>
          </a:solidFill>
          <a:ln/>
        </p:spPr>
      </p:sp>
      <p:pic>
        <p:nvPicPr>
          <p:cNvPr id="10" name="icon-target" descr="C:\Users\Akhilesh\AppData\Local\Temp\claude\C--Users-Akhilesh-Desktop-Claude-code-Happiest-Health\47a587f0-c947-456b-8324-0bf75adb31d4\scratchpad\deck\img\icons\target.png"/>
          <p:cNvPicPr>
            <a:picLocks noChangeAspect="1"/>
          </p:cNvPicPr>
          <p:nvPr/>
        </p:nvPicPr>
        <p:blipFill>
          <a:blip r:embed="rId3"/>
          <a:stretch>
            <a:fillRect/>
          </a:stretch>
        </p:blipFill>
        <p:spPr>
          <a:xfrm>
            <a:off x="1025042" y="2488082"/>
            <a:ext cx="281635" cy="281635"/>
          </a:xfrm>
          <a:prstGeom prst="rect">
            <a:avLst/>
          </a:prstGeom>
        </p:spPr>
      </p:pic>
      <p:sp>
        <p:nvSpPr>
          <p:cNvPr id="11" name="Text 8"/>
          <p:cNvSpPr txBox="1"/>
          <p:nvPr/>
        </p:nvSpPr>
        <p:spPr>
          <a:xfrm>
            <a:off x="1600200" y="2313432"/>
            <a:ext cx="3520440" cy="640080"/>
          </a:xfrm>
          <a:prstGeom prst="rect">
            <a:avLst/>
          </a:prstGeom>
          <a:noFill/>
          <a:ln/>
        </p:spPr>
        <p:txBody>
          <a:bodyPr wrap="square" lIns="0" tIns="0" rIns="0" bIns="0" rtlCol="0" anchor="ctr"/>
          <a:lstStyle/>
          <a:p>
            <a:pPr marL="0" indent="0">
              <a:buNone/>
            </a:pPr>
            <a:r>
              <a:rPr lang="en-US" sz="1300" b="1" dirty="0">
                <a:solidFill>
                  <a:schemeClr val="tx1"/>
                </a:solidFill>
              </a:rPr>
              <a:t>Lows warned at least 30 minutes ahead</a:t>
            </a:r>
            <a:endParaRPr lang="en-US" sz="1300" dirty="0"/>
          </a:p>
          <a:p>
            <a:pPr marL="0" indent="0">
              <a:buNone/>
            </a:pPr>
            <a:r>
              <a:rPr lang="en-US" sz="1100" dirty="0">
                <a:solidFill>
                  <a:schemeClr val="accent6"/>
                </a:solidFill>
              </a:rPr>
              <a:t>53% at 15 minutes on real patients</a:t>
            </a:r>
            <a:endParaRPr lang="en-US" sz="1300" dirty="0"/>
          </a:p>
        </p:txBody>
      </p:sp>
      <p:sp>
        <p:nvSpPr>
          <p:cNvPr id="12" name="track"/>
          <p:cNvSpPr/>
          <p:nvPr/>
        </p:nvSpPr>
        <p:spPr>
          <a:xfrm>
            <a:off x="5257800" y="2331720"/>
            <a:ext cx="5120640" cy="237744"/>
          </a:xfrm>
          <a:prstGeom prst="roundRect">
            <a:avLst>
              <a:gd name="adj" fmla="val 50000"/>
            </a:avLst>
          </a:prstGeom>
          <a:solidFill>
            <a:srgbClr val="EEF3F6"/>
          </a:solidFill>
          <a:ln/>
        </p:spPr>
      </p:sp>
      <p:sp>
        <p:nvSpPr>
          <p:cNvPr id="13" name="bar"/>
          <p:cNvSpPr/>
          <p:nvPr/>
        </p:nvSpPr>
        <p:spPr>
          <a:xfrm>
            <a:off x="5257800" y="2331720"/>
            <a:ext cx="3891686" cy="237744"/>
          </a:xfrm>
          <a:prstGeom prst="roundRect">
            <a:avLst>
              <a:gd name="adj" fmla="val 50000"/>
            </a:avLst>
          </a:prstGeom>
          <a:solidFill>
            <a:srgbClr val="0F766E"/>
          </a:solidFill>
          <a:ln/>
        </p:spPr>
      </p:sp>
      <p:sp>
        <p:nvSpPr>
          <p:cNvPr id="14" name="Text 11"/>
          <p:cNvSpPr txBox="1"/>
          <p:nvPr/>
        </p:nvSpPr>
        <p:spPr>
          <a:xfrm>
            <a:off x="10515600" y="2276856"/>
            <a:ext cx="914400" cy="347472"/>
          </a:xfrm>
          <a:prstGeom prst="rect">
            <a:avLst/>
          </a:prstGeom>
          <a:noFill/>
          <a:ln/>
        </p:spPr>
        <p:txBody>
          <a:bodyPr wrap="square" lIns="0" tIns="0" rIns="0" bIns="0" rtlCol="0" anchor="ctr"/>
          <a:lstStyle/>
          <a:p>
            <a:pPr marL="0" indent="0">
              <a:buNone/>
            </a:pPr>
            <a:r>
              <a:rPr lang="en-US" sz="1400" b="1" dirty="0">
                <a:solidFill>
                  <a:schemeClr val="accent1"/>
                </a:solidFill>
              </a:rPr>
              <a:t>76%</a:t>
            </a:r>
            <a:endParaRPr lang="en-US" sz="1400" dirty="0"/>
          </a:p>
        </p:txBody>
      </p:sp>
      <p:sp>
        <p:nvSpPr>
          <p:cNvPr id="15" name="track"/>
          <p:cNvSpPr/>
          <p:nvPr/>
        </p:nvSpPr>
        <p:spPr>
          <a:xfrm>
            <a:off x="5257800" y="2660904"/>
            <a:ext cx="5120640" cy="237744"/>
          </a:xfrm>
          <a:prstGeom prst="roundRect">
            <a:avLst>
              <a:gd name="adj" fmla="val 50000"/>
            </a:avLst>
          </a:prstGeom>
          <a:solidFill>
            <a:srgbClr val="EEF3F6"/>
          </a:solidFill>
          <a:ln/>
        </p:spPr>
      </p:sp>
      <p:sp>
        <p:nvSpPr>
          <p:cNvPr id="16" name="bar"/>
          <p:cNvSpPr/>
          <p:nvPr/>
        </p:nvSpPr>
        <p:spPr>
          <a:xfrm>
            <a:off x="5257800" y="2660904"/>
            <a:ext cx="1792224" cy="237744"/>
          </a:xfrm>
          <a:prstGeom prst="roundRect">
            <a:avLst>
              <a:gd name="adj" fmla="val 50000"/>
            </a:avLst>
          </a:prstGeom>
          <a:solidFill>
            <a:srgbClr val="E8643A"/>
          </a:solidFill>
          <a:ln/>
        </p:spPr>
      </p:sp>
      <p:sp>
        <p:nvSpPr>
          <p:cNvPr id="17" name="Text 14"/>
          <p:cNvSpPr txBox="1"/>
          <p:nvPr/>
        </p:nvSpPr>
        <p:spPr>
          <a:xfrm>
            <a:off x="10515600" y="2606040"/>
            <a:ext cx="914400" cy="347472"/>
          </a:xfrm>
          <a:prstGeom prst="rect">
            <a:avLst/>
          </a:prstGeom>
          <a:noFill/>
          <a:ln/>
        </p:spPr>
        <p:txBody>
          <a:bodyPr wrap="square" lIns="0" tIns="0" rIns="0" bIns="0" rtlCol="0" anchor="ctr"/>
          <a:lstStyle/>
          <a:p>
            <a:pPr marL="0" indent="0">
              <a:buNone/>
            </a:pPr>
            <a:r>
              <a:rPr lang="en-US" sz="1400" b="1" dirty="0">
                <a:solidFill>
                  <a:schemeClr val="accent2"/>
                </a:solidFill>
              </a:rPr>
              <a:t>35%</a:t>
            </a:r>
            <a:endParaRPr lang="en-US" sz="1400" dirty="0"/>
          </a:p>
        </p:txBody>
      </p:sp>
      <p:sp>
        <p:nvSpPr>
          <p:cNvPr id="18" name="icon-dot"/>
          <p:cNvSpPr/>
          <p:nvPr/>
        </p:nvSpPr>
        <p:spPr>
          <a:xfrm>
            <a:off x="914400" y="3273552"/>
            <a:ext cx="502920" cy="502920"/>
          </a:xfrm>
          <a:prstGeom prst="ellipse">
            <a:avLst/>
          </a:prstGeom>
          <a:solidFill>
            <a:schemeClr val="tx2"/>
          </a:solidFill>
          <a:ln/>
        </p:spPr>
      </p:sp>
      <p:pic>
        <p:nvPicPr>
          <p:cNvPr id="19" name="icon-clock" descr="C:\Users\Akhilesh\AppData\Local\Temp\claude\C--Users-Akhilesh-Desktop-Claude-code-Happiest-Health\47a587f0-c947-456b-8324-0bf75adb31d4\scratchpad\deck\img\icons\clock.png"/>
          <p:cNvPicPr>
            <a:picLocks noChangeAspect="1"/>
          </p:cNvPicPr>
          <p:nvPr/>
        </p:nvPicPr>
        <p:blipFill>
          <a:blip r:embed="rId4"/>
          <a:stretch>
            <a:fillRect/>
          </a:stretch>
        </p:blipFill>
        <p:spPr>
          <a:xfrm>
            <a:off x="1025042" y="3384194"/>
            <a:ext cx="281635" cy="281635"/>
          </a:xfrm>
          <a:prstGeom prst="rect">
            <a:avLst/>
          </a:prstGeom>
        </p:spPr>
      </p:pic>
      <p:sp>
        <p:nvSpPr>
          <p:cNvPr id="20" name="Text 16"/>
          <p:cNvSpPr txBox="1"/>
          <p:nvPr/>
        </p:nvSpPr>
        <p:spPr>
          <a:xfrm>
            <a:off x="1600200" y="3209544"/>
            <a:ext cx="3520440" cy="640080"/>
          </a:xfrm>
          <a:prstGeom prst="rect">
            <a:avLst/>
          </a:prstGeom>
          <a:noFill/>
          <a:ln/>
        </p:spPr>
        <p:txBody>
          <a:bodyPr wrap="square" lIns="0" tIns="0" rIns="0" bIns="0" rtlCol="0" anchor="ctr"/>
          <a:lstStyle/>
          <a:p>
            <a:pPr marL="0" indent="0">
              <a:buNone/>
            </a:pPr>
            <a:r>
              <a:rPr lang="en-US" sz="1300" b="1" dirty="0">
                <a:solidFill>
                  <a:schemeClr val="tx1"/>
                </a:solidFill>
              </a:rPr>
              <a:t>Median warning before a low</a:t>
            </a:r>
            <a:endParaRPr lang="en-US" sz="1300" dirty="0"/>
          </a:p>
        </p:txBody>
      </p:sp>
      <p:sp>
        <p:nvSpPr>
          <p:cNvPr id="21" name="track"/>
          <p:cNvSpPr/>
          <p:nvPr/>
        </p:nvSpPr>
        <p:spPr>
          <a:xfrm>
            <a:off x="5257800" y="3227832"/>
            <a:ext cx="5120640" cy="237744"/>
          </a:xfrm>
          <a:prstGeom prst="roundRect">
            <a:avLst>
              <a:gd name="adj" fmla="val 50000"/>
            </a:avLst>
          </a:prstGeom>
          <a:solidFill>
            <a:srgbClr val="EEF3F6"/>
          </a:solidFill>
          <a:ln/>
        </p:spPr>
      </p:sp>
      <p:sp>
        <p:nvSpPr>
          <p:cNvPr id="22" name="bar"/>
          <p:cNvSpPr/>
          <p:nvPr/>
        </p:nvSpPr>
        <p:spPr>
          <a:xfrm>
            <a:off x="5257800" y="3227832"/>
            <a:ext cx="4160520" cy="237744"/>
          </a:xfrm>
          <a:prstGeom prst="roundRect">
            <a:avLst>
              <a:gd name="adj" fmla="val 50000"/>
            </a:avLst>
          </a:prstGeom>
          <a:solidFill>
            <a:srgbClr val="0F766E"/>
          </a:solidFill>
          <a:ln/>
        </p:spPr>
      </p:sp>
      <p:sp>
        <p:nvSpPr>
          <p:cNvPr id="23" name="Text 19"/>
          <p:cNvSpPr txBox="1"/>
          <p:nvPr/>
        </p:nvSpPr>
        <p:spPr>
          <a:xfrm>
            <a:off x="10515600" y="3172968"/>
            <a:ext cx="914400" cy="347472"/>
          </a:xfrm>
          <a:prstGeom prst="rect">
            <a:avLst/>
          </a:prstGeom>
          <a:noFill/>
          <a:ln/>
        </p:spPr>
        <p:txBody>
          <a:bodyPr wrap="square" lIns="0" tIns="0" rIns="0" bIns="0" rtlCol="0" anchor="ctr"/>
          <a:lstStyle/>
          <a:p>
            <a:pPr marL="0" indent="0">
              <a:buNone/>
            </a:pPr>
            <a:r>
              <a:rPr lang="en-US" sz="1400" b="1" dirty="0">
                <a:solidFill>
                  <a:schemeClr val="accent1"/>
                </a:solidFill>
              </a:rPr>
              <a:t>65 min</a:t>
            </a:r>
            <a:endParaRPr lang="en-US" sz="1400" dirty="0"/>
          </a:p>
        </p:txBody>
      </p:sp>
      <p:sp>
        <p:nvSpPr>
          <p:cNvPr id="24" name="track"/>
          <p:cNvSpPr/>
          <p:nvPr/>
        </p:nvSpPr>
        <p:spPr>
          <a:xfrm>
            <a:off x="5257800" y="3557016"/>
            <a:ext cx="5120640" cy="237744"/>
          </a:xfrm>
          <a:prstGeom prst="roundRect">
            <a:avLst>
              <a:gd name="adj" fmla="val 50000"/>
            </a:avLst>
          </a:prstGeom>
          <a:solidFill>
            <a:srgbClr val="EEF3F6"/>
          </a:solidFill>
          <a:ln/>
        </p:spPr>
      </p:sp>
      <p:sp>
        <p:nvSpPr>
          <p:cNvPr id="25" name="bar"/>
          <p:cNvSpPr/>
          <p:nvPr/>
        </p:nvSpPr>
        <p:spPr>
          <a:xfrm>
            <a:off x="5257800" y="3557016"/>
            <a:ext cx="1600200" cy="237744"/>
          </a:xfrm>
          <a:prstGeom prst="roundRect">
            <a:avLst>
              <a:gd name="adj" fmla="val 50000"/>
            </a:avLst>
          </a:prstGeom>
          <a:solidFill>
            <a:srgbClr val="E8643A"/>
          </a:solidFill>
          <a:ln/>
        </p:spPr>
      </p:sp>
      <p:sp>
        <p:nvSpPr>
          <p:cNvPr id="26" name="Text 22"/>
          <p:cNvSpPr txBox="1"/>
          <p:nvPr/>
        </p:nvSpPr>
        <p:spPr>
          <a:xfrm>
            <a:off x="10515600" y="3502152"/>
            <a:ext cx="914400" cy="347472"/>
          </a:xfrm>
          <a:prstGeom prst="rect">
            <a:avLst/>
          </a:prstGeom>
          <a:noFill/>
          <a:ln/>
        </p:spPr>
        <p:txBody>
          <a:bodyPr wrap="square" lIns="0" tIns="0" rIns="0" bIns="0" rtlCol="0" anchor="ctr"/>
          <a:lstStyle/>
          <a:p>
            <a:pPr marL="0" indent="0">
              <a:buNone/>
            </a:pPr>
            <a:r>
              <a:rPr lang="en-US" sz="1400" b="1" dirty="0">
                <a:solidFill>
                  <a:schemeClr val="accent2"/>
                </a:solidFill>
              </a:rPr>
              <a:t>25 min</a:t>
            </a:r>
            <a:endParaRPr lang="en-US" sz="1400" dirty="0"/>
          </a:p>
        </p:txBody>
      </p:sp>
      <p:sp>
        <p:nvSpPr>
          <p:cNvPr id="27" name="icon-dot"/>
          <p:cNvSpPr/>
          <p:nvPr/>
        </p:nvSpPr>
        <p:spPr>
          <a:xfrm>
            <a:off x="914400" y="4169664"/>
            <a:ext cx="502920" cy="502920"/>
          </a:xfrm>
          <a:prstGeom prst="ellipse">
            <a:avLst/>
          </a:prstGeom>
          <a:solidFill>
            <a:schemeClr val="tx2"/>
          </a:solidFill>
          <a:ln/>
        </p:spPr>
      </p:sp>
      <p:pic>
        <p:nvPicPr>
          <p:cNvPr id="28" name="icon-bell" descr="C:\Users\Akhilesh\AppData\Local\Temp\claude\C--Users-Akhilesh-Desktop-Claude-code-Happiest-Health\47a587f0-c947-456b-8324-0bf75adb31d4\scratchpad\deck\img\icons\bell.png"/>
          <p:cNvPicPr>
            <a:picLocks noChangeAspect="1"/>
          </p:cNvPicPr>
          <p:nvPr/>
        </p:nvPicPr>
        <p:blipFill>
          <a:blip r:embed="rId5"/>
          <a:stretch>
            <a:fillRect/>
          </a:stretch>
        </p:blipFill>
        <p:spPr>
          <a:xfrm>
            <a:off x="1025042" y="4280306"/>
            <a:ext cx="281635" cy="281635"/>
          </a:xfrm>
          <a:prstGeom prst="rect">
            <a:avLst/>
          </a:prstGeom>
        </p:spPr>
      </p:pic>
      <p:sp>
        <p:nvSpPr>
          <p:cNvPr id="29" name="Text 24"/>
          <p:cNvSpPr txBox="1"/>
          <p:nvPr/>
        </p:nvSpPr>
        <p:spPr>
          <a:xfrm>
            <a:off x="1600200" y="4105656"/>
            <a:ext cx="3520440" cy="640080"/>
          </a:xfrm>
          <a:prstGeom prst="rect">
            <a:avLst/>
          </a:prstGeom>
          <a:noFill/>
          <a:ln/>
        </p:spPr>
        <p:txBody>
          <a:bodyPr wrap="square" lIns="0" tIns="0" rIns="0" bIns="0" rtlCol="0" anchor="ctr"/>
          <a:lstStyle/>
          <a:p>
            <a:pPr marL="0" indent="0">
              <a:buNone/>
            </a:pPr>
            <a:r>
              <a:rPr lang="en-US" sz="1300" b="1" dirty="0">
                <a:solidFill>
                  <a:schemeClr val="tx1"/>
                </a:solidFill>
              </a:rPr>
              <a:t>Alerts per patient per day</a:t>
            </a:r>
            <a:endParaRPr lang="en-US" sz="1300" dirty="0"/>
          </a:p>
          <a:p>
            <a:pPr marL="0" indent="0">
              <a:buNone/>
            </a:pPr>
            <a:r>
              <a:rPr lang="en-US" sz="1100" dirty="0">
                <a:solidFill>
                  <a:schemeClr val="accent6"/>
                </a:solidFill>
              </a:rPr>
              <a:t>about one every two days</a:t>
            </a:r>
            <a:endParaRPr lang="en-US" sz="1300" dirty="0"/>
          </a:p>
        </p:txBody>
      </p:sp>
      <p:sp>
        <p:nvSpPr>
          <p:cNvPr id="30" name="track"/>
          <p:cNvSpPr/>
          <p:nvPr/>
        </p:nvSpPr>
        <p:spPr>
          <a:xfrm>
            <a:off x="5257800" y="4123944"/>
            <a:ext cx="5120640" cy="237744"/>
          </a:xfrm>
          <a:prstGeom prst="roundRect">
            <a:avLst>
              <a:gd name="adj" fmla="val 50000"/>
            </a:avLst>
          </a:prstGeom>
          <a:solidFill>
            <a:srgbClr val="EEF3F6"/>
          </a:solidFill>
          <a:ln/>
        </p:spPr>
      </p:sp>
      <p:sp>
        <p:nvSpPr>
          <p:cNvPr id="31" name="bar"/>
          <p:cNvSpPr/>
          <p:nvPr/>
        </p:nvSpPr>
        <p:spPr>
          <a:xfrm>
            <a:off x="5257800" y="4123944"/>
            <a:ext cx="2509114" cy="237744"/>
          </a:xfrm>
          <a:prstGeom prst="roundRect">
            <a:avLst>
              <a:gd name="adj" fmla="val 50000"/>
            </a:avLst>
          </a:prstGeom>
          <a:solidFill>
            <a:srgbClr val="0F766E"/>
          </a:solidFill>
          <a:ln/>
        </p:spPr>
      </p:sp>
      <p:sp>
        <p:nvSpPr>
          <p:cNvPr id="32" name="Text 27"/>
          <p:cNvSpPr txBox="1"/>
          <p:nvPr/>
        </p:nvSpPr>
        <p:spPr>
          <a:xfrm>
            <a:off x="10515600" y="4069080"/>
            <a:ext cx="914400" cy="347472"/>
          </a:xfrm>
          <a:prstGeom prst="rect">
            <a:avLst/>
          </a:prstGeom>
          <a:noFill/>
          <a:ln/>
        </p:spPr>
        <p:txBody>
          <a:bodyPr wrap="square" lIns="0" tIns="0" rIns="0" bIns="0" rtlCol="0" anchor="ctr"/>
          <a:lstStyle/>
          <a:p>
            <a:pPr marL="0" indent="0">
              <a:buNone/>
            </a:pPr>
            <a:r>
              <a:rPr lang="en-US" sz="1400" b="1" dirty="0">
                <a:solidFill>
                  <a:schemeClr val="accent1"/>
                </a:solidFill>
              </a:rPr>
              <a:t>0.49</a:t>
            </a:r>
            <a:endParaRPr lang="en-US" sz="1400" dirty="0"/>
          </a:p>
        </p:txBody>
      </p:sp>
      <p:sp>
        <p:nvSpPr>
          <p:cNvPr id="33" name="track"/>
          <p:cNvSpPr/>
          <p:nvPr/>
        </p:nvSpPr>
        <p:spPr>
          <a:xfrm>
            <a:off x="5257800" y="4453128"/>
            <a:ext cx="5120640" cy="237744"/>
          </a:xfrm>
          <a:prstGeom prst="roundRect">
            <a:avLst>
              <a:gd name="adj" fmla="val 50000"/>
            </a:avLst>
          </a:prstGeom>
          <a:solidFill>
            <a:srgbClr val="EEF3F6"/>
          </a:solidFill>
          <a:ln/>
        </p:spPr>
      </p:sp>
      <p:sp>
        <p:nvSpPr>
          <p:cNvPr id="34" name="bar"/>
          <p:cNvSpPr/>
          <p:nvPr/>
        </p:nvSpPr>
        <p:spPr>
          <a:xfrm>
            <a:off x="5257800" y="4453128"/>
            <a:ext cx="3123590" cy="237744"/>
          </a:xfrm>
          <a:prstGeom prst="roundRect">
            <a:avLst>
              <a:gd name="adj" fmla="val 50000"/>
            </a:avLst>
          </a:prstGeom>
          <a:solidFill>
            <a:srgbClr val="E8643A"/>
          </a:solidFill>
          <a:ln/>
        </p:spPr>
      </p:sp>
      <p:sp>
        <p:nvSpPr>
          <p:cNvPr id="35" name="Text 30"/>
          <p:cNvSpPr txBox="1"/>
          <p:nvPr/>
        </p:nvSpPr>
        <p:spPr>
          <a:xfrm>
            <a:off x="10515600" y="4398264"/>
            <a:ext cx="914400" cy="347472"/>
          </a:xfrm>
          <a:prstGeom prst="rect">
            <a:avLst/>
          </a:prstGeom>
          <a:noFill/>
          <a:ln/>
        </p:spPr>
        <p:txBody>
          <a:bodyPr wrap="square" lIns="0" tIns="0" rIns="0" bIns="0" rtlCol="0" anchor="ctr"/>
          <a:lstStyle/>
          <a:p>
            <a:pPr marL="0" indent="0">
              <a:buNone/>
            </a:pPr>
            <a:r>
              <a:rPr lang="en-US" sz="1400" b="1" dirty="0">
                <a:solidFill>
                  <a:schemeClr val="accent2"/>
                </a:solidFill>
              </a:rPr>
              <a:t>0.61</a:t>
            </a:r>
            <a:endParaRPr lang="en-US" sz="1400" dirty="0"/>
          </a:p>
        </p:txBody>
      </p:sp>
      <p:sp>
        <p:nvSpPr>
          <p:cNvPr id="36" name="icon-dot"/>
          <p:cNvSpPr/>
          <p:nvPr/>
        </p:nvSpPr>
        <p:spPr>
          <a:xfrm>
            <a:off x="914400" y="5065776"/>
            <a:ext cx="502920" cy="502920"/>
          </a:xfrm>
          <a:prstGeom prst="ellipse">
            <a:avLst/>
          </a:prstGeom>
          <a:solidFill>
            <a:schemeClr val="tx2"/>
          </a:solidFill>
          <a:ln/>
        </p:spPr>
      </p:sp>
      <p:pic>
        <p:nvPicPr>
          <p:cNvPr id="37" name="icon-check" descr="C:\Users\Akhilesh\AppData\Local\Temp\claude\C--Users-Akhilesh-Desktop-Claude-code-Happiest-Health\47a587f0-c947-456b-8324-0bf75adb31d4\scratchpad\deck\img\icons\check.png"/>
          <p:cNvPicPr>
            <a:picLocks noChangeAspect="1"/>
          </p:cNvPicPr>
          <p:nvPr/>
        </p:nvPicPr>
        <p:blipFill>
          <a:blip r:embed="rId6"/>
          <a:stretch>
            <a:fillRect/>
          </a:stretch>
        </p:blipFill>
        <p:spPr>
          <a:xfrm>
            <a:off x="1025042" y="5176418"/>
            <a:ext cx="281635" cy="281635"/>
          </a:xfrm>
          <a:prstGeom prst="rect">
            <a:avLst/>
          </a:prstGeom>
        </p:spPr>
      </p:pic>
      <p:sp>
        <p:nvSpPr>
          <p:cNvPr id="38" name="Text 32"/>
          <p:cNvSpPr txBox="1"/>
          <p:nvPr/>
        </p:nvSpPr>
        <p:spPr>
          <a:xfrm>
            <a:off x="1600200" y="5001768"/>
            <a:ext cx="3520440" cy="640080"/>
          </a:xfrm>
          <a:prstGeom prst="rect">
            <a:avLst/>
          </a:prstGeom>
          <a:noFill/>
          <a:ln/>
        </p:spPr>
        <p:txBody>
          <a:bodyPr wrap="square" lIns="0" tIns="0" rIns="0" bIns="0" rtlCol="0" anchor="ctr"/>
          <a:lstStyle/>
          <a:p>
            <a:pPr marL="0" indent="0">
              <a:buNone/>
            </a:pPr>
            <a:r>
              <a:rPr lang="en-US" sz="1300" b="1" dirty="0">
                <a:solidFill>
                  <a:schemeClr val="tx1"/>
                </a:solidFill>
              </a:rPr>
              <a:t>Alerts followed by a real low</a:t>
            </a:r>
            <a:endParaRPr lang="en-US" sz="1300" dirty="0"/>
          </a:p>
        </p:txBody>
      </p:sp>
      <p:sp>
        <p:nvSpPr>
          <p:cNvPr id="39" name="track"/>
          <p:cNvSpPr/>
          <p:nvPr/>
        </p:nvSpPr>
        <p:spPr>
          <a:xfrm>
            <a:off x="5257800" y="5020056"/>
            <a:ext cx="5120640" cy="237744"/>
          </a:xfrm>
          <a:prstGeom prst="roundRect">
            <a:avLst>
              <a:gd name="adj" fmla="val 50000"/>
            </a:avLst>
          </a:prstGeom>
          <a:solidFill>
            <a:srgbClr val="EEF3F6"/>
          </a:solidFill>
          <a:ln/>
        </p:spPr>
      </p:sp>
      <p:sp>
        <p:nvSpPr>
          <p:cNvPr id="40" name="bar"/>
          <p:cNvSpPr/>
          <p:nvPr/>
        </p:nvSpPr>
        <p:spPr>
          <a:xfrm>
            <a:off x="5257800" y="5020056"/>
            <a:ext cx="3379622" cy="237744"/>
          </a:xfrm>
          <a:prstGeom prst="roundRect">
            <a:avLst>
              <a:gd name="adj" fmla="val 50000"/>
            </a:avLst>
          </a:prstGeom>
          <a:solidFill>
            <a:srgbClr val="0F766E"/>
          </a:solidFill>
          <a:ln/>
        </p:spPr>
      </p:sp>
      <p:sp>
        <p:nvSpPr>
          <p:cNvPr id="41" name="Text 35"/>
          <p:cNvSpPr txBox="1"/>
          <p:nvPr/>
        </p:nvSpPr>
        <p:spPr>
          <a:xfrm>
            <a:off x="10515600" y="4965192"/>
            <a:ext cx="914400" cy="347472"/>
          </a:xfrm>
          <a:prstGeom prst="rect">
            <a:avLst/>
          </a:prstGeom>
          <a:noFill/>
          <a:ln/>
        </p:spPr>
        <p:txBody>
          <a:bodyPr wrap="square" lIns="0" tIns="0" rIns="0" bIns="0" rtlCol="0" anchor="ctr"/>
          <a:lstStyle/>
          <a:p>
            <a:pPr marL="0" indent="0">
              <a:buNone/>
            </a:pPr>
            <a:r>
              <a:rPr lang="en-US" sz="1400" b="1" dirty="0">
                <a:solidFill>
                  <a:schemeClr val="accent1"/>
                </a:solidFill>
              </a:rPr>
              <a:t>66%</a:t>
            </a:r>
            <a:endParaRPr lang="en-US" sz="1400" dirty="0"/>
          </a:p>
        </p:txBody>
      </p:sp>
      <p:sp>
        <p:nvSpPr>
          <p:cNvPr id="42" name="track"/>
          <p:cNvSpPr/>
          <p:nvPr/>
        </p:nvSpPr>
        <p:spPr>
          <a:xfrm>
            <a:off x="5257800" y="5349240"/>
            <a:ext cx="5120640" cy="237744"/>
          </a:xfrm>
          <a:prstGeom prst="roundRect">
            <a:avLst>
              <a:gd name="adj" fmla="val 50000"/>
            </a:avLst>
          </a:prstGeom>
          <a:solidFill>
            <a:srgbClr val="EEF3F6"/>
          </a:solidFill>
          <a:ln/>
        </p:spPr>
      </p:sp>
      <p:sp>
        <p:nvSpPr>
          <p:cNvPr id="43" name="bar"/>
          <p:cNvSpPr/>
          <p:nvPr/>
        </p:nvSpPr>
        <p:spPr>
          <a:xfrm>
            <a:off x="5257800" y="5349240"/>
            <a:ext cx="2253082" cy="237744"/>
          </a:xfrm>
          <a:prstGeom prst="roundRect">
            <a:avLst>
              <a:gd name="adj" fmla="val 50000"/>
            </a:avLst>
          </a:prstGeom>
          <a:solidFill>
            <a:srgbClr val="E8643A"/>
          </a:solidFill>
          <a:ln/>
        </p:spPr>
      </p:sp>
      <p:sp>
        <p:nvSpPr>
          <p:cNvPr id="44" name="Text 38"/>
          <p:cNvSpPr txBox="1"/>
          <p:nvPr/>
        </p:nvSpPr>
        <p:spPr>
          <a:xfrm>
            <a:off x="10515600" y="5294376"/>
            <a:ext cx="914400" cy="347472"/>
          </a:xfrm>
          <a:prstGeom prst="rect">
            <a:avLst/>
          </a:prstGeom>
          <a:noFill/>
          <a:ln/>
        </p:spPr>
        <p:txBody>
          <a:bodyPr wrap="square" lIns="0" tIns="0" rIns="0" bIns="0" rtlCol="0" anchor="ctr"/>
          <a:lstStyle/>
          <a:p>
            <a:pPr marL="0" indent="0">
              <a:buNone/>
            </a:pPr>
            <a:r>
              <a:rPr lang="en-US" sz="1400" b="1" dirty="0">
                <a:solidFill>
                  <a:schemeClr val="accent2"/>
                </a:solidFill>
              </a:rPr>
              <a:t>44%</a:t>
            </a:r>
            <a:endParaRPr lang="en-US" sz="1400" dirty="0"/>
          </a:p>
        </p:txBody>
      </p:sp>
      <p:sp>
        <p:nvSpPr>
          <p:cNvPr id="45" name="Text 39"/>
          <p:cNvSpPr txBox="1"/>
          <p:nvPr/>
        </p:nvSpPr>
        <p:spPr>
          <a:xfrm>
            <a:off x="914400" y="6035040"/>
            <a:ext cx="10362895" cy="320040"/>
          </a:xfrm>
          <a:prstGeom prst="rect">
            <a:avLst/>
          </a:prstGeom>
          <a:noFill/>
          <a:ln/>
        </p:spPr>
        <p:txBody>
          <a:bodyPr wrap="square" lIns="0" tIns="0" rIns="0" bIns="0" rtlCol="0" anchor="t"/>
          <a:lstStyle/>
          <a:p>
            <a:pPr marL="0" indent="0">
              <a:buNone/>
            </a:pPr>
            <a:r>
              <a:rPr lang="en-US" sz="1200" dirty="0">
                <a:solidFill>
                  <a:schemeClr val="accent6"/>
                </a:solidFill>
              </a:rPr>
              <a:t>Real lows arrive faster than simulated ones, so the synthetic figure is an upper bound. The real-patient numbers are the honest baseline to improve.</a:t>
            </a:r>
            <a:endParaRPr lang="en-US" sz="1200" dirty="0"/>
          </a:p>
        </p:txBody>
      </p:sp>
      <p:sp>
        <p:nvSpPr>
          <p:cNvPr id="46" name="Slide Number Placeholder 0"/>
          <p:cNvSpPr>
            <a:spLocks noGrp="1"/>
          </p:cNvSpPr>
          <p:nvPr>
            <p:ph type="sldNum" sz="quarter" idx="4294967295"/>
          </p:nvPr>
        </p:nvSpPr>
        <p:spPr>
          <a:xfrm>
            <a:off x="11140135" y="6446520"/>
            <a:ext cx="457200" cy="256032"/>
          </a:xfrm>
          <a:prstGeom prst="rect">
            <a:avLst/>
          </a:prstGeom>
          <a:extLst>
            <a:ext uri="{C572A759-6A51-4108-AA02-DFA0A04FC94B}">
              <ma14:wrappingTextBoxFlag xmlns:ma14="http://schemas.microsoft.com/office/mac/drawingml/2011/main" xmlns="" val="0"/>
            </a:ext>
          </a:extLst>
        </p:spPr>
        <p:txBody>
          <a:bodyPr/>
          <a:lstStyle>
            <a:lvl1pPr>
              <a:defRPr sz="900">
                <a:solidFill>
                  <a:schemeClr val="accent6"/>
                </a:solidFill>
              </a:defRPr>
            </a:lvl1pPr>
          </a:lstStyle>
          <a:p>
            <a:pPr algn="r"/>
            <a:fld id="{F7021451-1387-4CA6-816F-3879F97B5CBC}" type="slidenum">
              <a:rPr lang="en-US" b="0"/>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594360" y="292608"/>
            <a:ext cx="8229600" cy="256032"/>
          </a:xfrm>
          <a:prstGeom prst="rect">
            <a:avLst/>
          </a:prstGeom>
          <a:noFill/>
          <a:ln/>
        </p:spPr>
        <p:txBody>
          <a:bodyPr wrap="square" lIns="0" tIns="0" rIns="0" bIns="0" rtlCol="0" anchor="t"/>
          <a:lstStyle/>
          <a:p>
            <a:pPr marL="0" indent="0">
              <a:buNone/>
            </a:pPr>
            <a:r>
              <a:rPr lang="en-US" sz="1100" b="1" kern="0" spc="300" dirty="0">
                <a:solidFill>
                  <a:schemeClr val="accent1"/>
                </a:solidFill>
              </a:rPr>
              <a:t>08 · LIVE REPLAY</a:t>
            </a:r>
            <a:endParaRPr lang="en-US" sz="1100" dirty="0"/>
          </a:p>
        </p:txBody>
      </p:sp>
      <p:sp>
        <p:nvSpPr>
          <p:cNvPr id="3" name="Text 0"/>
          <p:cNvSpPr>
            <a:spLocks noGrp="1"/>
          </p:cNvSpPr>
          <p:nvPr>
            <p:ph type="title" idx="100" hasCustomPrompt="1"/>
          </p:nvPr>
        </p:nvSpPr>
        <p:spPr>
          <a:xfrm>
            <a:off x="594360" y="566928"/>
            <a:ext cx="11002975" cy="658368"/>
          </a:xfrm>
          <a:prstGeom prst="rect">
            <a:avLst/>
          </a:prstGeom>
          <a:noFill/>
          <a:ln/>
        </p:spPr>
        <p:txBody>
          <a:bodyPr wrap="square" lIns="0" tIns="0" rIns="0" bIns="0" rtlCol="0" anchor="ctr"/>
          <a:lstStyle/>
          <a:p>
            <a:pPr marL="0" indent="0" algn="l">
              <a:buNone/>
            </a:pPr>
            <a:r>
              <a:rPr lang="en-US" sz="3000" b="1" dirty="0">
                <a:solidFill>
                  <a:schemeClr val="tx2"/>
                </a:solidFill>
                <a:latin typeface="Georgia" pitchFamily="34" charset="0"/>
                <a:ea typeface="Georgia" pitchFamily="34" charset="-122"/>
                <a:cs typeface="Georgia" pitchFamily="34" charset="-120"/>
              </a:rPr>
              <a:t>The alert arrives 75 minutes before the low</a:t>
            </a:r>
            <a:endParaRPr lang="en-US" sz="3000" dirty="0"/>
          </a:p>
        </p:txBody>
      </p:sp>
      <p:sp>
        <p:nvSpPr>
          <p:cNvPr id="4" name="card"/>
          <p:cNvSpPr/>
          <p:nvPr/>
        </p:nvSpPr>
        <p:spPr>
          <a:xfrm>
            <a:off x="594360" y="1463040"/>
            <a:ext cx="8183880" cy="4526280"/>
          </a:xfrm>
          <a:prstGeom prst="roundRect">
            <a:avLst>
              <a:gd name="adj" fmla="val 2828"/>
            </a:avLst>
          </a:prstGeom>
          <a:solidFill>
            <a:schemeClr val="bg1"/>
          </a:solidFill>
          <a:ln/>
          <a:effectLst>
            <a:outerShdw blurRad="177800" dist="38100" dir="5400000" algn="bl" rotWithShape="0">
              <a:srgbClr val="0B2F3F">
                <a:alpha val="10000"/>
              </a:srgbClr>
            </a:outerShdw>
          </a:effectLst>
        </p:spPr>
      </p:sp>
      <p:pic>
        <p:nvPicPr>
          <p:cNvPr id="5" name="replay" descr="C:\Users\Akhilesh\AppData\Local\Temp\claude\C--Users-Akhilesh-Desktop-Claude-code-Happiest-Health\47a587f0-c947-456b-8324-0bf75adb31d4\scratchpad\deck\img\replay.png"/>
          <p:cNvPicPr>
            <a:picLocks noChangeAspect="1"/>
          </p:cNvPicPr>
          <p:nvPr/>
        </p:nvPicPr>
        <p:blipFill>
          <a:blip r:embed="rId3"/>
          <a:stretch>
            <a:fillRect/>
          </a:stretch>
        </p:blipFill>
        <p:spPr>
          <a:xfrm>
            <a:off x="722376" y="1591056"/>
            <a:ext cx="7927848" cy="4270248"/>
          </a:xfrm>
          <a:prstGeom prst="rect">
            <a:avLst/>
          </a:prstGeom>
        </p:spPr>
      </p:pic>
      <p:sp>
        <p:nvSpPr>
          <p:cNvPr id="6" name="card"/>
          <p:cNvSpPr/>
          <p:nvPr/>
        </p:nvSpPr>
        <p:spPr>
          <a:xfrm>
            <a:off x="9006840" y="1463040"/>
            <a:ext cx="2587752" cy="4526280"/>
          </a:xfrm>
          <a:prstGeom prst="roundRect">
            <a:avLst>
              <a:gd name="adj" fmla="val 4947"/>
            </a:avLst>
          </a:prstGeom>
          <a:solidFill>
            <a:schemeClr val="bg1"/>
          </a:solidFill>
          <a:ln/>
          <a:effectLst>
            <a:outerShdw blurRad="177800" dist="38100" dir="5400000" algn="bl" rotWithShape="0">
              <a:srgbClr val="0B2F3F">
                <a:alpha val="10000"/>
              </a:srgbClr>
            </a:outerShdw>
          </a:effectLst>
        </p:spPr>
      </p:sp>
      <p:sp>
        <p:nvSpPr>
          <p:cNvPr id="7" name="icon-dot"/>
          <p:cNvSpPr/>
          <p:nvPr/>
        </p:nvSpPr>
        <p:spPr>
          <a:xfrm>
            <a:off x="9281160" y="1737360"/>
            <a:ext cx="548640" cy="548640"/>
          </a:xfrm>
          <a:prstGeom prst="ellipse">
            <a:avLst/>
          </a:prstGeom>
          <a:solidFill>
            <a:schemeClr val="accent3"/>
          </a:solidFill>
          <a:ln/>
        </p:spPr>
      </p:sp>
      <p:pic>
        <p:nvPicPr>
          <p:cNvPr id="8" name="icon-bell" descr="C:\Users\Akhilesh\AppData\Local\Temp\claude\C--Users-Akhilesh-Desktop-Claude-code-Happiest-Health\47a587f0-c947-456b-8324-0bf75adb31d4\scratchpad\deck\img\icons\bell.png"/>
          <p:cNvPicPr>
            <a:picLocks noChangeAspect="1"/>
          </p:cNvPicPr>
          <p:nvPr/>
        </p:nvPicPr>
        <p:blipFill>
          <a:blip r:embed="rId4"/>
          <a:stretch>
            <a:fillRect/>
          </a:stretch>
        </p:blipFill>
        <p:spPr>
          <a:xfrm>
            <a:off x="9401861" y="1858061"/>
            <a:ext cx="307238" cy="307238"/>
          </a:xfrm>
          <a:prstGeom prst="rect">
            <a:avLst/>
          </a:prstGeom>
        </p:spPr>
      </p:pic>
      <p:sp>
        <p:nvSpPr>
          <p:cNvPr id="9" name="Text 5"/>
          <p:cNvSpPr txBox="1"/>
          <p:nvPr/>
        </p:nvSpPr>
        <p:spPr>
          <a:xfrm>
            <a:off x="9966960" y="1691640"/>
            <a:ext cx="1554480" cy="731520"/>
          </a:xfrm>
          <a:prstGeom prst="rect">
            <a:avLst/>
          </a:prstGeom>
          <a:noFill/>
          <a:ln/>
        </p:spPr>
        <p:txBody>
          <a:bodyPr wrap="square" lIns="0" tIns="0" rIns="0" bIns="0" rtlCol="0" anchor="t"/>
          <a:lstStyle/>
          <a:p>
            <a:pPr marL="0" indent="0">
              <a:buNone/>
            </a:pPr>
            <a:r>
              <a:rPr lang="en-US" sz="2400" b="1" dirty="0">
                <a:solidFill>
                  <a:schemeClr val="accent3"/>
                </a:solidFill>
              </a:rPr>
              <a:t>08:25</a:t>
            </a:r>
            <a:endParaRPr lang="en-US" sz="1200" dirty="0"/>
          </a:p>
          <a:p>
            <a:pPr marL="0" indent="0">
              <a:buNone/>
            </a:pPr>
            <a:r>
              <a:rPr lang="en-US" sz="1200" dirty="0">
                <a:solidFill>
                  <a:schemeClr val="tx1"/>
                </a:solidFill>
              </a:rPr>
              <a:t>Hypo alert at 70% risk</a:t>
            </a:r>
            <a:endParaRPr lang="en-US" sz="1200" dirty="0"/>
          </a:p>
        </p:txBody>
      </p:sp>
      <p:sp>
        <p:nvSpPr>
          <p:cNvPr id="10" name="Shape 6"/>
          <p:cNvSpPr/>
          <p:nvPr/>
        </p:nvSpPr>
        <p:spPr>
          <a:xfrm>
            <a:off x="9555480" y="2331720"/>
            <a:ext cx="0" cy="2148840"/>
          </a:xfrm>
          <a:prstGeom prst="line">
            <a:avLst/>
          </a:prstGeom>
          <a:noFill/>
          <a:ln w="25400">
            <a:solidFill>
              <a:srgbClr val="2A78D6"/>
            </a:solidFill>
            <a:prstDash val="dash"/>
          </a:ln>
        </p:spPr>
      </p:sp>
      <p:sp>
        <p:nvSpPr>
          <p:cNvPr id="11" name="pill"/>
          <p:cNvSpPr/>
          <p:nvPr/>
        </p:nvSpPr>
        <p:spPr>
          <a:xfrm>
            <a:off x="9692640" y="3200400"/>
            <a:ext cx="1691640" cy="365760"/>
          </a:xfrm>
          <a:prstGeom prst="roundRect">
            <a:avLst>
              <a:gd name="adj" fmla="val 50000"/>
            </a:avLst>
          </a:prstGeom>
          <a:solidFill>
            <a:srgbClr val="DCE9F8"/>
          </a:solidFill>
          <a:ln/>
        </p:spPr>
      </p:sp>
      <p:sp>
        <p:nvSpPr>
          <p:cNvPr id="12" name="Text 8"/>
          <p:cNvSpPr txBox="1"/>
          <p:nvPr/>
        </p:nvSpPr>
        <p:spPr>
          <a:xfrm>
            <a:off x="9692640" y="3200400"/>
            <a:ext cx="1691640" cy="365760"/>
          </a:xfrm>
          <a:prstGeom prst="rect">
            <a:avLst/>
          </a:prstGeom>
          <a:noFill/>
          <a:ln/>
        </p:spPr>
        <p:txBody>
          <a:bodyPr wrap="square" lIns="0" tIns="0" rIns="0" bIns="0" rtlCol="0" anchor="ctr"/>
          <a:lstStyle/>
          <a:p>
            <a:pPr marL="0" indent="0" algn="ctr">
              <a:buNone/>
            </a:pPr>
            <a:r>
              <a:rPr lang="en-US" sz="1200" b="1" dirty="0">
                <a:solidFill>
                  <a:schemeClr val="accent3"/>
                </a:solidFill>
              </a:rPr>
              <a:t>75 min warning</a:t>
            </a:r>
            <a:endParaRPr lang="en-US" sz="1200" dirty="0"/>
          </a:p>
        </p:txBody>
      </p:sp>
      <p:sp>
        <p:nvSpPr>
          <p:cNvPr id="13" name="Text 9"/>
          <p:cNvSpPr txBox="1"/>
          <p:nvPr/>
        </p:nvSpPr>
        <p:spPr>
          <a:xfrm>
            <a:off x="9692640" y="3657600"/>
            <a:ext cx="1783080" cy="777240"/>
          </a:xfrm>
          <a:prstGeom prst="rect">
            <a:avLst/>
          </a:prstGeom>
          <a:noFill/>
          <a:ln/>
        </p:spPr>
        <p:txBody>
          <a:bodyPr wrap="square" lIns="0" tIns="0" rIns="0" bIns="0" rtlCol="0" anchor="t"/>
          <a:lstStyle/>
          <a:p>
            <a:pPr marL="0" indent="0">
              <a:buNone/>
            </a:pPr>
            <a:r>
              <a:rPr lang="en-US" sz="1100" b="1" dirty="0">
                <a:solidFill>
                  <a:schemeClr val="accent6"/>
                </a:solidFill>
              </a:rPr>
              <a:t>Why: </a:t>
            </a:r>
            <a:r>
              <a:rPr lang="en-US" sz="1100" dirty="0">
                <a:solidFill>
                  <a:schemeClr val="accent6"/>
                </a:solidFill>
              </a:rPr>
              <a:t>sulfonylurea dose; glucose falling 0.9 mg/dL per minute</a:t>
            </a:r>
            <a:endParaRPr lang="en-US" sz="1100" dirty="0"/>
          </a:p>
        </p:txBody>
      </p:sp>
      <p:sp>
        <p:nvSpPr>
          <p:cNvPr id="14" name="icon-dot"/>
          <p:cNvSpPr/>
          <p:nvPr/>
        </p:nvSpPr>
        <p:spPr>
          <a:xfrm>
            <a:off x="9281160" y="4526280"/>
            <a:ext cx="548640" cy="548640"/>
          </a:xfrm>
          <a:prstGeom prst="ellipse">
            <a:avLst/>
          </a:prstGeom>
          <a:solidFill>
            <a:schemeClr val="accent2"/>
          </a:solidFill>
          <a:ln/>
        </p:spPr>
      </p:sp>
      <p:pic>
        <p:nvPicPr>
          <p:cNvPr id="15" name="icon-drop" descr="C:\Users\Akhilesh\AppData\Local\Temp\claude\C--Users-Akhilesh-Desktop-Claude-code-Happiest-Health\47a587f0-c947-456b-8324-0bf75adb31d4\scratchpad\deck\img\icons\drop.png"/>
          <p:cNvPicPr>
            <a:picLocks noChangeAspect="1"/>
          </p:cNvPicPr>
          <p:nvPr/>
        </p:nvPicPr>
        <p:blipFill>
          <a:blip r:embed="rId5"/>
          <a:stretch>
            <a:fillRect/>
          </a:stretch>
        </p:blipFill>
        <p:spPr>
          <a:xfrm>
            <a:off x="9401861" y="4646981"/>
            <a:ext cx="307238" cy="307238"/>
          </a:xfrm>
          <a:prstGeom prst="rect">
            <a:avLst/>
          </a:prstGeom>
        </p:spPr>
      </p:pic>
      <p:sp>
        <p:nvSpPr>
          <p:cNvPr id="16" name="Text 11"/>
          <p:cNvSpPr txBox="1"/>
          <p:nvPr/>
        </p:nvSpPr>
        <p:spPr>
          <a:xfrm>
            <a:off x="9966960" y="4480560"/>
            <a:ext cx="1554480" cy="731520"/>
          </a:xfrm>
          <a:prstGeom prst="rect">
            <a:avLst/>
          </a:prstGeom>
          <a:noFill/>
          <a:ln/>
        </p:spPr>
        <p:txBody>
          <a:bodyPr wrap="square" lIns="0" tIns="0" rIns="0" bIns="0" rtlCol="0" anchor="t"/>
          <a:lstStyle/>
          <a:p>
            <a:pPr marL="0" indent="0">
              <a:buNone/>
            </a:pPr>
            <a:r>
              <a:rPr lang="en-US" sz="2400" b="1" dirty="0">
                <a:solidFill>
                  <a:schemeClr val="accent2"/>
                </a:solidFill>
              </a:rPr>
              <a:t>09:40</a:t>
            </a:r>
            <a:endParaRPr lang="en-US" sz="1200" dirty="0"/>
          </a:p>
          <a:p>
            <a:pPr marL="0" indent="0">
              <a:buNone/>
            </a:pPr>
            <a:r>
              <a:rPr lang="en-US" sz="1200" dirty="0">
                <a:solidFill>
                  <a:schemeClr val="tx1"/>
                </a:solidFill>
              </a:rPr>
              <a:t>Glucose falls below 70</a:t>
            </a:r>
            <a:endParaRPr lang="en-US" sz="1200" dirty="0"/>
          </a:p>
        </p:txBody>
      </p:sp>
      <p:sp>
        <p:nvSpPr>
          <p:cNvPr id="17" name="Text 12"/>
          <p:cNvSpPr txBox="1"/>
          <p:nvPr/>
        </p:nvSpPr>
        <p:spPr>
          <a:xfrm>
            <a:off x="9281160" y="5349240"/>
            <a:ext cx="2148840" cy="548640"/>
          </a:xfrm>
          <a:prstGeom prst="rect">
            <a:avLst/>
          </a:prstGeom>
          <a:noFill/>
          <a:ln/>
        </p:spPr>
        <p:txBody>
          <a:bodyPr wrap="square" lIns="0" tIns="0" rIns="0" bIns="0" rtlCol="0" anchor="t"/>
          <a:lstStyle/>
          <a:p>
            <a:pPr marL="0" indent="0">
              <a:buNone/>
            </a:pPr>
            <a:r>
              <a:rPr lang="en-US" sz="1000" dirty="0">
                <a:solidFill>
                  <a:schemeClr val="accent6"/>
                </a:solidFill>
              </a:rPr>
              <a:t>Synthetic patient P0014. The model sees only data up to the moving line.</a:t>
            </a:r>
            <a:endParaRPr lang="en-US" sz="1000" dirty="0"/>
          </a:p>
        </p:txBody>
      </p:sp>
      <p:sp>
        <p:nvSpPr>
          <p:cNvPr id="25" name="Slide Number Placeholder 0"/>
          <p:cNvSpPr>
            <a:spLocks noGrp="1"/>
          </p:cNvSpPr>
          <p:nvPr>
            <p:ph type="sldNum" sz="quarter" idx="4294967295"/>
          </p:nvPr>
        </p:nvSpPr>
        <p:spPr>
          <a:xfrm>
            <a:off x="11140135" y="6446520"/>
            <a:ext cx="457200" cy="256032"/>
          </a:xfrm>
          <a:prstGeom prst="rect">
            <a:avLst/>
          </a:prstGeom>
          <a:extLst>
            <a:ext uri="{C572A759-6A51-4108-AA02-DFA0A04FC94B}">
              <ma14:wrappingTextBoxFlag xmlns:ma14="http://schemas.microsoft.com/office/mac/drawingml/2011/main" xmlns="" val="0"/>
            </a:ext>
          </a:extLst>
        </p:spPr>
        <p:txBody>
          <a:bodyPr/>
          <a:lstStyle>
            <a:lvl1pPr>
              <a:defRPr sz="900">
                <a:solidFill>
                  <a:schemeClr val="accent6"/>
                </a:solidFill>
              </a:defRPr>
            </a:lvl1pPr>
          </a:lstStyle>
          <a:p>
            <a:pPr algn="r"/>
            <a:fld id="{F7021451-1387-4CA6-816F-3879F97B5CBC}" type="slidenum">
              <a:rPr lang="en-US" b="0"/>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594360" y="292608"/>
            <a:ext cx="8229600" cy="256032"/>
          </a:xfrm>
          <a:prstGeom prst="rect">
            <a:avLst/>
          </a:prstGeom>
          <a:noFill/>
          <a:ln/>
        </p:spPr>
        <p:txBody>
          <a:bodyPr wrap="square" lIns="0" tIns="0" rIns="0" bIns="0" rtlCol="0" anchor="t"/>
          <a:lstStyle/>
          <a:p>
            <a:pPr marL="0" indent="0">
              <a:buNone/>
            </a:pPr>
            <a:r>
              <a:rPr lang="en-US" sz="1100" b="1" kern="0" spc="300" dirty="0">
                <a:solidFill>
                  <a:schemeClr val="accent1"/>
                </a:solidFill>
              </a:rPr>
              <a:t>09 · EXPLANATIONS</a:t>
            </a:r>
            <a:endParaRPr lang="en-US" sz="1100" dirty="0"/>
          </a:p>
        </p:txBody>
      </p:sp>
      <p:sp>
        <p:nvSpPr>
          <p:cNvPr id="3" name="Text 0"/>
          <p:cNvSpPr>
            <a:spLocks noGrp="1"/>
          </p:cNvSpPr>
          <p:nvPr>
            <p:ph type="title" idx="100" hasCustomPrompt="1"/>
          </p:nvPr>
        </p:nvSpPr>
        <p:spPr>
          <a:xfrm>
            <a:off x="594360" y="566928"/>
            <a:ext cx="11002975" cy="658368"/>
          </a:xfrm>
          <a:prstGeom prst="rect">
            <a:avLst/>
          </a:prstGeom>
          <a:noFill/>
          <a:ln/>
        </p:spPr>
        <p:txBody>
          <a:bodyPr wrap="square" lIns="0" tIns="0" rIns="0" bIns="0" rtlCol="0" anchor="ctr"/>
          <a:lstStyle/>
          <a:p>
            <a:pPr marL="0" indent="0" algn="l">
              <a:buNone/>
            </a:pPr>
            <a:r>
              <a:rPr lang="en-US" sz="3000" b="1" dirty="0">
                <a:solidFill>
                  <a:schemeClr val="tx2"/>
                </a:solidFill>
                <a:latin typeface="Georgia" pitchFamily="34" charset="0"/>
                <a:ea typeface="Georgia" pitchFamily="34" charset="-122"/>
                <a:cs typeface="Georgia" pitchFamily="34" charset="-120"/>
              </a:rPr>
              <a:t>Every alert explains itself</a:t>
            </a:r>
            <a:endParaRPr lang="en-US" sz="3000" dirty="0"/>
          </a:p>
        </p:txBody>
      </p:sp>
      <p:sp>
        <p:nvSpPr>
          <p:cNvPr id="4" name="card"/>
          <p:cNvSpPr/>
          <p:nvPr/>
        </p:nvSpPr>
        <p:spPr>
          <a:xfrm>
            <a:off x="594360" y="1463040"/>
            <a:ext cx="7223760" cy="3657600"/>
          </a:xfrm>
          <a:prstGeom prst="roundRect">
            <a:avLst>
              <a:gd name="adj" fmla="val 3500"/>
            </a:avLst>
          </a:prstGeom>
          <a:solidFill>
            <a:schemeClr val="bg1"/>
          </a:solidFill>
          <a:ln/>
          <a:effectLst>
            <a:outerShdw blurRad="177800" dist="38100" dir="5400000" algn="bl" rotWithShape="0">
              <a:srgbClr val="0B2F3F">
                <a:alpha val="10000"/>
              </a:srgbClr>
            </a:outerShdw>
          </a:effectLst>
        </p:spPr>
      </p:sp>
      <p:pic>
        <p:nvPicPr>
          <p:cNvPr id="5" name="drivers" descr="C:\Users\Akhilesh\AppData\Local\Temp\claude\C--Users-Akhilesh-Desktop-Claude-code-Happiest-Health\47a587f0-c947-456b-8324-0bf75adb31d4\scratchpad\deck\img\drivers.png"/>
          <p:cNvPicPr>
            <a:picLocks noChangeAspect="1"/>
          </p:cNvPicPr>
          <p:nvPr/>
        </p:nvPicPr>
        <p:blipFill>
          <a:blip r:embed="rId3"/>
          <a:stretch>
            <a:fillRect/>
          </a:stretch>
        </p:blipFill>
        <p:spPr>
          <a:xfrm>
            <a:off x="722376" y="1591056"/>
            <a:ext cx="6967728" cy="3401568"/>
          </a:xfrm>
          <a:prstGeom prst="rect">
            <a:avLst/>
          </a:prstGeom>
        </p:spPr>
      </p:pic>
      <p:sp>
        <p:nvSpPr>
          <p:cNvPr id="6" name="Text 3"/>
          <p:cNvSpPr txBox="1"/>
          <p:nvPr/>
        </p:nvSpPr>
        <p:spPr>
          <a:xfrm>
            <a:off x="594360" y="5303520"/>
            <a:ext cx="7223760" cy="548640"/>
          </a:xfrm>
          <a:prstGeom prst="rect">
            <a:avLst/>
          </a:prstGeom>
          <a:noFill/>
          <a:ln/>
        </p:spPr>
        <p:txBody>
          <a:bodyPr wrap="square" lIns="0" tIns="0" rIns="0" bIns="0" rtlCol="0" anchor="t"/>
          <a:lstStyle/>
          <a:p>
            <a:pPr marL="0" indent="0">
              <a:buNone/>
            </a:pPr>
            <a:r>
              <a:rPr lang="en-US" sz="1200" dirty="0">
                <a:solidFill>
                  <a:schemeClr val="accent6"/>
                </a:solidFill>
              </a:rPr>
              <a:t>Hypoglycaemia risk 95% for synthetic patient P0014: current glucose, the sulfonylurea dose and the time of day push it up.</a:t>
            </a:r>
            <a:endParaRPr lang="en-US" sz="1200" dirty="0"/>
          </a:p>
        </p:txBody>
      </p:sp>
      <p:sp>
        <p:nvSpPr>
          <p:cNvPr id="7" name="card"/>
          <p:cNvSpPr/>
          <p:nvPr/>
        </p:nvSpPr>
        <p:spPr>
          <a:xfrm>
            <a:off x="8092440" y="1463040"/>
            <a:ext cx="3502152" cy="4526280"/>
          </a:xfrm>
          <a:prstGeom prst="roundRect">
            <a:avLst>
              <a:gd name="adj" fmla="val 3655"/>
            </a:avLst>
          </a:prstGeom>
          <a:solidFill>
            <a:schemeClr val="bg1"/>
          </a:solidFill>
          <a:ln/>
          <a:effectLst>
            <a:outerShdw blurRad="177800" dist="38100" dir="5400000" algn="bl" rotWithShape="0">
              <a:srgbClr val="0B2F3F">
                <a:alpha val="10000"/>
              </a:srgbClr>
            </a:outerShdw>
          </a:effectLst>
        </p:spPr>
      </p:sp>
      <p:sp>
        <p:nvSpPr>
          <p:cNvPr id="8" name="Text 5"/>
          <p:cNvSpPr txBox="1"/>
          <p:nvPr/>
        </p:nvSpPr>
        <p:spPr>
          <a:xfrm>
            <a:off x="8412480" y="1691640"/>
            <a:ext cx="2926080" cy="384048"/>
          </a:xfrm>
          <a:prstGeom prst="rect">
            <a:avLst/>
          </a:prstGeom>
          <a:noFill/>
          <a:ln/>
        </p:spPr>
        <p:txBody>
          <a:bodyPr wrap="square" lIns="0" tIns="0" rIns="0" bIns="0" rtlCol="0" anchor="t"/>
          <a:lstStyle/>
          <a:p>
            <a:pPr marL="0" indent="0">
              <a:buNone/>
            </a:pPr>
            <a:r>
              <a:rPr lang="en-US" sz="1800" b="1" dirty="0">
                <a:solidFill>
                  <a:schemeClr val="tx2"/>
                </a:solidFill>
                <a:latin typeface="Georgia" pitchFamily="34" charset="0"/>
                <a:ea typeface="Georgia" pitchFamily="34" charset="-122"/>
                <a:cs typeface="Georgia" pitchFamily="34" charset="-120"/>
              </a:rPr>
              <a:t>TreeSHAP drivers</a:t>
            </a:r>
            <a:endParaRPr lang="en-US" sz="1800" dirty="0"/>
          </a:p>
        </p:txBody>
      </p:sp>
      <p:sp>
        <p:nvSpPr>
          <p:cNvPr id="9" name="icon-dot"/>
          <p:cNvSpPr/>
          <p:nvPr/>
        </p:nvSpPr>
        <p:spPr>
          <a:xfrm>
            <a:off x="8412480" y="2286000"/>
            <a:ext cx="438912" cy="438912"/>
          </a:xfrm>
          <a:prstGeom prst="ellipse">
            <a:avLst/>
          </a:prstGeom>
          <a:solidFill>
            <a:schemeClr val="accent1"/>
          </a:solidFill>
          <a:ln/>
        </p:spPr>
      </p:sp>
      <p:pic>
        <p:nvPicPr>
          <p:cNvPr id="10" name="icon-target" descr="C:\Users\Akhilesh\AppData\Local\Temp\claude\C--Users-Akhilesh-Desktop-Claude-code-Happiest-Health\47a587f0-c947-456b-8324-0bf75adb31d4\scratchpad\deck\img\icons\target.png"/>
          <p:cNvPicPr>
            <a:picLocks noChangeAspect="1"/>
          </p:cNvPicPr>
          <p:nvPr/>
        </p:nvPicPr>
        <p:blipFill>
          <a:blip r:embed="rId4"/>
          <a:stretch>
            <a:fillRect/>
          </a:stretch>
        </p:blipFill>
        <p:spPr>
          <a:xfrm>
            <a:off x="8509041" y="2382561"/>
            <a:ext cx="245791" cy="245791"/>
          </a:xfrm>
          <a:prstGeom prst="rect">
            <a:avLst/>
          </a:prstGeom>
        </p:spPr>
      </p:pic>
      <p:sp>
        <p:nvSpPr>
          <p:cNvPr id="11" name="Text 7"/>
          <p:cNvSpPr txBox="1"/>
          <p:nvPr/>
        </p:nvSpPr>
        <p:spPr>
          <a:xfrm>
            <a:off x="9006840" y="2240280"/>
            <a:ext cx="2377440" cy="685800"/>
          </a:xfrm>
          <a:prstGeom prst="rect">
            <a:avLst/>
          </a:prstGeom>
          <a:noFill/>
          <a:ln/>
        </p:spPr>
        <p:txBody>
          <a:bodyPr wrap="square" lIns="0" tIns="0" rIns="0" bIns="0" rtlCol="0" anchor="ctr"/>
          <a:lstStyle/>
          <a:p>
            <a:pPr marL="0" indent="0">
              <a:buNone/>
            </a:pPr>
            <a:r>
              <a:rPr lang="en-US" sz="1200" dirty="0">
                <a:solidFill>
                  <a:schemeClr val="tx1"/>
                </a:solidFill>
              </a:rPr>
              <a:t>Exact contribution of each input, for this patient at this moment</a:t>
            </a:r>
            <a:endParaRPr lang="en-US" sz="1200" dirty="0"/>
          </a:p>
        </p:txBody>
      </p:sp>
      <p:sp>
        <p:nvSpPr>
          <p:cNvPr id="12" name="icon-dot"/>
          <p:cNvSpPr/>
          <p:nvPr/>
        </p:nvSpPr>
        <p:spPr>
          <a:xfrm>
            <a:off x="8412480" y="3154680"/>
            <a:ext cx="438912" cy="438912"/>
          </a:xfrm>
          <a:prstGeom prst="ellipse">
            <a:avLst/>
          </a:prstGeom>
          <a:solidFill>
            <a:schemeClr val="accent1"/>
          </a:solidFill>
          <a:ln/>
        </p:spPr>
      </p:sp>
      <p:pic>
        <p:nvPicPr>
          <p:cNvPr id="13" name="icon-layers" descr="C:\Users\Akhilesh\AppData\Local\Temp\claude\C--Users-Akhilesh-Desktop-Claude-code-Happiest-Health\47a587f0-c947-456b-8324-0bf75adb31d4\scratchpad\deck\img\icons\layers.png"/>
          <p:cNvPicPr>
            <a:picLocks noChangeAspect="1"/>
          </p:cNvPicPr>
          <p:nvPr/>
        </p:nvPicPr>
        <p:blipFill>
          <a:blip r:embed="rId5"/>
          <a:stretch>
            <a:fillRect/>
          </a:stretch>
        </p:blipFill>
        <p:spPr>
          <a:xfrm>
            <a:off x="8509041" y="3251241"/>
            <a:ext cx="245791" cy="245791"/>
          </a:xfrm>
          <a:prstGeom prst="rect">
            <a:avLst/>
          </a:prstGeom>
        </p:spPr>
      </p:pic>
      <p:sp>
        <p:nvSpPr>
          <p:cNvPr id="14" name="Text 9"/>
          <p:cNvSpPr txBox="1"/>
          <p:nvPr/>
        </p:nvSpPr>
        <p:spPr>
          <a:xfrm>
            <a:off x="9006840" y="3108960"/>
            <a:ext cx="2377440" cy="685800"/>
          </a:xfrm>
          <a:prstGeom prst="rect">
            <a:avLst/>
          </a:prstGeom>
          <a:noFill/>
          <a:ln/>
        </p:spPr>
        <p:txBody>
          <a:bodyPr wrap="square" lIns="0" tIns="0" rIns="0" bIns="0" rtlCol="0" anchor="ctr"/>
          <a:lstStyle/>
          <a:p>
            <a:pPr marL="0" indent="0">
              <a:buNone/>
            </a:pPr>
            <a:r>
              <a:rPr lang="en-US" sz="1200" dirty="0">
                <a:solidFill>
                  <a:schemeClr val="tx1"/>
                </a:solidFill>
              </a:rPr>
              <a:t>Grouped by data stream: CGM, time, activity and sleep, EHR</a:t>
            </a:r>
            <a:endParaRPr lang="en-US" sz="1200" dirty="0"/>
          </a:p>
        </p:txBody>
      </p:sp>
      <p:sp>
        <p:nvSpPr>
          <p:cNvPr id="15" name="icon-dot"/>
          <p:cNvSpPr/>
          <p:nvPr/>
        </p:nvSpPr>
        <p:spPr>
          <a:xfrm>
            <a:off x="8412480" y="4023360"/>
            <a:ext cx="438912" cy="438912"/>
          </a:xfrm>
          <a:prstGeom prst="ellipse">
            <a:avLst/>
          </a:prstGeom>
          <a:solidFill>
            <a:schemeClr val="accent1"/>
          </a:solidFill>
          <a:ln/>
        </p:spPr>
      </p:sp>
      <p:pic>
        <p:nvPicPr>
          <p:cNvPr id="16" name="icon-message" descr="C:\Users\Akhilesh\AppData\Local\Temp\claude\C--Users-Akhilesh-Desktop-Claude-code-Happiest-Health\47a587f0-c947-456b-8324-0bf75adb31d4\scratchpad\deck\img\icons\message.png"/>
          <p:cNvPicPr>
            <a:picLocks noChangeAspect="1"/>
          </p:cNvPicPr>
          <p:nvPr/>
        </p:nvPicPr>
        <p:blipFill>
          <a:blip r:embed="rId6"/>
          <a:stretch>
            <a:fillRect/>
          </a:stretch>
        </p:blipFill>
        <p:spPr>
          <a:xfrm>
            <a:off x="8509041" y="4119921"/>
            <a:ext cx="245791" cy="245791"/>
          </a:xfrm>
          <a:prstGeom prst="rect">
            <a:avLst/>
          </a:prstGeom>
        </p:spPr>
      </p:pic>
      <p:sp>
        <p:nvSpPr>
          <p:cNvPr id="17" name="Text 11"/>
          <p:cNvSpPr txBox="1"/>
          <p:nvPr/>
        </p:nvSpPr>
        <p:spPr>
          <a:xfrm>
            <a:off x="9006840" y="3977640"/>
            <a:ext cx="2377440" cy="685800"/>
          </a:xfrm>
          <a:prstGeom prst="rect">
            <a:avLst/>
          </a:prstGeom>
          <a:noFill/>
          <a:ln/>
        </p:spPr>
        <p:txBody>
          <a:bodyPr wrap="square" lIns="0" tIns="0" rIns="0" bIns="0" rtlCol="0" anchor="ctr"/>
          <a:lstStyle/>
          <a:p>
            <a:pPr marL="0" indent="0">
              <a:buNone/>
            </a:pPr>
            <a:r>
              <a:rPr lang="en-US" sz="1200" dirty="0">
                <a:solidFill>
                  <a:schemeClr val="tx1"/>
                </a:solidFill>
              </a:rPr>
              <a:t>Written as plain sentences for the clinician</a:t>
            </a:r>
            <a:endParaRPr lang="en-US" sz="1200" dirty="0"/>
          </a:p>
        </p:txBody>
      </p:sp>
      <p:sp>
        <p:nvSpPr>
          <p:cNvPr id="18" name="icon-dot"/>
          <p:cNvSpPr/>
          <p:nvPr/>
        </p:nvSpPr>
        <p:spPr>
          <a:xfrm>
            <a:off x="8412480" y="4892040"/>
            <a:ext cx="438912" cy="438912"/>
          </a:xfrm>
          <a:prstGeom prst="ellipse">
            <a:avLst/>
          </a:prstGeom>
          <a:solidFill>
            <a:schemeClr val="accent2"/>
          </a:solidFill>
          <a:ln/>
        </p:spPr>
      </p:sp>
      <p:pic>
        <p:nvPicPr>
          <p:cNvPr id="19" name="icon-alert" descr="C:\Users\Akhilesh\AppData\Local\Temp\claude\C--Users-Akhilesh-Desktop-Claude-code-Happiest-Health\47a587f0-c947-456b-8324-0bf75adb31d4\scratchpad\deck\img\icons\alert.png"/>
          <p:cNvPicPr>
            <a:picLocks noChangeAspect="1"/>
          </p:cNvPicPr>
          <p:nvPr/>
        </p:nvPicPr>
        <p:blipFill>
          <a:blip r:embed="rId7"/>
          <a:stretch>
            <a:fillRect/>
          </a:stretch>
        </p:blipFill>
        <p:spPr>
          <a:xfrm>
            <a:off x="8509041" y="4988601"/>
            <a:ext cx="245791" cy="245791"/>
          </a:xfrm>
          <a:prstGeom prst="rect">
            <a:avLst/>
          </a:prstGeom>
        </p:spPr>
      </p:pic>
      <p:sp>
        <p:nvSpPr>
          <p:cNvPr id="20" name="Text 13"/>
          <p:cNvSpPr txBox="1"/>
          <p:nvPr/>
        </p:nvSpPr>
        <p:spPr>
          <a:xfrm>
            <a:off x="9006840" y="4846320"/>
            <a:ext cx="2377440" cy="685800"/>
          </a:xfrm>
          <a:prstGeom prst="rect">
            <a:avLst/>
          </a:prstGeom>
          <a:noFill/>
          <a:ln/>
        </p:spPr>
        <p:txBody>
          <a:bodyPr wrap="square" lIns="0" tIns="0" rIns="0" bIns="0" rtlCol="0" anchor="ctr"/>
          <a:lstStyle/>
          <a:p>
            <a:pPr marL="0" indent="0">
              <a:buNone/>
            </a:pPr>
            <a:r>
              <a:rPr lang="en-US" sz="1200" dirty="0">
                <a:solidFill>
                  <a:schemeClr val="tx1"/>
                </a:solidFill>
              </a:rPr>
              <a:t>They explain the model, not the physiology, and the dashboard says so</a:t>
            </a:r>
            <a:endParaRPr lang="en-US" sz="1200" dirty="0"/>
          </a:p>
        </p:txBody>
      </p:sp>
      <p:sp>
        <p:nvSpPr>
          <p:cNvPr id="25" name="Slide Number Placeholder 0"/>
          <p:cNvSpPr>
            <a:spLocks noGrp="1"/>
          </p:cNvSpPr>
          <p:nvPr>
            <p:ph type="sldNum" sz="quarter" idx="4294967295"/>
          </p:nvPr>
        </p:nvSpPr>
        <p:spPr>
          <a:xfrm>
            <a:off x="11140135" y="6446520"/>
            <a:ext cx="457200" cy="256032"/>
          </a:xfrm>
          <a:prstGeom prst="rect">
            <a:avLst/>
          </a:prstGeom>
          <a:extLst>
            <a:ext uri="{C572A759-6A51-4108-AA02-DFA0A04FC94B}">
              <ma14:wrappingTextBoxFlag xmlns:ma14="http://schemas.microsoft.com/office/mac/drawingml/2011/main" xmlns="" val="0"/>
            </a:ext>
          </a:extLst>
        </p:spPr>
        <p:txBody>
          <a:bodyPr/>
          <a:lstStyle>
            <a:lvl1pPr>
              <a:defRPr sz="900">
                <a:solidFill>
                  <a:schemeClr val="accent6"/>
                </a:solidFill>
              </a:defRPr>
            </a:lvl1pPr>
          </a:lstStyle>
          <a:p>
            <a:pPr algn="r"/>
            <a:fld id="{F7021451-1387-4CA6-816F-3879F97B5CBC}" type="slidenum">
              <a:rPr lang="en-US" b="0"/>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594360" y="292608"/>
            <a:ext cx="8229600" cy="256032"/>
          </a:xfrm>
          <a:prstGeom prst="rect">
            <a:avLst/>
          </a:prstGeom>
          <a:noFill/>
          <a:ln/>
        </p:spPr>
        <p:txBody>
          <a:bodyPr wrap="square" lIns="0" tIns="0" rIns="0" bIns="0" rtlCol="0" anchor="t"/>
          <a:lstStyle/>
          <a:p>
            <a:pPr marL="0" indent="0">
              <a:buNone/>
            </a:pPr>
            <a:r>
              <a:rPr lang="en-US" sz="1100" b="1" kern="0" spc="300" dirty="0">
                <a:solidFill>
                  <a:schemeClr val="accent1"/>
                </a:solidFill>
              </a:rPr>
              <a:t>10 · THE PERSONALISED TWIN</a:t>
            </a:r>
            <a:endParaRPr lang="en-US" sz="1100" dirty="0"/>
          </a:p>
        </p:txBody>
      </p:sp>
      <p:sp>
        <p:nvSpPr>
          <p:cNvPr id="3" name="Text 0"/>
          <p:cNvSpPr>
            <a:spLocks noGrp="1"/>
          </p:cNvSpPr>
          <p:nvPr>
            <p:ph type="title" idx="100" hasCustomPrompt="1"/>
          </p:nvPr>
        </p:nvSpPr>
        <p:spPr>
          <a:xfrm>
            <a:off x="594360" y="566928"/>
            <a:ext cx="11002975" cy="658368"/>
          </a:xfrm>
          <a:prstGeom prst="rect">
            <a:avLst/>
          </a:prstGeom>
          <a:noFill/>
          <a:ln/>
        </p:spPr>
        <p:txBody>
          <a:bodyPr wrap="square" lIns="0" tIns="0" rIns="0" bIns="0" rtlCol="0" anchor="ctr"/>
          <a:lstStyle/>
          <a:p>
            <a:pPr marL="0" indent="0" algn="l">
              <a:buNone/>
            </a:pPr>
            <a:r>
              <a:rPr lang="en-US" sz="3000" b="1" dirty="0">
                <a:solidFill>
                  <a:schemeClr val="tx2"/>
                </a:solidFill>
                <a:latin typeface="Georgia" pitchFamily="34" charset="0"/>
                <a:ea typeface="Georgia" pitchFamily="34" charset="-122"/>
                <a:cs typeface="Georgia" pitchFamily="34" charset="-120"/>
              </a:rPr>
              <a:t>Ask the twin 'what if?'</a:t>
            </a:r>
            <a:endParaRPr lang="en-US" sz="3000" dirty="0"/>
          </a:p>
        </p:txBody>
      </p:sp>
      <p:sp>
        <p:nvSpPr>
          <p:cNvPr id="4" name="card"/>
          <p:cNvSpPr/>
          <p:nvPr/>
        </p:nvSpPr>
        <p:spPr>
          <a:xfrm>
            <a:off x="594360" y="1463040"/>
            <a:ext cx="7589520" cy="3246120"/>
          </a:xfrm>
          <a:prstGeom prst="roundRect">
            <a:avLst>
              <a:gd name="adj" fmla="val 3944"/>
            </a:avLst>
          </a:prstGeom>
          <a:solidFill>
            <a:schemeClr val="bg1"/>
          </a:solidFill>
          <a:ln/>
          <a:effectLst>
            <a:outerShdw blurRad="177800" dist="38100" dir="5400000" algn="bl" rotWithShape="0">
              <a:srgbClr val="0B2F3F">
                <a:alpha val="10000"/>
              </a:srgbClr>
            </a:outerShdw>
          </a:effectLst>
        </p:spPr>
      </p:sp>
      <p:pic>
        <p:nvPicPr>
          <p:cNvPr id="5" name="whatif" descr="C:\Users\Akhilesh\AppData\Local\Temp\claude\C--Users-Akhilesh-Desktop-Claude-code-Happiest-Health\47a587f0-c947-456b-8324-0bf75adb31d4\scratchpad\deck\img\whatif.png"/>
          <p:cNvPicPr>
            <a:picLocks noChangeAspect="1"/>
          </p:cNvPicPr>
          <p:nvPr/>
        </p:nvPicPr>
        <p:blipFill>
          <a:blip r:embed="rId3"/>
          <a:stretch>
            <a:fillRect/>
          </a:stretch>
        </p:blipFill>
        <p:spPr>
          <a:xfrm>
            <a:off x="722376" y="1591056"/>
            <a:ext cx="7333488" cy="2990088"/>
          </a:xfrm>
          <a:prstGeom prst="rect">
            <a:avLst/>
          </a:prstGeom>
        </p:spPr>
      </p:pic>
      <p:sp>
        <p:nvSpPr>
          <p:cNvPr id="6" name="Text 3"/>
          <p:cNvSpPr txBox="1"/>
          <p:nvPr/>
        </p:nvSpPr>
        <p:spPr>
          <a:xfrm>
            <a:off x="594360" y="4892040"/>
            <a:ext cx="7589520" cy="1051560"/>
          </a:xfrm>
          <a:prstGeom prst="rect">
            <a:avLst/>
          </a:prstGeom>
          <a:noFill/>
          <a:ln/>
        </p:spPr>
        <p:txBody>
          <a:bodyPr wrap="square" lIns="0" tIns="0" rIns="0" bIns="0" rtlCol="0" anchor="t"/>
          <a:lstStyle/>
          <a:p>
            <a:pPr marL="0" indent="0">
              <a:buNone/>
            </a:pPr>
            <a:r>
              <a:rPr lang="en-US" sz="1300" b="1" dirty="0">
                <a:solidFill>
                  <a:schemeClr val="tx1"/>
                </a:solidFill>
              </a:rPr>
              <a:t>How it works: </a:t>
            </a:r>
            <a:r>
              <a:rPr lang="en-US" sz="1300" dirty="0">
                <a:solidFill>
                  <a:schemeClr val="tx1"/>
                </a:solidFill>
              </a:rPr>
              <a:t>four physiology parameters are fitted to the patient's first week (basal glucose, carb sensitivity, clearance, drug sensitivity); a state observer tracks the CGM up to now; scenarios are re-simulated with a calibrated band. Shown: an extra 8 U insulin dose pushes the projected low from 64 to 55 mg/dL.</a:t>
            </a:r>
            <a:endParaRPr lang="en-US" sz="1300" dirty="0"/>
          </a:p>
        </p:txBody>
      </p:sp>
      <p:sp>
        <p:nvSpPr>
          <p:cNvPr id="7" name="card"/>
          <p:cNvSpPr/>
          <p:nvPr/>
        </p:nvSpPr>
        <p:spPr>
          <a:xfrm>
            <a:off x="8458200" y="1463040"/>
            <a:ext cx="3136392" cy="2194560"/>
          </a:xfrm>
          <a:prstGeom prst="roundRect">
            <a:avLst>
              <a:gd name="adj" fmla="val 5833"/>
            </a:avLst>
          </a:prstGeom>
          <a:solidFill>
            <a:schemeClr val="bg1"/>
          </a:solidFill>
          <a:ln/>
          <a:effectLst>
            <a:outerShdw blurRad="177800" dist="38100" dir="5400000" algn="bl" rotWithShape="0">
              <a:srgbClr val="0B2F3F">
                <a:alpha val="10000"/>
              </a:srgbClr>
            </a:outerShdw>
          </a:effectLst>
        </p:spPr>
      </p:sp>
      <p:sp>
        <p:nvSpPr>
          <p:cNvPr id="8" name="icon-dot"/>
          <p:cNvSpPr/>
          <p:nvPr/>
        </p:nvSpPr>
        <p:spPr>
          <a:xfrm>
            <a:off x="8732520" y="1737360"/>
            <a:ext cx="502920" cy="502920"/>
          </a:xfrm>
          <a:prstGeom prst="ellipse">
            <a:avLst/>
          </a:prstGeom>
          <a:solidFill>
            <a:schemeClr val="accent1"/>
          </a:solidFill>
          <a:ln/>
        </p:spPr>
      </p:sp>
      <p:pic>
        <p:nvPicPr>
          <p:cNvPr id="9" name="icon-target" descr="C:\Users\Akhilesh\AppData\Local\Temp\claude\C--Users-Akhilesh-Desktop-Claude-code-Happiest-Health\47a587f0-c947-456b-8324-0bf75adb31d4\scratchpad\deck\img\icons\target.png"/>
          <p:cNvPicPr>
            <a:picLocks noChangeAspect="1"/>
          </p:cNvPicPr>
          <p:nvPr/>
        </p:nvPicPr>
        <p:blipFill>
          <a:blip r:embed="rId4"/>
          <a:stretch>
            <a:fillRect/>
          </a:stretch>
        </p:blipFill>
        <p:spPr>
          <a:xfrm>
            <a:off x="8843162" y="1848002"/>
            <a:ext cx="281635" cy="281635"/>
          </a:xfrm>
          <a:prstGeom prst="rect">
            <a:avLst/>
          </a:prstGeom>
        </p:spPr>
      </p:pic>
      <p:sp>
        <p:nvSpPr>
          <p:cNvPr id="10" name="Text 6"/>
          <p:cNvSpPr txBox="1"/>
          <p:nvPr/>
        </p:nvSpPr>
        <p:spPr>
          <a:xfrm>
            <a:off x="8732520" y="2286000"/>
            <a:ext cx="2743200" cy="640080"/>
          </a:xfrm>
          <a:prstGeom prst="rect">
            <a:avLst/>
          </a:prstGeom>
          <a:noFill/>
          <a:ln/>
        </p:spPr>
        <p:txBody>
          <a:bodyPr wrap="square" lIns="0" tIns="0" rIns="0" bIns="0" rtlCol="0" anchor="b"/>
          <a:lstStyle/>
          <a:p>
            <a:pPr marL="0" indent="0">
              <a:buNone/>
            </a:pPr>
            <a:r>
              <a:rPr lang="en-US" sz="3000" b="1" dirty="0">
                <a:solidFill>
                  <a:schemeClr val="accent1"/>
                </a:solidFill>
                <a:latin typeface="Georgia" pitchFamily="34" charset="0"/>
                <a:ea typeface="Georgia" pitchFamily="34" charset="-122"/>
                <a:cs typeface="Georgia" pitchFamily="34" charset="-120"/>
              </a:rPr>
              <a:t>5.9 vs 12.1</a:t>
            </a:r>
            <a:endParaRPr lang="en-US" sz="3000" dirty="0"/>
          </a:p>
        </p:txBody>
      </p:sp>
      <p:sp>
        <p:nvSpPr>
          <p:cNvPr id="11" name="Text 7"/>
          <p:cNvSpPr txBox="1"/>
          <p:nvPr/>
        </p:nvSpPr>
        <p:spPr>
          <a:xfrm>
            <a:off x="8732520" y="2971800"/>
            <a:ext cx="2651760" cy="594360"/>
          </a:xfrm>
          <a:prstGeom prst="rect">
            <a:avLst/>
          </a:prstGeom>
          <a:noFill/>
          <a:ln/>
        </p:spPr>
        <p:txBody>
          <a:bodyPr wrap="square" lIns="0" tIns="0" rIns="0" bIns="0" rtlCol="0" anchor="t"/>
          <a:lstStyle/>
          <a:p>
            <a:pPr marL="0" indent="0">
              <a:buNone/>
            </a:pPr>
            <a:r>
              <a:rPr lang="en-US" sz="1200" dirty="0">
                <a:solidFill>
                  <a:schemeClr val="accent6"/>
                </a:solidFill>
              </a:rPr>
              <a:t>mg/dL error on a held-out week: fitted twin vs EHR defaults</a:t>
            </a:r>
            <a:endParaRPr lang="en-US" sz="1200" dirty="0"/>
          </a:p>
        </p:txBody>
      </p:sp>
      <p:sp>
        <p:nvSpPr>
          <p:cNvPr id="12" name="card"/>
          <p:cNvSpPr/>
          <p:nvPr/>
        </p:nvSpPr>
        <p:spPr>
          <a:xfrm>
            <a:off x="8458200" y="3794760"/>
            <a:ext cx="3136392" cy="2194560"/>
          </a:xfrm>
          <a:prstGeom prst="roundRect">
            <a:avLst>
              <a:gd name="adj" fmla="val 5833"/>
            </a:avLst>
          </a:prstGeom>
          <a:solidFill>
            <a:schemeClr val="bg1"/>
          </a:solidFill>
          <a:ln/>
          <a:effectLst>
            <a:outerShdw blurRad="177800" dist="38100" dir="5400000" algn="bl" rotWithShape="0">
              <a:srgbClr val="0B2F3F">
                <a:alpha val="10000"/>
              </a:srgbClr>
            </a:outerShdw>
          </a:effectLst>
        </p:spPr>
      </p:sp>
      <p:sp>
        <p:nvSpPr>
          <p:cNvPr id="13" name="icon-dot"/>
          <p:cNvSpPr/>
          <p:nvPr/>
        </p:nvSpPr>
        <p:spPr>
          <a:xfrm>
            <a:off x="8732520" y="4069080"/>
            <a:ext cx="502920" cy="502920"/>
          </a:xfrm>
          <a:prstGeom prst="ellipse">
            <a:avLst/>
          </a:prstGeom>
          <a:solidFill>
            <a:schemeClr val="accent1"/>
          </a:solidFill>
          <a:ln/>
        </p:spPr>
      </p:sp>
      <p:pic>
        <p:nvPicPr>
          <p:cNvPr id="14" name="icon-gauge" descr="C:\Users\Akhilesh\AppData\Local\Temp\claude\C--Users-Akhilesh-Desktop-Claude-code-Happiest-Health\47a587f0-c947-456b-8324-0bf75adb31d4\scratchpad\deck\img\icons\gauge.png"/>
          <p:cNvPicPr>
            <a:picLocks noChangeAspect="1"/>
          </p:cNvPicPr>
          <p:nvPr/>
        </p:nvPicPr>
        <p:blipFill>
          <a:blip r:embed="rId5"/>
          <a:stretch>
            <a:fillRect/>
          </a:stretch>
        </p:blipFill>
        <p:spPr>
          <a:xfrm>
            <a:off x="8843162" y="4179722"/>
            <a:ext cx="281635" cy="281635"/>
          </a:xfrm>
          <a:prstGeom prst="rect">
            <a:avLst/>
          </a:prstGeom>
        </p:spPr>
      </p:pic>
      <p:sp>
        <p:nvSpPr>
          <p:cNvPr id="15" name="Text 10"/>
          <p:cNvSpPr txBox="1"/>
          <p:nvPr/>
        </p:nvSpPr>
        <p:spPr>
          <a:xfrm>
            <a:off x="8732520" y="4617720"/>
            <a:ext cx="2743200" cy="640080"/>
          </a:xfrm>
          <a:prstGeom prst="rect">
            <a:avLst/>
          </a:prstGeom>
          <a:noFill/>
          <a:ln/>
        </p:spPr>
        <p:txBody>
          <a:bodyPr wrap="square" lIns="0" tIns="0" rIns="0" bIns="0" rtlCol="0" anchor="b"/>
          <a:lstStyle/>
          <a:p>
            <a:pPr marL="0" indent="0">
              <a:buNone/>
            </a:pPr>
            <a:r>
              <a:rPr lang="en-US" sz="3000" b="1" dirty="0">
                <a:solidFill>
                  <a:schemeClr val="accent1"/>
                </a:solidFill>
                <a:latin typeface="Georgia" pitchFamily="34" charset="0"/>
                <a:ea typeface="Georgia" pitchFamily="34" charset="-122"/>
                <a:cs typeface="Georgia" pitchFamily="34" charset="-120"/>
              </a:rPr>
              <a:t>79%</a:t>
            </a:r>
            <a:endParaRPr lang="en-US" sz="3000" dirty="0"/>
          </a:p>
        </p:txBody>
      </p:sp>
      <p:sp>
        <p:nvSpPr>
          <p:cNvPr id="16" name="Text 11"/>
          <p:cNvSpPr txBox="1"/>
          <p:nvPr/>
        </p:nvSpPr>
        <p:spPr>
          <a:xfrm>
            <a:off x="8732520" y="5303520"/>
            <a:ext cx="2651760" cy="594360"/>
          </a:xfrm>
          <a:prstGeom prst="rect">
            <a:avLst/>
          </a:prstGeom>
          <a:noFill/>
          <a:ln/>
        </p:spPr>
        <p:txBody>
          <a:bodyPr wrap="square" lIns="0" tIns="0" rIns="0" bIns="0" rtlCol="0" anchor="t"/>
          <a:lstStyle/>
          <a:p>
            <a:pPr marL="0" indent="0">
              <a:buNone/>
            </a:pPr>
            <a:r>
              <a:rPr lang="en-US" sz="1200" dirty="0">
                <a:solidFill>
                  <a:schemeClr val="accent6"/>
                </a:solidFill>
              </a:rPr>
              <a:t>of readings inside the 80% band, on patients the band never saw</a:t>
            </a:r>
            <a:endParaRPr lang="en-US" sz="1200" dirty="0"/>
          </a:p>
        </p:txBody>
      </p:sp>
      <p:sp>
        <p:nvSpPr>
          <p:cNvPr id="25" name="Slide Number Placeholder 0"/>
          <p:cNvSpPr>
            <a:spLocks noGrp="1"/>
          </p:cNvSpPr>
          <p:nvPr>
            <p:ph type="sldNum" sz="quarter" idx="4294967295"/>
          </p:nvPr>
        </p:nvSpPr>
        <p:spPr>
          <a:xfrm>
            <a:off x="11140135" y="6446520"/>
            <a:ext cx="457200" cy="256032"/>
          </a:xfrm>
          <a:prstGeom prst="rect">
            <a:avLst/>
          </a:prstGeom>
          <a:extLst>
            <a:ext uri="{C572A759-6A51-4108-AA02-DFA0A04FC94B}">
              <ma14:wrappingTextBoxFlag xmlns:ma14="http://schemas.microsoft.com/office/mac/drawingml/2011/main" xmlns="" val="0"/>
            </a:ext>
          </a:extLst>
        </p:spPr>
        <p:txBody>
          <a:bodyPr/>
          <a:lstStyle>
            <a:lvl1pPr>
              <a:defRPr sz="900">
                <a:solidFill>
                  <a:schemeClr val="accent6"/>
                </a:solidFill>
              </a:defRPr>
            </a:lvl1pPr>
          </a:lstStyle>
          <a:p>
            <a:pPr algn="r"/>
            <a:fld id="{F7021451-1387-4CA6-816F-3879F97B5CBC}" type="slidenum">
              <a:rPr lang="en-US" b="0"/>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685800" y="1234440"/>
            <a:ext cx="5486400" cy="274320"/>
          </a:xfrm>
          <a:prstGeom prst="rect">
            <a:avLst/>
          </a:prstGeom>
          <a:noFill/>
          <a:ln/>
        </p:spPr>
        <p:txBody>
          <a:bodyPr wrap="square" lIns="0" tIns="0" rIns="0" bIns="0" rtlCol="0" anchor="t"/>
          <a:lstStyle/>
          <a:p>
            <a:pPr marL="0" indent="0">
              <a:buNone/>
            </a:pPr>
            <a:r>
              <a:rPr lang="en-US" sz="1100" b="1" kern="0" spc="300" dirty="0">
                <a:solidFill>
                  <a:schemeClr val="accent4"/>
                </a:solidFill>
              </a:rPr>
              <a:t>PART TWO</a:t>
            </a:r>
            <a:endParaRPr lang="en-US" sz="1100" dirty="0"/>
          </a:p>
        </p:txBody>
      </p:sp>
      <p:sp>
        <p:nvSpPr>
          <p:cNvPr id="3" name="Text 0"/>
          <p:cNvSpPr>
            <a:spLocks noGrp="1"/>
          </p:cNvSpPr>
          <p:nvPr>
            <p:ph type="title" idx="101" hasCustomPrompt="1"/>
          </p:nvPr>
        </p:nvSpPr>
        <p:spPr>
          <a:xfrm>
            <a:off x="685800" y="1600200"/>
            <a:ext cx="10058400" cy="1097280"/>
          </a:xfrm>
          <a:prstGeom prst="rect">
            <a:avLst/>
          </a:prstGeom>
          <a:noFill/>
          <a:ln/>
        </p:spPr>
        <p:txBody>
          <a:bodyPr wrap="square" lIns="0" tIns="0" rIns="0" bIns="0" rtlCol="0" anchor="b"/>
          <a:lstStyle/>
          <a:p>
            <a:pPr marL="0" indent="0" algn="l">
              <a:buNone/>
            </a:pPr>
            <a:r>
              <a:rPr lang="en-US" sz="4000" b="1" dirty="0">
                <a:solidFill>
                  <a:schemeClr val="bg1"/>
                </a:solidFill>
                <a:latin typeface="Georgia" pitchFamily="34" charset="0"/>
                <a:ea typeface="Georgia" pitchFamily="34" charset="-122"/>
                <a:cs typeface="Georgia" pitchFamily="34" charset="-120"/>
              </a:rPr>
              <a:t>Then we tested it on real people</a:t>
            </a:r>
            <a:endParaRPr lang="en-US" sz="4000" dirty="0"/>
          </a:p>
        </p:txBody>
      </p:sp>
      <p:sp>
        <p:nvSpPr>
          <p:cNvPr id="4" name="Text 0"/>
          <p:cNvSpPr>
            <a:spLocks noGrp="1"/>
          </p:cNvSpPr>
          <p:nvPr>
            <p:ph type="body" idx="102" hasCustomPrompt="1"/>
          </p:nvPr>
        </p:nvSpPr>
        <p:spPr>
          <a:xfrm>
            <a:off x="685800" y="2834640"/>
            <a:ext cx="9144000" cy="822960"/>
          </a:xfrm>
          <a:prstGeom prst="rect">
            <a:avLst/>
          </a:prstGeom>
          <a:noFill/>
          <a:ln/>
        </p:spPr>
        <p:txBody>
          <a:bodyPr wrap="square" lIns="0" tIns="0" rIns="0" bIns="0" rtlCol="0" anchor="t"/>
          <a:lstStyle/>
          <a:p>
            <a:pPr marL="0" indent="0" algn="l">
              <a:buNone/>
            </a:pPr>
            <a:r>
              <a:rPr lang="en-US" sz="1800" dirty="0">
                <a:solidFill>
                  <a:schemeClr val="bg2"/>
                </a:solidFill>
              </a:rPr>
              <a:t>Two public datasets of real patients. Both stay outside the repository.</a:t>
            </a:r>
            <a:endParaRPr lang="en-US" sz="1800" dirty="0"/>
          </a:p>
        </p:txBody>
      </p:sp>
      <p:sp>
        <p:nvSpPr>
          <p:cNvPr id="5" name="chip"/>
          <p:cNvSpPr/>
          <p:nvPr/>
        </p:nvSpPr>
        <p:spPr>
          <a:xfrm>
            <a:off x="685800" y="3520440"/>
            <a:ext cx="4114800" cy="566928"/>
          </a:xfrm>
          <a:prstGeom prst="roundRect">
            <a:avLst>
              <a:gd name="adj" fmla="val 50000"/>
            </a:avLst>
          </a:prstGeom>
          <a:solidFill>
            <a:srgbClr val="FFFFFF">
              <a:alpha val="12000"/>
            </a:srgbClr>
          </a:solidFill>
          <a:ln w="12700">
            <a:solidFill>
              <a:srgbClr val="FFFFFF">
                <a:alpha val="30000"/>
              </a:srgbClr>
            </a:solidFill>
            <a:prstDash val="solid"/>
          </a:ln>
        </p:spPr>
      </p:sp>
      <p:sp>
        <p:nvSpPr>
          <p:cNvPr id="6" name="icon-dot"/>
          <p:cNvSpPr/>
          <p:nvPr/>
        </p:nvSpPr>
        <p:spPr>
          <a:xfrm>
            <a:off x="777240" y="3575304"/>
            <a:ext cx="457200" cy="457200"/>
          </a:xfrm>
          <a:prstGeom prst="ellipse">
            <a:avLst/>
          </a:prstGeom>
          <a:solidFill>
            <a:schemeClr val="accent1"/>
          </a:solidFill>
          <a:ln/>
        </p:spPr>
      </p:sp>
      <p:pic>
        <p:nvPicPr>
          <p:cNvPr id="7" name="icon-pin" descr="C:\Users\Akhilesh\AppData\Local\Temp\claude\C--Users-Akhilesh-Desktop-Claude-code-Happiest-Health\47a587f0-c947-456b-8324-0bf75adb31d4\scratchpad\deck\img\icons\pin.png"/>
          <p:cNvPicPr>
            <a:picLocks noChangeAspect="1"/>
          </p:cNvPicPr>
          <p:nvPr/>
        </p:nvPicPr>
        <p:blipFill>
          <a:blip r:embed="rId3"/>
          <a:stretch>
            <a:fillRect/>
          </a:stretch>
        </p:blipFill>
        <p:spPr>
          <a:xfrm>
            <a:off x="877824" y="3675888"/>
            <a:ext cx="256032" cy="256032"/>
          </a:xfrm>
          <a:prstGeom prst="rect">
            <a:avLst/>
          </a:prstGeom>
        </p:spPr>
      </p:pic>
      <p:sp>
        <p:nvSpPr>
          <p:cNvPr id="8" name="Text 5"/>
          <p:cNvSpPr txBox="1"/>
          <p:nvPr/>
        </p:nvSpPr>
        <p:spPr>
          <a:xfrm>
            <a:off x="1371600" y="3520440"/>
            <a:ext cx="3291840" cy="566928"/>
          </a:xfrm>
          <a:prstGeom prst="rect">
            <a:avLst/>
          </a:prstGeom>
          <a:noFill/>
          <a:ln/>
        </p:spPr>
        <p:txBody>
          <a:bodyPr wrap="square" lIns="0" tIns="0" rIns="0" bIns="0" rtlCol="0" anchor="ctr"/>
          <a:lstStyle/>
          <a:p>
            <a:pPr marL="0" indent="0">
              <a:buNone/>
            </a:pPr>
            <a:r>
              <a:rPr lang="en-US" sz="1400" b="1" dirty="0">
                <a:solidFill>
                  <a:schemeClr val="bg1"/>
                </a:solidFill>
              </a:rPr>
              <a:t>CGMacros  ·  14 US adults with T2D</a:t>
            </a:r>
            <a:endParaRPr lang="en-US" sz="1400" dirty="0"/>
          </a:p>
        </p:txBody>
      </p:sp>
      <p:sp>
        <p:nvSpPr>
          <p:cNvPr id="9" name="chip"/>
          <p:cNvSpPr/>
          <p:nvPr/>
        </p:nvSpPr>
        <p:spPr>
          <a:xfrm>
            <a:off x="4983480" y="3520440"/>
            <a:ext cx="6035040" cy="566928"/>
          </a:xfrm>
          <a:prstGeom prst="roundRect">
            <a:avLst>
              <a:gd name="adj" fmla="val 50000"/>
            </a:avLst>
          </a:prstGeom>
          <a:solidFill>
            <a:srgbClr val="FFFFFF">
              <a:alpha val="12000"/>
            </a:srgbClr>
          </a:solidFill>
          <a:ln w="12700">
            <a:solidFill>
              <a:srgbClr val="FFFFFF">
                <a:alpha val="30000"/>
              </a:srgbClr>
            </a:solidFill>
            <a:prstDash val="solid"/>
          </a:ln>
        </p:spPr>
      </p:sp>
      <p:sp>
        <p:nvSpPr>
          <p:cNvPr id="10" name="icon-dot"/>
          <p:cNvSpPr/>
          <p:nvPr/>
        </p:nvSpPr>
        <p:spPr>
          <a:xfrm>
            <a:off x="5074920" y="3575304"/>
            <a:ext cx="457200" cy="457200"/>
          </a:xfrm>
          <a:prstGeom prst="ellipse">
            <a:avLst/>
          </a:prstGeom>
          <a:solidFill>
            <a:schemeClr val="accent1"/>
          </a:solidFill>
          <a:ln/>
        </p:spPr>
      </p:sp>
      <p:pic>
        <p:nvPicPr>
          <p:cNvPr id="11" name="icon-link" descr="C:\Users\Akhilesh\AppData\Local\Temp\claude\C--Users-Akhilesh-Desktop-Claude-code-Happiest-Health\47a587f0-c947-456b-8324-0bf75adb31d4\scratchpad\deck\img\icons\link.png"/>
          <p:cNvPicPr>
            <a:picLocks noChangeAspect="1"/>
          </p:cNvPicPr>
          <p:nvPr/>
        </p:nvPicPr>
        <p:blipFill>
          <a:blip r:embed="rId4"/>
          <a:stretch>
            <a:fillRect/>
          </a:stretch>
        </p:blipFill>
        <p:spPr>
          <a:xfrm>
            <a:off x="5175504" y="3675888"/>
            <a:ext cx="256032" cy="256032"/>
          </a:xfrm>
          <a:prstGeom prst="rect">
            <a:avLst/>
          </a:prstGeom>
        </p:spPr>
      </p:pic>
      <p:sp>
        <p:nvSpPr>
          <p:cNvPr id="12" name="Text 8"/>
          <p:cNvSpPr txBox="1"/>
          <p:nvPr/>
        </p:nvSpPr>
        <p:spPr>
          <a:xfrm>
            <a:off x="5669280" y="3520440"/>
            <a:ext cx="5212080" cy="566928"/>
          </a:xfrm>
          <a:prstGeom prst="rect">
            <a:avLst/>
          </a:prstGeom>
          <a:noFill/>
          <a:ln/>
        </p:spPr>
        <p:txBody>
          <a:bodyPr wrap="square" lIns="0" tIns="0" rIns="0" bIns="0" rtlCol="0" anchor="ctr"/>
          <a:lstStyle/>
          <a:p>
            <a:pPr marL="0" indent="0">
              <a:buNone/>
            </a:pPr>
            <a:r>
              <a:rPr lang="en-US" sz="1400" b="1" dirty="0">
                <a:solidFill>
                  <a:schemeClr val="bg1"/>
                </a:solidFill>
              </a:rPr>
              <a:t>ShanghaiT2DM  ·  100 patients, CGM + their own records</a:t>
            </a:r>
            <a:endParaRPr lang="en-US" sz="1400" dirty="0"/>
          </a:p>
        </p:txBody>
      </p:sp>
      <p:sp>
        <p:nvSpPr>
          <p:cNvPr id="25" name="Slide Number Placeholder 0"/>
          <p:cNvSpPr>
            <a:spLocks noGrp="1"/>
          </p:cNvSpPr>
          <p:nvPr>
            <p:ph type="sldNum" sz="quarter" idx="4294967295"/>
          </p:nvPr>
        </p:nvSpPr>
        <p:spPr>
          <a:xfrm>
            <a:off x="11185855"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4"/>
                </a:solidFill>
              </a:defRPr>
            </a:lvl1pPr>
          </a:lstStyle>
          <a:p>
            <a:pPr algn="r"/>
            <a:fld id="{F7021451-1387-4CA6-816F-3879F97B5CBC}" type="slidenum">
              <a:rPr lang="en-US" b="0"/>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594360" y="292608"/>
            <a:ext cx="8229600" cy="256032"/>
          </a:xfrm>
          <a:prstGeom prst="rect">
            <a:avLst/>
          </a:prstGeom>
          <a:noFill/>
          <a:ln/>
        </p:spPr>
        <p:txBody>
          <a:bodyPr wrap="square" lIns="0" tIns="0" rIns="0" bIns="0" rtlCol="0" anchor="t"/>
          <a:lstStyle/>
          <a:p>
            <a:pPr marL="0" indent="0">
              <a:buNone/>
            </a:pPr>
            <a:r>
              <a:rPr lang="en-US" sz="1100" b="1" kern="0" spc="300" dirty="0">
                <a:solidFill>
                  <a:schemeClr val="accent1"/>
                </a:solidFill>
              </a:rPr>
              <a:t>11 · REAL CGM</a:t>
            </a:r>
            <a:endParaRPr lang="en-US" sz="1100" dirty="0"/>
          </a:p>
        </p:txBody>
      </p:sp>
      <p:sp>
        <p:nvSpPr>
          <p:cNvPr id="3" name="Text 0"/>
          <p:cNvSpPr>
            <a:spLocks noGrp="1"/>
          </p:cNvSpPr>
          <p:nvPr>
            <p:ph type="title" idx="100" hasCustomPrompt="1"/>
          </p:nvPr>
        </p:nvSpPr>
        <p:spPr>
          <a:xfrm>
            <a:off x="594360" y="566928"/>
            <a:ext cx="11002975" cy="658368"/>
          </a:xfrm>
          <a:prstGeom prst="rect">
            <a:avLst/>
          </a:prstGeom>
          <a:noFill/>
          <a:ln/>
        </p:spPr>
        <p:txBody>
          <a:bodyPr wrap="square" lIns="0" tIns="0" rIns="0" bIns="0" rtlCol="0" anchor="ctr"/>
          <a:lstStyle/>
          <a:p>
            <a:pPr marL="0" indent="0" algn="l">
              <a:buNone/>
            </a:pPr>
            <a:r>
              <a:rPr lang="en-US" sz="3000" b="1" dirty="0">
                <a:solidFill>
                  <a:schemeClr val="tx2"/>
                </a:solidFill>
                <a:latin typeface="Georgia" pitchFamily="34" charset="0"/>
                <a:ea typeface="Georgia" pitchFamily="34" charset="-122"/>
                <a:cs typeface="Georgia" pitchFamily="34" charset="-120"/>
              </a:rPr>
              <a:t>Performance drops on real CGM, and we show it</a:t>
            </a:r>
            <a:endParaRPr lang="en-US" sz="3000" dirty="0"/>
          </a:p>
        </p:txBody>
      </p:sp>
      <p:sp>
        <p:nvSpPr>
          <p:cNvPr id="4" name="card"/>
          <p:cNvSpPr/>
          <p:nvPr/>
        </p:nvSpPr>
        <p:spPr>
          <a:xfrm>
            <a:off x="594360" y="1463040"/>
            <a:ext cx="4937760" cy="4526280"/>
          </a:xfrm>
          <a:prstGeom prst="roundRect">
            <a:avLst>
              <a:gd name="adj" fmla="val 2828"/>
            </a:avLst>
          </a:prstGeom>
          <a:solidFill>
            <a:schemeClr val="bg1"/>
          </a:solidFill>
          <a:ln/>
          <a:effectLst>
            <a:outerShdw blurRad="177800" dist="38100" dir="5400000" algn="bl" rotWithShape="0">
              <a:srgbClr val="0B2F3F">
                <a:alpha val="10000"/>
              </a:srgbClr>
            </a:outerShdw>
          </a:effectLst>
        </p:spPr>
      </p:sp>
      <p:sp>
        <p:nvSpPr>
          <p:cNvPr id="5" name="Text 3"/>
          <p:cNvSpPr txBox="1"/>
          <p:nvPr/>
        </p:nvSpPr>
        <p:spPr>
          <a:xfrm>
            <a:off x="914400" y="1645920"/>
            <a:ext cx="4389120" cy="384048"/>
          </a:xfrm>
          <a:prstGeom prst="rect">
            <a:avLst/>
          </a:prstGeom>
          <a:noFill/>
          <a:ln/>
        </p:spPr>
        <p:txBody>
          <a:bodyPr wrap="square" lIns="0" tIns="0" rIns="0" bIns="0" rtlCol="0" anchor="t"/>
          <a:lstStyle/>
          <a:p>
            <a:pPr marL="0" indent="0">
              <a:buNone/>
            </a:pPr>
            <a:r>
              <a:rPr lang="en-US" sz="1500" b="1" dirty="0">
                <a:solidFill>
                  <a:schemeClr val="tx2"/>
                </a:solidFill>
                <a:latin typeface="Georgia" pitchFamily="34" charset="0"/>
                <a:ea typeface="Georgia" pitchFamily="34" charset="-122"/>
                <a:cs typeface="Georgia" pitchFamily="34" charset="-120"/>
              </a:rPr>
              <a:t>Predicting highs: AUROC</a:t>
            </a:r>
            <a:endParaRPr lang="en-US" sz="1500" dirty="0"/>
          </a:p>
        </p:txBody>
      </p:sp>
      <p:sp>
        <p:nvSpPr>
          <p:cNvPr id="6" name="Text 4"/>
          <p:cNvSpPr txBox="1"/>
          <p:nvPr/>
        </p:nvSpPr>
        <p:spPr>
          <a:xfrm>
            <a:off x="914400" y="2011680"/>
            <a:ext cx="4389120" cy="274320"/>
          </a:xfrm>
          <a:prstGeom prst="rect">
            <a:avLst/>
          </a:prstGeom>
          <a:noFill/>
          <a:ln/>
        </p:spPr>
        <p:txBody>
          <a:bodyPr wrap="square" lIns="0" tIns="0" rIns="0" bIns="0" rtlCol="0" anchor="t"/>
          <a:lstStyle/>
          <a:p>
            <a:pPr marL="0" indent="0">
              <a:buNone/>
            </a:pPr>
            <a:r>
              <a:rPr lang="en-US" sz="1200" dirty="0">
                <a:solidFill>
                  <a:schemeClr val="accent6"/>
                </a:solidFill>
              </a:rPr>
              <a:t>CGMacros, 14 adults with T2D. 0.5 is chance.</a:t>
            </a:r>
            <a:endParaRPr lang="en-US" sz="1200" dirty="0"/>
          </a:p>
        </p:txBody>
      </p:sp>
      <p:graphicFrame>
        <p:nvGraphicFramePr>
          <p:cNvPr id="7" name="chart-cgmacros"/>
          <p:cNvGraphicFramePr/>
          <p:nvPr/>
        </p:nvGraphicFramePr>
        <p:xfrm>
          <a:off x="777240" y="2377440"/>
          <a:ext cx="4572000" cy="3520440"/>
        </p:xfrm>
        <a:graphic>
          <a:graphicData uri="http://schemas.openxmlformats.org/drawingml/2006/chart">
            <c:chart xmlns:c="http://schemas.openxmlformats.org/drawingml/2006/chart" xmlns:r="http://schemas.openxmlformats.org/officeDocument/2006/relationships" r:id="rId3"/>
          </a:graphicData>
        </a:graphic>
      </p:graphicFrame>
      <p:sp>
        <p:nvSpPr>
          <p:cNvPr id="8" name="card"/>
          <p:cNvSpPr/>
          <p:nvPr/>
        </p:nvSpPr>
        <p:spPr>
          <a:xfrm>
            <a:off x="5715000" y="1463040"/>
            <a:ext cx="3108960" cy="4526280"/>
          </a:xfrm>
          <a:prstGeom prst="roundRect">
            <a:avLst>
              <a:gd name="adj" fmla="val 4118"/>
            </a:avLst>
          </a:prstGeom>
          <a:solidFill>
            <a:schemeClr val="bg1"/>
          </a:solidFill>
          <a:ln/>
          <a:effectLst>
            <a:outerShdw blurRad="177800" dist="38100" dir="5400000" algn="bl" rotWithShape="0">
              <a:srgbClr val="0B2F3F">
                <a:alpha val="10000"/>
              </a:srgbClr>
            </a:outerShdw>
          </a:effectLst>
        </p:spPr>
      </p:sp>
      <p:sp>
        <p:nvSpPr>
          <p:cNvPr id="9" name="Text 6"/>
          <p:cNvSpPr txBox="1"/>
          <p:nvPr/>
        </p:nvSpPr>
        <p:spPr>
          <a:xfrm>
            <a:off x="6035040" y="1645920"/>
            <a:ext cx="2651760" cy="384048"/>
          </a:xfrm>
          <a:prstGeom prst="rect">
            <a:avLst/>
          </a:prstGeom>
          <a:noFill/>
          <a:ln/>
        </p:spPr>
        <p:txBody>
          <a:bodyPr wrap="square" lIns="0" tIns="0" rIns="0" bIns="0" rtlCol="0" anchor="t"/>
          <a:lstStyle/>
          <a:p>
            <a:pPr marL="0" indent="0">
              <a:buNone/>
            </a:pPr>
            <a:r>
              <a:rPr lang="en-US" sz="1500" b="1" dirty="0">
                <a:solidFill>
                  <a:schemeClr val="tx2"/>
                </a:solidFill>
                <a:latin typeface="Georgia" pitchFamily="34" charset="0"/>
                <a:ea typeface="Georgia" pitchFamily="34" charset="-122"/>
                <a:cs typeface="Georgia" pitchFamily="34" charset="-120"/>
              </a:rPr>
              <a:t>Calibration error</a:t>
            </a:r>
            <a:endParaRPr lang="en-US" sz="1500" dirty="0"/>
          </a:p>
        </p:txBody>
      </p:sp>
      <p:sp>
        <p:nvSpPr>
          <p:cNvPr id="10" name="Text 7"/>
          <p:cNvSpPr txBox="1"/>
          <p:nvPr/>
        </p:nvSpPr>
        <p:spPr>
          <a:xfrm>
            <a:off x="6035040" y="2011680"/>
            <a:ext cx="2651760" cy="274320"/>
          </a:xfrm>
          <a:prstGeom prst="rect">
            <a:avLst/>
          </a:prstGeom>
          <a:noFill/>
          <a:ln/>
        </p:spPr>
        <p:txBody>
          <a:bodyPr wrap="square" lIns="0" tIns="0" rIns="0" bIns="0" rtlCol="0" anchor="t"/>
          <a:lstStyle/>
          <a:p>
            <a:pPr marL="0" indent="0">
              <a:buNone/>
            </a:pPr>
            <a:r>
              <a:rPr lang="en-US" sz="1200" dirty="0">
                <a:solidFill>
                  <a:schemeClr val="accent6"/>
                </a:solidFill>
              </a:rPr>
              <a:t>Lower is better</a:t>
            </a:r>
            <a:endParaRPr lang="en-US" sz="1200" dirty="0"/>
          </a:p>
        </p:txBody>
      </p:sp>
      <p:graphicFrame>
        <p:nvGraphicFramePr>
          <p:cNvPr id="11" name="chart-recal"/>
          <p:cNvGraphicFramePr/>
          <p:nvPr/>
        </p:nvGraphicFramePr>
        <p:xfrm>
          <a:off x="5852160" y="2377440"/>
          <a:ext cx="2834640" cy="3520440"/>
        </p:xfrm>
        <a:graphic>
          <a:graphicData uri="http://schemas.openxmlformats.org/drawingml/2006/chart">
            <c:chart xmlns:c="http://schemas.openxmlformats.org/drawingml/2006/chart" xmlns:r="http://schemas.openxmlformats.org/officeDocument/2006/relationships" r:id="rId4"/>
          </a:graphicData>
        </a:graphic>
      </p:graphicFrame>
      <p:sp>
        <p:nvSpPr>
          <p:cNvPr id="12" name="card"/>
          <p:cNvSpPr/>
          <p:nvPr/>
        </p:nvSpPr>
        <p:spPr>
          <a:xfrm>
            <a:off x="9006840" y="1463040"/>
            <a:ext cx="2587752" cy="4526280"/>
          </a:xfrm>
          <a:prstGeom prst="roundRect">
            <a:avLst>
              <a:gd name="adj" fmla="val 4947"/>
            </a:avLst>
          </a:prstGeom>
          <a:solidFill>
            <a:schemeClr val="tx2"/>
          </a:solidFill>
          <a:ln/>
          <a:effectLst>
            <a:outerShdw blurRad="177800" dist="38100" dir="5400000" algn="bl" rotWithShape="0">
              <a:srgbClr val="0B2F3F">
                <a:alpha val="10000"/>
              </a:srgbClr>
            </a:outerShdw>
          </a:effectLst>
        </p:spPr>
      </p:sp>
      <p:sp>
        <p:nvSpPr>
          <p:cNvPr id="13" name="icon-dot"/>
          <p:cNvSpPr/>
          <p:nvPr/>
        </p:nvSpPr>
        <p:spPr>
          <a:xfrm>
            <a:off x="9281160" y="1737360"/>
            <a:ext cx="502920" cy="502920"/>
          </a:xfrm>
          <a:prstGeom prst="ellipse">
            <a:avLst/>
          </a:prstGeom>
          <a:solidFill>
            <a:schemeClr val="accent2"/>
          </a:solidFill>
          <a:ln/>
        </p:spPr>
      </p:sp>
      <p:pic>
        <p:nvPicPr>
          <p:cNvPr id="14" name="icon-alert" descr="C:\Users\Akhilesh\AppData\Local\Temp\claude\C--Users-Akhilesh-Desktop-Claude-code-Happiest-Health\47a587f0-c947-456b-8324-0bf75adb31d4\scratchpad\deck\img\icons\alert.png"/>
          <p:cNvPicPr>
            <a:picLocks noChangeAspect="1"/>
          </p:cNvPicPr>
          <p:nvPr/>
        </p:nvPicPr>
        <p:blipFill>
          <a:blip r:embed="rId5"/>
          <a:stretch>
            <a:fillRect/>
          </a:stretch>
        </p:blipFill>
        <p:spPr>
          <a:xfrm>
            <a:off x="9391802" y="1848002"/>
            <a:ext cx="281635" cy="281635"/>
          </a:xfrm>
          <a:prstGeom prst="rect">
            <a:avLst/>
          </a:prstGeom>
        </p:spPr>
      </p:pic>
      <p:sp>
        <p:nvSpPr>
          <p:cNvPr id="15" name="Text 10"/>
          <p:cNvSpPr txBox="1"/>
          <p:nvPr/>
        </p:nvSpPr>
        <p:spPr>
          <a:xfrm>
            <a:off x="9281160" y="2377440"/>
            <a:ext cx="2103120" cy="1463040"/>
          </a:xfrm>
          <a:prstGeom prst="rect">
            <a:avLst/>
          </a:prstGeom>
          <a:noFill/>
          <a:ln/>
        </p:spPr>
        <p:txBody>
          <a:bodyPr wrap="square" lIns="0" tIns="0" rIns="0" bIns="0" rtlCol="0" anchor="t"/>
          <a:lstStyle/>
          <a:p>
            <a:pPr marL="0" indent="0">
              <a:buNone/>
            </a:pPr>
            <a:r>
              <a:rPr lang="en-US" sz="1500" b="1" dirty="0">
                <a:solidFill>
                  <a:schemeClr val="bg1"/>
                </a:solidFill>
              </a:rPr>
              <a:t>Honest gap</a:t>
            </a:r>
            <a:endParaRPr lang="en-US" sz="1200" dirty="0"/>
          </a:p>
          <a:p>
            <a:pPr marL="0" indent="0">
              <a:buNone/>
            </a:pPr>
            <a:r>
              <a:rPr lang="en-US" sz="1200" dirty="0">
                <a:solidFill>
                  <a:schemeClr val="bg2"/>
                </a:solidFill>
              </a:rPr>
              <a:t>Real lows fall about twice as fast as simulated ones, and real swings are bigger</a:t>
            </a:r>
            <a:endParaRPr lang="en-US" sz="1200" dirty="0"/>
          </a:p>
        </p:txBody>
      </p:sp>
      <p:sp>
        <p:nvSpPr>
          <p:cNvPr id="16" name="icon-dot"/>
          <p:cNvSpPr/>
          <p:nvPr/>
        </p:nvSpPr>
        <p:spPr>
          <a:xfrm>
            <a:off x="9281160" y="3931920"/>
            <a:ext cx="502920" cy="502920"/>
          </a:xfrm>
          <a:prstGeom prst="ellipse">
            <a:avLst/>
          </a:prstGeom>
          <a:solidFill>
            <a:schemeClr val="accent4"/>
          </a:solidFill>
          <a:ln/>
        </p:spPr>
      </p:sp>
      <p:pic>
        <p:nvPicPr>
          <p:cNvPr id="17" name="icon-sliders" descr="C:\Users\Akhilesh\AppData\Local\Temp\claude\C--Users-Akhilesh-Desktop-Claude-code-Happiest-Health\47a587f0-c947-456b-8324-0bf75adb31d4\scratchpad\deck\img\icons\sliders.png"/>
          <p:cNvPicPr>
            <a:picLocks noChangeAspect="1"/>
          </p:cNvPicPr>
          <p:nvPr/>
        </p:nvPicPr>
        <p:blipFill>
          <a:blip r:embed="rId6"/>
          <a:stretch>
            <a:fillRect/>
          </a:stretch>
        </p:blipFill>
        <p:spPr>
          <a:xfrm>
            <a:off x="9391802" y="4042562"/>
            <a:ext cx="281635" cy="281635"/>
          </a:xfrm>
          <a:prstGeom prst="rect">
            <a:avLst/>
          </a:prstGeom>
        </p:spPr>
      </p:pic>
      <p:sp>
        <p:nvSpPr>
          <p:cNvPr id="18" name="Text 12"/>
          <p:cNvSpPr txBox="1"/>
          <p:nvPr/>
        </p:nvSpPr>
        <p:spPr>
          <a:xfrm>
            <a:off x="9281160" y="4572000"/>
            <a:ext cx="2103120" cy="1325880"/>
          </a:xfrm>
          <a:prstGeom prst="rect">
            <a:avLst/>
          </a:prstGeom>
          <a:noFill/>
          <a:ln/>
        </p:spPr>
        <p:txBody>
          <a:bodyPr wrap="square" lIns="0" tIns="0" rIns="0" bIns="0" rtlCol="0" anchor="t"/>
          <a:lstStyle/>
          <a:p>
            <a:pPr marL="0" indent="0">
              <a:buNone/>
            </a:pPr>
            <a:r>
              <a:rPr lang="en-US" sz="1500" b="1" dirty="0">
                <a:solidFill>
                  <a:schemeClr val="bg1"/>
                </a:solidFill>
              </a:rPr>
              <a:t>Fixable</a:t>
            </a:r>
            <a:endParaRPr lang="en-US" sz="1200" dirty="0"/>
          </a:p>
          <a:p>
            <a:pPr marL="0" indent="0">
              <a:buNone/>
            </a:pPr>
            <a:r>
              <a:rPr lang="en-US" sz="1200" dirty="0">
                <a:solidFill>
                  <a:schemeClr val="bg2"/>
                </a:solidFill>
              </a:rPr>
              <a:t>Recalibrating on other real patients makes the probabilities trustworthy, without retraining</a:t>
            </a:r>
            <a:endParaRPr lang="en-US" sz="1200" dirty="0"/>
          </a:p>
        </p:txBody>
      </p:sp>
      <p:sp>
        <p:nvSpPr>
          <p:cNvPr id="25" name="Slide Number Placeholder 0"/>
          <p:cNvSpPr>
            <a:spLocks noGrp="1"/>
          </p:cNvSpPr>
          <p:nvPr>
            <p:ph type="sldNum" sz="quarter" idx="4294967295"/>
          </p:nvPr>
        </p:nvSpPr>
        <p:spPr>
          <a:xfrm>
            <a:off x="11140135" y="6446520"/>
            <a:ext cx="457200" cy="256032"/>
          </a:xfrm>
          <a:prstGeom prst="rect">
            <a:avLst/>
          </a:prstGeom>
          <a:extLst>
            <a:ext uri="{C572A759-6A51-4108-AA02-DFA0A04FC94B}">
              <ma14:wrappingTextBoxFlag xmlns:ma14="http://schemas.microsoft.com/office/mac/drawingml/2011/main" xmlns="" val="0"/>
            </a:ext>
          </a:extLst>
        </p:spPr>
        <p:txBody>
          <a:bodyPr/>
          <a:lstStyle>
            <a:lvl1pPr>
              <a:defRPr sz="900">
                <a:solidFill>
                  <a:schemeClr val="accent6"/>
                </a:solidFill>
              </a:defRPr>
            </a:lvl1pPr>
          </a:lstStyle>
          <a:p>
            <a:pPr algn="r"/>
            <a:fld id="{F7021451-1387-4CA6-816F-3879F97B5CBC}" type="slidenum">
              <a:rPr lang="en-US" b="0"/>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594360" y="292608"/>
            <a:ext cx="8229600" cy="256032"/>
          </a:xfrm>
          <a:prstGeom prst="rect">
            <a:avLst/>
          </a:prstGeom>
          <a:noFill/>
          <a:ln/>
        </p:spPr>
        <p:txBody>
          <a:bodyPr wrap="square" lIns="0" tIns="0" rIns="0" bIns="0" rtlCol="0" anchor="t"/>
          <a:lstStyle/>
          <a:p>
            <a:pPr marL="0" indent="0">
              <a:buNone/>
            </a:pPr>
            <a:r>
              <a:rPr lang="en-US" sz="1100" b="1" kern="0" spc="300" dirty="0">
                <a:solidFill>
                  <a:schemeClr val="accent1"/>
                </a:solidFill>
              </a:rPr>
              <a:t>12 · REAL LINKED RECORDS</a:t>
            </a:r>
            <a:endParaRPr lang="en-US" sz="1100" dirty="0"/>
          </a:p>
        </p:txBody>
      </p:sp>
      <p:sp>
        <p:nvSpPr>
          <p:cNvPr id="3" name="Text 0"/>
          <p:cNvSpPr>
            <a:spLocks noGrp="1"/>
          </p:cNvSpPr>
          <p:nvPr>
            <p:ph type="title" idx="100" hasCustomPrompt="1"/>
          </p:nvPr>
        </p:nvSpPr>
        <p:spPr>
          <a:xfrm>
            <a:off x="594360" y="566928"/>
            <a:ext cx="11002975" cy="658368"/>
          </a:xfrm>
          <a:prstGeom prst="rect">
            <a:avLst/>
          </a:prstGeom>
          <a:noFill/>
          <a:ln/>
        </p:spPr>
        <p:txBody>
          <a:bodyPr wrap="square" lIns="0" tIns="0" rIns="0" bIns="0" rtlCol="0" anchor="ctr"/>
          <a:lstStyle/>
          <a:p>
            <a:pPr marL="0" indent="0" algn="l">
              <a:buNone/>
            </a:pPr>
            <a:r>
              <a:rPr lang="en-US" sz="3000" b="1" dirty="0">
                <a:solidFill>
                  <a:schemeClr val="tx2"/>
                </a:solidFill>
                <a:latin typeface="Georgia" pitchFamily="34" charset="0"/>
                <a:ea typeface="Georgia" pitchFamily="34" charset="-122"/>
                <a:cs typeface="Georgia" pitchFamily="34" charset="-120"/>
              </a:rPr>
              <a:t>The CGM model predicts real lows well</a:t>
            </a:r>
            <a:endParaRPr lang="en-US" sz="3000" dirty="0"/>
          </a:p>
        </p:txBody>
      </p:sp>
      <p:sp>
        <p:nvSpPr>
          <p:cNvPr id="4" name="card"/>
          <p:cNvSpPr/>
          <p:nvPr/>
        </p:nvSpPr>
        <p:spPr>
          <a:xfrm>
            <a:off x="594360" y="1463040"/>
            <a:ext cx="7086600" cy="4526280"/>
          </a:xfrm>
          <a:prstGeom prst="roundRect">
            <a:avLst>
              <a:gd name="adj" fmla="val 2828"/>
            </a:avLst>
          </a:prstGeom>
          <a:solidFill>
            <a:schemeClr val="bg1"/>
          </a:solidFill>
          <a:ln/>
          <a:effectLst>
            <a:outerShdw blurRad="177800" dist="38100" dir="5400000" algn="bl" rotWithShape="0">
              <a:srgbClr val="0B2F3F">
                <a:alpha val="10000"/>
              </a:srgbClr>
            </a:outerShdw>
          </a:effectLst>
        </p:spPr>
      </p:sp>
      <p:sp>
        <p:nvSpPr>
          <p:cNvPr id="5" name="Text 3"/>
          <p:cNvSpPr txBox="1"/>
          <p:nvPr/>
        </p:nvSpPr>
        <p:spPr>
          <a:xfrm>
            <a:off x="914400" y="1645920"/>
            <a:ext cx="6400800" cy="384048"/>
          </a:xfrm>
          <a:prstGeom prst="rect">
            <a:avLst/>
          </a:prstGeom>
          <a:noFill/>
          <a:ln/>
        </p:spPr>
        <p:txBody>
          <a:bodyPr wrap="square" lIns="0" tIns="0" rIns="0" bIns="0" rtlCol="0" anchor="t"/>
          <a:lstStyle/>
          <a:p>
            <a:pPr marL="0" indent="0">
              <a:buNone/>
            </a:pPr>
            <a:r>
              <a:rPr lang="en-US" sz="1500" b="1" dirty="0">
                <a:solidFill>
                  <a:schemeClr val="tx2"/>
                </a:solidFill>
                <a:latin typeface="Georgia" pitchFamily="34" charset="0"/>
                <a:ea typeface="Georgia" pitchFamily="34" charset="-122"/>
                <a:cs typeface="Georgia" pitchFamily="34" charset="-120"/>
              </a:rPr>
              <a:t>Predicting real lows: AUPRC</a:t>
            </a:r>
            <a:endParaRPr lang="en-US" sz="1500" dirty="0"/>
          </a:p>
        </p:txBody>
      </p:sp>
      <p:sp>
        <p:nvSpPr>
          <p:cNvPr id="6" name="Text 4"/>
          <p:cNvSpPr txBox="1"/>
          <p:nvPr/>
        </p:nvSpPr>
        <p:spPr>
          <a:xfrm>
            <a:off x="914400" y="2011680"/>
            <a:ext cx="6400800" cy="274320"/>
          </a:xfrm>
          <a:prstGeom prst="rect">
            <a:avLst/>
          </a:prstGeom>
          <a:noFill/>
          <a:ln/>
        </p:spPr>
        <p:txBody>
          <a:bodyPr wrap="square" lIns="0" tIns="0" rIns="0" bIns="0" rtlCol="0" anchor="t"/>
          <a:lstStyle/>
          <a:p>
            <a:pPr marL="0" indent="0">
              <a:buNone/>
            </a:pPr>
            <a:r>
              <a:rPr lang="en-US" sz="1200" dirty="0">
                <a:solidFill>
                  <a:schemeClr val="accent6"/>
                </a:solidFill>
              </a:rPr>
              <a:t>ShanghaiT2DM, 100 patients, patient-grouped cross-validation. Chance is 0.027.</a:t>
            </a:r>
            <a:endParaRPr lang="en-US" sz="1200" dirty="0"/>
          </a:p>
        </p:txBody>
      </p:sp>
      <p:graphicFrame>
        <p:nvGraphicFramePr>
          <p:cNvPr id="7" name="chart-shanghai"/>
          <p:cNvGraphicFramePr/>
          <p:nvPr/>
        </p:nvGraphicFramePr>
        <p:xfrm>
          <a:off x="777240" y="2331720"/>
          <a:ext cx="6720840" cy="3566160"/>
        </p:xfrm>
        <a:graphic>
          <a:graphicData uri="http://schemas.openxmlformats.org/drawingml/2006/chart">
            <c:chart xmlns:c="http://schemas.openxmlformats.org/drawingml/2006/chart" xmlns:r="http://schemas.openxmlformats.org/officeDocument/2006/relationships" r:id="rId3"/>
          </a:graphicData>
        </a:graphic>
      </p:graphicFrame>
      <p:sp>
        <p:nvSpPr>
          <p:cNvPr id="8" name="card"/>
          <p:cNvSpPr/>
          <p:nvPr/>
        </p:nvSpPr>
        <p:spPr>
          <a:xfrm>
            <a:off x="7863840" y="1463040"/>
            <a:ext cx="3730752" cy="1371600"/>
          </a:xfrm>
          <a:prstGeom prst="roundRect">
            <a:avLst>
              <a:gd name="adj" fmla="val 9333"/>
            </a:avLst>
          </a:prstGeom>
          <a:solidFill>
            <a:schemeClr val="bg1"/>
          </a:solidFill>
          <a:ln/>
          <a:effectLst>
            <a:outerShdw blurRad="177800" dist="38100" dir="5400000" algn="bl" rotWithShape="0">
              <a:srgbClr val="0B2F3F">
                <a:alpha val="10000"/>
              </a:srgbClr>
            </a:outerShdw>
          </a:effectLst>
        </p:spPr>
      </p:sp>
      <p:sp>
        <p:nvSpPr>
          <p:cNvPr id="9" name="icon-dot"/>
          <p:cNvSpPr/>
          <p:nvPr/>
        </p:nvSpPr>
        <p:spPr>
          <a:xfrm>
            <a:off x="8092440" y="1874520"/>
            <a:ext cx="548640" cy="548640"/>
          </a:xfrm>
          <a:prstGeom prst="ellipse">
            <a:avLst/>
          </a:prstGeom>
          <a:solidFill>
            <a:schemeClr val="accent1"/>
          </a:solidFill>
          <a:ln/>
        </p:spPr>
      </p:sp>
      <p:pic>
        <p:nvPicPr>
          <p:cNvPr id="10" name="icon-badge" descr="C:\Users\Akhilesh\AppData\Local\Temp\claude\C--Users-Akhilesh-Desktop-Claude-code-Happiest-Health\47a587f0-c947-456b-8324-0bf75adb31d4\scratchpad\deck\img\icons\badge.png"/>
          <p:cNvPicPr>
            <a:picLocks noChangeAspect="1"/>
          </p:cNvPicPr>
          <p:nvPr/>
        </p:nvPicPr>
        <p:blipFill>
          <a:blip r:embed="rId4"/>
          <a:stretch>
            <a:fillRect/>
          </a:stretch>
        </p:blipFill>
        <p:spPr>
          <a:xfrm>
            <a:off x="8213141" y="1995221"/>
            <a:ext cx="307238" cy="307238"/>
          </a:xfrm>
          <a:prstGeom prst="rect">
            <a:avLst/>
          </a:prstGeom>
        </p:spPr>
      </p:pic>
      <p:sp>
        <p:nvSpPr>
          <p:cNvPr id="11" name="Text 7"/>
          <p:cNvSpPr txBox="1"/>
          <p:nvPr/>
        </p:nvSpPr>
        <p:spPr>
          <a:xfrm>
            <a:off x="8778240" y="1627632"/>
            <a:ext cx="2651760" cy="548640"/>
          </a:xfrm>
          <a:prstGeom prst="rect">
            <a:avLst/>
          </a:prstGeom>
          <a:noFill/>
          <a:ln/>
        </p:spPr>
        <p:txBody>
          <a:bodyPr wrap="square" lIns="0" tIns="0" rIns="0" bIns="0" rtlCol="0" anchor="b"/>
          <a:lstStyle/>
          <a:p>
            <a:pPr marL="0" indent="0">
              <a:buNone/>
            </a:pPr>
            <a:r>
              <a:rPr lang="en-US" sz="2600" b="1" dirty="0">
                <a:solidFill>
                  <a:schemeClr val="accent1"/>
                </a:solidFill>
                <a:latin typeface="Georgia" pitchFamily="34" charset="0"/>
                <a:ea typeface="Georgia" pitchFamily="34" charset="-122"/>
                <a:cs typeface="Georgia" pitchFamily="34" charset="-120"/>
              </a:rPr>
              <a:t>0.89</a:t>
            </a:r>
            <a:endParaRPr lang="en-US" sz="2600" dirty="0"/>
          </a:p>
        </p:txBody>
      </p:sp>
      <p:sp>
        <p:nvSpPr>
          <p:cNvPr id="12" name="Text 8"/>
          <p:cNvSpPr txBox="1"/>
          <p:nvPr/>
        </p:nvSpPr>
        <p:spPr>
          <a:xfrm>
            <a:off x="8778240" y="2212848"/>
            <a:ext cx="2697480" cy="548640"/>
          </a:xfrm>
          <a:prstGeom prst="rect">
            <a:avLst/>
          </a:prstGeom>
          <a:noFill/>
          <a:ln/>
        </p:spPr>
        <p:txBody>
          <a:bodyPr wrap="square" lIns="0" tIns="0" rIns="0" bIns="0" rtlCol="0" anchor="t"/>
          <a:lstStyle/>
          <a:p>
            <a:pPr marL="0" indent="0">
              <a:buNone/>
            </a:pPr>
            <a:r>
              <a:rPr lang="en-US" sz="1100" dirty="0">
                <a:solidFill>
                  <a:schemeClr val="accent6"/>
                </a:solidFill>
              </a:rPr>
              <a:t>AUROC for real lows; 0.91 at night; well calibrated</a:t>
            </a:r>
            <a:endParaRPr lang="en-US" sz="1100" dirty="0"/>
          </a:p>
        </p:txBody>
      </p:sp>
      <p:sp>
        <p:nvSpPr>
          <p:cNvPr id="13" name="card"/>
          <p:cNvSpPr/>
          <p:nvPr/>
        </p:nvSpPr>
        <p:spPr>
          <a:xfrm>
            <a:off x="7863840" y="2999232"/>
            <a:ext cx="3730752" cy="1371600"/>
          </a:xfrm>
          <a:prstGeom prst="roundRect">
            <a:avLst>
              <a:gd name="adj" fmla="val 9333"/>
            </a:avLst>
          </a:prstGeom>
          <a:solidFill>
            <a:schemeClr val="bg1"/>
          </a:solidFill>
          <a:ln/>
          <a:effectLst>
            <a:outerShdw blurRad="177800" dist="38100" dir="5400000" algn="bl" rotWithShape="0">
              <a:srgbClr val="0B2F3F">
                <a:alpha val="10000"/>
              </a:srgbClr>
            </a:outerShdw>
          </a:effectLst>
        </p:spPr>
      </p:sp>
      <p:sp>
        <p:nvSpPr>
          <p:cNvPr id="14" name="icon-dot"/>
          <p:cNvSpPr/>
          <p:nvPr/>
        </p:nvSpPr>
        <p:spPr>
          <a:xfrm>
            <a:off x="8092440" y="3410712"/>
            <a:ext cx="548640" cy="548640"/>
          </a:xfrm>
          <a:prstGeom prst="ellipse">
            <a:avLst/>
          </a:prstGeom>
          <a:solidFill>
            <a:schemeClr val="accent1"/>
          </a:solidFill>
          <a:ln/>
        </p:spPr>
      </p:sp>
      <p:pic>
        <p:nvPicPr>
          <p:cNvPr id="15" name="icon-trend" descr="C:\Users\Akhilesh\AppData\Local\Temp\claude\C--Users-Akhilesh-Desktop-Claude-code-Happiest-Health\47a587f0-c947-456b-8324-0bf75adb31d4\scratchpad\deck\img\icons\trend.png"/>
          <p:cNvPicPr>
            <a:picLocks noChangeAspect="1"/>
          </p:cNvPicPr>
          <p:nvPr/>
        </p:nvPicPr>
        <p:blipFill>
          <a:blip r:embed="rId5"/>
          <a:stretch>
            <a:fillRect/>
          </a:stretch>
        </p:blipFill>
        <p:spPr>
          <a:xfrm>
            <a:off x="8213141" y="3531413"/>
            <a:ext cx="307238" cy="307238"/>
          </a:xfrm>
          <a:prstGeom prst="rect">
            <a:avLst/>
          </a:prstGeom>
        </p:spPr>
      </p:pic>
      <p:sp>
        <p:nvSpPr>
          <p:cNvPr id="16" name="Text 11"/>
          <p:cNvSpPr txBox="1"/>
          <p:nvPr/>
        </p:nvSpPr>
        <p:spPr>
          <a:xfrm>
            <a:off x="8778240" y="3163824"/>
            <a:ext cx="2651760" cy="548640"/>
          </a:xfrm>
          <a:prstGeom prst="rect">
            <a:avLst/>
          </a:prstGeom>
          <a:noFill/>
          <a:ln/>
        </p:spPr>
        <p:txBody>
          <a:bodyPr wrap="square" lIns="0" tIns="0" rIns="0" bIns="0" rtlCol="0" anchor="b"/>
          <a:lstStyle/>
          <a:p>
            <a:pPr marL="0" indent="0">
              <a:buNone/>
            </a:pPr>
            <a:r>
              <a:rPr lang="en-US" sz="2600" b="1" dirty="0">
                <a:solidFill>
                  <a:schemeClr val="accent1"/>
                </a:solidFill>
                <a:latin typeface="Georgia" pitchFamily="34" charset="0"/>
                <a:ea typeface="Georgia" pitchFamily="34" charset="-122"/>
                <a:cs typeface="Georgia" pitchFamily="34" charset="-120"/>
              </a:rPr>
              <a:t>+0.07</a:t>
            </a:r>
            <a:endParaRPr lang="en-US" sz="2600" dirty="0"/>
          </a:p>
        </p:txBody>
      </p:sp>
      <p:sp>
        <p:nvSpPr>
          <p:cNvPr id="17" name="Text 12"/>
          <p:cNvSpPr txBox="1"/>
          <p:nvPr/>
        </p:nvSpPr>
        <p:spPr>
          <a:xfrm>
            <a:off x="8778240" y="3749040"/>
            <a:ext cx="2697480" cy="548640"/>
          </a:xfrm>
          <a:prstGeom prst="rect">
            <a:avLst/>
          </a:prstGeom>
          <a:noFill/>
          <a:ln/>
        </p:spPr>
        <p:txBody>
          <a:bodyPr wrap="square" lIns="0" tIns="0" rIns="0" bIns="0" rtlCol="0" anchor="t"/>
          <a:lstStyle/>
          <a:p>
            <a:pPr marL="0" indent="0">
              <a:buNone/>
            </a:pPr>
            <a:r>
              <a:rPr lang="en-US" sz="1100" dirty="0">
                <a:solidFill>
                  <a:schemeClr val="accent6"/>
                </a:solidFill>
              </a:rPr>
              <a:t>the synthetic-trained model beats trend extrapolation on real lows</a:t>
            </a:r>
            <a:endParaRPr lang="en-US" sz="1100" dirty="0"/>
          </a:p>
        </p:txBody>
      </p:sp>
      <p:sp>
        <p:nvSpPr>
          <p:cNvPr id="18" name="card"/>
          <p:cNvSpPr/>
          <p:nvPr/>
        </p:nvSpPr>
        <p:spPr>
          <a:xfrm>
            <a:off x="7863840" y="4535424"/>
            <a:ext cx="3730752" cy="1371600"/>
          </a:xfrm>
          <a:prstGeom prst="roundRect">
            <a:avLst>
              <a:gd name="adj" fmla="val 9333"/>
            </a:avLst>
          </a:prstGeom>
          <a:solidFill>
            <a:schemeClr val="bg1"/>
          </a:solidFill>
          <a:ln/>
          <a:effectLst>
            <a:outerShdw blurRad="177800" dist="38100" dir="5400000" algn="bl" rotWithShape="0">
              <a:srgbClr val="0B2F3F">
                <a:alpha val="10000"/>
              </a:srgbClr>
            </a:outerShdw>
          </a:effectLst>
        </p:spPr>
      </p:sp>
      <p:sp>
        <p:nvSpPr>
          <p:cNvPr id="19" name="icon-dot"/>
          <p:cNvSpPr/>
          <p:nvPr/>
        </p:nvSpPr>
        <p:spPr>
          <a:xfrm>
            <a:off x="8092440" y="4946904"/>
            <a:ext cx="548640" cy="548640"/>
          </a:xfrm>
          <a:prstGeom prst="ellipse">
            <a:avLst/>
          </a:prstGeom>
          <a:solidFill>
            <a:schemeClr val="accent2"/>
          </a:solidFill>
          <a:ln/>
        </p:spPr>
      </p:sp>
      <p:pic>
        <p:nvPicPr>
          <p:cNvPr id="20" name="icon-x" descr="C:\Users\Akhilesh\AppData\Local\Temp\claude\C--Users-Akhilesh-Desktop-Claude-code-Happiest-Health\47a587f0-c947-456b-8324-0bf75adb31d4\scratchpad\deck\img\icons\x.png"/>
          <p:cNvPicPr>
            <a:picLocks noChangeAspect="1"/>
          </p:cNvPicPr>
          <p:nvPr/>
        </p:nvPicPr>
        <p:blipFill>
          <a:blip r:embed="rId6"/>
          <a:stretch>
            <a:fillRect/>
          </a:stretch>
        </p:blipFill>
        <p:spPr>
          <a:xfrm>
            <a:off x="8213141" y="5067605"/>
            <a:ext cx="307238" cy="307238"/>
          </a:xfrm>
          <a:prstGeom prst="rect">
            <a:avLst/>
          </a:prstGeom>
        </p:spPr>
      </p:pic>
      <p:sp>
        <p:nvSpPr>
          <p:cNvPr id="21" name="Text 15"/>
          <p:cNvSpPr txBox="1"/>
          <p:nvPr/>
        </p:nvSpPr>
        <p:spPr>
          <a:xfrm>
            <a:off x="8778240" y="4700016"/>
            <a:ext cx="2651760" cy="548640"/>
          </a:xfrm>
          <a:prstGeom prst="rect">
            <a:avLst/>
          </a:prstGeom>
          <a:noFill/>
          <a:ln/>
        </p:spPr>
        <p:txBody>
          <a:bodyPr wrap="square" lIns="0" tIns="0" rIns="0" bIns="0" rtlCol="0" anchor="b"/>
          <a:lstStyle/>
          <a:p>
            <a:pPr marL="0" indent="0">
              <a:buNone/>
            </a:pPr>
            <a:r>
              <a:rPr lang="en-US" sz="2600" b="1" dirty="0">
                <a:solidFill>
                  <a:schemeClr val="accent2"/>
                </a:solidFill>
                <a:latin typeface="Georgia" pitchFamily="34" charset="0"/>
                <a:ea typeface="Georgia" pitchFamily="34" charset="-122"/>
                <a:cs typeface="Georgia" pitchFamily="34" charset="-120"/>
              </a:rPr>
              <a:t>No gain</a:t>
            </a:r>
            <a:endParaRPr lang="en-US" sz="2600" dirty="0"/>
          </a:p>
        </p:txBody>
      </p:sp>
      <p:sp>
        <p:nvSpPr>
          <p:cNvPr id="22" name="Text 16"/>
          <p:cNvSpPr txBox="1"/>
          <p:nvPr/>
        </p:nvSpPr>
        <p:spPr>
          <a:xfrm>
            <a:off x="8778240" y="5285232"/>
            <a:ext cx="2697480" cy="548640"/>
          </a:xfrm>
          <a:prstGeom prst="rect">
            <a:avLst/>
          </a:prstGeom>
          <a:noFill/>
          <a:ln/>
        </p:spPr>
        <p:txBody>
          <a:bodyPr wrap="square" lIns="0" tIns="0" rIns="0" bIns="0" rtlCol="0" anchor="t"/>
          <a:lstStyle/>
          <a:p>
            <a:pPr marL="0" indent="0">
              <a:buNone/>
            </a:pPr>
            <a:r>
              <a:rPr lang="en-US" sz="1100" dirty="0">
                <a:solidFill>
                  <a:schemeClr val="accent6"/>
                </a:solidFill>
              </a:rPr>
              <a:t>from the health record, logged doses or the full clinical record</a:t>
            </a:r>
            <a:endParaRPr lang="en-US" sz="1100" dirty="0"/>
          </a:p>
        </p:txBody>
      </p:sp>
      <p:sp>
        <p:nvSpPr>
          <p:cNvPr id="25" name="Slide Number Placeholder 0"/>
          <p:cNvSpPr>
            <a:spLocks noGrp="1"/>
          </p:cNvSpPr>
          <p:nvPr>
            <p:ph type="sldNum" sz="quarter" idx="4294967295"/>
          </p:nvPr>
        </p:nvSpPr>
        <p:spPr>
          <a:xfrm>
            <a:off x="11140135" y="6446520"/>
            <a:ext cx="457200" cy="256032"/>
          </a:xfrm>
          <a:prstGeom prst="rect">
            <a:avLst/>
          </a:prstGeom>
          <a:extLst>
            <a:ext uri="{C572A759-6A51-4108-AA02-DFA0A04FC94B}">
              <ma14:wrappingTextBoxFlag xmlns:ma14="http://schemas.microsoft.com/office/mac/drawingml/2011/main" xmlns="" val="0"/>
            </a:ext>
          </a:extLst>
        </p:spPr>
        <p:txBody>
          <a:bodyPr/>
          <a:lstStyle>
            <a:lvl1pPr>
              <a:defRPr sz="900">
                <a:solidFill>
                  <a:schemeClr val="accent6"/>
                </a:solidFill>
              </a:defRPr>
            </a:lvl1pPr>
          </a:lstStyle>
          <a:p>
            <a:pPr algn="r"/>
            <a:fld id="{F7021451-1387-4CA6-816F-3879F97B5CBC}" type="slidenum">
              <a:rPr lang="en-US" b="0"/>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594360" y="292608"/>
            <a:ext cx="8229600" cy="256032"/>
          </a:xfrm>
          <a:prstGeom prst="rect">
            <a:avLst/>
          </a:prstGeom>
          <a:noFill/>
          <a:ln/>
        </p:spPr>
        <p:txBody>
          <a:bodyPr wrap="square" lIns="0" tIns="0" rIns="0" bIns="0" rtlCol="0" anchor="t"/>
          <a:lstStyle/>
          <a:p>
            <a:pPr marL="0" indent="0">
              <a:buNone/>
            </a:pPr>
            <a:r>
              <a:rPr lang="en-US" sz="1100" b="1" kern="0" spc="300" dirty="0">
                <a:solidFill>
                  <a:schemeClr val="accent1"/>
                </a:solidFill>
              </a:rPr>
              <a:t>13 · WHAT THE RECORD IS FOR</a:t>
            </a:r>
            <a:endParaRPr lang="en-US" sz="1100" dirty="0"/>
          </a:p>
        </p:txBody>
      </p:sp>
      <p:sp>
        <p:nvSpPr>
          <p:cNvPr id="3" name="Text 0"/>
          <p:cNvSpPr>
            <a:spLocks noGrp="1"/>
          </p:cNvSpPr>
          <p:nvPr>
            <p:ph type="title" idx="100" hasCustomPrompt="1"/>
          </p:nvPr>
        </p:nvSpPr>
        <p:spPr>
          <a:xfrm>
            <a:off x="594360" y="566928"/>
            <a:ext cx="11002975" cy="658368"/>
          </a:xfrm>
          <a:prstGeom prst="rect">
            <a:avLst/>
          </a:prstGeom>
          <a:noFill/>
          <a:ln/>
        </p:spPr>
        <p:txBody>
          <a:bodyPr wrap="square" lIns="0" tIns="0" rIns="0" bIns="0" rtlCol="0" anchor="ctr"/>
          <a:lstStyle/>
          <a:p>
            <a:pPr marL="0" indent="0" algn="l">
              <a:buNone/>
            </a:pPr>
            <a:r>
              <a:rPr lang="en-US" sz="3000" b="1" dirty="0">
                <a:solidFill>
                  <a:schemeClr val="tx2"/>
                </a:solidFill>
                <a:latin typeface="Georgia" pitchFamily="34" charset="0"/>
                <a:ea typeface="Georgia" pitchFamily="34" charset="-122"/>
                <a:cs typeface="Georgia" pitchFamily="34" charset="-120"/>
              </a:rPr>
              <a:t>The health record helps only before the sensor starts</a:t>
            </a:r>
            <a:endParaRPr lang="en-US" sz="3000" dirty="0"/>
          </a:p>
        </p:txBody>
      </p:sp>
      <p:sp>
        <p:nvSpPr>
          <p:cNvPr id="4" name="card"/>
          <p:cNvSpPr/>
          <p:nvPr/>
        </p:nvSpPr>
        <p:spPr>
          <a:xfrm>
            <a:off x="594360" y="1463040"/>
            <a:ext cx="7086600" cy="4526280"/>
          </a:xfrm>
          <a:prstGeom prst="roundRect">
            <a:avLst>
              <a:gd name="adj" fmla="val 2828"/>
            </a:avLst>
          </a:prstGeom>
          <a:solidFill>
            <a:schemeClr val="bg1"/>
          </a:solidFill>
          <a:ln/>
          <a:effectLst>
            <a:outerShdw blurRad="177800" dist="38100" dir="5400000" algn="bl" rotWithShape="0">
              <a:srgbClr val="0B2F3F">
                <a:alpha val="10000"/>
              </a:srgbClr>
            </a:outerShdw>
          </a:effectLst>
        </p:spPr>
      </p:sp>
      <p:sp>
        <p:nvSpPr>
          <p:cNvPr id="5" name="Text 3"/>
          <p:cNvSpPr txBox="1"/>
          <p:nvPr/>
        </p:nvSpPr>
        <p:spPr>
          <a:xfrm>
            <a:off x="914400" y="1645920"/>
            <a:ext cx="6583680" cy="384048"/>
          </a:xfrm>
          <a:prstGeom prst="rect">
            <a:avLst/>
          </a:prstGeom>
          <a:noFill/>
          <a:ln/>
        </p:spPr>
        <p:txBody>
          <a:bodyPr wrap="square" lIns="0" tIns="0" rIns="0" bIns="0" rtlCol="0" anchor="t"/>
          <a:lstStyle/>
          <a:p>
            <a:pPr marL="0" indent="0">
              <a:buNone/>
            </a:pPr>
            <a:r>
              <a:rPr lang="en-US" sz="1500" b="1" dirty="0">
                <a:solidFill>
                  <a:schemeClr val="tx2"/>
                </a:solidFill>
                <a:latin typeface="Georgia" pitchFamily="34" charset="0"/>
                <a:ea typeface="Georgia" pitchFamily="34" charset="-122"/>
                <a:cs typeface="Georgia" pitchFamily="34" charset="-120"/>
              </a:rPr>
              <a:t>Predicting real lows, by hours of CGM available: AUROC</a:t>
            </a:r>
            <a:endParaRPr lang="en-US" sz="1500" dirty="0"/>
          </a:p>
        </p:txBody>
      </p:sp>
      <p:sp>
        <p:nvSpPr>
          <p:cNvPr id="6" name="Text 4"/>
          <p:cNvSpPr txBox="1"/>
          <p:nvPr/>
        </p:nvSpPr>
        <p:spPr>
          <a:xfrm>
            <a:off x="914400" y="2011680"/>
            <a:ext cx="6583680" cy="274320"/>
          </a:xfrm>
          <a:prstGeom prst="rect">
            <a:avLst/>
          </a:prstGeom>
          <a:noFill/>
          <a:ln/>
        </p:spPr>
        <p:txBody>
          <a:bodyPr wrap="square" lIns="0" tIns="0" rIns="0" bIns="0" rtlCol="0" anchor="t"/>
          <a:lstStyle/>
          <a:p>
            <a:pPr marL="0" indent="0">
              <a:buNone/>
            </a:pPr>
            <a:r>
              <a:rPr lang="en-US" sz="1200" dirty="0">
                <a:solidFill>
                  <a:schemeClr val="accent6"/>
                </a:solidFill>
              </a:rPr>
              <a:t>ShanghaiT2DM. CGM alone vs CGM + 8 core record fields (low-capacity model).</a:t>
            </a:r>
            <a:endParaRPr lang="en-US" sz="1200" dirty="0"/>
          </a:p>
        </p:txBody>
      </p:sp>
      <p:graphicFrame>
        <p:nvGraphicFramePr>
          <p:cNvPr id="7" name="chart-coldstart"/>
          <p:cNvGraphicFramePr/>
          <p:nvPr/>
        </p:nvGraphicFramePr>
        <p:xfrm>
          <a:off x="777240" y="2331720"/>
          <a:ext cx="6720840" cy="3566160"/>
        </p:xfrm>
        <a:graphic>
          <a:graphicData uri="http://schemas.openxmlformats.org/drawingml/2006/chart">
            <c:chart xmlns:c="http://schemas.openxmlformats.org/drawingml/2006/chart" xmlns:r="http://schemas.openxmlformats.org/officeDocument/2006/relationships" r:id="rId3"/>
          </a:graphicData>
        </a:graphic>
      </p:graphicFrame>
      <p:sp>
        <p:nvSpPr>
          <p:cNvPr id="8" name="card"/>
          <p:cNvSpPr/>
          <p:nvPr/>
        </p:nvSpPr>
        <p:spPr>
          <a:xfrm>
            <a:off x="7863840" y="1463040"/>
            <a:ext cx="3730752" cy="1719072"/>
          </a:xfrm>
          <a:prstGeom prst="roundRect">
            <a:avLst>
              <a:gd name="adj" fmla="val 7447"/>
            </a:avLst>
          </a:prstGeom>
          <a:solidFill>
            <a:schemeClr val="bg1"/>
          </a:solidFill>
          <a:ln/>
          <a:effectLst>
            <a:outerShdw blurRad="177800" dist="38100" dir="5400000" algn="bl" rotWithShape="0">
              <a:srgbClr val="0B2F3F">
                <a:alpha val="10000"/>
              </a:srgbClr>
            </a:outerShdw>
          </a:effectLst>
        </p:spPr>
      </p:sp>
      <p:sp>
        <p:nvSpPr>
          <p:cNvPr id="9" name="icon-dot"/>
          <p:cNvSpPr/>
          <p:nvPr/>
        </p:nvSpPr>
        <p:spPr>
          <a:xfrm>
            <a:off x="8092440" y="1737360"/>
            <a:ext cx="457200" cy="457200"/>
          </a:xfrm>
          <a:prstGeom prst="ellipse">
            <a:avLst/>
          </a:prstGeom>
          <a:solidFill>
            <a:schemeClr val="accent2"/>
          </a:solidFill>
          <a:ln/>
        </p:spPr>
      </p:sp>
      <p:pic>
        <p:nvPicPr>
          <p:cNvPr id="10" name="icon-eyeoff" descr="C:\Users\Akhilesh\AppData\Local\Temp\claude\C--Users-Akhilesh-Desktop-Claude-code-Happiest-Health\47a587f0-c947-456b-8324-0bf75adb31d4\scratchpad\deck\img\icons\eyeoff.png"/>
          <p:cNvPicPr>
            <a:picLocks noChangeAspect="1"/>
          </p:cNvPicPr>
          <p:nvPr/>
        </p:nvPicPr>
        <p:blipFill>
          <a:blip r:embed="rId4"/>
          <a:stretch>
            <a:fillRect/>
          </a:stretch>
        </p:blipFill>
        <p:spPr>
          <a:xfrm>
            <a:off x="8193024" y="1837944"/>
            <a:ext cx="256032" cy="256032"/>
          </a:xfrm>
          <a:prstGeom prst="rect">
            <a:avLst/>
          </a:prstGeom>
        </p:spPr>
      </p:pic>
      <p:sp>
        <p:nvSpPr>
          <p:cNvPr id="11" name="Text 7"/>
          <p:cNvSpPr txBox="1"/>
          <p:nvPr/>
        </p:nvSpPr>
        <p:spPr>
          <a:xfrm>
            <a:off x="8686800" y="1737360"/>
            <a:ext cx="2743200" cy="457200"/>
          </a:xfrm>
          <a:prstGeom prst="rect">
            <a:avLst/>
          </a:prstGeom>
          <a:noFill/>
          <a:ln/>
        </p:spPr>
        <p:txBody>
          <a:bodyPr wrap="square" lIns="0" tIns="0" rIns="0" bIns="0" rtlCol="0" anchor="ctr"/>
          <a:lstStyle/>
          <a:p>
            <a:pPr marL="0" indent="0">
              <a:buNone/>
            </a:pPr>
            <a:r>
              <a:rPr lang="en-US" sz="1400" b="1" dirty="0">
                <a:solidFill>
                  <a:schemeClr val="tx2"/>
                </a:solidFill>
              </a:rPr>
              <a:t>No CGM yet</a:t>
            </a:r>
            <a:endParaRPr lang="en-US" sz="1400" dirty="0"/>
          </a:p>
        </p:txBody>
      </p:sp>
      <p:sp>
        <p:nvSpPr>
          <p:cNvPr id="12" name="Text 8"/>
          <p:cNvSpPr txBox="1"/>
          <p:nvPr/>
        </p:nvSpPr>
        <p:spPr>
          <a:xfrm>
            <a:off x="8092440" y="2240280"/>
            <a:ext cx="3291840" cy="457200"/>
          </a:xfrm>
          <a:prstGeom prst="rect">
            <a:avLst/>
          </a:prstGeom>
          <a:noFill/>
          <a:ln/>
        </p:spPr>
        <p:txBody>
          <a:bodyPr wrap="square" lIns="0" tIns="0" rIns="0" bIns="0" rtlCol="0" anchor="t"/>
          <a:lstStyle/>
          <a:p>
            <a:pPr marL="0" indent="0">
              <a:buNone/>
            </a:pPr>
            <a:r>
              <a:rPr lang="en-US" sz="2400" b="1" dirty="0">
                <a:solidFill>
                  <a:schemeClr val="accent2"/>
                </a:solidFill>
                <a:latin typeface="Georgia" pitchFamily="34" charset="0"/>
                <a:ea typeface="Georgia" pitchFamily="34" charset="-122"/>
                <a:cs typeface="Georgia" pitchFamily="34" charset="-120"/>
              </a:rPr>
              <a:t>0.41 → 0.54</a:t>
            </a:r>
            <a:endParaRPr lang="en-US" sz="2400" dirty="0"/>
          </a:p>
        </p:txBody>
      </p:sp>
      <p:sp>
        <p:nvSpPr>
          <p:cNvPr id="13" name="Text 9"/>
          <p:cNvSpPr txBox="1"/>
          <p:nvPr/>
        </p:nvSpPr>
        <p:spPr>
          <a:xfrm>
            <a:off x="8092440" y="2697480"/>
            <a:ext cx="3337560" cy="457200"/>
          </a:xfrm>
          <a:prstGeom prst="rect">
            <a:avLst/>
          </a:prstGeom>
          <a:noFill/>
          <a:ln/>
        </p:spPr>
        <p:txBody>
          <a:bodyPr wrap="square" lIns="0" tIns="0" rIns="0" bIns="0" rtlCol="0" anchor="t"/>
          <a:lstStyle/>
          <a:p>
            <a:pPr marL="0" indent="0">
              <a:buNone/>
            </a:pPr>
            <a:r>
              <a:rPr lang="en-US" sz="1100" dirty="0">
                <a:solidFill>
                  <a:schemeClr val="accent6"/>
                </a:solidFill>
              </a:rPr>
              <a:t>The record carries a weak but real signal: enough to decide who to watch</a:t>
            </a:r>
            <a:endParaRPr lang="en-US" sz="1100" dirty="0"/>
          </a:p>
        </p:txBody>
      </p:sp>
      <p:sp>
        <p:nvSpPr>
          <p:cNvPr id="14" name="card"/>
          <p:cNvSpPr/>
          <p:nvPr/>
        </p:nvSpPr>
        <p:spPr>
          <a:xfrm>
            <a:off x="7863840" y="3337560"/>
            <a:ext cx="3730752" cy="1719072"/>
          </a:xfrm>
          <a:prstGeom prst="roundRect">
            <a:avLst>
              <a:gd name="adj" fmla="val 7447"/>
            </a:avLst>
          </a:prstGeom>
          <a:solidFill>
            <a:schemeClr val="bg1"/>
          </a:solidFill>
          <a:ln/>
          <a:effectLst>
            <a:outerShdw blurRad="177800" dist="38100" dir="5400000" algn="bl" rotWithShape="0">
              <a:srgbClr val="0B2F3F">
                <a:alpha val="10000"/>
              </a:srgbClr>
            </a:outerShdw>
          </a:effectLst>
        </p:spPr>
      </p:sp>
      <p:sp>
        <p:nvSpPr>
          <p:cNvPr id="15" name="icon-dot"/>
          <p:cNvSpPr/>
          <p:nvPr/>
        </p:nvSpPr>
        <p:spPr>
          <a:xfrm>
            <a:off x="8092440" y="3611880"/>
            <a:ext cx="457200" cy="457200"/>
          </a:xfrm>
          <a:prstGeom prst="ellipse">
            <a:avLst/>
          </a:prstGeom>
          <a:solidFill>
            <a:schemeClr val="accent1"/>
          </a:solidFill>
          <a:ln/>
        </p:spPr>
      </p:sp>
      <p:pic>
        <p:nvPicPr>
          <p:cNvPr id="16" name="icon-pulse" descr="C:\Users\Akhilesh\AppData\Local\Temp\claude\C--Users-Akhilesh-Desktop-Claude-code-Happiest-Health\47a587f0-c947-456b-8324-0bf75adb31d4\scratchpad\deck\img\icons\pulse.png"/>
          <p:cNvPicPr>
            <a:picLocks noChangeAspect="1"/>
          </p:cNvPicPr>
          <p:nvPr/>
        </p:nvPicPr>
        <p:blipFill>
          <a:blip r:embed="rId5"/>
          <a:stretch>
            <a:fillRect/>
          </a:stretch>
        </p:blipFill>
        <p:spPr>
          <a:xfrm>
            <a:off x="8193024" y="3712464"/>
            <a:ext cx="256032" cy="256032"/>
          </a:xfrm>
          <a:prstGeom prst="rect">
            <a:avLst/>
          </a:prstGeom>
        </p:spPr>
      </p:pic>
      <p:sp>
        <p:nvSpPr>
          <p:cNvPr id="17" name="Text 12"/>
          <p:cNvSpPr txBox="1"/>
          <p:nvPr/>
        </p:nvSpPr>
        <p:spPr>
          <a:xfrm>
            <a:off x="8686800" y="3611880"/>
            <a:ext cx="2743200" cy="457200"/>
          </a:xfrm>
          <a:prstGeom prst="rect">
            <a:avLst/>
          </a:prstGeom>
          <a:noFill/>
          <a:ln/>
        </p:spPr>
        <p:txBody>
          <a:bodyPr wrap="square" lIns="0" tIns="0" rIns="0" bIns="0" rtlCol="0" anchor="ctr"/>
          <a:lstStyle/>
          <a:p>
            <a:pPr marL="0" indent="0">
              <a:buNone/>
            </a:pPr>
            <a:r>
              <a:rPr lang="en-US" sz="1400" b="1" dirty="0">
                <a:solidFill>
                  <a:schemeClr val="tx2"/>
                </a:solidFill>
              </a:rPr>
              <a:t>30 minutes of CGM</a:t>
            </a:r>
            <a:endParaRPr lang="en-US" sz="1400" dirty="0"/>
          </a:p>
        </p:txBody>
      </p:sp>
      <p:sp>
        <p:nvSpPr>
          <p:cNvPr id="18" name="Text 13"/>
          <p:cNvSpPr txBox="1"/>
          <p:nvPr/>
        </p:nvSpPr>
        <p:spPr>
          <a:xfrm>
            <a:off x="8092440" y="4114800"/>
            <a:ext cx="3291840" cy="457200"/>
          </a:xfrm>
          <a:prstGeom prst="rect">
            <a:avLst/>
          </a:prstGeom>
          <a:noFill/>
          <a:ln/>
        </p:spPr>
        <p:txBody>
          <a:bodyPr wrap="square" lIns="0" tIns="0" rIns="0" bIns="0" rtlCol="0" anchor="t"/>
          <a:lstStyle/>
          <a:p>
            <a:pPr marL="0" indent="0">
              <a:buNone/>
            </a:pPr>
            <a:r>
              <a:rPr lang="en-US" sz="2400" b="1" dirty="0">
                <a:solidFill>
                  <a:schemeClr val="accent1"/>
                </a:solidFill>
                <a:latin typeface="Georgia" pitchFamily="34" charset="0"/>
                <a:ea typeface="Georgia" pitchFamily="34" charset="-122"/>
                <a:cs typeface="Georgia" pitchFamily="34" charset="-120"/>
              </a:rPr>
              <a:t>0.88</a:t>
            </a:r>
            <a:endParaRPr lang="en-US" sz="2400" dirty="0"/>
          </a:p>
        </p:txBody>
      </p:sp>
      <p:sp>
        <p:nvSpPr>
          <p:cNvPr id="19" name="Text 14"/>
          <p:cNvSpPr txBox="1"/>
          <p:nvPr/>
        </p:nvSpPr>
        <p:spPr>
          <a:xfrm>
            <a:off x="8092440" y="4572000"/>
            <a:ext cx="3337560" cy="457200"/>
          </a:xfrm>
          <a:prstGeom prst="rect">
            <a:avLst/>
          </a:prstGeom>
          <a:noFill/>
          <a:ln/>
        </p:spPr>
        <p:txBody>
          <a:bodyPr wrap="square" lIns="0" tIns="0" rIns="0" bIns="0" rtlCol="0" anchor="t"/>
          <a:lstStyle/>
          <a:p>
            <a:pPr marL="0" indent="0">
              <a:buNone/>
            </a:pPr>
            <a:r>
              <a:rPr lang="en-US" sz="1100" dirty="0">
                <a:solidFill>
                  <a:schemeClr val="accent6"/>
                </a:solidFill>
              </a:rPr>
              <a:t>Almost as good as 6 hours, and from then on the record adds nothing</a:t>
            </a:r>
            <a:endParaRPr lang="en-US" sz="1100" dirty="0"/>
          </a:p>
        </p:txBody>
      </p:sp>
      <p:sp>
        <p:nvSpPr>
          <p:cNvPr id="20" name="card"/>
          <p:cNvSpPr/>
          <p:nvPr/>
        </p:nvSpPr>
        <p:spPr>
          <a:xfrm>
            <a:off x="7863840" y="5212080"/>
            <a:ext cx="3730752" cy="777240"/>
          </a:xfrm>
          <a:prstGeom prst="roundRect">
            <a:avLst>
              <a:gd name="adj" fmla="val 16471"/>
            </a:avLst>
          </a:prstGeom>
          <a:solidFill>
            <a:schemeClr val="tx2"/>
          </a:solidFill>
          <a:ln/>
          <a:effectLst>
            <a:outerShdw blurRad="177800" dist="38100" dir="5400000" algn="bl" rotWithShape="0">
              <a:srgbClr val="0B2F3F">
                <a:alpha val="10000"/>
              </a:srgbClr>
            </a:outerShdw>
          </a:effectLst>
        </p:spPr>
      </p:sp>
      <p:sp>
        <p:nvSpPr>
          <p:cNvPr id="21" name="Text 16"/>
          <p:cNvSpPr txBox="1"/>
          <p:nvPr/>
        </p:nvSpPr>
        <p:spPr>
          <a:xfrm>
            <a:off x="8092440" y="5212080"/>
            <a:ext cx="3383280" cy="777240"/>
          </a:xfrm>
          <a:prstGeom prst="rect">
            <a:avLst/>
          </a:prstGeom>
          <a:noFill/>
          <a:ln/>
        </p:spPr>
        <p:txBody>
          <a:bodyPr wrap="square" lIns="0" tIns="0" rIns="0" bIns="0" rtlCol="0" anchor="ctr"/>
          <a:lstStyle/>
          <a:p>
            <a:pPr marL="0" indent="0">
              <a:buNone/>
            </a:pPr>
            <a:r>
              <a:rPr lang="en-US" sz="1400" b="1" dirty="0">
                <a:solidFill>
                  <a:schemeClr val="bg1"/>
                </a:solidFill>
              </a:rPr>
              <a:t>So the record is a prior, not a forecaster</a:t>
            </a:r>
            <a:endParaRPr lang="en-US" sz="1400" dirty="0"/>
          </a:p>
        </p:txBody>
      </p:sp>
      <p:sp>
        <p:nvSpPr>
          <p:cNvPr id="25" name="Slide Number Placeholder 0"/>
          <p:cNvSpPr>
            <a:spLocks noGrp="1"/>
          </p:cNvSpPr>
          <p:nvPr>
            <p:ph type="sldNum" sz="quarter" idx="4294967295"/>
          </p:nvPr>
        </p:nvSpPr>
        <p:spPr>
          <a:xfrm>
            <a:off x="11140135" y="6446520"/>
            <a:ext cx="457200" cy="256032"/>
          </a:xfrm>
          <a:prstGeom prst="rect">
            <a:avLst/>
          </a:prstGeom>
          <a:extLst>
            <a:ext uri="{C572A759-6A51-4108-AA02-DFA0A04FC94B}">
              <ma14:wrappingTextBoxFlag xmlns:ma14="http://schemas.microsoft.com/office/mac/drawingml/2011/main" xmlns="" val="0"/>
            </a:ext>
          </a:extLst>
        </p:spPr>
        <p:txBody>
          <a:bodyPr/>
          <a:lstStyle>
            <a:lvl1pPr>
              <a:defRPr sz="900">
                <a:solidFill>
                  <a:schemeClr val="accent6"/>
                </a:solidFill>
              </a:defRPr>
            </a:lvl1pPr>
          </a:lstStyle>
          <a:p>
            <a:pPr algn="r"/>
            <a:fld id="{F7021451-1387-4CA6-816F-3879F97B5CBC}" type="slidenum">
              <a:rPr lang="en-US" b="0"/>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txBox="1"/>
          <p:nvPr/>
        </p:nvSpPr>
        <p:spPr>
          <a:xfrm>
            <a:off x="594360" y="292608"/>
            <a:ext cx="8229600" cy="256032"/>
          </a:xfrm>
          <a:prstGeom prst="rect">
            <a:avLst/>
          </a:prstGeom>
          <a:noFill/>
          <a:ln/>
        </p:spPr>
        <p:txBody>
          <a:bodyPr wrap="square" lIns="0" tIns="0" rIns="0" bIns="0" rtlCol="0" anchor="t"/>
          <a:lstStyle/>
          <a:p>
            <a:pPr marL="0" indent="0">
              <a:buNone/>
            </a:pPr>
            <a:r>
              <a:rPr lang="en-US" sz="1100" b="1" kern="0" spc="300" dirty="0">
                <a:solidFill>
                  <a:schemeClr val="accent1"/>
                </a:solidFill>
              </a:rPr>
              <a:t>14 · INTEGRITY</a:t>
            </a:r>
            <a:endParaRPr lang="en-US" sz="1100" dirty="0"/>
          </a:p>
        </p:txBody>
      </p:sp>
      <p:sp>
        <p:nvSpPr>
          <p:cNvPr id="3" name="Text 0"/>
          <p:cNvSpPr>
            <a:spLocks noGrp="1"/>
          </p:cNvSpPr>
          <p:nvPr>
            <p:ph type="title" idx="100" hasCustomPrompt="1"/>
          </p:nvPr>
        </p:nvSpPr>
        <p:spPr>
          <a:xfrm>
            <a:off x="594360" y="566928"/>
            <a:ext cx="11002975" cy="658368"/>
          </a:xfrm>
          <a:prstGeom prst="rect">
            <a:avLst/>
          </a:prstGeom>
          <a:noFill/>
          <a:ln/>
        </p:spPr>
        <p:txBody>
          <a:bodyPr wrap="square" lIns="0" tIns="0" rIns="0" bIns="0" rtlCol="0" anchor="ctr"/>
          <a:lstStyle/>
          <a:p>
            <a:pPr marL="0" indent="0" algn="l">
              <a:buNone/>
            </a:pPr>
            <a:r>
              <a:rPr lang="en-US" sz="3000" b="1" dirty="0">
                <a:solidFill>
                  <a:schemeClr val="tx2"/>
                </a:solidFill>
                <a:latin typeface="Georgia" pitchFamily="34" charset="0"/>
                <a:ea typeface="Georgia" pitchFamily="34" charset="-122"/>
                <a:cs typeface="Georgia" pitchFamily="34" charset="-120"/>
              </a:rPr>
              <a:t>What we claim, and what we no longer claim</a:t>
            </a:r>
            <a:endParaRPr lang="en-US" sz="3000" dirty="0"/>
          </a:p>
        </p:txBody>
      </p:sp>
      <p:sp>
        <p:nvSpPr>
          <p:cNvPr id="4" name="card"/>
          <p:cNvSpPr/>
          <p:nvPr/>
        </p:nvSpPr>
        <p:spPr>
          <a:xfrm>
            <a:off x="594360" y="1463040"/>
            <a:ext cx="5486400" cy="4526280"/>
          </a:xfrm>
          <a:prstGeom prst="roundRect">
            <a:avLst>
              <a:gd name="adj" fmla="val 2828"/>
            </a:avLst>
          </a:prstGeom>
          <a:solidFill>
            <a:schemeClr val="bg1"/>
          </a:solidFill>
          <a:ln/>
          <a:effectLst>
            <a:outerShdw blurRad="177800" dist="38100" dir="5400000" algn="bl" rotWithShape="0">
              <a:srgbClr val="0B2F3F">
                <a:alpha val="10000"/>
              </a:srgbClr>
            </a:outerShdw>
          </a:effectLst>
        </p:spPr>
      </p:sp>
      <p:sp>
        <p:nvSpPr>
          <p:cNvPr id="5" name="Text 3"/>
          <p:cNvSpPr txBox="1"/>
          <p:nvPr/>
        </p:nvSpPr>
        <p:spPr>
          <a:xfrm>
            <a:off x="960120" y="1691640"/>
            <a:ext cx="4572000" cy="457200"/>
          </a:xfrm>
          <a:prstGeom prst="rect">
            <a:avLst/>
          </a:prstGeom>
          <a:noFill/>
          <a:ln/>
        </p:spPr>
        <p:txBody>
          <a:bodyPr wrap="square" lIns="0" tIns="0" rIns="0" bIns="0" rtlCol="0" anchor="t"/>
          <a:lstStyle/>
          <a:p>
            <a:pPr marL="0" indent="0">
              <a:buNone/>
            </a:pPr>
            <a:r>
              <a:rPr lang="en-US" sz="2200" b="1" dirty="0">
                <a:solidFill>
                  <a:schemeClr val="accent1"/>
                </a:solidFill>
                <a:latin typeface="Georgia" pitchFamily="34" charset="0"/>
                <a:ea typeface="Georgia" pitchFamily="34" charset="-122"/>
                <a:cs typeface="Georgia" pitchFamily="34" charset="-120"/>
              </a:rPr>
              <a:t>We claim</a:t>
            </a:r>
            <a:endParaRPr lang="en-US" sz="2200" dirty="0"/>
          </a:p>
        </p:txBody>
      </p:sp>
      <p:sp>
        <p:nvSpPr>
          <p:cNvPr id="6" name="icon-dot"/>
          <p:cNvSpPr/>
          <p:nvPr/>
        </p:nvSpPr>
        <p:spPr>
          <a:xfrm>
            <a:off x="960120" y="2377440"/>
            <a:ext cx="384048" cy="384048"/>
          </a:xfrm>
          <a:prstGeom prst="ellipse">
            <a:avLst/>
          </a:prstGeom>
          <a:solidFill>
            <a:schemeClr val="accent1"/>
          </a:solidFill>
          <a:ln/>
        </p:spPr>
      </p:sp>
      <p:pic>
        <p:nvPicPr>
          <p:cNvPr id="7" name="icon-check" descr="C:\Users\Akhilesh\AppData\Local\Temp\claude\C--Users-Akhilesh-Desktop-Claude-code-Happiest-Health\47a587f0-c947-456b-8324-0bf75adb31d4\scratchpad\deck\img\icons\check.png"/>
          <p:cNvPicPr>
            <a:picLocks noChangeAspect="1"/>
          </p:cNvPicPr>
          <p:nvPr/>
        </p:nvPicPr>
        <p:blipFill>
          <a:blip r:embed="rId3"/>
          <a:stretch>
            <a:fillRect/>
          </a:stretch>
        </p:blipFill>
        <p:spPr>
          <a:xfrm>
            <a:off x="1044611" y="2461931"/>
            <a:ext cx="215067" cy="215067"/>
          </a:xfrm>
          <a:prstGeom prst="rect">
            <a:avLst/>
          </a:prstGeom>
        </p:spPr>
      </p:pic>
      <p:sp>
        <p:nvSpPr>
          <p:cNvPr id="8" name="Text 5"/>
          <p:cNvSpPr txBox="1"/>
          <p:nvPr/>
        </p:nvSpPr>
        <p:spPr>
          <a:xfrm>
            <a:off x="1508760" y="2322576"/>
            <a:ext cx="4343400" cy="548640"/>
          </a:xfrm>
          <a:prstGeom prst="rect">
            <a:avLst/>
          </a:prstGeom>
          <a:noFill/>
          <a:ln/>
        </p:spPr>
        <p:txBody>
          <a:bodyPr wrap="square" lIns="0" tIns="0" rIns="0" bIns="0" rtlCol="0" anchor="ctr"/>
          <a:lstStyle/>
          <a:p>
            <a:pPr marL="0" indent="0">
              <a:buNone/>
            </a:pPr>
            <a:r>
              <a:rPr lang="en-US" sz="1300" dirty="0">
                <a:solidFill>
                  <a:schemeClr val="tx1"/>
                </a:solidFill>
              </a:rPr>
              <a:t>A CGM-based twin predicts real lows 2 hours ahead (AUROC 0.89 on 100 real patients)</a:t>
            </a:r>
            <a:endParaRPr lang="en-US" sz="1300" dirty="0"/>
          </a:p>
        </p:txBody>
      </p:sp>
      <p:sp>
        <p:nvSpPr>
          <p:cNvPr id="9" name="icon-dot"/>
          <p:cNvSpPr/>
          <p:nvPr/>
        </p:nvSpPr>
        <p:spPr>
          <a:xfrm>
            <a:off x="960120" y="3063240"/>
            <a:ext cx="384048" cy="384048"/>
          </a:xfrm>
          <a:prstGeom prst="ellipse">
            <a:avLst/>
          </a:prstGeom>
          <a:solidFill>
            <a:schemeClr val="accent1"/>
          </a:solidFill>
          <a:ln/>
        </p:spPr>
      </p:sp>
      <p:pic>
        <p:nvPicPr>
          <p:cNvPr id="10" name="icon-check" descr="C:\Users\Akhilesh\AppData\Local\Temp\claude\C--Users-Akhilesh-Desktop-Claude-code-Happiest-Health\47a587f0-c947-456b-8324-0bf75adb31d4\scratchpad\deck\img\icons\check.png"/>
          <p:cNvPicPr>
            <a:picLocks noChangeAspect="1"/>
          </p:cNvPicPr>
          <p:nvPr/>
        </p:nvPicPr>
        <p:blipFill>
          <a:blip r:embed="rId3"/>
          <a:stretch>
            <a:fillRect/>
          </a:stretch>
        </p:blipFill>
        <p:spPr>
          <a:xfrm>
            <a:off x="1044611" y="3147731"/>
            <a:ext cx="215067" cy="215067"/>
          </a:xfrm>
          <a:prstGeom prst="rect">
            <a:avLst/>
          </a:prstGeom>
        </p:spPr>
      </p:pic>
      <p:sp>
        <p:nvSpPr>
          <p:cNvPr id="11" name="Text 7"/>
          <p:cNvSpPr txBox="1"/>
          <p:nvPr/>
        </p:nvSpPr>
        <p:spPr>
          <a:xfrm>
            <a:off x="1508760" y="3008376"/>
            <a:ext cx="4343400" cy="548640"/>
          </a:xfrm>
          <a:prstGeom prst="rect">
            <a:avLst/>
          </a:prstGeom>
          <a:noFill/>
          <a:ln/>
        </p:spPr>
        <p:txBody>
          <a:bodyPr wrap="square" lIns="0" tIns="0" rIns="0" bIns="0" rtlCol="0" anchor="ctr"/>
          <a:lstStyle/>
          <a:p>
            <a:pPr marL="0" indent="0">
              <a:buNone/>
            </a:pPr>
            <a:r>
              <a:rPr lang="en-US" sz="1300" dirty="0">
                <a:solidFill>
                  <a:schemeClr val="tx1"/>
                </a:solidFill>
              </a:rPr>
              <a:t>On real patients, alerts warn of 35% of lows 30 minutes ahead at 0.6 a day: an honest baseline</a:t>
            </a:r>
            <a:endParaRPr lang="en-US" sz="1300" dirty="0"/>
          </a:p>
        </p:txBody>
      </p:sp>
      <p:sp>
        <p:nvSpPr>
          <p:cNvPr id="12" name="icon-dot"/>
          <p:cNvSpPr/>
          <p:nvPr/>
        </p:nvSpPr>
        <p:spPr>
          <a:xfrm>
            <a:off x="960120" y="3749040"/>
            <a:ext cx="384048" cy="384048"/>
          </a:xfrm>
          <a:prstGeom prst="ellipse">
            <a:avLst/>
          </a:prstGeom>
          <a:solidFill>
            <a:schemeClr val="accent1"/>
          </a:solidFill>
          <a:ln/>
        </p:spPr>
      </p:sp>
      <p:pic>
        <p:nvPicPr>
          <p:cNvPr id="13" name="icon-check" descr="C:\Users\Akhilesh\AppData\Local\Temp\claude\C--Users-Akhilesh-Desktop-Claude-code-Happiest-Health\47a587f0-c947-456b-8324-0bf75adb31d4\scratchpad\deck\img\icons\check.png"/>
          <p:cNvPicPr>
            <a:picLocks noChangeAspect="1"/>
          </p:cNvPicPr>
          <p:nvPr/>
        </p:nvPicPr>
        <p:blipFill>
          <a:blip r:embed="rId3"/>
          <a:stretch>
            <a:fillRect/>
          </a:stretch>
        </p:blipFill>
        <p:spPr>
          <a:xfrm>
            <a:off x="1044611" y="3833531"/>
            <a:ext cx="215067" cy="215067"/>
          </a:xfrm>
          <a:prstGeom prst="rect">
            <a:avLst/>
          </a:prstGeom>
        </p:spPr>
      </p:pic>
      <p:sp>
        <p:nvSpPr>
          <p:cNvPr id="14" name="Text 9"/>
          <p:cNvSpPr txBox="1"/>
          <p:nvPr/>
        </p:nvSpPr>
        <p:spPr>
          <a:xfrm>
            <a:off x="1508760" y="3694176"/>
            <a:ext cx="4343400" cy="548640"/>
          </a:xfrm>
          <a:prstGeom prst="rect">
            <a:avLst/>
          </a:prstGeom>
          <a:noFill/>
          <a:ln/>
        </p:spPr>
        <p:txBody>
          <a:bodyPr wrap="square" lIns="0" tIns="0" rIns="0" bIns="0" rtlCol="0" anchor="ctr"/>
          <a:lstStyle/>
          <a:p>
            <a:pPr marL="0" indent="0">
              <a:buNone/>
            </a:pPr>
            <a:r>
              <a:rPr lang="en-US" sz="1300" dirty="0">
                <a:solidFill>
                  <a:schemeClr val="tx1"/>
                </a:solidFill>
              </a:rPr>
              <a:t>Recalibration on local data fixes the probabilities</a:t>
            </a:r>
            <a:endParaRPr lang="en-US" sz="1300" dirty="0"/>
          </a:p>
        </p:txBody>
      </p:sp>
      <p:sp>
        <p:nvSpPr>
          <p:cNvPr id="15" name="icon-dot"/>
          <p:cNvSpPr/>
          <p:nvPr/>
        </p:nvSpPr>
        <p:spPr>
          <a:xfrm>
            <a:off x="960120" y="4434840"/>
            <a:ext cx="384048" cy="384048"/>
          </a:xfrm>
          <a:prstGeom prst="ellipse">
            <a:avLst/>
          </a:prstGeom>
          <a:solidFill>
            <a:schemeClr val="accent1"/>
          </a:solidFill>
          <a:ln/>
        </p:spPr>
      </p:sp>
      <p:pic>
        <p:nvPicPr>
          <p:cNvPr id="16" name="icon-check" descr="C:\Users\Akhilesh\AppData\Local\Temp\claude\C--Users-Akhilesh-Desktop-Claude-code-Happiest-Health\47a587f0-c947-456b-8324-0bf75adb31d4\scratchpad\deck\img\icons\check.png"/>
          <p:cNvPicPr>
            <a:picLocks noChangeAspect="1"/>
          </p:cNvPicPr>
          <p:nvPr/>
        </p:nvPicPr>
        <p:blipFill>
          <a:blip r:embed="rId3"/>
          <a:stretch>
            <a:fillRect/>
          </a:stretch>
        </p:blipFill>
        <p:spPr>
          <a:xfrm>
            <a:off x="1044611" y="4519331"/>
            <a:ext cx="215067" cy="215067"/>
          </a:xfrm>
          <a:prstGeom prst="rect">
            <a:avLst/>
          </a:prstGeom>
        </p:spPr>
      </p:pic>
      <p:sp>
        <p:nvSpPr>
          <p:cNvPr id="17" name="Text 11"/>
          <p:cNvSpPr txBox="1"/>
          <p:nvPr/>
        </p:nvSpPr>
        <p:spPr>
          <a:xfrm>
            <a:off x="1508760" y="4379976"/>
            <a:ext cx="4343400" cy="548640"/>
          </a:xfrm>
          <a:prstGeom prst="rect">
            <a:avLst/>
          </a:prstGeom>
          <a:noFill/>
          <a:ln/>
        </p:spPr>
        <p:txBody>
          <a:bodyPr wrap="square" lIns="0" tIns="0" rIns="0" bIns="0" rtlCol="0" anchor="ctr"/>
          <a:lstStyle/>
          <a:p>
            <a:pPr marL="0" indent="0">
              <a:buNone/>
            </a:pPr>
            <a:r>
              <a:rPr lang="en-US" sz="1300" dirty="0">
                <a:solidFill>
                  <a:schemeClr val="tx1"/>
                </a:solidFill>
              </a:rPr>
              <a:t>A personalised twin halves projection error, with honest bands</a:t>
            </a:r>
            <a:endParaRPr lang="en-US" sz="1300" dirty="0"/>
          </a:p>
        </p:txBody>
      </p:sp>
      <p:sp>
        <p:nvSpPr>
          <p:cNvPr id="18" name="icon-dot"/>
          <p:cNvSpPr/>
          <p:nvPr/>
        </p:nvSpPr>
        <p:spPr>
          <a:xfrm>
            <a:off x="960120" y="5120640"/>
            <a:ext cx="384048" cy="384048"/>
          </a:xfrm>
          <a:prstGeom prst="ellipse">
            <a:avLst/>
          </a:prstGeom>
          <a:solidFill>
            <a:schemeClr val="accent1"/>
          </a:solidFill>
          <a:ln/>
        </p:spPr>
      </p:sp>
      <p:pic>
        <p:nvPicPr>
          <p:cNvPr id="19" name="icon-check" descr="C:\Users\Akhilesh\AppData\Local\Temp\claude\C--Users-Akhilesh-Desktop-Claude-code-Happiest-Health\47a587f0-c947-456b-8324-0bf75adb31d4\scratchpad\deck\img\icons\check.png"/>
          <p:cNvPicPr>
            <a:picLocks noChangeAspect="1"/>
          </p:cNvPicPr>
          <p:nvPr/>
        </p:nvPicPr>
        <p:blipFill>
          <a:blip r:embed="rId3"/>
          <a:stretch>
            <a:fillRect/>
          </a:stretch>
        </p:blipFill>
        <p:spPr>
          <a:xfrm>
            <a:off x="1044611" y="5205131"/>
            <a:ext cx="215067" cy="215067"/>
          </a:xfrm>
          <a:prstGeom prst="rect">
            <a:avLst/>
          </a:prstGeom>
        </p:spPr>
      </p:pic>
      <p:sp>
        <p:nvSpPr>
          <p:cNvPr id="20" name="Text 13"/>
          <p:cNvSpPr txBox="1"/>
          <p:nvPr/>
        </p:nvSpPr>
        <p:spPr>
          <a:xfrm>
            <a:off x="1508760" y="5065776"/>
            <a:ext cx="4343400" cy="548640"/>
          </a:xfrm>
          <a:prstGeom prst="rect">
            <a:avLst/>
          </a:prstGeom>
          <a:noFill/>
          <a:ln/>
        </p:spPr>
        <p:txBody>
          <a:bodyPr wrap="square" lIns="0" tIns="0" rIns="0" bIns="0" rtlCol="0" anchor="ctr"/>
          <a:lstStyle/>
          <a:p>
            <a:pPr marL="0" indent="0">
              <a:buNone/>
            </a:pPr>
            <a:r>
              <a:rPr lang="en-US" sz="1300" dirty="0">
                <a:solidFill>
                  <a:schemeClr val="tx1"/>
                </a:solidFill>
              </a:rPr>
              <a:t>The product ships a model trained on real patients</a:t>
            </a:r>
            <a:endParaRPr lang="en-US" sz="1300" dirty="0"/>
          </a:p>
        </p:txBody>
      </p:sp>
      <p:sp>
        <p:nvSpPr>
          <p:cNvPr id="21" name="card"/>
          <p:cNvSpPr/>
          <p:nvPr/>
        </p:nvSpPr>
        <p:spPr>
          <a:xfrm>
            <a:off x="6263640" y="1463040"/>
            <a:ext cx="5330952" cy="4526280"/>
          </a:xfrm>
          <a:prstGeom prst="roundRect">
            <a:avLst>
              <a:gd name="adj" fmla="val 2828"/>
            </a:avLst>
          </a:prstGeom>
          <a:solidFill>
            <a:schemeClr val="tx2"/>
          </a:solidFill>
          <a:ln/>
          <a:effectLst>
            <a:outerShdw blurRad="177800" dist="38100" dir="5400000" algn="bl" rotWithShape="0">
              <a:srgbClr val="0B2F3F">
                <a:alpha val="10000"/>
              </a:srgbClr>
            </a:outerShdw>
          </a:effectLst>
        </p:spPr>
      </p:sp>
      <p:sp>
        <p:nvSpPr>
          <p:cNvPr id="22" name="Text 15"/>
          <p:cNvSpPr txBox="1"/>
          <p:nvPr/>
        </p:nvSpPr>
        <p:spPr>
          <a:xfrm>
            <a:off x="6629400" y="1691640"/>
            <a:ext cx="4572000" cy="457200"/>
          </a:xfrm>
          <a:prstGeom prst="rect">
            <a:avLst/>
          </a:prstGeom>
          <a:noFill/>
          <a:ln/>
        </p:spPr>
        <p:txBody>
          <a:bodyPr wrap="square" lIns="0" tIns="0" rIns="0" bIns="0" rtlCol="0" anchor="t"/>
          <a:lstStyle/>
          <a:p>
            <a:pPr marL="0" indent="0">
              <a:buNone/>
            </a:pPr>
            <a:r>
              <a:rPr lang="en-US" sz="2200" b="1" dirty="0">
                <a:solidFill>
                  <a:schemeClr val="bg1"/>
                </a:solidFill>
                <a:latin typeface="Georgia" pitchFamily="34" charset="0"/>
                <a:ea typeface="Georgia" pitchFamily="34" charset="-122"/>
                <a:cs typeface="Georgia" pitchFamily="34" charset="-120"/>
              </a:rPr>
              <a:t>We no longer claim</a:t>
            </a:r>
            <a:endParaRPr lang="en-US" sz="2200" dirty="0"/>
          </a:p>
        </p:txBody>
      </p:sp>
      <p:sp>
        <p:nvSpPr>
          <p:cNvPr id="23" name="icon-dot"/>
          <p:cNvSpPr/>
          <p:nvPr/>
        </p:nvSpPr>
        <p:spPr>
          <a:xfrm>
            <a:off x="6629400" y="2377440"/>
            <a:ext cx="384048" cy="384048"/>
          </a:xfrm>
          <a:prstGeom prst="ellipse">
            <a:avLst/>
          </a:prstGeom>
          <a:solidFill>
            <a:schemeClr val="accent2"/>
          </a:solidFill>
          <a:ln/>
        </p:spPr>
      </p:sp>
      <p:pic>
        <p:nvPicPr>
          <p:cNvPr id="24" name="icon-x" descr="C:\Users\Akhilesh\AppData\Local\Temp\claude\C--Users-Akhilesh-Desktop-Claude-code-Happiest-Health\47a587f0-c947-456b-8324-0bf75adb31d4\scratchpad\deck\img\icons\x.png"/>
          <p:cNvPicPr>
            <a:picLocks noChangeAspect="1"/>
          </p:cNvPicPr>
          <p:nvPr/>
        </p:nvPicPr>
        <p:blipFill>
          <a:blip r:embed="rId4"/>
          <a:stretch>
            <a:fillRect/>
          </a:stretch>
        </p:blipFill>
        <p:spPr>
          <a:xfrm>
            <a:off x="6713891" y="2461931"/>
            <a:ext cx="215067" cy="215067"/>
          </a:xfrm>
          <a:prstGeom prst="rect">
            <a:avLst/>
          </a:prstGeom>
        </p:spPr>
      </p:pic>
      <p:sp>
        <p:nvSpPr>
          <p:cNvPr id="25" name="Text 17"/>
          <p:cNvSpPr txBox="1"/>
          <p:nvPr/>
        </p:nvSpPr>
        <p:spPr>
          <a:xfrm>
            <a:off x="7178040" y="2286000"/>
            <a:ext cx="4114800" cy="640080"/>
          </a:xfrm>
          <a:prstGeom prst="rect">
            <a:avLst/>
          </a:prstGeom>
          <a:noFill/>
          <a:ln/>
        </p:spPr>
        <p:txBody>
          <a:bodyPr wrap="square" lIns="0" tIns="0" rIns="0" bIns="0" rtlCol="0" anchor="ctr"/>
          <a:lstStyle/>
          <a:p>
            <a:pPr marL="0" indent="0">
              <a:buNone/>
            </a:pPr>
            <a:r>
              <a:rPr lang="en-US" sz="1300" dirty="0">
                <a:solidFill>
                  <a:schemeClr val="bg1"/>
                </a:solidFill>
              </a:rPr>
              <a:t>That adding the health record improves the 2-hour forecast: true on synthetic data only</a:t>
            </a:r>
            <a:endParaRPr lang="en-US" sz="1300" dirty="0"/>
          </a:p>
        </p:txBody>
      </p:sp>
      <p:sp>
        <p:nvSpPr>
          <p:cNvPr id="26" name="icon-dot"/>
          <p:cNvSpPr/>
          <p:nvPr/>
        </p:nvSpPr>
        <p:spPr>
          <a:xfrm>
            <a:off x="6629400" y="3200400"/>
            <a:ext cx="384048" cy="384048"/>
          </a:xfrm>
          <a:prstGeom prst="ellipse">
            <a:avLst/>
          </a:prstGeom>
          <a:solidFill>
            <a:schemeClr val="accent2"/>
          </a:solidFill>
          <a:ln/>
        </p:spPr>
      </p:sp>
      <p:pic>
        <p:nvPicPr>
          <p:cNvPr id="27" name="icon-x" descr="C:\Users\Akhilesh\AppData\Local\Temp\claude\C--Users-Akhilesh-Desktop-Claude-code-Happiest-Health\47a587f0-c947-456b-8324-0bf75adb31d4\scratchpad\deck\img\icons\x.png"/>
          <p:cNvPicPr>
            <a:picLocks noChangeAspect="1"/>
          </p:cNvPicPr>
          <p:nvPr/>
        </p:nvPicPr>
        <p:blipFill>
          <a:blip r:embed="rId4"/>
          <a:stretch>
            <a:fillRect/>
          </a:stretch>
        </p:blipFill>
        <p:spPr>
          <a:xfrm>
            <a:off x="6713891" y="3284891"/>
            <a:ext cx="215067" cy="215067"/>
          </a:xfrm>
          <a:prstGeom prst="rect">
            <a:avLst/>
          </a:prstGeom>
        </p:spPr>
      </p:pic>
      <p:sp>
        <p:nvSpPr>
          <p:cNvPr id="28" name="Text 19"/>
          <p:cNvSpPr txBox="1"/>
          <p:nvPr/>
        </p:nvSpPr>
        <p:spPr>
          <a:xfrm>
            <a:off x="7178040" y="3108960"/>
            <a:ext cx="4114800" cy="640080"/>
          </a:xfrm>
          <a:prstGeom prst="rect">
            <a:avLst/>
          </a:prstGeom>
          <a:noFill/>
          <a:ln/>
        </p:spPr>
        <p:txBody>
          <a:bodyPr wrap="square" lIns="0" tIns="0" rIns="0" bIns="0" rtlCol="0" anchor="ctr"/>
          <a:lstStyle/>
          <a:p>
            <a:pPr marL="0" indent="0">
              <a:buNone/>
            </a:pPr>
            <a:r>
              <a:rPr lang="en-US" sz="1300" dirty="0">
                <a:solidFill>
                  <a:schemeClr val="bg1"/>
                </a:solidFill>
              </a:rPr>
              <a:t>That synthetic accuracy (0.93) is what real patients would see</a:t>
            </a:r>
            <a:endParaRPr lang="en-US" sz="1300" dirty="0"/>
          </a:p>
        </p:txBody>
      </p:sp>
      <p:sp>
        <p:nvSpPr>
          <p:cNvPr id="29" name="icon-dot"/>
          <p:cNvSpPr/>
          <p:nvPr/>
        </p:nvSpPr>
        <p:spPr>
          <a:xfrm>
            <a:off x="6629400" y="4023360"/>
            <a:ext cx="384048" cy="384048"/>
          </a:xfrm>
          <a:prstGeom prst="ellipse">
            <a:avLst/>
          </a:prstGeom>
          <a:solidFill>
            <a:schemeClr val="accent2"/>
          </a:solidFill>
          <a:ln/>
        </p:spPr>
      </p:sp>
      <p:pic>
        <p:nvPicPr>
          <p:cNvPr id="30" name="icon-x" descr="C:\Users\Akhilesh\AppData\Local\Temp\claude\C--Users-Akhilesh-Desktop-Claude-code-Happiest-Health\47a587f0-c947-456b-8324-0bf75adb31d4\scratchpad\deck\img\icons\x.png"/>
          <p:cNvPicPr>
            <a:picLocks noChangeAspect="1"/>
          </p:cNvPicPr>
          <p:nvPr/>
        </p:nvPicPr>
        <p:blipFill>
          <a:blip r:embed="rId4"/>
          <a:stretch>
            <a:fillRect/>
          </a:stretch>
        </p:blipFill>
        <p:spPr>
          <a:xfrm>
            <a:off x="6713891" y="4107851"/>
            <a:ext cx="215067" cy="215067"/>
          </a:xfrm>
          <a:prstGeom prst="rect">
            <a:avLst/>
          </a:prstGeom>
        </p:spPr>
      </p:pic>
      <p:sp>
        <p:nvSpPr>
          <p:cNvPr id="31" name="Text 21"/>
          <p:cNvSpPr txBox="1"/>
          <p:nvPr/>
        </p:nvSpPr>
        <p:spPr>
          <a:xfrm>
            <a:off x="7178040" y="3931920"/>
            <a:ext cx="4114800" cy="640080"/>
          </a:xfrm>
          <a:prstGeom prst="rect">
            <a:avLst/>
          </a:prstGeom>
          <a:noFill/>
          <a:ln/>
        </p:spPr>
        <p:txBody>
          <a:bodyPr wrap="square" lIns="0" tIns="0" rIns="0" bIns="0" rtlCol="0" anchor="ctr"/>
          <a:lstStyle/>
          <a:p>
            <a:pPr marL="0" indent="0">
              <a:buNone/>
            </a:pPr>
            <a:r>
              <a:rPr lang="en-US" sz="1300" dirty="0">
                <a:solidFill>
                  <a:schemeClr val="bg1"/>
                </a:solidFill>
              </a:rPr>
              <a:t>Any clinical validity: this is a research prototype</a:t>
            </a:r>
            <a:endParaRPr lang="en-US" sz="1300" dirty="0"/>
          </a:p>
        </p:txBody>
      </p:sp>
      <p:sp>
        <p:nvSpPr>
          <p:cNvPr id="32" name="Text 22"/>
          <p:cNvSpPr txBox="1"/>
          <p:nvPr/>
        </p:nvSpPr>
        <p:spPr>
          <a:xfrm>
            <a:off x="6629400" y="5074920"/>
            <a:ext cx="4663440" cy="640080"/>
          </a:xfrm>
          <a:prstGeom prst="rect">
            <a:avLst/>
          </a:prstGeom>
          <a:noFill/>
          <a:ln/>
        </p:spPr>
        <p:txBody>
          <a:bodyPr wrap="square" lIns="0" tIns="0" rIns="0" bIns="0" rtlCol="0" anchor="t"/>
          <a:lstStyle/>
          <a:p>
            <a:pPr marL="0" indent="0">
              <a:buNone/>
            </a:pPr>
            <a:r>
              <a:rPr lang="en-US" sz="1300" i="1" dirty="0">
                <a:solidFill>
                  <a:schemeClr val="accent4"/>
                </a:solidFill>
              </a:rPr>
              <a:t>We changed our own headline claim when real data disagreed with the simulator.</a:t>
            </a:r>
            <a:endParaRPr lang="en-US" sz="1300" dirty="0"/>
          </a:p>
        </p:txBody>
      </p:sp>
      <p:sp>
        <p:nvSpPr>
          <p:cNvPr id="33" name="Slide Number Placeholder 0"/>
          <p:cNvSpPr>
            <a:spLocks noGrp="1"/>
          </p:cNvSpPr>
          <p:nvPr>
            <p:ph type="sldNum" sz="quarter" idx="4294967295"/>
          </p:nvPr>
        </p:nvSpPr>
        <p:spPr>
          <a:xfrm>
            <a:off x="11140135" y="6446520"/>
            <a:ext cx="457200" cy="256032"/>
          </a:xfrm>
          <a:prstGeom prst="rect">
            <a:avLst/>
          </a:prstGeom>
          <a:extLst>
            <a:ext uri="{C572A759-6A51-4108-AA02-DFA0A04FC94B}">
              <ma14:wrappingTextBoxFlag xmlns:ma14="http://schemas.microsoft.com/office/mac/drawingml/2011/main" xmlns="" val="0"/>
            </a:ext>
          </a:extLst>
        </p:spPr>
        <p:txBody>
          <a:bodyPr/>
          <a:lstStyle>
            <a:lvl1pPr>
              <a:defRPr sz="900">
                <a:solidFill>
                  <a:schemeClr val="accent6"/>
                </a:solidFill>
              </a:defRPr>
            </a:lvl1pPr>
          </a:lstStyle>
          <a:p>
            <a:pPr algn="r"/>
            <a:fld id="{F7021451-1387-4CA6-816F-3879F97B5CBC}" type="slidenum">
              <a:rPr lang="en-US" b="0"/>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txBox="1"/>
          <p:nvPr/>
        </p:nvSpPr>
        <p:spPr>
          <a:xfrm>
            <a:off x="594360" y="292608"/>
            <a:ext cx="8229600" cy="256032"/>
          </a:xfrm>
          <a:prstGeom prst="rect">
            <a:avLst/>
          </a:prstGeom>
          <a:noFill/>
          <a:ln/>
        </p:spPr>
        <p:txBody>
          <a:bodyPr wrap="square" lIns="0" tIns="0" rIns="0" bIns="0" rtlCol="0" anchor="t"/>
          <a:lstStyle/>
          <a:p>
            <a:pPr marL="0" indent="0">
              <a:buNone/>
            </a:pPr>
            <a:r>
              <a:rPr lang="en-US" sz="1100" b="1" kern="0" spc="300" dirty="0">
                <a:solidFill>
                  <a:schemeClr val="accent1"/>
                </a:solidFill>
              </a:rPr>
              <a:t>15 · PATH FORWARD</a:t>
            </a:r>
            <a:endParaRPr lang="en-US" sz="1100" dirty="0"/>
          </a:p>
        </p:txBody>
      </p:sp>
      <p:sp>
        <p:nvSpPr>
          <p:cNvPr id="3" name="Text 0"/>
          <p:cNvSpPr>
            <a:spLocks noGrp="1"/>
          </p:cNvSpPr>
          <p:nvPr>
            <p:ph type="title" idx="100" hasCustomPrompt="1"/>
          </p:nvPr>
        </p:nvSpPr>
        <p:spPr>
          <a:xfrm>
            <a:off x="594360" y="566928"/>
            <a:ext cx="11002975" cy="658368"/>
          </a:xfrm>
          <a:prstGeom prst="rect">
            <a:avLst/>
          </a:prstGeom>
          <a:noFill/>
          <a:ln/>
        </p:spPr>
        <p:txBody>
          <a:bodyPr wrap="square" lIns="0" tIns="0" rIns="0" bIns="0" rtlCol="0" anchor="ctr"/>
          <a:lstStyle/>
          <a:p>
            <a:pPr marL="0" indent="0" algn="l">
              <a:buNone/>
            </a:pPr>
            <a:r>
              <a:rPr lang="en-US" sz="3000" b="1" dirty="0">
                <a:solidFill>
                  <a:schemeClr val="tx2"/>
                </a:solidFill>
                <a:latin typeface="Georgia" pitchFamily="34" charset="0"/>
                <a:ea typeface="Georgia" pitchFamily="34" charset="-122"/>
                <a:cs typeface="Georgia" pitchFamily="34" charset="-120"/>
              </a:rPr>
              <a:t>Path to real use in India</a:t>
            </a:r>
            <a:endParaRPr lang="en-US" sz="3000" dirty="0"/>
          </a:p>
        </p:txBody>
      </p:sp>
      <p:sp>
        <p:nvSpPr>
          <p:cNvPr id="4" name="Shape 2"/>
          <p:cNvSpPr/>
          <p:nvPr/>
        </p:nvSpPr>
        <p:spPr>
          <a:xfrm>
            <a:off x="1920240" y="1920240"/>
            <a:ext cx="8458200" cy="0"/>
          </a:xfrm>
          <a:prstGeom prst="line">
            <a:avLst/>
          </a:prstGeom>
          <a:noFill/>
          <a:ln w="31750">
            <a:solidFill>
              <a:srgbClr val="5EC2B7"/>
            </a:solidFill>
            <a:prstDash val="solid"/>
          </a:ln>
        </p:spPr>
      </p:sp>
      <p:sp>
        <p:nvSpPr>
          <p:cNvPr id="5" name="icon-dot"/>
          <p:cNvSpPr/>
          <p:nvPr/>
        </p:nvSpPr>
        <p:spPr>
          <a:xfrm>
            <a:off x="1508760" y="1508760"/>
            <a:ext cx="822960" cy="822960"/>
          </a:xfrm>
          <a:prstGeom prst="ellipse">
            <a:avLst/>
          </a:prstGeom>
          <a:solidFill>
            <a:schemeClr val="accent1"/>
          </a:solidFill>
          <a:ln/>
        </p:spPr>
      </p:sp>
      <p:pic>
        <p:nvPicPr>
          <p:cNvPr id="6" name="icon-search" descr="C:\Users\Akhilesh\AppData\Local\Temp\claude\C--Users-Akhilesh-Desktop-Claude-code-Happiest-Health\47a587f0-c947-456b-8324-0bf75adb31d4\scratchpad\deck\img\icons\search.png"/>
          <p:cNvPicPr>
            <a:picLocks noChangeAspect="1"/>
          </p:cNvPicPr>
          <p:nvPr/>
        </p:nvPicPr>
        <p:blipFill>
          <a:blip r:embed="rId3"/>
          <a:stretch>
            <a:fillRect/>
          </a:stretch>
        </p:blipFill>
        <p:spPr>
          <a:xfrm>
            <a:off x="1689811" y="1689811"/>
            <a:ext cx="460858" cy="460858"/>
          </a:xfrm>
          <a:prstGeom prst="rect">
            <a:avLst/>
          </a:prstGeom>
        </p:spPr>
      </p:pic>
      <p:sp>
        <p:nvSpPr>
          <p:cNvPr id="7" name="Text 4"/>
          <p:cNvSpPr txBox="1"/>
          <p:nvPr/>
        </p:nvSpPr>
        <p:spPr>
          <a:xfrm>
            <a:off x="594360" y="2468880"/>
            <a:ext cx="2651760" cy="274320"/>
          </a:xfrm>
          <a:prstGeom prst="rect">
            <a:avLst/>
          </a:prstGeom>
          <a:noFill/>
          <a:ln/>
        </p:spPr>
        <p:txBody>
          <a:bodyPr wrap="square" lIns="0" tIns="0" rIns="0" bIns="0" rtlCol="0" anchor="t"/>
          <a:lstStyle/>
          <a:p>
            <a:pPr marL="0" indent="0" algn="ctr">
              <a:buNone/>
            </a:pPr>
            <a:r>
              <a:rPr lang="en-US" sz="1100" b="1" kern="0" spc="200" dirty="0">
                <a:solidFill>
                  <a:schemeClr val="accent6"/>
                </a:solidFill>
              </a:rPr>
              <a:t>STEP 1</a:t>
            </a:r>
            <a:endParaRPr lang="en-US" sz="1100" dirty="0"/>
          </a:p>
        </p:txBody>
      </p:sp>
      <p:sp>
        <p:nvSpPr>
          <p:cNvPr id="8" name="Text 5"/>
          <p:cNvSpPr txBox="1"/>
          <p:nvPr/>
        </p:nvSpPr>
        <p:spPr>
          <a:xfrm>
            <a:off x="594360" y="2743200"/>
            <a:ext cx="2651760" cy="384048"/>
          </a:xfrm>
          <a:prstGeom prst="rect">
            <a:avLst/>
          </a:prstGeom>
          <a:noFill/>
          <a:ln/>
        </p:spPr>
        <p:txBody>
          <a:bodyPr wrap="square" lIns="0" tIns="0" rIns="0" bIns="0" rtlCol="0" anchor="t"/>
          <a:lstStyle/>
          <a:p>
            <a:pPr marL="0" indent="0" algn="ctr">
              <a:buNone/>
            </a:pPr>
            <a:r>
              <a:rPr lang="en-US" sz="1700" b="1" dirty="0">
                <a:solidFill>
                  <a:schemeClr val="tx2"/>
                </a:solidFill>
                <a:latin typeface="Georgia" pitchFamily="34" charset="0"/>
                <a:ea typeface="Georgia" pitchFamily="34" charset="-122"/>
                <a:cs typeface="Georgia" pitchFamily="34" charset="-120"/>
              </a:rPr>
              <a:t>Real-data study</a:t>
            </a:r>
            <a:endParaRPr lang="en-US" sz="1700" dirty="0"/>
          </a:p>
        </p:txBody>
      </p:sp>
      <p:sp>
        <p:nvSpPr>
          <p:cNvPr id="9" name="Text 6"/>
          <p:cNvSpPr txBox="1"/>
          <p:nvPr/>
        </p:nvSpPr>
        <p:spPr>
          <a:xfrm>
            <a:off x="777240" y="3200400"/>
            <a:ext cx="2286000" cy="914400"/>
          </a:xfrm>
          <a:prstGeom prst="rect">
            <a:avLst/>
          </a:prstGeom>
          <a:noFill/>
          <a:ln/>
        </p:spPr>
        <p:txBody>
          <a:bodyPr wrap="square" lIns="0" tIns="0" rIns="0" bIns="0" rtlCol="0" anchor="t"/>
          <a:lstStyle/>
          <a:p>
            <a:pPr marL="0" indent="0" algn="ctr">
              <a:buNone/>
            </a:pPr>
            <a:r>
              <a:rPr lang="en-US" sz="1200" dirty="0">
                <a:solidFill>
                  <a:schemeClr val="accent6"/>
                </a:solidFill>
              </a:rPr>
              <a:t>Linked records and CGM from Indian T2D clinics, with ethics approval (ICMR AI guidelines)</a:t>
            </a:r>
            <a:endParaRPr lang="en-US" sz="1200" dirty="0"/>
          </a:p>
        </p:txBody>
      </p:sp>
      <p:sp>
        <p:nvSpPr>
          <p:cNvPr id="10" name="icon-dot"/>
          <p:cNvSpPr/>
          <p:nvPr/>
        </p:nvSpPr>
        <p:spPr>
          <a:xfrm>
            <a:off x="4325112" y="1508760"/>
            <a:ext cx="822960" cy="822960"/>
          </a:xfrm>
          <a:prstGeom prst="ellipse">
            <a:avLst/>
          </a:prstGeom>
          <a:solidFill>
            <a:schemeClr val="accent1"/>
          </a:solidFill>
          <a:ln/>
        </p:spPr>
      </p:sp>
      <p:pic>
        <p:nvPicPr>
          <p:cNvPr id="11" name="icon-sliders" descr="C:\Users\Akhilesh\AppData\Local\Temp\claude\C--Users-Akhilesh-Desktop-Claude-code-Happiest-Health\47a587f0-c947-456b-8324-0bf75adb31d4\scratchpad\deck\img\icons\sliders.png"/>
          <p:cNvPicPr>
            <a:picLocks noChangeAspect="1"/>
          </p:cNvPicPr>
          <p:nvPr/>
        </p:nvPicPr>
        <p:blipFill>
          <a:blip r:embed="rId4"/>
          <a:stretch>
            <a:fillRect/>
          </a:stretch>
        </p:blipFill>
        <p:spPr>
          <a:xfrm>
            <a:off x="4506163" y="1689811"/>
            <a:ext cx="460858" cy="460858"/>
          </a:xfrm>
          <a:prstGeom prst="rect">
            <a:avLst/>
          </a:prstGeom>
        </p:spPr>
      </p:pic>
      <p:sp>
        <p:nvSpPr>
          <p:cNvPr id="12" name="Text 8"/>
          <p:cNvSpPr txBox="1"/>
          <p:nvPr/>
        </p:nvSpPr>
        <p:spPr>
          <a:xfrm>
            <a:off x="3410712" y="2468880"/>
            <a:ext cx="2651760" cy="274320"/>
          </a:xfrm>
          <a:prstGeom prst="rect">
            <a:avLst/>
          </a:prstGeom>
          <a:noFill/>
          <a:ln/>
        </p:spPr>
        <p:txBody>
          <a:bodyPr wrap="square" lIns="0" tIns="0" rIns="0" bIns="0" rtlCol="0" anchor="t"/>
          <a:lstStyle/>
          <a:p>
            <a:pPr marL="0" indent="0" algn="ctr">
              <a:buNone/>
            </a:pPr>
            <a:r>
              <a:rPr lang="en-US" sz="1100" b="1" kern="0" spc="200" dirty="0">
                <a:solidFill>
                  <a:schemeClr val="accent6"/>
                </a:solidFill>
              </a:rPr>
              <a:t>STEP 2</a:t>
            </a:r>
            <a:endParaRPr lang="en-US" sz="1100" dirty="0"/>
          </a:p>
        </p:txBody>
      </p:sp>
      <p:sp>
        <p:nvSpPr>
          <p:cNvPr id="13" name="Text 9"/>
          <p:cNvSpPr txBox="1"/>
          <p:nvPr/>
        </p:nvSpPr>
        <p:spPr>
          <a:xfrm>
            <a:off x="3410712" y="2743200"/>
            <a:ext cx="2651760" cy="384048"/>
          </a:xfrm>
          <a:prstGeom prst="rect">
            <a:avLst/>
          </a:prstGeom>
          <a:noFill/>
          <a:ln/>
        </p:spPr>
        <p:txBody>
          <a:bodyPr wrap="square" lIns="0" tIns="0" rIns="0" bIns="0" rtlCol="0" anchor="t"/>
          <a:lstStyle/>
          <a:p>
            <a:pPr marL="0" indent="0" algn="ctr">
              <a:buNone/>
            </a:pPr>
            <a:r>
              <a:rPr lang="en-US" sz="1700" b="1" dirty="0">
                <a:solidFill>
                  <a:schemeClr val="tx2"/>
                </a:solidFill>
                <a:latin typeface="Georgia" pitchFamily="34" charset="0"/>
                <a:ea typeface="Georgia" pitchFamily="34" charset="-122"/>
                <a:cs typeface="Georgia" pitchFamily="34" charset="-120"/>
              </a:rPr>
              <a:t>Recalibrate</a:t>
            </a:r>
            <a:endParaRPr lang="en-US" sz="1700" dirty="0"/>
          </a:p>
        </p:txBody>
      </p:sp>
      <p:sp>
        <p:nvSpPr>
          <p:cNvPr id="14" name="Text 10"/>
          <p:cNvSpPr txBox="1"/>
          <p:nvPr/>
        </p:nvSpPr>
        <p:spPr>
          <a:xfrm>
            <a:off x="3593592" y="3200400"/>
            <a:ext cx="2286000" cy="914400"/>
          </a:xfrm>
          <a:prstGeom prst="rect">
            <a:avLst/>
          </a:prstGeom>
          <a:noFill/>
          <a:ln/>
        </p:spPr>
        <p:txBody>
          <a:bodyPr wrap="square" lIns="0" tIns="0" rIns="0" bIns="0" rtlCol="0" anchor="t"/>
          <a:lstStyle/>
          <a:p>
            <a:pPr marL="0" indent="0" algn="ctr">
              <a:buNone/>
            </a:pPr>
            <a:r>
              <a:rPr lang="en-US" sz="1200" dirty="0">
                <a:solidFill>
                  <a:schemeClr val="accent6"/>
                </a:solidFill>
              </a:rPr>
              <a:t>Fit probabilities and alert thresholds to the local population</a:t>
            </a:r>
            <a:endParaRPr lang="en-US" sz="1200" dirty="0"/>
          </a:p>
        </p:txBody>
      </p:sp>
      <p:sp>
        <p:nvSpPr>
          <p:cNvPr id="15" name="icon-dot"/>
          <p:cNvSpPr/>
          <p:nvPr/>
        </p:nvSpPr>
        <p:spPr>
          <a:xfrm>
            <a:off x="7141464" y="1508760"/>
            <a:ext cx="822960" cy="822960"/>
          </a:xfrm>
          <a:prstGeom prst="ellipse">
            <a:avLst/>
          </a:prstGeom>
          <a:solidFill>
            <a:schemeClr val="accent1"/>
          </a:solidFill>
          <a:ln/>
        </p:spPr>
      </p:sp>
      <p:pic>
        <p:nvPicPr>
          <p:cNvPr id="16" name="icon-eyeoff" descr="C:\Users\Akhilesh\AppData\Local\Temp\claude\C--Users-Akhilesh-Desktop-Claude-code-Happiest-Health\47a587f0-c947-456b-8324-0bf75adb31d4\scratchpad\deck\img\icons\eyeoff.png"/>
          <p:cNvPicPr>
            <a:picLocks noChangeAspect="1"/>
          </p:cNvPicPr>
          <p:nvPr/>
        </p:nvPicPr>
        <p:blipFill>
          <a:blip r:embed="rId5"/>
          <a:stretch>
            <a:fillRect/>
          </a:stretch>
        </p:blipFill>
        <p:spPr>
          <a:xfrm>
            <a:off x="7322515" y="1689811"/>
            <a:ext cx="460858" cy="460858"/>
          </a:xfrm>
          <a:prstGeom prst="rect">
            <a:avLst/>
          </a:prstGeom>
        </p:spPr>
      </p:pic>
      <p:sp>
        <p:nvSpPr>
          <p:cNvPr id="17" name="Text 12"/>
          <p:cNvSpPr txBox="1"/>
          <p:nvPr/>
        </p:nvSpPr>
        <p:spPr>
          <a:xfrm>
            <a:off x="6227064" y="2468880"/>
            <a:ext cx="2651760" cy="274320"/>
          </a:xfrm>
          <a:prstGeom prst="rect">
            <a:avLst/>
          </a:prstGeom>
          <a:noFill/>
          <a:ln/>
        </p:spPr>
        <p:txBody>
          <a:bodyPr wrap="square" lIns="0" tIns="0" rIns="0" bIns="0" rtlCol="0" anchor="t"/>
          <a:lstStyle/>
          <a:p>
            <a:pPr marL="0" indent="0" algn="ctr">
              <a:buNone/>
            </a:pPr>
            <a:r>
              <a:rPr lang="en-US" sz="1100" b="1" kern="0" spc="200" dirty="0">
                <a:solidFill>
                  <a:schemeClr val="accent6"/>
                </a:solidFill>
              </a:rPr>
              <a:t>STEP 3</a:t>
            </a:r>
            <a:endParaRPr lang="en-US" sz="1100" dirty="0"/>
          </a:p>
        </p:txBody>
      </p:sp>
      <p:sp>
        <p:nvSpPr>
          <p:cNvPr id="18" name="Text 13"/>
          <p:cNvSpPr txBox="1"/>
          <p:nvPr/>
        </p:nvSpPr>
        <p:spPr>
          <a:xfrm>
            <a:off x="6227064" y="2743200"/>
            <a:ext cx="2651760" cy="384048"/>
          </a:xfrm>
          <a:prstGeom prst="rect">
            <a:avLst/>
          </a:prstGeom>
          <a:noFill/>
          <a:ln/>
        </p:spPr>
        <p:txBody>
          <a:bodyPr wrap="square" lIns="0" tIns="0" rIns="0" bIns="0" rtlCol="0" anchor="t"/>
          <a:lstStyle/>
          <a:p>
            <a:pPr marL="0" indent="0" algn="ctr">
              <a:buNone/>
            </a:pPr>
            <a:r>
              <a:rPr lang="en-US" sz="1700" b="1" dirty="0">
                <a:solidFill>
                  <a:schemeClr val="tx2"/>
                </a:solidFill>
                <a:latin typeface="Georgia" pitchFamily="34" charset="0"/>
                <a:ea typeface="Georgia" pitchFamily="34" charset="-122"/>
                <a:cs typeface="Georgia" pitchFamily="34" charset="-120"/>
              </a:rPr>
              <a:t>Silent pilot</a:t>
            </a:r>
            <a:endParaRPr lang="en-US" sz="1700" dirty="0"/>
          </a:p>
        </p:txBody>
      </p:sp>
      <p:sp>
        <p:nvSpPr>
          <p:cNvPr id="19" name="Text 14"/>
          <p:cNvSpPr txBox="1"/>
          <p:nvPr/>
        </p:nvSpPr>
        <p:spPr>
          <a:xfrm>
            <a:off x="6409944" y="3200400"/>
            <a:ext cx="2286000" cy="914400"/>
          </a:xfrm>
          <a:prstGeom prst="rect">
            <a:avLst/>
          </a:prstGeom>
          <a:noFill/>
          <a:ln/>
        </p:spPr>
        <p:txBody>
          <a:bodyPr wrap="square" lIns="0" tIns="0" rIns="0" bIns="0" rtlCol="0" anchor="t"/>
          <a:lstStyle/>
          <a:p>
            <a:pPr marL="0" indent="0" algn="ctr">
              <a:buNone/>
            </a:pPr>
            <a:r>
              <a:rPr lang="en-US" sz="1200" dirty="0">
                <a:solidFill>
                  <a:schemeClr val="accent6"/>
                </a:solidFill>
              </a:rPr>
              <a:t>The model scores in the background; outcomes are compared afterwards</a:t>
            </a:r>
            <a:endParaRPr lang="en-US" sz="1200" dirty="0"/>
          </a:p>
        </p:txBody>
      </p:sp>
      <p:sp>
        <p:nvSpPr>
          <p:cNvPr id="20" name="icon-dot"/>
          <p:cNvSpPr/>
          <p:nvPr/>
        </p:nvSpPr>
        <p:spPr>
          <a:xfrm>
            <a:off x="9957816" y="1508760"/>
            <a:ext cx="822960" cy="822960"/>
          </a:xfrm>
          <a:prstGeom prst="ellipse">
            <a:avLst/>
          </a:prstGeom>
          <a:solidFill>
            <a:schemeClr val="accent2"/>
          </a:solidFill>
          <a:ln/>
        </p:spPr>
      </p:sp>
      <p:pic>
        <p:nvPicPr>
          <p:cNvPr id="21" name="icon-stethoscope" descr="C:\Users\Akhilesh\AppData\Local\Temp\claude\C--Users-Akhilesh-Desktop-Claude-code-Happiest-Health\47a587f0-c947-456b-8324-0bf75adb31d4\scratchpad\deck\img\icons\stethoscope.png"/>
          <p:cNvPicPr>
            <a:picLocks noChangeAspect="1"/>
          </p:cNvPicPr>
          <p:nvPr/>
        </p:nvPicPr>
        <p:blipFill>
          <a:blip r:embed="rId6"/>
          <a:stretch>
            <a:fillRect/>
          </a:stretch>
        </p:blipFill>
        <p:spPr>
          <a:xfrm>
            <a:off x="10138867" y="1689811"/>
            <a:ext cx="460858" cy="460858"/>
          </a:xfrm>
          <a:prstGeom prst="rect">
            <a:avLst/>
          </a:prstGeom>
        </p:spPr>
      </p:pic>
      <p:sp>
        <p:nvSpPr>
          <p:cNvPr id="22" name="Text 16"/>
          <p:cNvSpPr txBox="1"/>
          <p:nvPr/>
        </p:nvSpPr>
        <p:spPr>
          <a:xfrm>
            <a:off x="9043416" y="2468880"/>
            <a:ext cx="2651760" cy="274320"/>
          </a:xfrm>
          <a:prstGeom prst="rect">
            <a:avLst/>
          </a:prstGeom>
          <a:noFill/>
          <a:ln/>
        </p:spPr>
        <p:txBody>
          <a:bodyPr wrap="square" lIns="0" tIns="0" rIns="0" bIns="0" rtlCol="0" anchor="t"/>
          <a:lstStyle/>
          <a:p>
            <a:pPr marL="0" indent="0" algn="ctr">
              <a:buNone/>
            </a:pPr>
            <a:r>
              <a:rPr lang="en-US" sz="1100" b="1" kern="0" spc="200" dirty="0">
                <a:solidFill>
                  <a:schemeClr val="accent6"/>
                </a:solidFill>
              </a:rPr>
              <a:t>STEP 4</a:t>
            </a:r>
            <a:endParaRPr lang="en-US" sz="1100" dirty="0"/>
          </a:p>
        </p:txBody>
      </p:sp>
      <p:sp>
        <p:nvSpPr>
          <p:cNvPr id="23" name="Text 17"/>
          <p:cNvSpPr txBox="1"/>
          <p:nvPr/>
        </p:nvSpPr>
        <p:spPr>
          <a:xfrm>
            <a:off x="9043416" y="2743200"/>
            <a:ext cx="2651760" cy="384048"/>
          </a:xfrm>
          <a:prstGeom prst="rect">
            <a:avLst/>
          </a:prstGeom>
          <a:noFill/>
          <a:ln/>
        </p:spPr>
        <p:txBody>
          <a:bodyPr wrap="square" lIns="0" tIns="0" rIns="0" bIns="0" rtlCol="0" anchor="t"/>
          <a:lstStyle/>
          <a:p>
            <a:pPr marL="0" indent="0" algn="ctr">
              <a:buNone/>
            </a:pPr>
            <a:r>
              <a:rPr lang="en-US" sz="1700" b="1" dirty="0">
                <a:solidFill>
                  <a:schemeClr val="tx2"/>
                </a:solidFill>
                <a:latin typeface="Georgia" pitchFamily="34" charset="0"/>
                <a:ea typeface="Georgia" pitchFamily="34" charset="-122"/>
                <a:cs typeface="Georgia" pitchFamily="34" charset="-120"/>
              </a:rPr>
              <a:t>Clinician pilot</a:t>
            </a:r>
            <a:endParaRPr lang="en-US" sz="1700" dirty="0"/>
          </a:p>
        </p:txBody>
      </p:sp>
      <p:sp>
        <p:nvSpPr>
          <p:cNvPr id="24" name="Text 18"/>
          <p:cNvSpPr txBox="1"/>
          <p:nvPr/>
        </p:nvSpPr>
        <p:spPr>
          <a:xfrm>
            <a:off x="9226296" y="3200400"/>
            <a:ext cx="2286000" cy="914400"/>
          </a:xfrm>
          <a:prstGeom prst="rect">
            <a:avLst/>
          </a:prstGeom>
          <a:noFill/>
          <a:ln/>
        </p:spPr>
        <p:txBody>
          <a:bodyPr wrap="square" lIns="0" tIns="0" rIns="0" bIns="0" rtlCol="0" anchor="t"/>
          <a:lstStyle/>
          <a:p>
            <a:pPr marL="0" indent="0" algn="ctr">
              <a:buNone/>
            </a:pPr>
            <a:r>
              <a:rPr lang="en-US" sz="1200" dirty="0">
                <a:solidFill>
                  <a:schemeClr val="accent6"/>
                </a:solidFill>
              </a:rPr>
              <a:t>Diabetologists judge usefulness, workload and safety</a:t>
            </a:r>
            <a:endParaRPr lang="en-US" sz="1200" dirty="0"/>
          </a:p>
        </p:txBody>
      </p:sp>
      <p:sp>
        <p:nvSpPr>
          <p:cNvPr id="25" name="card"/>
          <p:cNvSpPr/>
          <p:nvPr/>
        </p:nvSpPr>
        <p:spPr>
          <a:xfrm>
            <a:off x="594360" y="4434840"/>
            <a:ext cx="5440680" cy="658368"/>
          </a:xfrm>
          <a:prstGeom prst="roundRect">
            <a:avLst>
              <a:gd name="adj" fmla="val 19444"/>
            </a:avLst>
          </a:prstGeom>
          <a:solidFill>
            <a:schemeClr val="bg1"/>
          </a:solidFill>
          <a:ln/>
          <a:effectLst>
            <a:outerShdw blurRad="177800" dist="38100" dir="5400000" algn="bl" rotWithShape="0">
              <a:srgbClr val="0B2F3F">
                <a:alpha val="10000"/>
              </a:srgbClr>
            </a:outerShdw>
          </a:effectLst>
        </p:spPr>
      </p:sp>
      <p:sp>
        <p:nvSpPr>
          <p:cNvPr id="26" name="icon-dot"/>
          <p:cNvSpPr/>
          <p:nvPr/>
        </p:nvSpPr>
        <p:spPr>
          <a:xfrm>
            <a:off x="758952" y="4553712"/>
            <a:ext cx="420624" cy="420624"/>
          </a:xfrm>
          <a:prstGeom prst="ellipse">
            <a:avLst/>
          </a:prstGeom>
          <a:solidFill>
            <a:schemeClr val="tx2"/>
          </a:solidFill>
          <a:ln/>
        </p:spPr>
      </p:sp>
      <p:pic>
        <p:nvPicPr>
          <p:cNvPr id="27" name="icon-lock" descr="C:\Users\Akhilesh\AppData\Local\Temp\claude\C--Users-Akhilesh-Desktop-Claude-code-Happiest-Health\47a587f0-c947-456b-8324-0bf75adb31d4\scratchpad\deck\img\icons\lock.png"/>
          <p:cNvPicPr>
            <a:picLocks noChangeAspect="1"/>
          </p:cNvPicPr>
          <p:nvPr/>
        </p:nvPicPr>
        <p:blipFill>
          <a:blip r:embed="rId7"/>
          <a:stretch>
            <a:fillRect/>
          </a:stretch>
        </p:blipFill>
        <p:spPr>
          <a:xfrm>
            <a:off x="851489" y="4646249"/>
            <a:ext cx="235549" cy="235549"/>
          </a:xfrm>
          <a:prstGeom prst="rect">
            <a:avLst/>
          </a:prstGeom>
        </p:spPr>
      </p:pic>
      <p:sp>
        <p:nvSpPr>
          <p:cNvPr id="28" name="Text 21"/>
          <p:cNvSpPr txBox="1"/>
          <p:nvPr/>
        </p:nvSpPr>
        <p:spPr>
          <a:xfrm>
            <a:off x="1325880" y="4434840"/>
            <a:ext cx="4572000" cy="658368"/>
          </a:xfrm>
          <a:prstGeom prst="rect">
            <a:avLst/>
          </a:prstGeom>
          <a:noFill/>
          <a:ln/>
        </p:spPr>
        <p:txBody>
          <a:bodyPr wrap="square" lIns="0" tIns="0" rIns="0" bIns="0" rtlCol="0" anchor="ctr"/>
          <a:lstStyle/>
          <a:p>
            <a:pPr marL="0" indent="0">
              <a:buNone/>
            </a:pPr>
            <a:r>
              <a:rPr lang="en-US" sz="1300" dirty="0">
                <a:solidFill>
                  <a:schemeClr val="tx1"/>
                </a:solidFill>
              </a:rPr>
              <a:t>DPDP Act 2023 &amp; Rules 2025: consent, purpose limits, security</a:t>
            </a:r>
            <a:endParaRPr lang="en-US" sz="1300" dirty="0"/>
          </a:p>
        </p:txBody>
      </p:sp>
      <p:sp>
        <p:nvSpPr>
          <p:cNvPr id="29" name="card"/>
          <p:cNvSpPr/>
          <p:nvPr/>
        </p:nvSpPr>
        <p:spPr>
          <a:xfrm>
            <a:off x="6153912" y="4434840"/>
            <a:ext cx="5440680" cy="658368"/>
          </a:xfrm>
          <a:prstGeom prst="roundRect">
            <a:avLst>
              <a:gd name="adj" fmla="val 19444"/>
            </a:avLst>
          </a:prstGeom>
          <a:solidFill>
            <a:schemeClr val="bg1"/>
          </a:solidFill>
          <a:ln/>
          <a:effectLst>
            <a:outerShdw blurRad="177800" dist="38100" dir="5400000" algn="bl" rotWithShape="0">
              <a:srgbClr val="0B2F3F">
                <a:alpha val="10000"/>
              </a:srgbClr>
            </a:outerShdw>
          </a:effectLst>
        </p:spPr>
      </p:sp>
      <p:sp>
        <p:nvSpPr>
          <p:cNvPr id="30" name="icon-dot"/>
          <p:cNvSpPr/>
          <p:nvPr/>
        </p:nvSpPr>
        <p:spPr>
          <a:xfrm>
            <a:off x="6318504" y="4553712"/>
            <a:ext cx="420624" cy="420624"/>
          </a:xfrm>
          <a:prstGeom prst="ellipse">
            <a:avLst/>
          </a:prstGeom>
          <a:solidFill>
            <a:schemeClr val="tx2"/>
          </a:solidFill>
          <a:ln/>
        </p:spPr>
      </p:sp>
      <p:pic>
        <p:nvPicPr>
          <p:cNvPr id="31" name="icon-key" descr="C:\Users\Akhilesh\AppData\Local\Temp\claude\C--Users-Akhilesh-Desktop-Claude-code-Happiest-Health\47a587f0-c947-456b-8324-0bf75adb31d4\scratchpad\deck\img\icons\key.png"/>
          <p:cNvPicPr>
            <a:picLocks noChangeAspect="1"/>
          </p:cNvPicPr>
          <p:nvPr/>
        </p:nvPicPr>
        <p:blipFill>
          <a:blip r:embed="rId8"/>
          <a:stretch>
            <a:fillRect/>
          </a:stretch>
        </p:blipFill>
        <p:spPr>
          <a:xfrm>
            <a:off x="6411041" y="4646249"/>
            <a:ext cx="235549" cy="235549"/>
          </a:xfrm>
          <a:prstGeom prst="rect">
            <a:avLst/>
          </a:prstGeom>
        </p:spPr>
      </p:pic>
      <p:sp>
        <p:nvSpPr>
          <p:cNvPr id="32" name="Text 24"/>
          <p:cNvSpPr txBox="1"/>
          <p:nvPr/>
        </p:nvSpPr>
        <p:spPr>
          <a:xfrm>
            <a:off x="6885432" y="4434840"/>
            <a:ext cx="4572000" cy="658368"/>
          </a:xfrm>
          <a:prstGeom prst="rect">
            <a:avLst/>
          </a:prstGeom>
          <a:noFill/>
          <a:ln/>
        </p:spPr>
        <p:txBody>
          <a:bodyPr wrap="square" lIns="0" tIns="0" rIns="0" bIns="0" rtlCol="0" anchor="ctr"/>
          <a:lstStyle/>
          <a:p>
            <a:pPr marL="0" indent="0">
              <a:buNone/>
            </a:pPr>
            <a:r>
              <a:rPr lang="en-US" sz="1300" dirty="0">
                <a:solidFill>
                  <a:schemeClr val="tx1"/>
                </a:solidFill>
              </a:rPr>
              <a:t>ABDM / ABHA consent flows to link a record to a device</a:t>
            </a:r>
            <a:endParaRPr lang="en-US" sz="1300" dirty="0"/>
          </a:p>
        </p:txBody>
      </p:sp>
      <p:sp>
        <p:nvSpPr>
          <p:cNvPr id="33" name="card"/>
          <p:cNvSpPr/>
          <p:nvPr/>
        </p:nvSpPr>
        <p:spPr>
          <a:xfrm>
            <a:off x="594360" y="5239512"/>
            <a:ext cx="5440680" cy="658368"/>
          </a:xfrm>
          <a:prstGeom prst="roundRect">
            <a:avLst>
              <a:gd name="adj" fmla="val 19444"/>
            </a:avLst>
          </a:prstGeom>
          <a:solidFill>
            <a:schemeClr val="bg1"/>
          </a:solidFill>
          <a:ln/>
          <a:effectLst>
            <a:outerShdw blurRad="177800" dist="38100" dir="5400000" algn="bl" rotWithShape="0">
              <a:srgbClr val="0B2F3F">
                <a:alpha val="10000"/>
              </a:srgbClr>
            </a:outerShdw>
          </a:effectLst>
        </p:spPr>
      </p:sp>
      <p:sp>
        <p:nvSpPr>
          <p:cNvPr id="34" name="icon-dot"/>
          <p:cNvSpPr/>
          <p:nvPr/>
        </p:nvSpPr>
        <p:spPr>
          <a:xfrm>
            <a:off x="758952" y="5358384"/>
            <a:ext cx="420624" cy="420624"/>
          </a:xfrm>
          <a:prstGeom prst="ellipse">
            <a:avLst/>
          </a:prstGeom>
          <a:solidFill>
            <a:schemeClr val="tx2"/>
          </a:solidFill>
          <a:ln/>
        </p:spPr>
      </p:sp>
      <p:pic>
        <p:nvPicPr>
          <p:cNvPr id="35" name="icon-filecheck" descr="C:\Users\Akhilesh\AppData\Local\Temp\claude\C--Users-Akhilesh-Desktop-Claude-code-Happiest-Health\47a587f0-c947-456b-8324-0bf75adb31d4\scratchpad\deck\img\icons\filecheck.png"/>
          <p:cNvPicPr>
            <a:picLocks noChangeAspect="1"/>
          </p:cNvPicPr>
          <p:nvPr/>
        </p:nvPicPr>
        <p:blipFill>
          <a:blip r:embed="rId9"/>
          <a:stretch>
            <a:fillRect/>
          </a:stretch>
        </p:blipFill>
        <p:spPr>
          <a:xfrm>
            <a:off x="851489" y="5450921"/>
            <a:ext cx="235549" cy="235549"/>
          </a:xfrm>
          <a:prstGeom prst="rect">
            <a:avLst/>
          </a:prstGeom>
        </p:spPr>
      </p:pic>
      <p:sp>
        <p:nvSpPr>
          <p:cNvPr id="36" name="Text 27"/>
          <p:cNvSpPr txBox="1"/>
          <p:nvPr/>
        </p:nvSpPr>
        <p:spPr>
          <a:xfrm>
            <a:off x="1325880" y="5239512"/>
            <a:ext cx="4572000" cy="658368"/>
          </a:xfrm>
          <a:prstGeom prst="rect">
            <a:avLst/>
          </a:prstGeom>
          <a:noFill/>
          <a:ln/>
        </p:spPr>
        <p:txBody>
          <a:bodyPr wrap="square" lIns="0" tIns="0" rIns="0" bIns="0" rtlCol="0" anchor="ctr"/>
          <a:lstStyle/>
          <a:p>
            <a:pPr marL="0" indent="0">
              <a:buNone/>
            </a:pPr>
            <a:r>
              <a:rPr lang="en-US" sz="1300" dirty="0">
                <a:solidFill>
                  <a:schemeClr val="tx1"/>
                </a:solidFill>
              </a:rPr>
              <a:t>CDSCO medical device software rules (risk class to confirm)</a:t>
            </a:r>
            <a:endParaRPr lang="en-US" sz="1300" dirty="0"/>
          </a:p>
        </p:txBody>
      </p:sp>
      <p:sp>
        <p:nvSpPr>
          <p:cNvPr id="37" name="card"/>
          <p:cNvSpPr/>
          <p:nvPr/>
        </p:nvSpPr>
        <p:spPr>
          <a:xfrm>
            <a:off x="6153912" y="5239512"/>
            <a:ext cx="5440680" cy="658368"/>
          </a:xfrm>
          <a:prstGeom prst="roundRect">
            <a:avLst>
              <a:gd name="adj" fmla="val 19444"/>
            </a:avLst>
          </a:prstGeom>
          <a:solidFill>
            <a:schemeClr val="bg1"/>
          </a:solidFill>
          <a:ln/>
          <a:effectLst>
            <a:outerShdw blurRad="177800" dist="38100" dir="5400000" algn="bl" rotWithShape="0">
              <a:srgbClr val="0B2F3F">
                <a:alpha val="10000"/>
              </a:srgbClr>
            </a:outerShdw>
          </a:effectLst>
        </p:spPr>
      </p:sp>
      <p:sp>
        <p:nvSpPr>
          <p:cNvPr id="38" name="icon-dot"/>
          <p:cNvSpPr/>
          <p:nvPr/>
        </p:nvSpPr>
        <p:spPr>
          <a:xfrm>
            <a:off x="6318504" y="5358384"/>
            <a:ext cx="420624" cy="420624"/>
          </a:xfrm>
          <a:prstGeom prst="ellipse">
            <a:avLst/>
          </a:prstGeom>
          <a:solidFill>
            <a:schemeClr val="tx2"/>
          </a:solidFill>
          <a:ln/>
        </p:spPr>
      </p:sp>
      <p:pic>
        <p:nvPicPr>
          <p:cNvPr id="39" name="icon-bell" descr="C:\Users\Akhilesh\AppData\Local\Temp\claude\C--Users-Akhilesh-Desktop-Claude-code-Happiest-Health\47a587f0-c947-456b-8324-0bf75adb31d4\scratchpad\deck\img\icons\bell.png"/>
          <p:cNvPicPr>
            <a:picLocks noChangeAspect="1"/>
          </p:cNvPicPr>
          <p:nvPr/>
        </p:nvPicPr>
        <p:blipFill>
          <a:blip r:embed="rId10"/>
          <a:stretch>
            <a:fillRect/>
          </a:stretch>
        </p:blipFill>
        <p:spPr>
          <a:xfrm>
            <a:off x="6411041" y="5450921"/>
            <a:ext cx="235549" cy="235549"/>
          </a:xfrm>
          <a:prstGeom prst="rect">
            <a:avLst/>
          </a:prstGeom>
        </p:spPr>
      </p:pic>
      <p:sp>
        <p:nvSpPr>
          <p:cNvPr id="40" name="Text 30"/>
          <p:cNvSpPr txBox="1"/>
          <p:nvPr/>
        </p:nvSpPr>
        <p:spPr>
          <a:xfrm>
            <a:off x="6885432" y="5239512"/>
            <a:ext cx="4572000" cy="658368"/>
          </a:xfrm>
          <a:prstGeom prst="rect">
            <a:avLst/>
          </a:prstGeom>
          <a:noFill/>
          <a:ln/>
        </p:spPr>
        <p:txBody>
          <a:bodyPr wrap="square" lIns="0" tIns="0" rIns="0" bIns="0" rtlCol="0" anchor="ctr"/>
          <a:lstStyle/>
          <a:p>
            <a:pPr marL="0" indent="0">
              <a:buNone/>
            </a:pPr>
            <a:r>
              <a:rPr lang="en-US" sz="1300" dirty="0">
                <a:solidFill>
                  <a:schemeClr val="tx1"/>
                </a:solidFill>
              </a:rPr>
              <a:t>CGM alarms stay on; the twin never replaces them</a:t>
            </a:r>
            <a:endParaRPr lang="en-US" sz="1300" dirty="0"/>
          </a:p>
        </p:txBody>
      </p:sp>
      <p:sp>
        <p:nvSpPr>
          <p:cNvPr id="41" name="Slide Number Placeholder 0"/>
          <p:cNvSpPr>
            <a:spLocks noGrp="1"/>
          </p:cNvSpPr>
          <p:nvPr>
            <p:ph type="sldNum" sz="quarter" idx="4294967295"/>
          </p:nvPr>
        </p:nvSpPr>
        <p:spPr>
          <a:xfrm>
            <a:off x="11140135" y="6446520"/>
            <a:ext cx="457200" cy="256032"/>
          </a:xfrm>
          <a:prstGeom prst="rect">
            <a:avLst/>
          </a:prstGeom>
          <a:extLst>
            <a:ext uri="{C572A759-6A51-4108-AA02-DFA0A04FC94B}">
              <ma14:wrappingTextBoxFlag xmlns:ma14="http://schemas.microsoft.com/office/mac/drawingml/2011/main" xmlns="" val="0"/>
            </a:ext>
          </a:extLst>
        </p:spPr>
        <p:txBody>
          <a:bodyPr/>
          <a:lstStyle>
            <a:lvl1pPr>
              <a:defRPr sz="900">
                <a:solidFill>
                  <a:schemeClr val="accent6"/>
                </a:solidFill>
              </a:defRPr>
            </a:lvl1pPr>
          </a:lstStyle>
          <a:p>
            <a:pPr algn="r"/>
            <a:fld id="{F7021451-1387-4CA6-816F-3879F97B5CBC}" type="slidenum">
              <a:rPr lang="en-US" b="0"/>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txBox="1"/>
          <p:nvPr/>
        </p:nvSpPr>
        <p:spPr>
          <a:xfrm>
            <a:off x="594360" y="292608"/>
            <a:ext cx="8229600" cy="256032"/>
          </a:xfrm>
          <a:prstGeom prst="rect">
            <a:avLst/>
          </a:prstGeom>
          <a:noFill/>
          <a:ln/>
        </p:spPr>
        <p:txBody>
          <a:bodyPr wrap="square" lIns="0" tIns="0" rIns="0" bIns="0" rtlCol="0" anchor="t"/>
          <a:lstStyle/>
          <a:p>
            <a:pPr marL="0" indent="0">
              <a:buNone/>
            </a:pPr>
            <a:r>
              <a:rPr lang="en-US" sz="1100" b="1" kern="0" spc="300" dirty="0">
                <a:solidFill>
                  <a:schemeClr val="accent1"/>
                </a:solidFill>
              </a:rPr>
              <a:t>16 · ENGINEERING</a:t>
            </a:r>
            <a:endParaRPr lang="en-US" sz="1100" dirty="0"/>
          </a:p>
        </p:txBody>
      </p:sp>
      <p:sp>
        <p:nvSpPr>
          <p:cNvPr id="3" name="Text 0"/>
          <p:cNvSpPr>
            <a:spLocks noGrp="1"/>
          </p:cNvSpPr>
          <p:nvPr>
            <p:ph type="title" idx="100" hasCustomPrompt="1"/>
          </p:nvPr>
        </p:nvSpPr>
        <p:spPr>
          <a:xfrm>
            <a:off x="594360" y="566928"/>
            <a:ext cx="11002975" cy="658368"/>
          </a:xfrm>
          <a:prstGeom prst="rect">
            <a:avLst/>
          </a:prstGeom>
          <a:noFill/>
          <a:ln/>
        </p:spPr>
        <p:txBody>
          <a:bodyPr wrap="square" lIns="0" tIns="0" rIns="0" bIns="0" rtlCol="0" anchor="ctr"/>
          <a:lstStyle/>
          <a:p>
            <a:pPr marL="0" indent="0" algn="l">
              <a:buNone/>
            </a:pPr>
            <a:r>
              <a:rPr lang="en-US" sz="3000" b="1" dirty="0">
                <a:solidFill>
                  <a:schemeClr val="tx2"/>
                </a:solidFill>
                <a:latin typeface="Georgia" pitchFamily="34" charset="0"/>
                <a:ea typeface="Georgia" pitchFamily="34" charset="-122"/>
                <a:cs typeface="Georgia" pitchFamily="34" charset="-120"/>
              </a:rPr>
              <a:t>Built to be checked, not just demoed</a:t>
            </a:r>
            <a:endParaRPr lang="en-US" sz="3000" dirty="0"/>
          </a:p>
        </p:txBody>
      </p:sp>
      <p:sp>
        <p:nvSpPr>
          <p:cNvPr id="4" name="card"/>
          <p:cNvSpPr/>
          <p:nvPr/>
        </p:nvSpPr>
        <p:spPr>
          <a:xfrm>
            <a:off x="594360" y="1463040"/>
            <a:ext cx="2624328" cy="2148840"/>
          </a:xfrm>
          <a:prstGeom prst="roundRect">
            <a:avLst>
              <a:gd name="adj" fmla="val 5957"/>
            </a:avLst>
          </a:prstGeom>
          <a:solidFill>
            <a:schemeClr val="bg1"/>
          </a:solidFill>
          <a:ln/>
          <a:effectLst>
            <a:outerShdw blurRad="177800" dist="38100" dir="5400000" algn="bl" rotWithShape="0">
              <a:srgbClr val="0B2F3F">
                <a:alpha val="10000"/>
              </a:srgbClr>
            </a:outerShdw>
          </a:effectLst>
        </p:spPr>
      </p:sp>
      <p:sp>
        <p:nvSpPr>
          <p:cNvPr id="5" name="icon-dot"/>
          <p:cNvSpPr/>
          <p:nvPr/>
        </p:nvSpPr>
        <p:spPr>
          <a:xfrm>
            <a:off x="868680" y="1719072"/>
            <a:ext cx="548640" cy="548640"/>
          </a:xfrm>
          <a:prstGeom prst="ellipse">
            <a:avLst/>
          </a:prstGeom>
          <a:solidFill>
            <a:schemeClr val="accent1"/>
          </a:solidFill>
          <a:ln/>
        </p:spPr>
      </p:sp>
      <p:pic>
        <p:nvPicPr>
          <p:cNvPr id="6" name="icon-flask" descr="C:\Users\Akhilesh\AppData\Local\Temp\claude\C--Users-Akhilesh-Desktop-Claude-code-Happiest-Health\47a587f0-c947-456b-8324-0bf75adb31d4\scratchpad\deck\img\icons\flask.png"/>
          <p:cNvPicPr>
            <a:picLocks noChangeAspect="1"/>
          </p:cNvPicPr>
          <p:nvPr/>
        </p:nvPicPr>
        <p:blipFill>
          <a:blip r:embed="rId3"/>
          <a:stretch>
            <a:fillRect/>
          </a:stretch>
        </p:blipFill>
        <p:spPr>
          <a:xfrm>
            <a:off x="989381" y="1839773"/>
            <a:ext cx="307238" cy="307238"/>
          </a:xfrm>
          <a:prstGeom prst="rect">
            <a:avLst/>
          </a:prstGeom>
        </p:spPr>
      </p:pic>
      <p:sp>
        <p:nvSpPr>
          <p:cNvPr id="7" name="Text 4"/>
          <p:cNvSpPr txBox="1"/>
          <p:nvPr/>
        </p:nvSpPr>
        <p:spPr>
          <a:xfrm>
            <a:off x="868680" y="2331720"/>
            <a:ext cx="2194560" cy="685800"/>
          </a:xfrm>
          <a:prstGeom prst="rect">
            <a:avLst/>
          </a:prstGeom>
          <a:noFill/>
          <a:ln/>
        </p:spPr>
        <p:txBody>
          <a:bodyPr wrap="square" lIns="0" tIns="0" rIns="0" bIns="0" rtlCol="0" anchor="b"/>
          <a:lstStyle/>
          <a:p>
            <a:pPr marL="0" indent="0">
              <a:buNone/>
            </a:pPr>
            <a:r>
              <a:rPr lang="en-US" sz="3800" b="1" dirty="0">
                <a:solidFill>
                  <a:schemeClr val="tx2"/>
                </a:solidFill>
                <a:latin typeface="Georgia" pitchFamily="34" charset="0"/>
                <a:ea typeface="Georgia" pitchFamily="34" charset="-122"/>
                <a:cs typeface="Georgia" pitchFamily="34" charset="-120"/>
              </a:rPr>
              <a:t>140</a:t>
            </a:r>
            <a:endParaRPr lang="en-US" sz="3800" dirty="0"/>
          </a:p>
        </p:txBody>
      </p:sp>
      <p:sp>
        <p:nvSpPr>
          <p:cNvPr id="8" name="Text 5"/>
          <p:cNvSpPr txBox="1"/>
          <p:nvPr/>
        </p:nvSpPr>
        <p:spPr>
          <a:xfrm>
            <a:off x="868680" y="3063240"/>
            <a:ext cx="2194560" cy="457200"/>
          </a:xfrm>
          <a:prstGeom prst="rect">
            <a:avLst/>
          </a:prstGeom>
          <a:noFill/>
          <a:ln/>
        </p:spPr>
        <p:txBody>
          <a:bodyPr wrap="square" lIns="0" tIns="0" rIns="0" bIns="0" rtlCol="0" anchor="t"/>
          <a:lstStyle/>
          <a:p>
            <a:pPr marL="0" indent="0">
              <a:buNone/>
            </a:pPr>
            <a:r>
              <a:rPr lang="en-US" sz="1200" dirty="0">
                <a:solidFill>
                  <a:schemeClr val="accent6"/>
                </a:solidFill>
              </a:rPr>
              <a:t>automated tests, run by CI on every push</a:t>
            </a:r>
            <a:endParaRPr lang="en-US" sz="1200" dirty="0"/>
          </a:p>
        </p:txBody>
      </p:sp>
      <p:sp>
        <p:nvSpPr>
          <p:cNvPr id="9" name="card"/>
          <p:cNvSpPr/>
          <p:nvPr/>
        </p:nvSpPr>
        <p:spPr>
          <a:xfrm>
            <a:off x="3401568" y="1463040"/>
            <a:ext cx="2624328" cy="2148840"/>
          </a:xfrm>
          <a:prstGeom prst="roundRect">
            <a:avLst>
              <a:gd name="adj" fmla="val 5957"/>
            </a:avLst>
          </a:prstGeom>
          <a:solidFill>
            <a:schemeClr val="bg1"/>
          </a:solidFill>
          <a:ln/>
          <a:effectLst>
            <a:outerShdw blurRad="177800" dist="38100" dir="5400000" algn="bl" rotWithShape="0">
              <a:srgbClr val="0B2F3F">
                <a:alpha val="10000"/>
              </a:srgbClr>
            </a:outerShdw>
          </a:effectLst>
        </p:spPr>
      </p:sp>
      <p:sp>
        <p:nvSpPr>
          <p:cNvPr id="10" name="icon-dot"/>
          <p:cNvSpPr/>
          <p:nvPr/>
        </p:nvSpPr>
        <p:spPr>
          <a:xfrm>
            <a:off x="3675888" y="1719072"/>
            <a:ext cx="548640" cy="548640"/>
          </a:xfrm>
          <a:prstGeom prst="ellipse">
            <a:avLst/>
          </a:prstGeom>
          <a:solidFill>
            <a:schemeClr val="accent3"/>
          </a:solidFill>
          <a:ln/>
        </p:spPr>
      </p:sp>
      <p:pic>
        <p:nvPicPr>
          <p:cNvPr id="11" name="icon-terminal" descr="C:\Users\Akhilesh\AppData\Local\Temp\claude\C--Users-Akhilesh-Desktop-Claude-code-Happiest-Health\47a587f0-c947-456b-8324-0bf75adb31d4\scratchpad\deck\img\icons\terminal.png"/>
          <p:cNvPicPr>
            <a:picLocks noChangeAspect="1"/>
          </p:cNvPicPr>
          <p:nvPr/>
        </p:nvPicPr>
        <p:blipFill>
          <a:blip r:embed="rId4"/>
          <a:stretch>
            <a:fillRect/>
          </a:stretch>
        </p:blipFill>
        <p:spPr>
          <a:xfrm>
            <a:off x="3796589" y="1839773"/>
            <a:ext cx="307238" cy="307238"/>
          </a:xfrm>
          <a:prstGeom prst="rect">
            <a:avLst/>
          </a:prstGeom>
        </p:spPr>
      </p:pic>
      <p:sp>
        <p:nvSpPr>
          <p:cNvPr id="12" name="Text 8"/>
          <p:cNvSpPr txBox="1"/>
          <p:nvPr/>
        </p:nvSpPr>
        <p:spPr>
          <a:xfrm>
            <a:off x="3675888" y="2331720"/>
            <a:ext cx="2194560" cy="685800"/>
          </a:xfrm>
          <a:prstGeom prst="rect">
            <a:avLst/>
          </a:prstGeom>
          <a:noFill/>
          <a:ln/>
        </p:spPr>
        <p:txBody>
          <a:bodyPr wrap="square" lIns="0" tIns="0" rIns="0" bIns="0" rtlCol="0" anchor="b"/>
          <a:lstStyle/>
          <a:p>
            <a:pPr marL="0" indent="0">
              <a:buNone/>
            </a:pPr>
            <a:r>
              <a:rPr lang="en-US" sz="3800" b="1" dirty="0">
                <a:solidFill>
                  <a:schemeClr val="tx2"/>
                </a:solidFill>
                <a:latin typeface="Georgia" pitchFamily="34" charset="0"/>
                <a:ea typeface="Georgia" pitchFamily="34" charset="-122"/>
                <a:cs typeface="Georgia" pitchFamily="34" charset="-120"/>
              </a:rPr>
              <a:t>1</a:t>
            </a:r>
            <a:endParaRPr lang="en-US" sz="3800" dirty="0"/>
          </a:p>
        </p:txBody>
      </p:sp>
      <p:sp>
        <p:nvSpPr>
          <p:cNvPr id="13" name="Text 9"/>
          <p:cNvSpPr txBox="1"/>
          <p:nvPr/>
        </p:nvSpPr>
        <p:spPr>
          <a:xfrm>
            <a:off x="3675888" y="3063240"/>
            <a:ext cx="2194560" cy="457200"/>
          </a:xfrm>
          <a:prstGeom prst="rect">
            <a:avLst/>
          </a:prstGeom>
          <a:noFill/>
          <a:ln/>
        </p:spPr>
        <p:txBody>
          <a:bodyPr wrap="square" lIns="0" tIns="0" rIns="0" bIns="0" rtlCol="0" anchor="t"/>
          <a:lstStyle/>
          <a:p>
            <a:pPr marL="0" indent="0">
              <a:buNone/>
            </a:pPr>
            <a:r>
              <a:rPr lang="en-US" sz="1200" dirty="0">
                <a:solidFill>
                  <a:schemeClr val="accent6"/>
                </a:solidFill>
              </a:rPr>
              <a:t>command rebuilds data, models and reports</a:t>
            </a:r>
            <a:endParaRPr lang="en-US" sz="1200" dirty="0"/>
          </a:p>
        </p:txBody>
      </p:sp>
      <p:sp>
        <p:nvSpPr>
          <p:cNvPr id="14" name="card"/>
          <p:cNvSpPr/>
          <p:nvPr/>
        </p:nvSpPr>
        <p:spPr>
          <a:xfrm>
            <a:off x="6208776" y="1463040"/>
            <a:ext cx="2624328" cy="2148840"/>
          </a:xfrm>
          <a:prstGeom prst="roundRect">
            <a:avLst>
              <a:gd name="adj" fmla="val 5957"/>
            </a:avLst>
          </a:prstGeom>
          <a:solidFill>
            <a:schemeClr val="bg1"/>
          </a:solidFill>
          <a:ln/>
          <a:effectLst>
            <a:outerShdw blurRad="177800" dist="38100" dir="5400000" algn="bl" rotWithShape="0">
              <a:srgbClr val="0B2F3F">
                <a:alpha val="10000"/>
              </a:srgbClr>
            </a:outerShdw>
          </a:effectLst>
        </p:spPr>
      </p:sp>
      <p:sp>
        <p:nvSpPr>
          <p:cNvPr id="15" name="icon-dot"/>
          <p:cNvSpPr/>
          <p:nvPr/>
        </p:nvSpPr>
        <p:spPr>
          <a:xfrm>
            <a:off x="6483096" y="1719072"/>
            <a:ext cx="548640" cy="548640"/>
          </a:xfrm>
          <a:prstGeom prst="ellipse">
            <a:avLst/>
          </a:prstGeom>
          <a:solidFill>
            <a:schemeClr val="accent1"/>
          </a:solidFill>
          <a:ln/>
        </p:spPr>
      </p:sp>
      <p:pic>
        <p:nvPicPr>
          <p:cNvPr id="16" name="icon-database" descr="C:\Users\Akhilesh\AppData\Local\Temp\claude\C--Users-Akhilesh-Desktop-Claude-code-Happiest-Health\47a587f0-c947-456b-8324-0bf75adb31d4\scratchpad\deck\img\icons\database.png"/>
          <p:cNvPicPr>
            <a:picLocks noChangeAspect="1"/>
          </p:cNvPicPr>
          <p:nvPr/>
        </p:nvPicPr>
        <p:blipFill>
          <a:blip r:embed="rId5"/>
          <a:stretch>
            <a:fillRect/>
          </a:stretch>
        </p:blipFill>
        <p:spPr>
          <a:xfrm>
            <a:off x="6603797" y="1839773"/>
            <a:ext cx="307238" cy="307238"/>
          </a:xfrm>
          <a:prstGeom prst="rect">
            <a:avLst/>
          </a:prstGeom>
        </p:spPr>
      </p:pic>
      <p:sp>
        <p:nvSpPr>
          <p:cNvPr id="17" name="Text 12"/>
          <p:cNvSpPr txBox="1"/>
          <p:nvPr/>
        </p:nvSpPr>
        <p:spPr>
          <a:xfrm>
            <a:off x="6483096" y="2331720"/>
            <a:ext cx="2194560" cy="685800"/>
          </a:xfrm>
          <a:prstGeom prst="rect">
            <a:avLst/>
          </a:prstGeom>
          <a:noFill/>
          <a:ln/>
        </p:spPr>
        <p:txBody>
          <a:bodyPr wrap="square" lIns="0" tIns="0" rIns="0" bIns="0" rtlCol="0" anchor="b"/>
          <a:lstStyle/>
          <a:p>
            <a:pPr marL="0" indent="0">
              <a:buNone/>
            </a:pPr>
            <a:r>
              <a:rPr lang="en-US" sz="3800" b="1" dirty="0">
                <a:solidFill>
                  <a:schemeClr val="tx2"/>
                </a:solidFill>
                <a:latin typeface="Georgia" pitchFamily="34" charset="0"/>
                <a:ea typeface="Georgia" pitchFamily="34" charset="-122"/>
                <a:cs typeface="Georgia" pitchFamily="34" charset="-120"/>
              </a:rPr>
              <a:t>2</a:t>
            </a:r>
            <a:endParaRPr lang="en-US" sz="3800" dirty="0"/>
          </a:p>
        </p:txBody>
      </p:sp>
      <p:sp>
        <p:nvSpPr>
          <p:cNvPr id="18" name="Text 13"/>
          <p:cNvSpPr txBox="1"/>
          <p:nvPr/>
        </p:nvSpPr>
        <p:spPr>
          <a:xfrm>
            <a:off x="6483096" y="3063240"/>
            <a:ext cx="2194560" cy="457200"/>
          </a:xfrm>
          <a:prstGeom prst="rect">
            <a:avLst/>
          </a:prstGeom>
          <a:noFill/>
          <a:ln/>
        </p:spPr>
        <p:txBody>
          <a:bodyPr wrap="square" lIns="0" tIns="0" rIns="0" bIns="0" rtlCol="0" anchor="t"/>
          <a:lstStyle/>
          <a:p>
            <a:pPr marL="0" indent="0">
              <a:buNone/>
            </a:pPr>
            <a:r>
              <a:rPr lang="en-US" sz="1200" dirty="0">
                <a:solidFill>
                  <a:schemeClr val="accent6"/>
                </a:solidFill>
              </a:rPr>
              <a:t>public real datasets checked</a:t>
            </a:r>
            <a:endParaRPr lang="en-US" sz="1200" dirty="0"/>
          </a:p>
        </p:txBody>
      </p:sp>
      <p:sp>
        <p:nvSpPr>
          <p:cNvPr id="19" name="card"/>
          <p:cNvSpPr/>
          <p:nvPr/>
        </p:nvSpPr>
        <p:spPr>
          <a:xfrm>
            <a:off x="9015984" y="1463040"/>
            <a:ext cx="2624328" cy="2148840"/>
          </a:xfrm>
          <a:prstGeom prst="roundRect">
            <a:avLst>
              <a:gd name="adj" fmla="val 5957"/>
            </a:avLst>
          </a:prstGeom>
          <a:solidFill>
            <a:schemeClr val="bg1"/>
          </a:solidFill>
          <a:ln/>
          <a:effectLst>
            <a:outerShdw blurRad="177800" dist="38100" dir="5400000" algn="bl" rotWithShape="0">
              <a:srgbClr val="0B2F3F">
                <a:alpha val="10000"/>
              </a:srgbClr>
            </a:outerShdw>
          </a:effectLst>
        </p:spPr>
      </p:sp>
      <p:sp>
        <p:nvSpPr>
          <p:cNvPr id="20" name="icon-dot"/>
          <p:cNvSpPr/>
          <p:nvPr/>
        </p:nvSpPr>
        <p:spPr>
          <a:xfrm>
            <a:off x="9290304" y="1719072"/>
            <a:ext cx="548640" cy="548640"/>
          </a:xfrm>
          <a:prstGeom prst="ellipse">
            <a:avLst/>
          </a:prstGeom>
          <a:solidFill>
            <a:schemeClr val="accent3"/>
          </a:solidFill>
          <a:ln/>
        </p:spPr>
      </p:sp>
      <p:pic>
        <p:nvPicPr>
          <p:cNvPr id="21" name="icon-globe" descr="C:\Users\Akhilesh\AppData\Local\Temp\claude\C--Users-Akhilesh-Desktop-Claude-code-Happiest-Health\47a587f0-c947-456b-8324-0bf75adb31d4\scratchpad\deck\img\icons\globe.png"/>
          <p:cNvPicPr>
            <a:picLocks noChangeAspect="1"/>
          </p:cNvPicPr>
          <p:nvPr/>
        </p:nvPicPr>
        <p:blipFill>
          <a:blip r:embed="rId6"/>
          <a:stretch>
            <a:fillRect/>
          </a:stretch>
        </p:blipFill>
        <p:spPr>
          <a:xfrm>
            <a:off x="9411005" y="1839773"/>
            <a:ext cx="307238" cy="307238"/>
          </a:xfrm>
          <a:prstGeom prst="rect">
            <a:avLst/>
          </a:prstGeom>
        </p:spPr>
      </p:pic>
      <p:sp>
        <p:nvSpPr>
          <p:cNvPr id="22" name="Text 16"/>
          <p:cNvSpPr txBox="1"/>
          <p:nvPr/>
        </p:nvSpPr>
        <p:spPr>
          <a:xfrm>
            <a:off x="9290304" y="2331720"/>
            <a:ext cx="2194560" cy="685800"/>
          </a:xfrm>
          <a:prstGeom prst="rect">
            <a:avLst/>
          </a:prstGeom>
          <a:noFill/>
          <a:ln/>
        </p:spPr>
        <p:txBody>
          <a:bodyPr wrap="square" lIns="0" tIns="0" rIns="0" bIns="0" rtlCol="0" anchor="b"/>
          <a:lstStyle/>
          <a:p>
            <a:pPr marL="0" indent="0">
              <a:buNone/>
            </a:pPr>
            <a:r>
              <a:rPr lang="en-US" sz="3800" b="1" dirty="0">
                <a:solidFill>
                  <a:schemeClr val="tx2"/>
                </a:solidFill>
                <a:latin typeface="Georgia" pitchFamily="34" charset="0"/>
                <a:ea typeface="Georgia" pitchFamily="34" charset="-122"/>
                <a:cs typeface="Georgia" pitchFamily="34" charset="-120"/>
              </a:rPr>
              <a:t>Live</a:t>
            </a:r>
            <a:endParaRPr lang="en-US" sz="3800" dirty="0"/>
          </a:p>
        </p:txBody>
      </p:sp>
      <p:sp>
        <p:nvSpPr>
          <p:cNvPr id="23" name="Text 17"/>
          <p:cNvSpPr txBox="1"/>
          <p:nvPr/>
        </p:nvSpPr>
        <p:spPr>
          <a:xfrm>
            <a:off x="9290304" y="3063240"/>
            <a:ext cx="2194560" cy="457200"/>
          </a:xfrm>
          <a:prstGeom prst="rect">
            <a:avLst/>
          </a:prstGeom>
          <a:noFill/>
          <a:ln/>
        </p:spPr>
        <p:txBody>
          <a:bodyPr wrap="square" lIns="0" tIns="0" rIns="0" bIns="0" rtlCol="0" anchor="t"/>
          <a:lstStyle/>
          <a:p>
            <a:pPr marL="0" indent="0">
              <a:buNone/>
            </a:pPr>
            <a:r>
              <a:rPr lang="en-US" sz="1200" dirty="0">
                <a:solidFill>
                  <a:schemeClr val="accent6"/>
                </a:solidFill>
              </a:rPr>
              <a:t>dashboard on Streamlit Cloud</a:t>
            </a:r>
            <a:endParaRPr lang="en-US" sz="1200" dirty="0"/>
          </a:p>
        </p:txBody>
      </p:sp>
      <p:sp>
        <p:nvSpPr>
          <p:cNvPr id="24" name="card"/>
          <p:cNvSpPr/>
          <p:nvPr/>
        </p:nvSpPr>
        <p:spPr>
          <a:xfrm>
            <a:off x="594360" y="3840480"/>
            <a:ext cx="11002975" cy="1280160"/>
          </a:xfrm>
          <a:prstGeom prst="roundRect">
            <a:avLst>
              <a:gd name="adj" fmla="val 10000"/>
            </a:avLst>
          </a:prstGeom>
          <a:solidFill>
            <a:schemeClr val="bg1"/>
          </a:solidFill>
          <a:ln/>
          <a:effectLst>
            <a:outerShdw blurRad="177800" dist="38100" dir="5400000" algn="bl" rotWithShape="0">
              <a:srgbClr val="0B2F3F">
                <a:alpha val="10000"/>
              </a:srgbClr>
            </a:outerShdw>
          </a:effectLst>
        </p:spPr>
      </p:sp>
      <p:sp>
        <p:nvSpPr>
          <p:cNvPr id="25" name="icon-dot"/>
          <p:cNvSpPr/>
          <p:nvPr/>
        </p:nvSpPr>
        <p:spPr>
          <a:xfrm>
            <a:off x="914400" y="4160520"/>
            <a:ext cx="640080" cy="640080"/>
          </a:xfrm>
          <a:prstGeom prst="ellipse">
            <a:avLst/>
          </a:prstGeom>
          <a:solidFill>
            <a:schemeClr val="accent2"/>
          </a:solidFill>
          <a:ln/>
        </p:spPr>
      </p:sp>
      <p:pic>
        <p:nvPicPr>
          <p:cNvPr id="26" name="icon-plug" descr="C:\Users\Akhilesh\AppData\Local\Temp\claude\C--Users-Akhilesh-Desktop-Claude-code-Happiest-Health\47a587f0-c947-456b-8324-0bf75adb31d4\scratchpad\deck\img\icons\plug.png"/>
          <p:cNvPicPr>
            <a:picLocks noChangeAspect="1"/>
          </p:cNvPicPr>
          <p:nvPr/>
        </p:nvPicPr>
        <p:blipFill>
          <a:blip r:embed="rId7"/>
          <a:stretch>
            <a:fillRect/>
          </a:stretch>
        </p:blipFill>
        <p:spPr>
          <a:xfrm>
            <a:off x="1055218" y="4301338"/>
            <a:ext cx="358445" cy="358445"/>
          </a:xfrm>
          <a:prstGeom prst="rect">
            <a:avLst/>
          </a:prstGeom>
        </p:spPr>
      </p:pic>
      <p:sp>
        <p:nvSpPr>
          <p:cNvPr id="27" name="Text 20"/>
          <p:cNvSpPr txBox="1"/>
          <p:nvPr/>
        </p:nvSpPr>
        <p:spPr>
          <a:xfrm>
            <a:off x="1783080" y="3931920"/>
            <a:ext cx="9539935" cy="1097280"/>
          </a:xfrm>
          <a:prstGeom prst="rect">
            <a:avLst/>
          </a:prstGeom>
          <a:noFill/>
          <a:ln/>
        </p:spPr>
        <p:txBody>
          <a:bodyPr wrap="square" lIns="0" tIns="0" rIns="0" bIns="0" rtlCol="0" anchor="ctr"/>
          <a:lstStyle/>
          <a:p>
            <a:pPr marL="0" indent="0">
              <a:buNone/>
            </a:pPr>
            <a:r>
              <a:rPr lang="en-US" sz="1300" b="1" dirty="0">
                <a:solidFill>
                  <a:schemeClr val="tx1"/>
                </a:solidFill>
              </a:rPr>
              <a:t>Interoperable: </a:t>
            </a:r>
            <a:r>
              <a:rPr lang="en-US" sz="1300" dirty="0">
                <a:solidFill>
                  <a:schemeClr val="tx1"/>
                </a:solidFill>
              </a:rPr>
              <a:t>a FHIR R4 API takes a patient's record and CGM and returns standard RiskAssessment resources, checked to reproduce the dashboard exactly. Also: a measured comparison of the simulator with real CGM, MIT licence, model card, deployment path.</a:t>
            </a:r>
            <a:endParaRPr lang="en-US" sz="1300" dirty="0"/>
          </a:p>
        </p:txBody>
      </p:sp>
      <p:sp>
        <p:nvSpPr>
          <p:cNvPr id="28" name="pill"/>
          <p:cNvSpPr/>
          <p:nvPr/>
        </p:nvSpPr>
        <p:spPr>
          <a:xfrm>
            <a:off x="594360" y="5394960"/>
            <a:ext cx="1024128" cy="365760"/>
          </a:xfrm>
          <a:prstGeom prst="roundRect">
            <a:avLst>
              <a:gd name="adj" fmla="val 50000"/>
            </a:avLst>
          </a:prstGeom>
          <a:solidFill>
            <a:srgbClr val="E3ECF1"/>
          </a:solidFill>
          <a:ln/>
        </p:spPr>
      </p:sp>
      <p:sp>
        <p:nvSpPr>
          <p:cNvPr id="29" name="Text 22"/>
          <p:cNvSpPr txBox="1"/>
          <p:nvPr/>
        </p:nvSpPr>
        <p:spPr>
          <a:xfrm>
            <a:off x="594360" y="5394960"/>
            <a:ext cx="1024128" cy="365760"/>
          </a:xfrm>
          <a:prstGeom prst="rect">
            <a:avLst/>
          </a:prstGeom>
          <a:noFill/>
          <a:ln/>
        </p:spPr>
        <p:txBody>
          <a:bodyPr wrap="square" lIns="0" tIns="0" rIns="0" bIns="0" rtlCol="0" anchor="ctr"/>
          <a:lstStyle/>
          <a:p>
            <a:pPr marL="0" indent="0" algn="ctr">
              <a:buNone/>
            </a:pPr>
            <a:r>
              <a:rPr lang="en-US" sz="1200" b="1" dirty="0">
                <a:solidFill>
                  <a:schemeClr val="tx2"/>
                </a:solidFill>
              </a:rPr>
              <a:t>Python</a:t>
            </a:r>
            <a:endParaRPr lang="en-US" sz="1200" dirty="0"/>
          </a:p>
        </p:txBody>
      </p:sp>
      <p:sp>
        <p:nvSpPr>
          <p:cNvPr id="30" name="pill"/>
          <p:cNvSpPr/>
          <p:nvPr/>
        </p:nvSpPr>
        <p:spPr>
          <a:xfrm>
            <a:off x="1700784" y="5394960"/>
            <a:ext cx="1024128" cy="365760"/>
          </a:xfrm>
          <a:prstGeom prst="roundRect">
            <a:avLst>
              <a:gd name="adj" fmla="val 50000"/>
            </a:avLst>
          </a:prstGeom>
          <a:solidFill>
            <a:srgbClr val="E3ECF1"/>
          </a:solidFill>
          <a:ln/>
        </p:spPr>
      </p:sp>
      <p:sp>
        <p:nvSpPr>
          <p:cNvPr id="31" name="Text 24"/>
          <p:cNvSpPr txBox="1"/>
          <p:nvPr/>
        </p:nvSpPr>
        <p:spPr>
          <a:xfrm>
            <a:off x="1700784" y="5394960"/>
            <a:ext cx="1024128" cy="365760"/>
          </a:xfrm>
          <a:prstGeom prst="rect">
            <a:avLst/>
          </a:prstGeom>
          <a:noFill/>
          <a:ln/>
        </p:spPr>
        <p:txBody>
          <a:bodyPr wrap="square" lIns="0" tIns="0" rIns="0" bIns="0" rtlCol="0" anchor="ctr"/>
          <a:lstStyle/>
          <a:p>
            <a:pPr marL="0" indent="0" algn="ctr">
              <a:buNone/>
            </a:pPr>
            <a:r>
              <a:rPr lang="en-US" sz="1200" b="1" dirty="0">
                <a:solidFill>
                  <a:schemeClr val="tx2"/>
                </a:solidFill>
              </a:rPr>
              <a:t>LightGBM</a:t>
            </a:r>
            <a:endParaRPr lang="en-US" sz="1200" dirty="0"/>
          </a:p>
        </p:txBody>
      </p:sp>
      <p:sp>
        <p:nvSpPr>
          <p:cNvPr id="32" name="pill"/>
          <p:cNvSpPr/>
          <p:nvPr/>
        </p:nvSpPr>
        <p:spPr>
          <a:xfrm>
            <a:off x="2807208" y="5394960"/>
            <a:ext cx="1024128" cy="365760"/>
          </a:xfrm>
          <a:prstGeom prst="roundRect">
            <a:avLst>
              <a:gd name="adj" fmla="val 50000"/>
            </a:avLst>
          </a:prstGeom>
          <a:solidFill>
            <a:srgbClr val="E3ECF1"/>
          </a:solidFill>
          <a:ln/>
        </p:spPr>
      </p:sp>
      <p:sp>
        <p:nvSpPr>
          <p:cNvPr id="33" name="Text 26"/>
          <p:cNvSpPr txBox="1"/>
          <p:nvPr/>
        </p:nvSpPr>
        <p:spPr>
          <a:xfrm>
            <a:off x="2807208" y="5394960"/>
            <a:ext cx="1024128" cy="365760"/>
          </a:xfrm>
          <a:prstGeom prst="rect">
            <a:avLst/>
          </a:prstGeom>
          <a:noFill/>
          <a:ln/>
        </p:spPr>
        <p:txBody>
          <a:bodyPr wrap="square" lIns="0" tIns="0" rIns="0" bIns="0" rtlCol="0" anchor="ctr"/>
          <a:lstStyle/>
          <a:p>
            <a:pPr marL="0" indent="0" algn="ctr">
              <a:buNone/>
            </a:pPr>
            <a:r>
              <a:rPr lang="en-US" sz="1200" b="1" dirty="0">
                <a:solidFill>
                  <a:schemeClr val="tx2"/>
                </a:solidFill>
              </a:rPr>
              <a:t>PyTorch</a:t>
            </a:r>
            <a:endParaRPr lang="en-US" sz="1200" dirty="0"/>
          </a:p>
        </p:txBody>
      </p:sp>
      <p:sp>
        <p:nvSpPr>
          <p:cNvPr id="34" name="pill"/>
          <p:cNvSpPr/>
          <p:nvPr/>
        </p:nvSpPr>
        <p:spPr>
          <a:xfrm>
            <a:off x="3913632" y="5394960"/>
            <a:ext cx="1024128" cy="365760"/>
          </a:xfrm>
          <a:prstGeom prst="roundRect">
            <a:avLst>
              <a:gd name="adj" fmla="val 50000"/>
            </a:avLst>
          </a:prstGeom>
          <a:solidFill>
            <a:srgbClr val="E3ECF1"/>
          </a:solidFill>
          <a:ln/>
        </p:spPr>
      </p:sp>
      <p:sp>
        <p:nvSpPr>
          <p:cNvPr id="35" name="Text 28"/>
          <p:cNvSpPr txBox="1"/>
          <p:nvPr/>
        </p:nvSpPr>
        <p:spPr>
          <a:xfrm>
            <a:off x="3913632" y="5394960"/>
            <a:ext cx="1024128" cy="365760"/>
          </a:xfrm>
          <a:prstGeom prst="rect">
            <a:avLst/>
          </a:prstGeom>
          <a:noFill/>
          <a:ln/>
        </p:spPr>
        <p:txBody>
          <a:bodyPr wrap="square" lIns="0" tIns="0" rIns="0" bIns="0" rtlCol="0" anchor="ctr"/>
          <a:lstStyle/>
          <a:p>
            <a:pPr marL="0" indent="0" algn="ctr">
              <a:buNone/>
            </a:pPr>
            <a:r>
              <a:rPr lang="en-US" sz="1200" b="1" dirty="0">
                <a:solidFill>
                  <a:schemeClr val="tx2"/>
                </a:solidFill>
              </a:rPr>
              <a:t>SHAP</a:t>
            </a:r>
            <a:endParaRPr lang="en-US" sz="1200" dirty="0"/>
          </a:p>
        </p:txBody>
      </p:sp>
      <p:sp>
        <p:nvSpPr>
          <p:cNvPr id="36" name="pill"/>
          <p:cNvSpPr/>
          <p:nvPr/>
        </p:nvSpPr>
        <p:spPr>
          <a:xfrm>
            <a:off x="5020056" y="5394960"/>
            <a:ext cx="1024128" cy="365760"/>
          </a:xfrm>
          <a:prstGeom prst="roundRect">
            <a:avLst>
              <a:gd name="adj" fmla="val 50000"/>
            </a:avLst>
          </a:prstGeom>
          <a:solidFill>
            <a:srgbClr val="E3ECF1"/>
          </a:solidFill>
          <a:ln/>
        </p:spPr>
      </p:sp>
      <p:sp>
        <p:nvSpPr>
          <p:cNvPr id="37" name="Text 30"/>
          <p:cNvSpPr txBox="1"/>
          <p:nvPr/>
        </p:nvSpPr>
        <p:spPr>
          <a:xfrm>
            <a:off x="5020056" y="5394960"/>
            <a:ext cx="1024128" cy="365760"/>
          </a:xfrm>
          <a:prstGeom prst="rect">
            <a:avLst/>
          </a:prstGeom>
          <a:noFill/>
          <a:ln/>
        </p:spPr>
        <p:txBody>
          <a:bodyPr wrap="square" lIns="0" tIns="0" rIns="0" bIns="0" rtlCol="0" anchor="ctr"/>
          <a:lstStyle/>
          <a:p>
            <a:pPr marL="0" indent="0" algn="ctr">
              <a:buNone/>
            </a:pPr>
            <a:r>
              <a:rPr lang="en-US" sz="1200" b="1" dirty="0">
                <a:solidFill>
                  <a:schemeClr val="tx2"/>
                </a:solidFill>
              </a:rPr>
              <a:t>SciPy</a:t>
            </a:r>
            <a:endParaRPr lang="en-US" sz="1200" dirty="0"/>
          </a:p>
        </p:txBody>
      </p:sp>
      <p:sp>
        <p:nvSpPr>
          <p:cNvPr id="38" name="pill"/>
          <p:cNvSpPr/>
          <p:nvPr/>
        </p:nvSpPr>
        <p:spPr>
          <a:xfrm>
            <a:off x="6126480" y="5394960"/>
            <a:ext cx="1024128" cy="365760"/>
          </a:xfrm>
          <a:prstGeom prst="roundRect">
            <a:avLst>
              <a:gd name="adj" fmla="val 50000"/>
            </a:avLst>
          </a:prstGeom>
          <a:solidFill>
            <a:srgbClr val="E3ECF1"/>
          </a:solidFill>
          <a:ln/>
        </p:spPr>
      </p:sp>
      <p:sp>
        <p:nvSpPr>
          <p:cNvPr id="39" name="Text 32"/>
          <p:cNvSpPr txBox="1"/>
          <p:nvPr/>
        </p:nvSpPr>
        <p:spPr>
          <a:xfrm>
            <a:off x="6126480" y="5394960"/>
            <a:ext cx="1024128" cy="365760"/>
          </a:xfrm>
          <a:prstGeom prst="rect">
            <a:avLst/>
          </a:prstGeom>
          <a:noFill/>
          <a:ln/>
        </p:spPr>
        <p:txBody>
          <a:bodyPr wrap="square" lIns="0" tIns="0" rIns="0" bIns="0" rtlCol="0" anchor="ctr"/>
          <a:lstStyle/>
          <a:p>
            <a:pPr marL="0" indent="0" algn="ctr">
              <a:buNone/>
            </a:pPr>
            <a:r>
              <a:rPr lang="en-US" sz="1200" b="1" dirty="0">
                <a:solidFill>
                  <a:schemeClr val="tx2"/>
                </a:solidFill>
              </a:rPr>
              <a:t>scikit-learn</a:t>
            </a:r>
            <a:endParaRPr lang="en-US" sz="1200" dirty="0"/>
          </a:p>
        </p:txBody>
      </p:sp>
      <p:sp>
        <p:nvSpPr>
          <p:cNvPr id="40" name="pill"/>
          <p:cNvSpPr/>
          <p:nvPr/>
        </p:nvSpPr>
        <p:spPr>
          <a:xfrm>
            <a:off x="7232904" y="5394960"/>
            <a:ext cx="1024128" cy="365760"/>
          </a:xfrm>
          <a:prstGeom prst="roundRect">
            <a:avLst>
              <a:gd name="adj" fmla="val 50000"/>
            </a:avLst>
          </a:prstGeom>
          <a:solidFill>
            <a:srgbClr val="E3ECF1"/>
          </a:solidFill>
          <a:ln/>
        </p:spPr>
      </p:sp>
      <p:sp>
        <p:nvSpPr>
          <p:cNvPr id="41" name="Text 34"/>
          <p:cNvSpPr txBox="1"/>
          <p:nvPr/>
        </p:nvSpPr>
        <p:spPr>
          <a:xfrm>
            <a:off x="7232904" y="5394960"/>
            <a:ext cx="1024128" cy="365760"/>
          </a:xfrm>
          <a:prstGeom prst="rect">
            <a:avLst/>
          </a:prstGeom>
          <a:noFill/>
          <a:ln/>
        </p:spPr>
        <p:txBody>
          <a:bodyPr wrap="square" lIns="0" tIns="0" rIns="0" bIns="0" rtlCol="0" anchor="ctr"/>
          <a:lstStyle/>
          <a:p>
            <a:pPr marL="0" indent="0" algn="ctr">
              <a:buNone/>
            </a:pPr>
            <a:r>
              <a:rPr lang="en-US" sz="1200" b="1" dirty="0">
                <a:solidFill>
                  <a:schemeClr val="tx2"/>
                </a:solidFill>
              </a:rPr>
              <a:t>Plotly</a:t>
            </a:r>
            <a:endParaRPr lang="en-US" sz="1200" dirty="0"/>
          </a:p>
        </p:txBody>
      </p:sp>
      <p:sp>
        <p:nvSpPr>
          <p:cNvPr id="42" name="pill"/>
          <p:cNvSpPr/>
          <p:nvPr/>
        </p:nvSpPr>
        <p:spPr>
          <a:xfrm>
            <a:off x="8339328" y="5394960"/>
            <a:ext cx="1024128" cy="365760"/>
          </a:xfrm>
          <a:prstGeom prst="roundRect">
            <a:avLst>
              <a:gd name="adj" fmla="val 50000"/>
            </a:avLst>
          </a:prstGeom>
          <a:solidFill>
            <a:srgbClr val="E3ECF1"/>
          </a:solidFill>
          <a:ln/>
        </p:spPr>
      </p:sp>
      <p:sp>
        <p:nvSpPr>
          <p:cNvPr id="43" name="Text 36"/>
          <p:cNvSpPr txBox="1"/>
          <p:nvPr/>
        </p:nvSpPr>
        <p:spPr>
          <a:xfrm>
            <a:off x="8339328" y="5394960"/>
            <a:ext cx="1024128" cy="365760"/>
          </a:xfrm>
          <a:prstGeom prst="rect">
            <a:avLst/>
          </a:prstGeom>
          <a:noFill/>
          <a:ln/>
        </p:spPr>
        <p:txBody>
          <a:bodyPr wrap="square" lIns="0" tIns="0" rIns="0" bIns="0" rtlCol="0" anchor="ctr"/>
          <a:lstStyle/>
          <a:p>
            <a:pPr marL="0" indent="0" algn="ctr">
              <a:buNone/>
            </a:pPr>
            <a:r>
              <a:rPr lang="en-US" sz="1200" b="1" dirty="0">
                <a:solidFill>
                  <a:schemeClr val="tx2"/>
                </a:solidFill>
              </a:rPr>
              <a:t>Streamlit</a:t>
            </a:r>
            <a:endParaRPr lang="en-US" sz="1200" dirty="0"/>
          </a:p>
        </p:txBody>
      </p:sp>
      <p:sp>
        <p:nvSpPr>
          <p:cNvPr id="44" name="pill"/>
          <p:cNvSpPr/>
          <p:nvPr/>
        </p:nvSpPr>
        <p:spPr>
          <a:xfrm>
            <a:off x="9445752" y="5394960"/>
            <a:ext cx="1024128" cy="365760"/>
          </a:xfrm>
          <a:prstGeom prst="roundRect">
            <a:avLst>
              <a:gd name="adj" fmla="val 50000"/>
            </a:avLst>
          </a:prstGeom>
          <a:solidFill>
            <a:srgbClr val="E3ECF1"/>
          </a:solidFill>
          <a:ln/>
        </p:spPr>
      </p:sp>
      <p:sp>
        <p:nvSpPr>
          <p:cNvPr id="45" name="Text 38"/>
          <p:cNvSpPr txBox="1"/>
          <p:nvPr/>
        </p:nvSpPr>
        <p:spPr>
          <a:xfrm>
            <a:off x="9445752" y="5394960"/>
            <a:ext cx="1024128" cy="365760"/>
          </a:xfrm>
          <a:prstGeom prst="rect">
            <a:avLst/>
          </a:prstGeom>
          <a:noFill/>
          <a:ln/>
        </p:spPr>
        <p:txBody>
          <a:bodyPr wrap="square" lIns="0" tIns="0" rIns="0" bIns="0" rtlCol="0" anchor="ctr"/>
          <a:lstStyle/>
          <a:p>
            <a:pPr marL="0" indent="0" algn="ctr">
              <a:buNone/>
            </a:pPr>
            <a:r>
              <a:rPr lang="en-US" sz="1200" b="1" dirty="0">
                <a:solidFill>
                  <a:schemeClr val="tx2"/>
                </a:solidFill>
              </a:rPr>
              <a:t>FastAPI</a:t>
            </a:r>
            <a:endParaRPr lang="en-US" sz="1200" dirty="0"/>
          </a:p>
        </p:txBody>
      </p:sp>
      <p:sp>
        <p:nvSpPr>
          <p:cNvPr id="46" name="pill"/>
          <p:cNvSpPr/>
          <p:nvPr/>
        </p:nvSpPr>
        <p:spPr>
          <a:xfrm>
            <a:off x="10552176" y="5394960"/>
            <a:ext cx="1024128" cy="365760"/>
          </a:xfrm>
          <a:prstGeom prst="roundRect">
            <a:avLst>
              <a:gd name="adj" fmla="val 50000"/>
            </a:avLst>
          </a:prstGeom>
          <a:solidFill>
            <a:srgbClr val="E3ECF1"/>
          </a:solidFill>
          <a:ln/>
        </p:spPr>
      </p:sp>
      <p:sp>
        <p:nvSpPr>
          <p:cNvPr id="47" name="Text 40"/>
          <p:cNvSpPr txBox="1"/>
          <p:nvPr/>
        </p:nvSpPr>
        <p:spPr>
          <a:xfrm>
            <a:off x="10552176" y="5394960"/>
            <a:ext cx="1024128" cy="365760"/>
          </a:xfrm>
          <a:prstGeom prst="rect">
            <a:avLst/>
          </a:prstGeom>
          <a:noFill/>
          <a:ln/>
        </p:spPr>
        <p:txBody>
          <a:bodyPr wrap="square" lIns="0" tIns="0" rIns="0" bIns="0" rtlCol="0" anchor="ctr"/>
          <a:lstStyle/>
          <a:p>
            <a:pPr marL="0" indent="0" algn="ctr">
              <a:buNone/>
            </a:pPr>
            <a:r>
              <a:rPr lang="en-US" sz="1200" b="1" dirty="0">
                <a:solidFill>
                  <a:schemeClr val="tx2"/>
                </a:solidFill>
              </a:rPr>
              <a:t>FHIR R4</a:t>
            </a:r>
            <a:endParaRPr lang="en-US" sz="1200" dirty="0"/>
          </a:p>
        </p:txBody>
      </p:sp>
      <p:sp>
        <p:nvSpPr>
          <p:cNvPr id="48" name="Slide Number Placeholder 0"/>
          <p:cNvSpPr>
            <a:spLocks noGrp="1"/>
          </p:cNvSpPr>
          <p:nvPr>
            <p:ph type="sldNum" sz="quarter" idx="4294967295"/>
          </p:nvPr>
        </p:nvSpPr>
        <p:spPr>
          <a:xfrm>
            <a:off x="11140135" y="6446520"/>
            <a:ext cx="457200" cy="256032"/>
          </a:xfrm>
          <a:prstGeom prst="rect">
            <a:avLst/>
          </a:prstGeom>
          <a:extLst>
            <a:ext uri="{C572A759-6A51-4108-AA02-DFA0A04FC94B}">
              <ma14:wrappingTextBoxFlag xmlns:ma14="http://schemas.microsoft.com/office/mac/drawingml/2011/main" xmlns="" val="0"/>
            </a:ext>
          </a:extLst>
        </p:spPr>
        <p:txBody>
          <a:bodyPr/>
          <a:lstStyle>
            <a:lvl1pPr>
              <a:defRPr sz="900">
                <a:solidFill>
                  <a:schemeClr val="accent6"/>
                </a:solidFill>
              </a:defRPr>
            </a:lvl1pPr>
          </a:lstStyle>
          <a:p>
            <a:pPr algn="r"/>
            <a:fld id="{F7021451-1387-4CA6-816F-3879F97B5CBC}" type="slidenum">
              <a:rPr lang="en-US" b="0"/>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txBox="1"/>
          <p:nvPr/>
        </p:nvSpPr>
        <p:spPr>
          <a:xfrm>
            <a:off x="594360" y="292608"/>
            <a:ext cx="8229600" cy="256032"/>
          </a:xfrm>
          <a:prstGeom prst="rect">
            <a:avLst/>
          </a:prstGeom>
          <a:noFill/>
          <a:ln/>
        </p:spPr>
        <p:txBody>
          <a:bodyPr wrap="square" lIns="0" tIns="0" rIns="0" bIns="0" rtlCol="0" anchor="t"/>
          <a:lstStyle/>
          <a:p>
            <a:pPr marL="0" indent="0">
              <a:buNone/>
            </a:pPr>
            <a:r>
              <a:rPr lang="en-US" sz="1100" b="1" kern="0" spc="300" dirty="0">
                <a:solidFill>
                  <a:schemeClr val="accent1"/>
                </a:solidFill>
              </a:rPr>
              <a:t>17 · LIMITATIONS</a:t>
            </a:r>
            <a:endParaRPr lang="en-US" sz="1100" dirty="0"/>
          </a:p>
        </p:txBody>
      </p:sp>
      <p:sp>
        <p:nvSpPr>
          <p:cNvPr id="3" name="Text 0"/>
          <p:cNvSpPr>
            <a:spLocks noGrp="1"/>
          </p:cNvSpPr>
          <p:nvPr>
            <p:ph type="title" idx="100" hasCustomPrompt="1"/>
          </p:nvPr>
        </p:nvSpPr>
        <p:spPr>
          <a:xfrm>
            <a:off x="594360" y="566928"/>
            <a:ext cx="11002975" cy="658368"/>
          </a:xfrm>
          <a:prstGeom prst="rect">
            <a:avLst/>
          </a:prstGeom>
          <a:noFill/>
          <a:ln/>
        </p:spPr>
        <p:txBody>
          <a:bodyPr wrap="square" lIns="0" tIns="0" rIns="0" bIns="0" rtlCol="0" anchor="ctr"/>
          <a:lstStyle/>
          <a:p>
            <a:pPr marL="0" indent="0" algn="l">
              <a:buNone/>
            </a:pPr>
            <a:r>
              <a:rPr lang="en-US" sz="3000" b="1" dirty="0">
                <a:solidFill>
                  <a:schemeClr val="tx2"/>
                </a:solidFill>
                <a:latin typeface="Georgia" pitchFamily="34" charset="0"/>
                <a:ea typeface="Georgia" pitchFamily="34" charset="-122"/>
                <a:cs typeface="Georgia" pitchFamily="34" charset="-120"/>
              </a:rPr>
              <a:t>Limitations we know about</a:t>
            </a:r>
            <a:endParaRPr lang="en-US" sz="3000" dirty="0"/>
          </a:p>
        </p:txBody>
      </p:sp>
      <p:sp>
        <p:nvSpPr>
          <p:cNvPr id="4" name="card"/>
          <p:cNvSpPr/>
          <p:nvPr/>
        </p:nvSpPr>
        <p:spPr>
          <a:xfrm>
            <a:off x="594360" y="1463040"/>
            <a:ext cx="5440680" cy="2103120"/>
          </a:xfrm>
          <a:prstGeom prst="roundRect">
            <a:avLst>
              <a:gd name="adj" fmla="val 6087"/>
            </a:avLst>
          </a:prstGeom>
          <a:solidFill>
            <a:schemeClr val="bg1"/>
          </a:solidFill>
          <a:ln/>
          <a:effectLst>
            <a:outerShdw blurRad="177800" dist="38100" dir="5400000" algn="bl" rotWithShape="0">
              <a:srgbClr val="0B2F3F">
                <a:alpha val="10000"/>
              </a:srgbClr>
            </a:outerShdw>
          </a:effectLst>
        </p:spPr>
      </p:sp>
      <p:sp>
        <p:nvSpPr>
          <p:cNvPr id="5" name="icon-dot"/>
          <p:cNvSpPr/>
          <p:nvPr/>
        </p:nvSpPr>
        <p:spPr>
          <a:xfrm>
            <a:off x="960120" y="1828800"/>
            <a:ext cx="685800" cy="685800"/>
          </a:xfrm>
          <a:prstGeom prst="ellipse">
            <a:avLst/>
          </a:prstGeom>
          <a:solidFill>
            <a:schemeClr val="accent2"/>
          </a:solidFill>
          <a:ln/>
        </p:spPr>
      </p:sp>
      <p:pic>
        <p:nvPicPr>
          <p:cNvPr id="6" name="icon-database" descr="C:\Users\Akhilesh\AppData\Local\Temp\claude\C--Users-Akhilesh-Desktop-Claude-code-Happiest-Health\47a587f0-c947-456b-8324-0bf75adb31d4\scratchpad\deck\img\icons\database.png"/>
          <p:cNvPicPr>
            <a:picLocks noChangeAspect="1"/>
          </p:cNvPicPr>
          <p:nvPr/>
        </p:nvPicPr>
        <p:blipFill>
          <a:blip r:embed="rId3"/>
          <a:stretch>
            <a:fillRect/>
          </a:stretch>
        </p:blipFill>
        <p:spPr>
          <a:xfrm>
            <a:off x="1110996" y="1979676"/>
            <a:ext cx="384048" cy="384048"/>
          </a:xfrm>
          <a:prstGeom prst="rect">
            <a:avLst/>
          </a:prstGeom>
        </p:spPr>
      </p:pic>
      <p:sp>
        <p:nvSpPr>
          <p:cNvPr id="7" name="Text 4"/>
          <p:cNvSpPr txBox="1"/>
          <p:nvPr/>
        </p:nvSpPr>
        <p:spPr>
          <a:xfrm>
            <a:off x="1920240" y="1847088"/>
            <a:ext cx="3840480" cy="384048"/>
          </a:xfrm>
          <a:prstGeom prst="rect">
            <a:avLst/>
          </a:prstGeom>
          <a:noFill/>
          <a:ln/>
        </p:spPr>
        <p:txBody>
          <a:bodyPr wrap="square" lIns="0" tIns="0" rIns="0" bIns="0" rtlCol="0" anchor="t"/>
          <a:lstStyle/>
          <a:p>
            <a:pPr marL="0" indent="0">
              <a:buNone/>
            </a:pPr>
            <a:r>
              <a:rPr lang="en-US" sz="1800" b="1" dirty="0">
                <a:solidFill>
                  <a:schemeClr val="tx2"/>
                </a:solidFill>
                <a:latin typeface="Georgia" pitchFamily="34" charset="0"/>
                <a:ea typeface="Georgia" pitchFamily="34" charset="-122"/>
                <a:cs typeface="Georgia" pitchFamily="34" charset="-120"/>
              </a:rPr>
              <a:t>Little real training data</a:t>
            </a:r>
            <a:endParaRPr lang="en-US" sz="1800" dirty="0"/>
          </a:p>
        </p:txBody>
      </p:sp>
      <p:sp>
        <p:nvSpPr>
          <p:cNvPr id="8" name="Text 5"/>
          <p:cNvSpPr txBox="1"/>
          <p:nvPr/>
        </p:nvSpPr>
        <p:spPr>
          <a:xfrm>
            <a:off x="1920240" y="2331720"/>
            <a:ext cx="3840480" cy="1005840"/>
          </a:xfrm>
          <a:prstGeom prst="rect">
            <a:avLst/>
          </a:prstGeom>
          <a:noFill/>
          <a:ln/>
        </p:spPr>
        <p:txBody>
          <a:bodyPr wrap="square" lIns="0" tIns="0" rIns="0" bIns="0" rtlCol="0" anchor="t"/>
          <a:lstStyle/>
          <a:p>
            <a:pPr marL="0" indent="0">
              <a:buNone/>
            </a:pPr>
            <a:r>
              <a:rPr lang="en-US" sz="1300" dirty="0">
                <a:solidFill>
                  <a:schemeClr val="accent6"/>
                </a:solidFill>
              </a:rPr>
              <a:t>The default model is synthetic-trained; the real-trained one has seen only 100 patients</a:t>
            </a:r>
            <a:endParaRPr lang="en-US" sz="1300" dirty="0"/>
          </a:p>
        </p:txBody>
      </p:sp>
      <p:sp>
        <p:nvSpPr>
          <p:cNvPr id="9" name="card"/>
          <p:cNvSpPr/>
          <p:nvPr/>
        </p:nvSpPr>
        <p:spPr>
          <a:xfrm>
            <a:off x="6153912" y="1463040"/>
            <a:ext cx="5440680" cy="2103120"/>
          </a:xfrm>
          <a:prstGeom prst="roundRect">
            <a:avLst>
              <a:gd name="adj" fmla="val 6087"/>
            </a:avLst>
          </a:prstGeom>
          <a:solidFill>
            <a:schemeClr val="bg1"/>
          </a:solidFill>
          <a:ln/>
          <a:effectLst>
            <a:outerShdw blurRad="177800" dist="38100" dir="5400000" algn="bl" rotWithShape="0">
              <a:srgbClr val="0B2F3F">
                <a:alpha val="10000"/>
              </a:srgbClr>
            </a:outerShdw>
          </a:effectLst>
        </p:spPr>
      </p:sp>
      <p:sp>
        <p:nvSpPr>
          <p:cNvPr id="10" name="icon-dot"/>
          <p:cNvSpPr/>
          <p:nvPr/>
        </p:nvSpPr>
        <p:spPr>
          <a:xfrm>
            <a:off x="6519672" y="1828800"/>
            <a:ext cx="685800" cy="685800"/>
          </a:xfrm>
          <a:prstGeom prst="ellipse">
            <a:avLst/>
          </a:prstGeom>
          <a:solidFill>
            <a:schemeClr val="accent2"/>
          </a:solidFill>
          <a:ln/>
        </p:spPr>
      </p:sp>
      <p:pic>
        <p:nvPicPr>
          <p:cNvPr id="11" name="icon-pin" descr="C:\Users\Akhilesh\AppData\Local\Temp\claude\C--Users-Akhilesh-Desktop-Claude-code-Happiest-Health\47a587f0-c947-456b-8324-0bf75adb31d4\scratchpad\deck\img\icons\pin.png"/>
          <p:cNvPicPr>
            <a:picLocks noChangeAspect="1"/>
          </p:cNvPicPr>
          <p:nvPr/>
        </p:nvPicPr>
        <p:blipFill>
          <a:blip r:embed="rId4"/>
          <a:stretch>
            <a:fillRect/>
          </a:stretch>
        </p:blipFill>
        <p:spPr>
          <a:xfrm>
            <a:off x="6670548" y="1979676"/>
            <a:ext cx="384048" cy="384048"/>
          </a:xfrm>
          <a:prstGeom prst="rect">
            <a:avLst/>
          </a:prstGeom>
        </p:spPr>
      </p:pic>
      <p:sp>
        <p:nvSpPr>
          <p:cNvPr id="12" name="Text 8"/>
          <p:cNvSpPr txBox="1"/>
          <p:nvPr/>
        </p:nvSpPr>
        <p:spPr>
          <a:xfrm>
            <a:off x="7479792" y="1847088"/>
            <a:ext cx="3840480" cy="384048"/>
          </a:xfrm>
          <a:prstGeom prst="rect">
            <a:avLst/>
          </a:prstGeom>
          <a:noFill/>
          <a:ln/>
        </p:spPr>
        <p:txBody>
          <a:bodyPr wrap="square" lIns="0" tIns="0" rIns="0" bIns="0" rtlCol="0" anchor="t"/>
          <a:lstStyle/>
          <a:p>
            <a:pPr marL="0" indent="0">
              <a:buNone/>
            </a:pPr>
            <a:r>
              <a:rPr lang="en-US" sz="1800" b="1" dirty="0">
                <a:solidFill>
                  <a:schemeClr val="tx2"/>
                </a:solidFill>
                <a:latin typeface="Georgia" pitchFamily="34" charset="0"/>
                <a:ea typeface="Georgia" pitchFamily="34" charset="-122"/>
                <a:cs typeface="Georgia" pitchFamily="34" charset="-120"/>
              </a:rPr>
              <a:t>Not the target population</a:t>
            </a:r>
            <a:endParaRPr lang="en-US" sz="1800" dirty="0"/>
          </a:p>
        </p:txBody>
      </p:sp>
      <p:sp>
        <p:nvSpPr>
          <p:cNvPr id="13" name="Text 9"/>
          <p:cNvSpPr txBox="1"/>
          <p:nvPr/>
        </p:nvSpPr>
        <p:spPr>
          <a:xfrm>
            <a:off x="7479792" y="2331720"/>
            <a:ext cx="3840480" cy="1005840"/>
          </a:xfrm>
          <a:prstGeom prst="rect">
            <a:avLst/>
          </a:prstGeom>
          <a:noFill/>
          <a:ln/>
        </p:spPr>
        <p:txBody>
          <a:bodyPr wrap="square" lIns="0" tIns="0" rIns="0" bIns="0" rtlCol="0" anchor="t"/>
          <a:lstStyle/>
          <a:p>
            <a:pPr marL="0" indent="0">
              <a:buNone/>
            </a:pPr>
            <a:r>
              <a:rPr lang="en-US" sz="1300" dirty="0">
                <a:solidFill>
                  <a:schemeClr val="accent6"/>
                </a:solidFill>
              </a:rPr>
              <a:t>14 US and 100 Chinese patients, not Indian outpatients</a:t>
            </a:r>
            <a:endParaRPr lang="en-US" sz="1300" dirty="0"/>
          </a:p>
        </p:txBody>
      </p:sp>
      <p:sp>
        <p:nvSpPr>
          <p:cNvPr id="14" name="card"/>
          <p:cNvSpPr/>
          <p:nvPr/>
        </p:nvSpPr>
        <p:spPr>
          <a:xfrm>
            <a:off x="594360" y="3749040"/>
            <a:ext cx="5440680" cy="2103120"/>
          </a:xfrm>
          <a:prstGeom prst="roundRect">
            <a:avLst>
              <a:gd name="adj" fmla="val 6087"/>
            </a:avLst>
          </a:prstGeom>
          <a:solidFill>
            <a:schemeClr val="bg1"/>
          </a:solidFill>
          <a:ln/>
          <a:effectLst>
            <a:outerShdw blurRad="177800" dist="38100" dir="5400000" algn="bl" rotWithShape="0">
              <a:srgbClr val="0B2F3F">
                <a:alpha val="10000"/>
              </a:srgbClr>
            </a:outerShdw>
          </a:effectLst>
        </p:spPr>
      </p:sp>
      <p:sp>
        <p:nvSpPr>
          <p:cNvPr id="15" name="icon-dot"/>
          <p:cNvSpPr/>
          <p:nvPr/>
        </p:nvSpPr>
        <p:spPr>
          <a:xfrm>
            <a:off x="960120" y="4114800"/>
            <a:ext cx="685800" cy="685800"/>
          </a:xfrm>
          <a:prstGeom prst="ellipse">
            <a:avLst/>
          </a:prstGeom>
          <a:solidFill>
            <a:schemeClr val="accent2"/>
          </a:solidFill>
          <a:ln/>
        </p:spPr>
      </p:sp>
      <p:pic>
        <p:nvPicPr>
          <p:cNvPr id="16" name="icon-syringe" descr="C:\Users\Akhilesh\AppData\Local\Temp\claude\C--Users-Akhilesh-Desktop-Claude-code-Happiest-Health\47a587f0-c947-456b-8324-0bf75adb31d4\scratchpad\deck\img\icons\syringe.png"/>
          <p:cNvPicPr>
            <a:picLocks noChangeAspect="1"/>
          </p:cNvPicPr>
          <p:nvPr/>
        </p:nvPicPr>
        <p:blipFill>
          <a:blip r:embed="rId5"/>
          <a:stretch>
            <a:fillRect/>
          </a:stretch>
        </p:blipFill>
        <p:spPr>
          <a:xfrm>
            <a:off x="1110996" y="4265676"/>
            <a:ext cx="384048" cy="384048"/>
          </a:xfrm>
          <a:prstGeom prst="rect">
            <a:avLst/>
          </a:prstGeom>
        </p:spPr>
      </p:pic>
      <p:sp>
        <p:nvSpPr>
          <p:cNvPr id="17" name="Text 12"/>
          <p:cNvSpPr txBox="1"/>
          <p:nvPr/>
        </p:nvSpPr>
        <p:spPr>
          <a:xfrm>
            <a:off x="1920240" y="4133088"/>
            <a:ext cx="3840480" cy="384048"/>
          </a:xfrm>
          <a:prstGeom prst="rect">
            <a:avLst/>
          </a:prstGeom>
          <a:noFill/>
          <a:ln/>
        </p:spPr>
        <p:txBody>
          <a:bodyPr wrap="square" lIns="0" tIns="0" rIns="0" bIns="0" rtlCol="0" anchor="t"/>
          <a:lstStyle/>
          <a:p>
            <a:pPr marL="0" indent="0">
              <a:buNone/>
            </a:pPr>
            <a:r>
              <a:rPr lang="en-US" sz="1800" b="1" dirty="0">
                <a:solidFill>
                  <a:schemeClr val="tx2"/>
                </a:solidFill>
                <a:latin typeface="Georgia" pitchFamily="34" charset="0"/>
                <a:ea typeface="Georgia" pitchFamily="34" charset="-122"/>
                <a:cs typeface="Georgia" pitchFamily="34" charset="-120"/>
              </a:rPr>
              <a:t>Insulin users</a:t>
            </a:r>
            <a:endParaRPr lang="en-US" sz="1800" dirty="0"/>
          </a:p>
        </p:txBody>
      </p:sp>
      <p:sp>
        <p:nvSpPr>
          <p:cNvPr id="18" name="Text 13"/>
          <p:cNvSpPr txBox="1"/>
          <p:nvPr/>
        </p:nvSpPr>
        <p:spPr>
          <a:xfrm>
            <a:off x="1920240" y="4617720"/>
            <a:ext cx="3840480" cy="1005840"/>
          </a:xfrm>
          <a:prstGeom prst="rect">
            <a:avLst/>
          </a:prstGeom>
          <a:noFill/>
          <a:ln/>
        </p:spPr>
        <p:txBody>
          <a:bodyPr wrap="square" lIns="0" tIns="0" rIns="0" bIns="0" rtlCol="0" anchor="t"/>
          <a:lstStyle/>
          <a:p>
            <a:pPr marL="0" indent="0">
              <a:buNone/>
            </a:pPr>
            <a:r>
              <a:rPr lang="en-US" sz="1300" dirty="0">
                <a:solidFill>
                  <a:schemeClr val="accent6"/>
                </a:solidFill>
              </a:rPr>
              <a:t>Their lows are the hardest to predict, on synthetic and real data alike</a:t>
            </a:r>
            <a:endParaRPr lang="en-US" sz="1300" dirty="0"/>
          </a:p>
        </p:txBody>
      </p:sp>
      <p:sp>
        <p:nvSpPr>
          <p:cNvPr id="19" name="card"/>
          <p:cNvSpPr/>
          <p:nvPr/>
        </p:nvSpPr>
        <p:spPr>
          <a:xfrm>
            <a:off x="6153912" y="3749040"/>
            <a:ext cx="5440680" cy="2103120"/>
          </a:xfrm>
          <a:prstGeom prst="roundRect">
            <a:avLst>
              <a:gd name="adj" fmla="val 6087"/>
            </a:avLst>
          </a:prstGeom>
          <a:solidFill>
            <a:schemeClr val="bg1"/>
          </a:solidFill>
          <a:ln/>
          <a:effectLst>
            <a:outerShdw blurRad="177800" dist="38100" dir="5400000" algn="bl" rotWithShape="0">
              <a:srgbClr val="0B2F3F">
                <a:alpha val="10000"/>
              </a:srgbClr>
            </a:outerShdw>
          </a:effectLst>
        </p:spPr>
      </p:sp>
      <p:sp>
        <p:nvSpPr>
          <p:cNvPr id="20" name="icon-dot"/>
          <p:cNvSpPr/>
          <p:nvPr/>
        </p:nvSpPr>
        <p:spPr>
          <a:xfrm>
            <a:off x="6519672" y="4114800"/>
            <a:ext cx="685800" cy="685800"/>
          </a:xfrm>
          <a:prstGeom prst="ellipse">
            <a:avLst/>
          </a:prstGeom>
          <a:solidFill>
            <a:schemeClr val="accent2"/>
          </a:solidFill>
          <a:ln/>
        </p:spPr>
      </p:sp>
      <p:pic>
        <p:nvPicPr>
          <p:cNvPr id="21" name="icon-meal" descr="C:\Users\Akhilesh\AppData\Local\Temp\claude\C--Users-Akhilesh-Desktop-Claude-code-Happiest-Health\47a587f0-c947-456b-8324-0bf75adb31d4\scratchpad\deck\img\icons\meal.png"/>
          <p:cNvPicPr>
            <a:picLocks noChangeAspect="1"/>
          </p:cNvPicPr>
          <p:nvPr/>
        </p:nvPicPr>
        <p:blipFill>
          <a:blip r:embed="rId6"/>
          <a:stretch>
            <a:fillRect/>
          </a:stretch>
        </p:blipFill>
        <p:spPr>
          <a:xfrm>
            <a:off x="6670548" y="4265676"/>
            <a:ext cx="384048" cy="384048"/>
          </a:xfrm>
          <a:prstGeom prst="rect">
            <a:avLst/>
          </a:prstGeom>
        </p:spPr>
      </p:pic>
      <p:sp>
        <p:nvSpPr>
          <p:cNvPr id="22" name="Text 16"/>
          <p:cNvSpPr txBox="1"/>
          <p:nvPr/>
        </p:nvSpPr>
        <p:spPr>
          <a:xfrm>
            <a:off x="7479792" y="4133088"/>
            <a:ext cx="3840480" cy="384048"/>
          </a:xfrm>
          <a:prstGeom prst="rect">
            <a:avLst/>
          </a:prstGeom>
          <a:noFill/>
          <a:ln/>
        </p:spPr>
        <p:txBody>
          <a:bodyPr wrap="square" lIns="0" tIns="0" rIns="0" bIns="0" rtlCol="0" anchor="t"/>
          <a:lstStyle/>
          <a:p>
            <a:pPr marL="0" indent="0">
              <a:buNone/>
            </a:pPr>
            <a:r>
              <a:rPr lang="en-US" sz="1800" b="1" dirty="0">
                <a:solidFill>
                  <a:schemeClr val="tx2"/>
                </a:solidFill>
                <a:latin typeface="Georgia" pitchFamily="34" charset="0"/>
                <a:ea typeface="Georgia" pitchFamily="34" charset="-122"/>
                <a:cs typeface="Georgia" pitchFamily="34" charset="-120"/>
              </a:rPr>
              <a:t>Inputs a real twin needs</a:t>
            </a:r>
            <a:endParaRPr lang="en-US" sz="1800" dirty="0"/>
          </a:p>
        </p:txBody>
      </p:sp>
      <p:sp>
        <p:nvSpPr>
          <p:cNvPr id="23" name="Text 17"/>
          <p:cNvSpPr txBox="1"/>
          <p:nvPr/>
        </p:nvSpPr>
        <p:spPr>
          <a:xfrm>
            <a:off x="7479792" y="4617720"/>
            <a:ext cx="3840480" cy="1005840"/>
          </a:xfrm>
          <a:prstGeom prst="rect">
            <a:avLst/>
          </a:prstGeom>
          <a:noFill/>
          <a:ln/>
        </p:spPr>
        <p:txBody>
          <a:bodyPr wrap="square" lIns="0" tIns="0" rIns="0" bIns="0" rtlCol="0" anchor="t"/>
          <a:lstStyle/>
          <a:p>
            <a:pPr marL="0" indent="0">
              <a:buNone/>
            </a:pPr>
            <a:r>
              <a:rPr lang="en-US" sz="1300" dirty="0">
                <a:solidFill>
                  <a:schemeClr val="accent6"/>
                </a:solidFill>
              </a:rPr>
              <a:t>Planned meals and fresh doses are invisible to the model until glucose moves</a:t>
            </a:r>
            <a:endParaRPr lang="en-US" sz="1300" dirty="0"/>
          </a:p>
        </p:txBody>
      </p:sp>
      <p:sp>
        <p:nvSpPr>
          <p:cNvPr id="25" name="Slide Number Placeholder 0"/>
          <p:cNvSpPr>
            <a:spLocks noGrp="1"/>
          </p:cNvSpPr>
          <p:nvPr>
            <p:ph type="sldNum" sz="quarter" idx="4294967295"/>
          </p:nvPr>
        </p:nvSpPr>
        <p:spPr>
          <a:xfrm>
            <a:off x="11140135" y="6446520"/>
            <a:ext cx="457200" cy="256032"/>
          </a:xfrm>
          <a:prstGeom prst="rect">
            <a:avLst/>
          </a:prstGeom>
          <a:extLst>
            <a:ext uri="{C572A759-6A51-4108-AA02-DFA0A04FC94B}">
              <ma14:wrappingTextBoxFlag xmlns:ma14="http://schemas.microsoft.com/office/mac/drawingml/2011/main" xmlns="" val="0"/>
            </a:ext>
          </a:extLst>
        </p:spPr>
        <p:txBody>
          <a:bodyPr/>
          <a:lstStyle>
            <a:lvl1pPr>
              <a:defRPr sz="900">
                <a:solidFill>
                  <a:schemeClr val="accent6"/>
                </a:solidFill>
              </a:defRPr>
            </a:lvl1pPr>
          </a:lstStyle>
          <a:p>
            <a:pPr algn="r"/>
            <a:fld id="{F7021451-1387-4CA6-816F-3879F97B5CBC}" type="slidenum">
              <a:rPr lang="en-US" b="0"/>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txBox="1"/>
          <p:nvPr/>
        </p:nvSpPr>
        <p:spPr>
          <a:xfrm>
            <a:off x="685800" y="502920"/>
            <a:ext cx="8229600" cy="274320"/>
          </a:xfrm>
          <a:prstGeom prst="rect">
            <a:avLst/>
          </a:prstGeom>
          <a:noFill/>
          <a:ln/>
        </p:spPr>
        <p:txBody>
          <a:bodyPr wrap="square" lIns="0" tIns="0" rIns="0" bIns="0" rtlCol="0" anchor="t"/>
          <a:lstStyle/>
          <a:p>
            <a:pPr marL="0" indent="0">
              <a:buNone/>
            </a:pPr>
            <a:r>
              <a:rPr lang="en-US" sz="1100" b="1" kern="0" spc="300" dirty="0">
                <a:solidFill>
                  <a:schemeClr val="accent4"/>
                </a:solidFill>
              </a:rPr>
              <a:t>THANK YOU</a:t>
            </a:r>
            <a:endParaRPr lang="en-US" sz="1100" dirty="0"/>
          </a:p>
        </p:txBody>
      </p:sp>
      <p:sp>
        <p:nvSpPr>
          <p:cNvPr id="3" name="Text 0"/>
          <p:cNvSpPr>
            <a:spLocks noGrp="1"/>
          </p:cNvSpPr>
          <p:nvPr>
            <p:ph type="title" idx="101" hasCustomPrompt="1"/>
          </p:nvPr>
        </p:nvSpPr>
        <p:spPr>
          <a:xfrm>
            <a:off x="685800" y="868680"/>
            <a:ext cx="8595360" cy="1783080"/>
          </a:xfrm>
          <a:prstGeom prst="rect">
            <a:avLst/>
          </a:prstGeom>
          <a:noFill/>
          <a:ln/>
        </p:spPr>
        <p:txBody>
          <a:bodyPr wrap="square" lIns="0" tIns="0" rIns="0" bIns="0" rtlCol="0" anchor="b"/>
          <a:lstStyle/>
          <a:p>
            <a:pPr marL="0" indent="0" algn="l">
              <a:buNone/>
            </a:pPr>
            <a:r>
              <a:rPr lang="en-US" sz="4000" b="1" dirty="0">
                <a:solidFill>
                  <a:schemeClr val="bg1"/>
                </a:solidFill>
                <a:latin typeface="Georgia" pitchFamily="34" charset="0"/>
                <a:ea typeface="Georgia" pitchFamily="34" charset="-122"/>
                <a:cs typeface="Georgia" pitchFamily="34" charset="-120"/>
              </a:rPr>
              <a:t>A twin that warns early, explains itself, and is honest about what it knows</a:t>
            </a:r>
            <a:endParaRPr lang="en-US" sz="4000" dirty="0"/>
          </a:p>
        </p:txBody>
      </p:sp>
      <p:sp>
        <p:nvSpPr>
          <p:cNvPr id="4" name="Text 0"/>
          <p:cNvSpPr>
            <a:spLocks noGrp="1"/>
          </p:cNvSpPr>
          <p:nvPr>
            <p:ph type="body" idx="102" hasCustomPrompt="1"/>
          </p:nvPr>
        </p:nvSpPr>
        <p:spPr>
          <a:xfrm>
            <a:off x="685800" y="2743200"/>
            <a:ext cx="8229600" cy="548640"/>
          </a:xfrm>
          <a:prstGeom prst="rect">
            <a:avLst/>
          </a:prstGeom>
          <a:noFill/>
          <a:ln/>
        </p:spPr>
        <p:txBody>
          <a:bodyPr wrap="square" lIns="0" tIns="0" rIns="0" bIns="0" rtlCol="0" anchor="t"/>
          <a:lstStyle/>
          <a:p>
            <a:pPr marL="0" indent="0" algn="l">
              <a:buNone/>
            </a:pPr>
            <a:r>
              <a:rPr lang="en-US" sz="1800" dirty="0">
                <a:solidFill>
                  <a:schemeClr val="accent4"/>
                </a:solidFill>
              </a:rPr>
              <a:t>Next: validate on real linked records from Indian clinics, with clinicians in the loop</a:t>
            </a:r>
            <a:endParaRPr lang="en-US" sz="1800" dirty="0"/>
          </a:p>
        </p:txBody>
      </p:sp>
      <p:sp>
        <p:nvSpPr>
          <p:cNvPr id="5" name="icon-dot"/>
          <p:cNvSpPr/>
          <p:nvPr/>
        </p:nvSpPr>
        <p:spPr>
          <a:xfrm>
            <a:off x="685800" y="5897880"/>
            <a:ext cx="457200" cy="457200"/>
          </a:xfrm>
          <a:prstGeom prst="ellipse">
            <a:avLst/>
          </a:prstGeom>
          <a:solidFill>
            <a:schemeClr val="accent1"/>
          </a:solidFill>
          <a:ln/>
        </p:spPr>
      </p:sp>
      <p:pic>
        <p:nvPicPr>
          <p:cNvPr id="6" name="icon-branch" descr="C:\Users\Akhilesh\AppData\Local\Temp\claude\C--Users-Akhilesh-Desktop-Claude-code-Happiest-Health\47a587f0-c947-456b-8324-0bf75adb31d4\scratchpad\deck\img\icons\branch.png"/>
          <p:cNvPicPr>
            <a:picLocks noChangeAspect="1"/>
          </p:cNvPicPr>
          <p:nvPr/>
        </p:nvPicPr>
        <p:blipFill>
          <a:blip r:embed="rId3"/>
          <a:stretch>
            <a:fillRect/>
          </a:stretch>
        </p:blipFill>
        <p:spPr>
          <a:xfrm>
            <a:off x="786384" y="5998464"/>
            <a:ext cx="256032" cy="256032"/>
          </a:xfrm>
          <a:prstGeom prst="rect">
            <a:avLst/>
          </a:prstGeom>
        </p:spPr>
      </p:pic>
      <p:sp>
        <p:nvSpPr>
          <p:cNvPr id="7" name="Text 4"/>
          <p:cNvSpPr txBox="1"/>
          <p:nvPr/>
        </p:nvSpPr>
        <p:spPr>
          <a:xfrm>
            <a:off x="1280160" y="5833872"/>
            <a:ext cx="6400800" cy="640080"/>
          </a:xfrm>
          <a:prstGeom prst="rect">
            <a:avLst/>
          </a:prstGeom>
          <a:noFill/>
          <a:ln/>
        </p:spPr>
        <p:txBody>
          <a:bodyPr wrap="square" lIns="0" tIns="0" rIns="0" bIns="0" rtlCol="0" anchor="ctr"/>
          <a:lstStyle/>
          <a:p>
            <a:pPr marL="0" indent="0">
              <a:buNone/>
            </a:pPr>
            <a:r>
              <a:rPr lang="en-US" sz="1500" b="1" dirty="0">
                <a:solidFill>
                  <a:schemeClr val="bg1"/>
                </a:solidFill>
              </a:rPr>
              <a:t>github.com/AkhileshNalla11/glycaemic-digital-twin</a:t>
            </a:r>
            <a:endParaRPr lang="en-US" sz="1400" dirty="0"/>
          </a:p>
          <a:p>
            <a:pPr marL="0" indent="0">
              <a:buNone/>
            </a:pPr>
            <a:r>
              <a:rPr lang="en-US" sz="1100" dirty="0">
                <a:solidFill>
                  <a:schemeClr val="bg2"/>
                </a:solidFill>
              </a:rPr>
              <a:t>Live demo and video links in the README</a:t>
            </a:r>
            <a:endParaRPr lang="en-US" sz="1400" dirty="0"/>
          </a:p>
        </p:txBody>
      </p:sp>
      <p:sp>
        <p:nvSpPr>
          <p:cNvPr id="8" name="Text 5"/>
          <p:cNvSpPr txBox="1"/>
          <p:nvPr/>
        </p:nvSpPr>
        <p:spPr>
          <a:xfrm>
            <a:off x="7863840" y="502920"/>
            <a:ext cx="3657600" cy="274320"/>
          </a:xfrm>
          <a:prstGeom prst="rect">
            <a:avLst/>
          </a:prstGeom>
          <a:noFill/>
          <a:ln/>
        </p:spPr>
        <p:txBody>
          <a:bodyPr wrap="square" lIns="0" tIns="0" rIns="0" bIns="0" rtlCol="0" anchor="t"/>
          <a:lstStyle/>
          <a:p>
            <a:pPr marL="0" indent="0" algn="r">
              <a:buNone/>
            </a:pPr>
            <a:r>
              <a:rPr lang="en-US" sz="1100" dirty="0">
                <a:solidFill>
                  <a:schemeClr val="bg2"/>
                </a:solidFill>
              </a:rPr>
              <a:t>Research prototype · not for clinical use</a:t>
            </a:r>
            <a:endParaRPr lang="en-US" sz="1100" dirty="0"/>
          </a:p>
        </p:txBody>
      </p:sp>
    </p:spTree>
  </p:cSld>
  <p:clrMapOvr>
    <a:masterClrMapping/>
  </p:clrMapOvr>
</p:sld>
</file>

<file path=ppt/theme/theme1.xml><?xml version="1.0" encoding="utf-8"?>
<a:theme xmlns:a="http://schemas.openxmlformats.org/drawingml/2006/main" name="Glycaemic Twin">
  <a:themeElements>
    <a:clrScheme name="Glycaemic Twin">
      <a:dk1>
        <a:srgbClr val="14202E"/>
      </a:dk1>
      <a:lt1>
        <a:srgbClr val="FFFFFF"/>
      </a:lt1>
      <a:dk2>
        <a:srgbClr val="0B2F3F"/>
      </a:dk2>
      <a:lt2>
        <a:srgbClr val="EEF3F6"/>
      </a:lt2>
      <a:accent1>
        <a:srgbClr val="0F766E"/>
      </a:accent1>
      <a:accent2>
        <a:srgbClr val="E8643A"/>
      </a:accent2>
      <a:accent3>
        <a:srgbClr val="2A78D6"/>
      </a:accent3>
      <a:accent4>
        <a:srgbClr val="5EC2B7"/>
      </a:accent4>
      <a:accent5>
        <a:srgbClr val="B42318"/>
      </a:accent5>
      <a:accent6>
        <a:srgbClr val="7A8797"/>
      </a:accent6>
      <a:hlink>
        <a:srgbClr val="0F766E"/>
      </a:hlink>
      <a:folHlink>
        <a:srgbClr val="0B2F3F"/>
      </a:folHlink>
    </a:clrScheme>
    <a:fontScheme name="Glycaemic Twin">
      <a:majorFont>
        <a:latin typeface="Georg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Segoe U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200</TotalTime>
  <Words>2948</Words>
  <Application>Microsoft Office PowerPoint</Application>
  <PresentationFormat>Widescreen</PresentationFormat>
  <Paragraphs>286</Paragraphs>
  <Slides>20</Slides>
  <Notes>20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20</vt:i4>
      </vt:variant>
    </vt:vector>
  </HeadingPairs>
  <TitlesOfParts>
    <vt:vector size="24" baseType="lpstr">
      <vt:lpstr>Arial</vt:lpstr>
      <vt:lpstr>Georgia</vt:lpstr>
      <vt:lpstr>Segoe UI</vt:lpstr>
      <vt:lpstr>Glycaemic Twin</vt:lpstr>
      <vt:lpstr>A glycaemic digital twin that warns of highs and lows two hours ahead</vt:lpstr>
      <vt:lpstr>Highs and lows happen between clinic visits</vt:lpstr>
      <vt:lpstr>A digital twin of each patient</vt:lpstr>
      <vt:lpstr>Five layers, from data to dashboard and API</vt:lpstr>
      <vt:lpstr>A physiology simulator, honestly labelled</vt:lpstr>
      <vt:lpstr>Built so the numbers can be trusted</vt:lpstr>
      <vt:lpstr>The model predicts both events well</vt:lpstr>
      <vt:lpstr>Alerts a clinic can live with, tested on real patients</vt:lpstr>
      <vt:lpstr>The alert arrives 75 minutes before the low</vt:lpstr>
      <vt:lpstr>Every alert explains itself</vt:lpstr>
      <vt:lpstr>Ask the twin 'what if?'</vt:lpstr>
      <vt:lpstr>Then we tested it on real people</vt:lpstr>
      <vt:lpstr>Performance drops on real CGM, and we show it</vt:lpstr>
      <vt:lpstr>The CGM model predicts real lows well</vt:lpstr>
      <vt:lpstr>The health record helps only before the sensor starts</vt:lpstr>
      <vt:lpstr>What we claim, and what we no longer claim</vt:lpstr>
      <vt:lpstr>Path to real use in India</vt:lpstr>
      <vt:lpstr>Built to be checked, not just demoed</vt:lpstr>
      <vt:lpstr>Limitations we know about</vt:lpstr>
      <vt:lpstr>A twin that warns early, explains itself, and is honest about what it knows</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Glycaemic Digital Twin</dc:title>
  <dc:subject>Happiest Health Digital Twin Challenge 2026</dc:subject>
  <dc:creator>PptxGenJS</dc:creator>
  <cp:lastModifiedBy>Akhilesh Nalla</cp:lastModifiedBy>
  <cp:revision>2</cp:revision>
  <dcterms:created xsi:type="dcterms:W3CDTF">2026-10-19T18:26:40Z</dcterms:created>
  <dcterms:modified xsi:type="dcterms:W3CDTF">2026-10-20T10:57:55Z</dcterms:modified>
</cp:coreProperties>
</file>